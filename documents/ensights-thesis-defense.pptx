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3.xml" ContentType="application/vnd.openxmlformats-officedocument.theme+xml"/>
  <Override PartName="/ppt/notesMasters/notesMaster1.xml" ContentType="application/vnd.openxmlformats-officedocument.presentationml.notesMaster+xml"/>
  <Override PartName="/ppt/slides/slide16.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13.xml" ContentType="application/vnd.openxmlformats-officedocument.presentationml.slide+xml"/>
  <Override PartName="/ppt/slides/slide1.xml" ContentType="application/vnd.openxmlformats-officedocument.presentationml.slide+xml"/>
  <Override PartName="/ppt/slides/slide18.xml" ContentType="application/vnd.openxmlformats-officedocument.presentationml.slide+xml"/>
  <Override PartName="/ppt/slides/slide14.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5.xml" ContentType="application/vnd.openxmlformats-officedocument.presentationml.slide+xml"/>
  <Override PartName="/ppt/slides/slide26.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9.xml" ContentType="application/vnd.openxmlformats-officedocument.presentationml.notesSlide+xml"/>
  <Override PartName="/ppt/notesSlides/notesSlide19.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5.xml" ContentType="application/vnd.openxmlformats-officedocument.presentationml.notesSlide+xml"/>
  <Override PartName="/ppt/notesSlides/notesSlide24.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1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tabLst>
                <a:tab pos="0" algn="l"/>
              </a:tabLst>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move </a:t>
            </a:r>
            <a:r>
              <a:rPr lang="en-US" sz="4400" b="0" u="none" strike="noStrike">
                <a:solidFill>
                  <a:schemeClr val="dk1"/>
                </a:solidFill>
                <a:effectLst/>
                <a:uFillTx/>
                <a:latin typeface="Calibri"/>
              </a:rPr>
              <a:t>the </a:t>
            </a:r>
            <a:r>
              <a:rPr lang="en-US" sz="4400" b="0" u="none" strike="noStrike">
                <a:solidFill>
                  <a:schemeClr val="dk1"/>
                </a:solidFill>
                <a:effectLst/>
                <a:uFillTx/>
                <a:latin typeface="Calibri"/>
              </a:rPr>
              <a:t>slide</a:t>
            </a:r>
            <a:endParaRPr lang="en-US" sz="4400" b="0" u="none" strike="noStrike">
              <a:solidFill>
                <a:schemeClr val="dk1"/>
              </a:solidFill>
              <a:effectLst/>
              <a:uFillTx/>
              <a:latin typeface="Calibri"/>
            </a:endParaRPr>
          </a:p>
        </p:txBody>
      </p:sp>
      <p:sp>
        <p:nvSpPr>
          <p:cNvPr id="1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4"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5" name="PlaceHolder 4"/>
          <p:cNvSpPr>
            <a:spLocks noGrp="1"/>
          </p:cNvSpPr>
          <p:nvPr>
            <p:ph type="dt" idx="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6" name="PlaceHolder 5"/>
          <p:cNvSpPr>
            <a:spLocks noGrp="1"/>
          </p:cNvSpPr>
          <p:nvPr>
            <p:ph type="ftr" idx="8"/>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 name="PlaceHolder 6"/>
          <p:cNvSpPr>
            <a:spLocks noGrp="1"/>
          </p:cNvSpPr>
          <p:nvPr>
            <p:ph type="sldNum" idx="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10F7068-388B-4C14-A4D3-87D5FEE9E950}"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1143000" y="685800"/>
            <a:ext cx="4571280" cy="3428280"/>
          </a:xfrm>
          <a:prstGeom prst="rect">
            <a:avLst/>
          </a:prstGeom>
          <a:ln w="0">
            <a:noFill/>
          </a:ln>
        </p:spPr>
      </p:sp>
      <p:sp>
        <p:nvSpPr>
          <p:cNvPr id="42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Καλησπέρα σας. Λέγομαι Χρήστος Μουρτογιάννης και θα σας παρουσιάσω τη διπλωματική μου εργασία, με θέμα την εξαγωγή αναλύσεων από δεδομένα ηλεκτρονικού εμπορίου. Επιβλέπων είναι ο καθηγητής Ευστάθιος Χατζηευθυμιάδης.</a:t>
            </a:r>
            <a:endParaRPr lang="en-US" sz="2000" b="0" u="none" strike="noStrike">
              <a:solidFill>
                <a:srgbClr val="000000"/>
              </a:solidFill>
              <a:effectLst/>
              <a:uFillTx/>
              <a:latin typeface="Arial"/>
            </a:endParaRPr>
          </a:p>
        </p:txBody>
      </p:sp>
      <p:sp>
        <p:nvSpPr>
          <p:cNvPr id="430" name="PlaceHolder 3"/>
          <p:cNvSpPr>
            <a:spLocks noGrp="1"/>
          </p:cNvSpPr>
          <p:nvPr>
            <p:ph type="sldNum" idx="1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B9BEE13-7A18-4E87-9CEE-8EA0F4E03D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1143000" y="685800"/>
            <a:ext cx="4571280" cy="3428280"/>
          </a:xfrm>
          <a:prstGeom prst="rect">
            <a:avLst/>
          </a:prstGeom>
          <a:ln w="0">
            <a:noFill/>
          </a:ln>
        </p:spPr>
      </p:sp>
      <p:sp>
        <p:nvSpPr>
          <p:cNvPr id="43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Η </a:t>
            </a:r>
            <a:r>
              <a:rPr lang="en-US" sz="2000" b="0" u="none" strike="noStrike">
                <a:solidFill>
                  <a:srgbClr val="000000"/>
                </a:solidFill>
                <a:effectLst/>
                <a:uFillTx/>
                <a:latin typeface="Arial"/>
              </a:rPr>
              <a:t>παρουσίαση </a:t>
            </a:r>
            <a:r>
              <a:rPr lang="en-US" sz="2000" b="0" u="none" strike="noStrike">
                <a:solidFill>
                  <a:srgbClr val="000000"/>
                </a:solidFill>
                <a:effectLst/>
                <a:uFillTx/>
                <a:latin typeface="Arial"/>
              </a:rPr>
              <a:t>έχει τέσσερα </a:t>
            </a:r>
            <a:r>
              <a:rPr lang="en-US" sz="2000" b="0" u="none" strike="noStrike">
                <a:solidFill>
                  <a:srgbClr val="000000"/>
                </a:solidFill>
                <a:effectLst/>
                <a:uFillTx/>
                <a:latin typeface="Arial"/>
              </a:rPr>
              <a:t>μέρη. </a:t>
            </a:r>
            <a:r>
              <a:rPr lang="en-US" sz="2000" b="0" u="none" strike="noStrike">
                <a:solidFill>
                  <a:srgbClr val="000000"/>
                </a:solidFill>
                <a:effectLst/>
                <a:uFillTx/>
                <a:latin typeface="Arial"/>
              </a:rPr>
              <a:t>Πρώτα το </a:t>
            </a:r>
            <a:r>
              <a:rPr lang="en-US" sz="2000" b="0" u="none" strike="noStrike">
                <a:solidFill>
                  <a:srgbClr val="000000"/>
                </a:solidFill>
                <a:effectLst/>
                <a:uFillTx/>
                <a:latin typeface="Arial"/>
              </a:rPr>
              <a:t>πρόβλημα </a:t>
            </a:r>
            <a:r>
              <a:rPr lang="en-US" sz="2000" b="0" u="none" strike="noStrike">
                <a:solidFill>
                  <a:srgbClr val="000000"/>
                </a:solidFill>
                <a:effectLst/>
                <a:uFillTx/>
                <a:latin typeface="Arial"/>
              </a:rPr>
              <a:t>και οι </a:t>
            </a:r>
            <a:r>
              <a:rPr lang="en-US" sz="2000" b="0" u="none" strike="noStrike">
                <a:solidFill>
                  <a:srgbClr val="000000"/>
                </a:solidFill>
                <a:effectLst/>
                <a:uFillTx/>
                <a:latin typeface="Arial"/>
              </a:rPr>
              <a:t>στόχοι. </a:t>
            </a:r>
            <a:r>
              <a:rPr lang="en-US" sz="2000" b="0" u="none" strike="noStrike">
                <a:solidFill>
                  <a:srgbClr val="000000"/>
                </a:solidFill>
                <a:effectLst/>
                <a:uFillTx/>
                <a:latin typeface="Arial"/>
              </a:rPr>
              <a:t>Μετά το </a:t>
            </a:r>
            <a:r>
              <a:rPr lang="en-US" sz="2000" b="0" u="none" strike="noStrike">
                <a:solidFill>
                  <a:srgbClr val="000000"/>
                </a:solidFill>
                <a:effectLst/>
                <a:uFillTx/>
                <a:latin typeface="Arial"/>
              </a:rPr>
              <a:t>σύστημα </a:t>
            </a:r>
            <a:r>
              <a:rPr lang="en-US" sz="2000" b="0" u="none" strike="noStrike">
                <a:solidFill>
                  <a:srgbClr val="000000"/>
                </a:solidFill>
                <a:effectLst/>
                <a:uFillTx/>
                <a:latin typeface="Arial"/>
              </a:rPr>
              <a:t>που </a:t>
            </a:r>
            <a:r>
              <a:rPr lang="en-US" sz="2000" b="0" u="none" strike="noStrike">
                <a:solidFill>
                  <a:srgbClr val="000000"/>
                </a:solidFill>
                <a:effectLst/>
                <a:uFillTx/>
                <a:latin typeface="Arial"/>
              </a:rPr>
              <a:t>έφτιαξα, </a:t>
            </a:r>
            <a:r>
              <a:rPr lang="en-US" sz="2000" b="0" u="none" strike="noStrike">
                <a:solidFill>
                  <a:srgbClr val="000000"/>
                </a:solidFill>
                <a:effectLst/>
                <a:uFillTx/>
                <a:latin typeface="Arial"/>
              </a:rPr>
              <a:t>πώς είναι </a:t>
            </a:r>
            <a:r>
              <a:rPr lang="en-US" sz="2000" b="0" u="none" strike="noStrike">
                <a:solidFill>
                  <a:srgbClr val="000000"/>
                </a:solidFill>
                <a:effectLst/>
                <a:uFillTx/>
                <a:latin typeface="Arial"/>
              </a:rPr>
              <a:t>δομημένο </a:t>
            </a:r>
            <a:r>
              <a:rPr lang="en-US" sz="2000" b="0" u="none" strike="noStrike">
                <a:solidFill>
                  <a:srgbClr val="000000"/>
                </a:solidFill>
                <a:effectLst/>
                <a:uFillTx/>
                <a:latin typeface="Arial"/>
              </a:rPr>
              <a:t>και πώς </a:t>
            </a:r>
            <a:r>
              <a:rPr lang="en-US" sz="2000" b="0" u="none" strike="noStrike">
                <a:solidFill>
                  <a:srgbClr val="000000"/>
                </a:solidFill>
                <a:effectLst/>
                <a:uFillTx/>
                <a:latin typeface="Arial"/>
              </a:rPr>
              <a:t>φαίνεται </a:t>
            </a:r>
            <a:r>
              <a:rPr lang="en-US" sz="2000" b="0" u="none" strike="noStrike">
                <a:solidFill>
                  <a:srgbClr val="000000"/>
                </a:solidFill>
                <a:effectLst/>
                <a:uFillTx/>
                <a:latin typeface="Arial"/>
              </a:rPr>
              <a:t>όταν τρέχει. </a:t>
            </a:r>
            <a:r>
              <a:rPr lang="en-US" sz="2000" b="0" u="none" strike="noStrike">
                <a:solidFill>
                  <a:srgbClr val="000000"/>
                </a:solidFill>
                <a:effectLst/>
                <a:uFillTx/>
                <a:latin typeface="Arial"/>
              </a:rPr>
              <a:t>Μετά τα </a:t>
            </a:r>
            <a:r>
              <a:rPr lang="en-US" sz="2000" b="0" u="none" strike="noStrike">
                <a:solidFill>
                  <a:srgbClr val="000000"/>
                </a:solidFill>
                <a:effectLst/>
                <a:uFillTx/>
                <a:latin typeface="Arial"/>
              </a:rPr>
              <a:t>ευρήματα </a:t>
            </a:r>
            <a:r>
              <a:rPr lang="en-US" sz="2000" b="0" u="none" strike="noStrike">
                <a:solidFill>
                  <a:srgbClr val="000000"/>
                </a:solidFill>
                <a:effectLst/>
                <a:uFillTx/>
                <a:latin typeface="Arial"/>
              </a:rPr>
              <a:t>πάνω σε </a:t>
            </a:r>
            <a:r>
              <a:rPr lang="en-US" sz="2000" b="0" u="none" strike="noStrike">
                <a:solidFill>
                  <a:srgbClr val="000000"/>
                </a:solidFill>
                <a:effectLst/>
                <a:uFillTx/>
                <a:latin typeface="Arial"/>
              </a:rPr>
              <a:t>πραγματικά </a:t>
            </a:r>
            <a:r>
              <a:rPr lang="en-US" sz="2000" b="0" u="none" strike="noStrike">
                <a:solidFill>
                  <a:srgbClr val="000000"/>
                </a:solidFill>
                <a:effectLst/>
                <a:uFillTx/>
                <a:latin typeface="Arial"/>
              </a:rPr>
              <a:t>δεδομένα. </a:t>
            </a:r>
            <a:r>
              <a:rPr lang="en-US" sz="2000" b="0" u="none" strike="noStrike">
                <a:solidFill>
                  <a:srgbClr val="000000"/>
                </a:solidFill>
                <a:effectLst/>
                <a:uFillTx/>
                <a:latin typeface="Arial"/>
              </a:rPr>
              <a:t>Και στο </a:t>
            </a:r>
            <a:r>
              <a:rPr lang="en-US" sz="2000" b="0" u="none" strike="noStrike">
                <a:solidFill>
                  <a:srgbClr val="000000"/>
                </a:solidFill>
                <a:effectLst/>
                <a:uFillTx/>
                <a:latin typeface="Arial"/>
              </a:rPr>
              <a:t>τέλος τα </a:t>
            </a:r>
            <a:r>
              <a:rPr lang="en-US" sz="2000" b="0" u="none" strike="noStrike">
                <a:solidFill>
                  <a:srgbClr val="000000"/>
                </a:solidFill>
                <a:effectLst/>
                <a:uFillTx/>
                <a:latin typeface="Arial"/>
              </a:rPr>
              <a:t>συμπεράσμ</a:t>
            </a:r>
            <a:r>
              <a:rPr lang="en-US" sz="2000" b="0" u="none" strike="noStrike">
                <a:solidFill>
                  <a:srgbClr val="000000"/>
                </a:solidFill>
                <a:effectLst/>
                <a:uFillTx/>
                <a:latin typeface="Arial"/>
              </a:rPr>
              <a:t>ατα, μαζί με </a:t>
            </a:r>
            <a:r>
              <a:rPr lang="en-US" sz="2000" b="0" u="none" strike="noStrike">
                <a:solidFill>
                  <a:srgbClr val="000000"/>
                </a:solidFill>
                <a:effectLst/>
                <a:uFillTx/>
                <a:latin typeface="Arial"/>
              </a:rPr>
              <a:t>το τι δεν </a:t>
            </a:r>
            <a:r>
              <a:rPr lang="en-US" sz="2000" b="0" u="none" strike="noStrike">
                <a:solidFill>
                  <a:srgbClr val="000000"/>
                </a:solidFill>
                <a:effectLst/>
                <a:uFillTx/>
                <a:latin typeface="Arial"/>
              </a:rPr>
              <a:t>μπορεί να </a:t>
            </a:r>
            <a:r>
              <a:rPr lang="en-US" sz="2000" b="0" u="none" strike="noStrike">
                <a:solidFill>
                  <a:srgbClr val="000000"/>
                </a:solidFill>
                <a:effectLst/>
                <a:uFillTx/>
                <a:latin typeface="Arial"/>
              </a:rPr>
              <a:t>απαντήσει η </a:t>
            </a:r>
            <a:r>
              <a:rPr lang="en-US" sz="2000" b="0" u="none" strike="noStrike">
                <a:solidFill>
                  <a:srgbClr val="000000"/>
                </a:solidFill>
                <a:effectLst/>
                <a:uFillTx/>
                <a:latin typeface="Arial"/>
              </a:rPr>
              <a:t>δουλειά.</a:t>
            </a:r>
            <a:endParaRPr lang="en-US" sz="2000" b="0" u="none" strike="noStrike">
              <a:solidFill>
                <a:srgbClr val="000000"/>
              </a:solidFill>
              <a:effectLst/>
              <a:uFillTx/>
              <a:latin typeface="Arial"/>
            </a:endParaRPr>
          </a:p>
        </p:txBody>
      </p:sp>
      <p:sp>
        <p:nvSpPr>
          <p:cNvPr id="433" name="PlaceHolder 3"/>
          <p:cNvSpPr>
            <a:spLocks noGrp="1"/>
          </p:cNvSpPr>
          <p:nvPr>
            <p:ph type="sldNum" idx="1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5CC385F-76E9-4A72-A184-732D09A8732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1143000" y="685800"/>
            <a:ext cx="4571280" cy="3428280"/>
          </a:xfrm>
          <a:prstGeom prst="rect">
            <a:avLst/>
          </a:prstGeom>
          <a:ln w="0">
            <a:noFill/>
          </a:ln>
        </p:spPr>
      </p:sp>
      <p:sp>
        <p:nvSpPr>
          <p:cNvPr id="43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Πρώτο μέρος: το </a:t>
            </a:r>
            <a:r>
              <a:rPr lang="en-US" sz="2000" b="0" u="none" strike="noStrike">
                <a:solidFill>
                  <a:srgbClr val="000000"/>
                </a:solidFill>
                <a:effectLst/>
                <a:uFillTx/>
                <a:latin typeface="Arial"/>
              </a:rPr>
              <a:t>πρόβλημα και οι </a:t>
            </a:r>
            <a:r>
              <a:rPr lang="en-US" sz="2000" b="0" u="none" strike="noStrike">
                <a:solidFill>
                  <a:srgbClr val="000000"/>
                </a:solidFill>
                <a:effectLst/>
                <a:uFillTx/>
                <a:latin typeface="Arial"/>
              </a:rPr>
              <a:t>στόχοι.</a:t>
            </a:r>
            <a:endParaRPr lang="en-US" sz="2000" b="0" u="none" strike="noStrike">
              <a:solidFill>
                <a:srgbClr val="000000"/>
              </a:solidFill>
              <a:effectLst/>
              <a:uFillTx/>
              <a:latin typeface="Arial"/>
            </a:endParaRPr>
          </a:p>
        </p:txBody>
      </p:sp>
      <p:sp>
        <p:nvSpPr>
          <p:cNvPr id="436" name="PlaceHolder 3"/>
          <p:cNvSpPr>
            <a:spLocks noGrp="1"/>
          </p:cNvSpPr>
          <p:nvPr>
            <p:ph type="sldNum" idx="1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65BAA8C-8CE0-4DEB-9243-F5C3665CE97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1143000" y="685800"/>
            <a:ext cx="4571280" cy="3428280"/>
          </a:xfrm>
          <a:prstGeom prst="rect">
            <a:avLst/>
          </a:prstGeom>
          <a:ln w="0">
            <a:noFill/>
          </a:ln>
        </p:spPr>
      </p:sp>
      <p:sp>
        <p:nvSpPr>
          <p:cNvPr id="43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το κάνει μόνη της η επιχείρηση;» Γιατί χρειάζεται γνώση εξόρυξης δεδομένων και μηχανικής μάθησης. Με ένα Excel δεν βγαίνει.</a:t>
            </a:r>
            <a:endParaRPr lang="en-US" sz="2000" b="0" u="none" strike="noStrike">
              <a:solidFill>
                <a:srgbClr val="000000"/>
              </a:solidFill>
              <a:effectLst/>
              <a:uFillTx/>
              <a:latin typeface="Arial"/>
            </a:endParaRPr>
          </a:p>
        </p:txBody>
      </p:sp>
      <p:sp>
        <p:nvSpPr>
          <p:cNvPr id="439" name="PlaceHolder 3"/>
          <p:cNvSpPr>
            <a:spLocks noGrp="1"/>
          </p:cNvSpPr>
          <p:nvPr>
            <p:ph type="sldNum" idx="1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5FD02E1-EE45-4C22-8682-8D84E340D2F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1143000" y="685800"/>
            <a:ext cx="4571280" cy="3428280"/>
          </a:xfrm>
          <a:prstGeom prst="rect">
            <a:avLst/>
          </a:prstGeom>
          <a:ln w="0">
            <a:noFill/>
          </a:ln>
        </p:spPr>
      </p:sp>
      <p:sp>
        <p:nvSpPr>
          <p:cNvPr id="44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endParaRPr lang="en-US" sz="2000" b="0" u="none" strike="noStrike">
              <a:solidFill>
                <a:srgbClr val="000000"/>
              </a:solidFill>
              <a:effectLst/>
              <a:uFillTx/>
              <a:latin typeface="Arial"/>
            </a:endParaRPr>
          </a:p>
        </p:txBody>
      </p:sp>
      <p:sp>
        <p:nvSpPr>
          <p:cNvPr id="442" name="PlaceHolder 3"/>
          <p:cNvSpPr>
            <a:spLocks noGrp="1"/>
          </p:cNvSpPr>
          <p:nvPr>
            <p:ph type="sldNum" idx="1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DC4A7A7-2F3E-476F-A437-7A291B1458E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1143000" y="685800"/>
            <a:ext cx="4571280" cy="3428280"/>
          </a:xfrm>
          <a:prstGeom prst="rect">
            <a:avLst/>
          </a:prstGeom>
          <a:ln w="0">
            <a:noFill/>
          </a:ln>
        </p:spPr>
      </p:sp>
      <p:sp>
        <p:nvSpPr>
          <p:cNvPr id="44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Δύο κανόνες </a:t>
            </a:r>
            <a:r>
              <a:rPr lang="en-US" sz="2000" b="0" u="none" strike="noStrike">
                <a:solidFill>
                  <a:srgbClr val="000000"/>
                </a:solidFill>
                <a:effectLst/>
                <a:uFillTx/>
                <a:latin typeface="Arial"/>
              </a:rPr>
              <a:t>διατρέχουν </a:t>
            </a:r>
            <a:r>
              <a:rPr lang="en-US" sz="2000" b="0" u="none" strike="noStrike">
                <a:solidFill>
                  <a:srgbClr val="000000"/>
                </a:solidFill>
                <a:effectLst/>
                <a:uFillTx/>
                <a:latin typeface="Arial"/>
              </a:rPr>
              <a:t>όλη τη </a:t>
            </a:r>
            <a:r>
              <a:rPr lang="en-US" sz="2000" b="0" u="none" strike="noStrike">
                <a:solidFill>
                  <a:srgbClr val="000000"/>
                </a:solidFill>
                <a:effectLst/>
                <a:uFillTx/>
                <a:latin typeface="Arial"/>
              </a:rPr>
              <a:t>δουλειά. Ο </a:t>
            </a:r>
            <a:r>
              <a:rPr lang="en-US" sz="2000" b="0" u="none" strike="noStrike">
                <a:solidFill>
                  <a:srgbClr val="000000"/>
                </a:solidFill>
                <a:effectLst/>
                <a:uFillTx/>
                <a:latin typeface="Arial"/>
              </a:rPr>
              <a:t>πρώτος: </a:t>
            </a:r>
            <a:r>
              <a:rPr lang="en-US" sz="2000" b="0" u="none" strike="noStrike">
                <a:solidFill>
                  <a:srgbClr val="000000"/>
                </a:solidFill>
                <a:effectLst/>
                <a:uFillTx/>
                <a:latin typeface="Arial"/>
              </a:rPr>
              <a:t>δουλεύει </a:t>
            </a:r>
            <a:r>
              <a:rPr lang="en-US" sz="2000" b="0" u="none" strike="noStrike">
                <a:solidFill>
                  <a:srgbClr val="000000"/>
                </a:solidFill>
                <a:effectLst/>
                <a:uFillTx/>
                <a:latin typeface="Arial"/>
              </a:rPr>
              <a:t>παντού. Το </a:t>
            </a:r>
            <a:r>
              <a:rPr lang="en-US" sz="2000" b="0" u="none" strike="noStrike">
                <a:solidFill>
                  <a:srgbClr val="000000"/>
                </a:solidFill>
                <a:effectLst/>
                <a:uFillTx/>
                <a:latin typeface="Arial"/>
              </a:rPr>
              <a:t>σύστημα δεν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φτιαγμένο για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συγκεκριμένο </a:t>
            </a:r>
            <a:r>
              <a:rPr lang="en-US" sz="2000" b="0" u="none" strike="noStrike">
                <a:solidFill>
                  <a:srgbClr val="000000"/>
                </a:solidFill>
                <a:effectLst/>
                <a:uFillTx/>
                <a:latin typeface="Arial"/>
              </a:rPr>
              <a:t>μαγαζί. Ο </a:t>
            </a:r>
            <a:r>
              <a:rPr lang="en-US" sz="2000" b="0" u="none" strike="noStrike">
                <a:solidFill>
                  <a:srgbClr val="000000"/>
                </a:solidFill>
                <a:effectLst/>
                <a:uFillTx/>
                <a:latin typeface="Arial"/>
              </a:rPr>
              <a:t>δεύτερος: δεν </a:t>
            </a:r>
            <a:r>
              <a:rPr lang="en-US" sz="2000" b="0" u="none" strike="noStrike">
                <a:solidFill>
                  <a:srgbClr val="000000"/>
                </a:solidFill>
                <a:effectLst/>
                <a:uFillTx/>
                <a:latin typeface="Arial"/>
              </a:rPr>
              <a:t>λέει ψέματα. </a:t>
            </a:r>
            <a:r>
              <a:rPr lang="en-US" sz="2000" b="0" u="none" strike="noStrike">
                <a:solidFill>
                  <a:srgbClr val="000000"/>
                </a:solidFill>
                <a:effectLst/>
                <a:uFillTx/>
                <a:latin typeface="Arial"/>
              </a:rPr>
              <a:t>Αν κάτι δεν </a:t>
            </a:r>
            <a:r>
              <a:rPr lang="en-US" sz="2000" b="0" u="none" strike="noStrike">
                <a:solidFill>
                  <a:srgbClr val="000000"/>
                </a:solidFill>
                <a:effectLst/>
                <a:uFillTx/>
                <a:latin typeface="Arial"/>
              </a:rPr>
              <a:t>μπορεί να </a:t>
            </a:r>
            <a:r>
              <a:rPr lang="en-US" sz="2000" b="0" u="none" strike="noStrike">
                <a:solidFill>
                  <a:srgbClr val="000000"/>
                </a:solidFill>
                <a:effectLst/>
                <a:uFillTx/>
                <a:latin typeface="Arial"/>
              </a:rPr>
              <a:t>μετρηθεί, δεν </a:t>
            </a:r>
            <a:r>
              <a:rPr lang="en-US" sz="2000" b="0" u="none" strike="noStrike">
                <a:solidFill>
                  <a:srgbClr val="000000"/>
                </a:solidFill>
                <a:effectLst/>
                <a:uFillTx/>
                <a:latin typeface="Arial"/>
              </a:rPr>
              <a:t>προσποιούμα</a:t>
            </a:r>
            <a:r>
              <a:rPr lang="en-US" sz="2000" b="0" u="none" strike="noStrike">
                <a:solidFill>
                  <a:srgbClr val="000000"/>
                </a:solidFill>
                <a:effectLst/>
                <a:uFillTx/>
                <a:latin typeface="Arial"/>
              </a:rPr>
              <a:t>στε ότι το </a:t>
            </a:r>
            <a:r>
              <a:rPr lang="en-US" sz="2000" b="0" u="none" strike="noStrike">
                <a:solidFill>
                  <a:srgbClr val="000000"/>
                </a:solidFill>
                <a:effectLst/>
                <a:uFillTx/>
                <a:latin typeface="Arial"/>
              </a:rPr>
              <a:t>ξέρουμε.</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a:t>
            </a:r>
            <a:r>
              <a:rPr lang="en-US" sz="2000" b="0" u="none" strike="noStrike">
                <a:solidFill>
                  <a:srgbClr val="000000"/>
                </a:solidFill>
                <a:effectLst/>
                <a:uFillTx/>
                <a:latin typeface="Arial"/>
              </a:rPr>
              <a:t>Α: Το κέρδος </a:t>
            </a:r>
            <a:r>
              <a:rPr lang="en-US" sz="2000" b="0" u="none" strike="noStrike">
                <a:solidFill>
                  <a:srgbClr val="000000"/>
                </a:solidFill>
                <a:effectLst/>
                <a:uFillTx/>
                <a:latin typeface="Arial"/>
              </a:rPr>
              <a:t>είναι το </a:t>
            </a:r>
            <a:r>
              <a:rPr lang="en-US" sz="2000" b="0" u="none" strike="noStrike">
                <a:solidFill>
                  <a:srgbClr val="000000"/>
                </a:solidFill>
                <a:effectLst/>
                <a:uFillTx/>
                <a:latin typeface="Arial"/>
              </a:rPr>
              <a:t>χαρακτηριστικ</a:t>
            </a:r>
            <a:r>
              <a:rPr lang="en-US" sz="2000" b="0" u="none" strike="noStrike">
                <a:solidFill>
                  <a:srgbClr val="000000"/>
                </a:solidFill>
                <a:effectLst/>
                <a:uFillTx/>
                <a:latin typeface="Arial"/>
              </a:rPr>
              <a:t>ό </a:t>
            </a:r>
            <a:r>
              <a:rPr lang="en-US" sz="2000" b="0" u="none" strike="noStrike">
                <a:solidFill>
                  <a:srgbClr val="000000"/>
                </a:solidFill>
                <a:effectLst/>
                <a:uFillTx/>
                <a:latin typeface="Arial"/>
              </a:rPr>
              <a:t>παράδειγμα. </a:t>
            </a:r>
            <a:r>
              <a:rPr lang="en-US" sz="2000" b="0" u="none" strike="noStrike">
                <a:solidFill>
                  <a:srgbClr val="000000"/>
                </a:solidFill>
                <a:effectLst/>
                <a:uFillTx/>
                <a:latin typeface="Arial"/>
              </a:rPr>
              <a:t>Για να πεις </a:t>
            </a:r>
            <a:r>
              <a:rPr lang="en-US" sz="2000" b="0" u="none" strike="noStrike">
                <a:solidFill>
                  <a:srgbClr val="000000"/>
                </a:solidFill>
                <a:effectLst/>
                <a:uFillTx/>
                <a:latin typeface="Arial"/>
              </a:rPr>
              <a:t>πόσο κερδίζει </a:t>
            </a:r>
            <a:r>
              <a:rPr lang="en-US" sz="2000" b="0" u="none" strike="noStrike">
                <a:solidFill>
                  <a:srgbClr val="000000"/>
                </a:solidFill>
                <a:effectLst/>
                <a:uFillTx/>
                <a:latin typeface="Arial"/>
              </a:rPr>
              <a:t>ένα μαγαζί </a:t>
            </a:r>
            <a:r>
              <a:rPr lang="en-US" sz="2000" b="0" u="none" strike="noStrike">
                <a:solidFill>
                  <a:srgbClr val="000000"/>
                </a:solidFill>
                <a:effectLst/>
                <a:uFillTx/>
                <a:latin typeface="Arial"/>
              </a:rPr>
              <a:t>χρειάζεσαι το </a:t>
            </a:r>
            <a:r>
              <a:rPr lang="en-US" sz="2000" b="0" u="none" strike="noStrike">
                <a:solidFill>
                  <a:srgbClr val="000000"/>
                </a:solidFill>
                <a:effectLst/>
                <a:uFillTx/>
                <a:latin typeface="Arial"/>
              </a:rPr>
              <a:t>κόστος των </a:t>
            </a:r>
            <a:r>
              <a:rPr lang="en-US" sz="2000" b="0" u="none" strike="noStrike">
                <a:solidFill>
                  <a:srgbClr val="000000"/>
                </a:solidFill>
                <a:effectLst/>
                <a:uFillTx/>
                <a:latin typeface="Arial"/>
              </a:rPr>
              <a:t>προϊόντων και </a:t>
            </a:r>
            <a:r>
              <a:rPr lang="en-US" sz="2000" b="0" u="none" strike="noStrike">
                <a:solidFill>
                  <a:srgbClr val="000000"/>
                </a:solidFill>
                <a:effectLst/>
                <a:uFillTx/>
                <a:latin typeface="Arial"/>
              </a:rPr>
              <a:t>τα έξοδα </a:t>
            </a:r>
            <a:r>
              <a:rPr lang="en-US" sz="2000" b="0" u="none" strike="noStrike">
                <a:solidFill>
                  <a:srgbClr val="000000"/>
                </a:solidFill>
                <a:effectLst/>
                <a:uFillTx/>
                <a:latin typeface="Arial"/>
              </a:rPr>
              <a:t>marketing. Τα </a:t>
            </a:r>
            <a:r>
              <a:rPr lang="en-US" sz="2000" b="0" u="none" strike="noStrike">
                <a:solidFill>
                  <a:srgbClr val="000000"/>
                </a:solidFill>
                <a:effectLst/>
                <a:uFillTx/>
                <a:latin typeface="Arial"/>
              </a:rPr>
              <a:t>δεδομένα </a:t>
            </a:r>
            <a:r>
              <a:rPr lang="en-US" sz="2000" b="0" u="none" strike="noStrike">
                <a:solidFill>
                  <a:srgbClr val="000000"/>
                </a:solidFill>
                <a:effectLst/>
                <a:uFillTx/>
                <a:latin typeface="Arial"/>
              </a:rPr>
              <a:t>συναλλαγών </a:t>
            </a:r>
            <a:r>
              <a:rPr lang="en-US" sz="2000" b="0" u="none" strike="noStrike">
                <a:solidFill>
                  <a:srgbClr val="000000"/>
                </a:solidFill>
                <a:effectLst/>
                <a:uFillTx/>
                <a:latin typeface="Arial"/>
              </a:rPr>
              <a:t>δεν έχουν </a:t>
            </a:r>
            <a:r>
              <a:rPr lang="en-US" sz="2000" b="0" u="none" strike="noStrike">
                <a:solidFill>
                  <a:srgbClr val="000000"/>
                </a:solidFill>
                <a:effectLst/>
                <a:uFillTx/>
                <a:latin typeface="Arial"/>
              </a:rPr>
              <a:t>τίποτα από τα </a:t>
            </a:r>
            <a:r>
              <a:rPr lang="en-US" sz="2000" b="0" u="none" strike="noStrike">
                <a:solidFill>
                  <a:srgbClr val="000000"/>
                </a:solidFill>
                <a:effectLst/>
                <a:uFillTx/>
                <a:latin typeface="Arial"/>
              </a:rPr>
              <a:t>δύο. Άρα η </a:t>
            </a:r>
            <a:r>
              <a:rPr lang="en-US" sz="2000" b="0" u="none" strike="noStrike">
                <a:solidFill>
                  <a:srgbClr val="000000"/>
                </a:solidFill>
                <a:effectLst/>
                <a:uFillTx/>
                <a:latin typeface="Arial"/>
              </a:rPr>
              <a:t>απάντηση </a:t>
            </a:r>
            <a:r>
              <a:rPr lang="en-US" sz="2000" b="0" u="none" strike="noStrike">
                <a:solidFill>
                  <a:srgbClr val="000000"/>
                </a:solidFill>
                <a:effectLst/>
                <a:uFillTx/>
                <a:latin typeface="Arial"/>
              </a:rPr>
              <a:t>δίνεται ως </a:t>
            </a:r>
            <a:r>
              <a:rPr lang="en-US" sz="2000" b="0" u="none" strike="noStrike">
                <a:solidFill>
                  <a:srgbClr val="000000"/>
                </a:solidFill>
                <a:effectLst/>
                <a:uFillTx/>
                <a:latin typeface="Arial"/>
              </a:rPr>
              <a:t>σενάριο: αν το </a:t>
            </a:r>
            <a:r>
              <a:rPr lang="en-US" sz="2000" b="0" u="none" strike="noStrike">
                <a:solidFill>
                  <a:srgbClr val="000000"/>
                </a:solidFill>
                <a:effectLst/>
                <a:uFillTx/>
                <a:latin typeface="Arial"/>
              </a:rPr>
              <a:t>περιθώριο </a:t>
            </a:r>
            <a:r>
              <a:rPr lang="en-US" sz="2000" b="0" u="none" strike="noStrike">
                <a:solidFill>
                  <a:srgbClr val="000000"/>
                </a:solidFill>
                <a:effectLst/>
                <a:uFillTx/>
                <a:latin typeface="Arial"/>
              </a:rPr>
              <a:t>είναι τόσο, </a:t>
            </a:r>
            <a:r>
              <a:rPr lang="en-US" sz="2000" b="0" u="none" strike="noStrike">
                <a:solidFill>
                  <a:srgbClr val="000000"/>
                </a:solidFill>
                <a:effectLst/>
                <a:uFillTx/>
                <a:latin typeface="Arial"/>
              </a:rPr>
              <a:t>τότε βγαίνει </a:t>
            </a:r>
            <a:r>
              <a:rPr lang="en-US" sz="2000" b="0" u="none" strike="noStrike">
                <a:solidFill>
                  <a:srgbClr val="000000"/>
                </a:solidFill>
                <a:effectLst/>
                <a:uFillTx/>
                <a:latin typeface="Arial"/>
              </a:rPr>
              <a:t>αυτό.</a:t>
            </a:r>
            <a:endParaRPr lang="en-US" sz="2000" b="0" u="none" strike="noStrike">
              <a:solidFill>
                <a:srgbClr val="000000"/>
              </a:solidFill>
              <a:effectLst/>
              <a:uFillTx/>
              <a:latin typeface="Arial"/>
            </a:endParaRPr>
          </a:p>
        </p:txBody>
      </p:sp>
      <p:sp>
        <p:nvSpPr>
          <p:cNvPr id="445" name="PlaceHolder 3"/>
          <p:cNvSpPr>
            <a:spLocks noGrp="1"/>
          </p:cNvSpPr>
          <p:nvPr>
            <p:ph type="sldNum" idx="1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970E4ED-8463-4F9A-88DD-B6C9B966F25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1143000" y="685800"/>
            <a:ext cx="4571280" cy="3428280"/>
          </a:xfrm>
          <a:prstGeom prst="rect">
            <a:avLst/>
          </a:prstGeom>
          <a:ln w="0">
            <a:noFill/>
          </a:ln>
        </p:spPr>
      </p:sp>
      <p:sp>
        <p:nvSpPr>
          <p:cNvPr id="44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Δεύτερο </a:t>
            </a:r>
            <a:r>
              <a:rPr lang="en-US" sz="2000" b="0" u="none" strike="noStrike">
                <a:solidFill>
                  <a:srgbClr val="000000"/>
                </a:solidFill>
                <a:effectLst/>
                <a:uFillTx/>
                <a:latin typeface="Arial"/>
              </a:rPr>
              <a:t>μέρος: το </a:t>
            </a:r>
            <a:r>
              <a:rPr lang="en-US" sz="2000" b="0" u="none" strike="noStrike">
                <a:solidFill>
                  <a:srgbClr val="000000"/>
                </a:solidFill>
                <a:effectLst/>
                <a:uFillTx/>
                <a:latin typeface="Arial"/>
              </a:rPr>
              <a:t>σύστημα, </a:t>
            </a:r>
            <a:r>
              <a:rPr lang="en-US" sz="2000" b="0" u="none" strike="noStrike">
                <a:solidFill>
                  <a:srgbClr val="000000"/>
                </a:solidFill>
                <a:effectLst/>
                <a:uFillTx/>
                <a:latin typeface="Arial"/>
              </a:rPr>
              <a:t>πώς είναι </a:t>
            </a:r>
            <a:r>
              <a:rPr lang="en-US" sz="2000" b="0" u="none" strike="noStrike">
                <a:solidFill>
                  <a:srgbClr val="000000"/>
                </a:solidFill>
                <a:effectLst/>
                <a:uFillTx/>
                <a:latin typeface="Arial"/>
              </a:rPr>
              <a:t>φτιαγμέν</a:t>
            </a:r>
            <a:r>
              <a:rPr lang="en-US" sz="2000" b="0" u="none" strike="noStrike">
                <a:solidFill>
                  <a:srgbClr val="000000"/>
                </a:solidFill>
                <a:effectLst/>
                <a:uFillTx/>
                <a:latin typeface="Arial"/>
              </a:rPr>
              <a:t>ο και </a:t>
            </a:r>
            <a:r>
              <a:rPr lang="en-US" sz="2000" b="0" u="none" strike="noStrike">
                <a:solidFill>
                  <a:srgbClr val="000000"/>
                </a:solidFill>
                <a:effectLst/>
                <a:uFillTx/>
                <a:latin typeface="Arial"/>
              </a:rPr>
              <a:t>πώς </a:t>
            </a:r>
            <a:r>
              <a:rPr lang="en-US" sz="2000" b="0" u="none" strike="noStrike">
                <a:solidFill>
                  <a:srgbClr val="000000"/>
                </a:solidFill>
                <a:effectLst/>
                <a:uFillTx/>
                <a:latin typeface="Arial"/>
              </a:rPr>
              <a:t>τρέχει.</a:t>
            </a:r>
            <a:endParaRPr lang="en-US" sz="2000" b="0" u="none" strike="noStrike">
              <a:solidFill>
                <a:srgbClr val="000000"/>
              </a:solidFill>
              <a:effectLst/>
              <a:uFillTx/>
              <a:latin typeface="Arial"/>
            </a:endParaRPr>
          </a:p>
        </p:txBody>
      </p:sp>
      <p:sp>
        <p:nvSpPr>
          <p:cNvPr id="448" name="PlaceHolder 3"/>
          <p:cNvSpPr>
            <a:spLocks noGrp="1"/>
          </p:cNvSpPr>
          <p:nvPr>
            <p:ph type="sldNum" idx="16"/>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AB59851-94D8-4396-A0E9-8350037B638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1143000" y="685800"/>
            <a:ext cx="4571280" cy="3428280"/>
          </a:xfrm>
          <a:prstGeom prst="rect">
            <a:avLst/>
          </a:prstGeom>
          <a:ln w="0">
            <a:noFill/>
          </a:ln>
        </p:spPr>
      </p:sp>
      <p:sp>
        <p:nvSpPr>
          <p:cNvPr id="45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endParaRPr lang="en-US" sz="2000" b="0" u="none" strike="noStrike">
              <a:solidFill>
                <a:srgbClr val="000000"/>
              </a:solidFill>
              <a:effectLst/>
              <a:uFillTx/>
              <a:latin typeface="Arial"/>
            </a:endParaRPr>
          </a:p>
        </p:txBody>
      </p:sp>
      <p:sp>
        <p:nvSpPr>
          <p:cNvPr id="451" name="PlaceHolder 3"/>
          <p:cNvSpPr>
            <a:spLocks noGrp="1"/>
          </p:cNvSpPr>
          <p:nvPr>
            <p:ph type="sldNum" idx="1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A561D05-9DDD-4397-B304-7EB8367DE86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1143000" y="685800"/>
            <a:ext cx="4571280" cy="3428280"/>
          </a:xfrm>
          <a:prstGeom prst="rect">
            <a:avLst/>
          </a:prstGeom>
          <a:ln w="0">
            <a:noFill/>
          </a:ln>
        </p:spPr>
      </p:sp>
      <p:sp>
        <p:nvSpPr>
          <p:cNvPr id="45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endParaRPr lang="en-US" sz="2000" b="0" u="none" strike="noStrike">
              <a:solidFill>
                <a:srgbClr val="000000"/>
              </a:solidFill>
              <a:effectLst/>
              <a:uFillTx/>
              <a:latin typeface="Arial"/>
            </a:endParaRPr>
          </a:p>
        </p:txBody>
      </p:sp>
      <p:sp>
        <p:nvSpPr>
          <p:cNvPr id="454" name="PlaceHolder 3"/>
          <p:cNvSpPr>
            <a:spLocks noGrp="1"/>
          </p:cNvSpPr>
          <p:nvPr>
            <p:ph type="sldNum" idx="1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4D18C79-34C3-4EE2-A3F6-49F1D739779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1143000" y="685800"/>
            <a:ext cx="4571280" cy="3428280"/>
          </a:xfrm>
          <a:prstGeom prst="rect">
            <a:avLst/>
          </a:prstGeom>
          <a:ln w="0">
            <a:noFill/>
          </a:ln>
        </p:spPr>
      </p:sp>
      <p:sp>
        <p:nvSpPr>
          <p:cNvPr id="45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endParaRPr lang="en-US" sz="2000" b="0" u="none" strike="noStrike">
              <a:solidFill>
                <a:srgbClr val="000000"/>
              </a:solidFill>
              <a:effectLst/>
              <a:uFillTx/>
              <a:latin typeface="Arial"/>
            </a:endParaRPr>
          </a:p>
        </p:txBody>
      </p:sp>
      <p:sp>
        <p:nvSpPr>
          <p:cNvPr id="457" name="PlaceHolder 3"/>
          <p:cNvSpPr>
            <a:spLocks noGrp="1"/>
          </p:cNvSpPr>
          <p:nvPr>
            <p:ph type="sldNum" idx="1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654BE5A-8FB6-45B2-82CE-98E3B7DBA39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1143000" y="685800"/>
            <a:ext cx="4571280" cy="3428280"/>
          </a:xfrm>
          <a:prstGeom prst="rect">
            <a:avLst/>
          </a:prstGeom>
          <a:ln w="0">
            <a:noFill/>
          </a:ln>
        </p:spPr>
      </p:sp>
      <p:sp>
        <p:nvSpPr>
          <p:cNvPr id="45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endParaRPr lang="en-US" sz="2000" b="0" u="none" strike="noStrike">
              <a:solidFill>
                <a:srgbClr val="000000"/>
              </a:solidFill>
              <a:effectLst/>
              <a:uFillTx/>
              <a:latin typeface="Arial"/>
            </a:endParaRPr>
          </a:p>
        </p:txBody>
      </p:sp>
      <p:sp>
        <p:nvSpPr>
          <p:cNvPr id="460" name="PlaceHolder 3"/>
          <p:cNvSpPr>
            <a:spLocks noGrp="1"/>
          </p:cNvSpPr>
          <p:nvPr>
            <p:ph type="sldNum" idx="2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5A2C5FD-0AD5-48AC-A4A8-A475B5DAE55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1143000" y="685800"/>
            <a:ext cx="4571280" cy="3428280"/>
          </a:xfrm>
          <a:prstGeom prst="rect">
            <a:avLst/>
          </a:prstGeom>
          <a:ln w="0">
            <a:noFill/>
          </a:ln>
        </p:spPr>
      </p:sp>
      <p:sp>
        <p:nvSpPr>
          <p:cNvPr id="46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Τρίτ</a:t>
            </a:r>
            <a:r>
              <a:rPr lang="en-US" sz="2000" b="0" u="none" strike="noStrike">
                <a:solidFill>
                  <a:srgbClr val="000000"/>
                </a:solidFill>
                <a:effectLst/>
                <a:uFillTx/>
                <a:latin typeface="Arial"/>
              </a:rPr>
              <a:t>ο </a:t>
            </a:r>
            <a:r>
              <a:rPr lang="en-US" sz="2000" b="0" u="none" strike="noStrike">
                <a:solidFill>
                  <a:srgbClr val="000000"/>
                </a:solidFill>
                <a:effectLst/>
                <a:uFillTx/>
                <a:latin typeface="Arial"/>
              </a:rPr>
              <a:t>μέρο</a:t>
            </a:r>
            <a:r>
              <a:rPr lang="en-US" sz="2000" b="0" u="none" strike="noStrike">
                <a:solidFill>
                  <a:srgbClr val="000000"/>
                </a:solidFill>
                <a:effectLst/>
                <a:uFillTx/>
                <a:latin typeface="Arial"/>
              </a:rPr>
              <a:t>ς: τι </a:t>
            </a:r>
            <a:r>
              <a:rPr lang="en-US" sz="2000" b="0" u="none" strike="noStrike">
                <a:solidFill>
                  <a:srgbClr val="000000"/>
                </a:solidFill>
                <a:effectLst/>
                <a:uFillTx/>
                <a:latin typeface="Arial"/>
              </a:rPr>
              <a:t>βρή</a:t>
            </a:r>
            <a:r>
              <a:rPr lang="en-US" sz="2000" b="0" u="none" strike="noStrike">
                <a:solidFill>
                  <a:srgbClr val="000000"/>
                </a:solidFill>
                <a:effectLst/>
                <a:uFillTx/>
                <a:latin typeface="Arial"/>
              </a:rPr>
              <a:t>καμε </a:t>
            </a:r>
            <a:r>
              <a:rPr lang="en-US" sz="2000" b="0" u="none" strike="noStrike">
                <a:solidFill>
                  <a:srgbClr val="000000"/>
                </a:solidFill>
                <a:effectLst/>
                <a:uFillTx/>
                <a:latin typeface="Arial"/>
              </a:rPr>
              <a:t>μέσ</a:t>
            </a:r>
            <a:r>
              <a:rPr lang="en-US" sz="2000" b="0" u="none" strike="noStrike">
                <a:solidFill>
                  <a:srgbClr val="000000"/>
                </a:solidFill>
                <a:effectLst/>
                <a:uFillTx/>
                <a:latin typeface="Arial"/>
              </a:rPr>
              <a:t>α </a:t>
            </a:r>
            <a:r>
              <a:rPr lang="en-US" sz="2000" b="0" u="none" strike="noStrike">
                <a:solidFill>
                  <a:srgbClr val="000000"/>
                </a:solidFill>
                <a:effectLst/>
                <a:uFillTx/>
                <a:latin typeface="Arial"/>
              </a:rPr>
              <a:t>στα </a:t>
            </a:r>
            <a:r>
              <a:rPr lang="en-US" sz="2000" b="0" u="none" strike="noStrike">
                <a:solidFill>
                  <a:srgbClr val="000000"/>
                </a:solidFill>
                <a:effectLst/>
                <a:uFillTx/>
                <a:latin typeface="Arial"/>
              </a:rPr>
              <a:t>δεδο</a:t>
            </a:r>
            <a:r>
              <a:rPr lang="en-US" sz="2000" b="0" u="none" strike="noStrike">
                <a:solidFill>
                  <a:srgbClr val="000000"/>
                </a:solidFill>
                <a:effectLst/>
                <a:uFillTx/>
                <a:latin typeface="Arial"/>
              </a:rPr>
              <a:t>μένα</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p:txBody>
      </p:sp>
      <p:sp>
        <p:nvSpPr>
          <p:cNvPr id="463" name="PlaceHolder 3"/>
          <p:cNvSpPr>
            <a:spLocks noGrp="1"/>
          </p:cNvSpPr>
          <p:nvPr>
            <p:ph type="sldNum" idx="2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8D36920-7D4B-48FB-A25A-100E2D214FF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1143000" y="685800"/>
            <a:ext cx="4571280" cy="3428280"/>
          </a:xfrm>
          <a:prstGeom prst="rect">
            <a:avLst/>
          </a:prstGeom>
          <a:ln w="0">
            <a:noFill/>
          </a:ln>
        </p:spPr>
      </p:sp>
      <p:sp>
        <p:nvSpPr>
          <p:cNvPr id="46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endParaRPr lang="en-US" sz="2000" b="0" u="none" strike="noStrike">
              <a:solidFill>
                <a:srgbClr val="000000"/>
              </a:solidFill>
              <a:effectLst/>
              <a:uFillTx/>
              <a:latin typeface="Arial"/>
            </a:endParaRPr>
          </a:p>
        </p:txBody>
      </p:sp>
      <p:sp>
        <p:nvSpPr>
          <p:cNvPr id="466" name="PlaceHolder 3"/>
          <p:cNvSpPr>
            <a:spLocks noGrp="1"/>
          </p:cNvSpPr>
          <p:nvPr>
            <p:ph type="sldNum" idx="2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82CE300-6CC0-462B-A13A-1DFD33B948E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sldImg"/>
          </p:nvPr>
        </p:nvSpPr>
        <p:spPr>
          <a:xfrm>
            <a:off x="1143000" y="685800"/>
            <a:ext cx="4571280" cy="3428280"/>
          </a:xfrm>
          <a:prstGeom prst="rect">
            <a:avLst/>
          </a:prstGeom>
          <a:ln w="0">
            <a:noFill/>
          </a:ln>
        </p:spPr>
      </p:sp>
      <p:sp>
        <p:nvSpPr>
          <p:cNvPr id="46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endParaRPr lang="en-US" sz="2000" b="0" u="none" strike="noStrike">
              <a:solidFill>
                <a:srgbClr val="000000"/>
              </a:solidFill>
              <a:effectLst/>
              <a:uFillTx/>
              <a:latin typeface="Arial"/>
            </a:endParaRPr>
          </a:p>
        </p:txBody>
      </p:sp>
      <p:sp>
        <p:nvSpPr>
          <p:cNvPr id="469" name="PlaceHolder 3"/>
          <p:cNvSpPr>
            <a:spLocks noGrp="1"/>
          </p:cNvSpPr>
          <p:nvPr>
            <p:ph type="sldNum" idx="2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4DDF089-C05A-47F7-919A-A2C303ABE47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0" name="PlaceHolder 1"/>
          <p:cNvSpPr>
            <a:spLocks noGrp="1"/>
          </p:cNvSpPr>
          <p:nvPr>
            <p:ph type="sldImg"/>
          </p:nvPr>
        </p:nvSpPr>
        <p:spPr>
          <a:xfrm>
            <a:off x="1143000" y="685800"/>
            <a:ext cx="4571280" cy="3428280"/>
          </a:xfrm>
          <a:prstGeom prst="rect">
            <a:avLst/>
          </a:prstGeom>
          <a:ln w="0">
            <a:noFill/>
          </a:ln>
        </p:spPr>
      </p:sp>
      <p:sp>
        <p:nvSpPr>
          <p:cNvPr id="47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Πότε μέσα στον χρόνο γίνονται οι πωλήσεις και σε τι τιμές. Ο Νοέμβριος κορυφώνει και τις δύο </a:t>
            </a:r>
            <a:r>
              <a:rPr lang="en-US" sz="2000" b="0" u="none" strike="noStrike">
                <a:solidFill>
                  <a:srgbClr val="000000"/>
                </a:solidFill>
                <a:effectLst/>
                <a:uFillTx/>
                <a:latin typeface="Arial"/>
              </a:rPr>
              <a:t>χρονιές. Τα φθηνά προϊόντα κάνουν τα δύο τρίτα των εσόδων.</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τίμιο σημείο εδώ είναι το 38,9%. Δεν μπορέσαμε να κατηγοριοποιήσουμε τόσα </a:t>
            </a:r>
            <a:r>
              <a:rPr lang="en-US" sz="2000" b="0" u="none" strike="noStrike">
                <a:solidFill>
                  <a:srgbClr val="000000"/>
                </a:solidFill>
                <a:effectLst/>
                <a:uFillTx/>
                <a:latin typeface="Arial"/>
              </a:rPr>
              <a:t>έσοδα, γιατί στα δεδομένα δεν υπάρχει κατηγορία προϊόντος, μόνο η περιγραφή σε ελεύθερο </a:t>
            </a:r>
            <a:r>
              <a:rPr lang="en-US" sz="2000" b="0" u="none" strike="noStrike">
                <a:solidFill>
                  <a:srgbClr val="000000"/>
                </a:solidFill>
                <a:effectLst/>
                <a:uFillTx/>
                <a:latin typeface="Arial"/>
              </a:rPr>
              <a:t>κείμενο. Το ποσοστό που μένει αταξινόμητο είναι το πραγματικό μέτρο ακρίβειας της μεθόδου, </a:t>
            </a:r>
            <a:r>
              <a:rPr lang="en-US" sz="2000" b="0" u="none" strike="noStrike">
                <a:solidFill>
                  <a:srgbClr val="000000"/>
                </a:solidFill>
                <a:effectLst/>
                <a:uFillTx/>
                <a:latin typeface="Arial"/>
              </a:rPr>
              <a:t>οπότε δηλώνεται ανοιχτά.</a:t>
            </a:r>
            <a:endParaRPr lang="en-US" sz="2000" b="0" u="none" strike="noStrike">
              <a:solidFill>
                <a:srgbClr val="000000"/>
              </a:solidFill>
              <a:effectLst/>
              <a:uFillTx/>
              <a:latin typeface="Arial"/>
            </a:endParaRPr>
          </a:p>
        </p:txBody>
      </p:sp>
      <p:sp>
        <p:nvSpPr>
          <p:cNvPr id="472" name="PlaceHolder 3"/>
          <p:cNvSpPr>
            <a:spLocks noGrp="1"/>
          </p:cNvSpPr>
          <p:nvPr>
            <p:ph type="sldNum" idx="2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4249DA1-3CDE-477D-A070-3D5ADE343C1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1143000" y="685800"/>
            <a:ext cx="4571280" cy="3428280"/>
          </a:xfrm>
          <a:prstGeom prst="rect">
            <a:avLst/>
          </a:prstGeom>
          <a:ln w="0">
            <a:noFill/>
          </a:ln>
        </p:spPr>
      </p:sp>
      <p:sp>
        <p:nvSpPr>
          <p:cNvPr id="47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Φανταστεί</a:t>
            </a:r>
            <a:r>
              <a:rPr lang="en-US" sz="2000" b="0" u="none" strike="noStrike">
                <a:solidFill>
                  <a:srgbClr val="000000"/>
                </a:solidFill>
                <a:effectLst/>
                <a:uFillTx/>
                <a:latin typeface="Arial"/>
              </a:rPr>
              <a:t>τε χιλιάδες </a:t>
            </a:r>
            <a:r>
              <a:rPr lang="en-US" sz="2000" b="0" u="none" strike="noStrike">
                <a:solidFill>
                  <a:srgbClr val="000000"/>
                </a:solidFill>
                <a:effectLst/>
                <a:uFillTx/>
                <a:latin typeface="Arial"/>
              </a:rPr>
              <a:t>αποδείξεις </a:t>
            </a:r>
            <a:r>
              <a:rPr lang="en-US" sz="2000" b="0" u="none" strike="noStrike">
                <a:solidFill>
                  <a:srgbClr val="000000"/>
                </a:solidFill>
                <a:effectLst/>
                <a:uFillTx/>
                <a:latin typeface="Arial"/>
              </a:rPr>
              <a:t>από ένα </a:t>
            </a:r>
            <a:r>
              <a:rPr lang="en-US" sz="2000" b="0" u="none" strike="noStrike">
                <a:solidFill>
                  <a:srgbClr val="000000"/>
                </a:solidFill>
                <a:effectLst/>
                <a:uFillTx/>
                <a:latin typeface="Arial"/>
              </a:rPr>
              <a:t>μαγαζί. </a:t>
            </a:r>
            <a:r>
              <a:rPr lang="en-US" sz="2000" b="0" u="none" strike="noStrike">
                <a:solidFill>
                  <a:srgbClr val="000000"/>
                </a:solidFill>
                <a:effectLst/>
                <a:uFillTx/>
                <a:latin typeface="Arial"/>
              </a:rPr>
              <a:t>Θέλουμε </a:t>
            </a:r>
            <a:r>
              <a:rPr lang="en-US" sz="2000" b="0" u="none" strike="noStrike">
                <a:solidFill>
                  <a:srgbClr val="000000"/>
                </a:solidFill>
                <a:effectLst/>
                <a:uFillTx/>
                <a:latin typeface="Arial"/>
              </a:rPr>
              <a:t>να βρούμε </a:t>
            </a:r>
            <a:r>
              <a:rPr lang="en-US" sz="2000" b="0" u="none" strike="noStrike">
                <a:solidFill>
                  <a:srgbClr val="000000"/>
                </a:solidFill>
                <a:effectLst/>
                <a:uFillTx/>
                <a:latin typeface="Arial"/>
              </a:rPr>
              <a:t>ποια </a:t>
            </a:r>
            <a:r>
              <a:rPr lang="en-US" sz="2000" b="0" u="none" strike="noStrike">
                <a:solidFill>
                  <a:srgbClr val="000000"/>
                </a:solidFill>
                <a:effectLst/>
                <a:uFillTx/>
                <a:latin typeface="Arial"/>
              </a:rPr>
              <a:t>προϊόντα </a:t>
            </a:r>
            <a:r>
              <a:rPr lang="en-US" sz="2000" b="0" u="none" strike="noStrike">
                <a:solidFill>
                  <a:srgbClr val="000000"/>
                </a:solidFill>
                <a:effectLst/>
                <a:uFillTx/>
                <a:latin typeface="Arial"/>
              </a:rPr>
              <a:t>αγοράζοντ</a:t>
            </a:r>
            <a:r>
              <a:rPr lang="en-US" sz="2000" b="0" u="none" strike="noStrike">
                <a:solidFill>
                  <a:srgbClr val="000000"/>
                </a:solidFill>
                <a:effectLst/>
                <a:uFillTx/>
                <a:latin typeface="Arial"/>
              </a:rPr>
              <a:t>αι μαζί πιο </a:t>
            </a:r>
            <a:r>
              <a:rPr lang="en-US" sz="2000" b="0" u="none" strike="noStrike">
                <a:solidFill>
                  <a:srgbClr val="000000"/>
                </a:solidFill>
                <a:effectLst/>
                <a:uFillTx/>
                <a:latin typeface="Arial"/>
              </a:rPr>
              <a:t>συχνά απ' </a:t>
            </a:r>
            <a:r>
              <a:rPr lang="en-US" sz="2000" b="0" u="none" strike="noStrike">
                <a:solidFill>
                  <a:srgbClr val="000000"/>
                </a:solidFill>
                <a:effectLst/>
                <a:uFillTx/>
                <a:latin typeface="Arial"/>
              </a:rPr>
              <a:t>ό,τι θα </a:t>
            </a:r>
            <a:r>
              <a:rPr lang="en-US" sz="2000" b="0" u="none" strike="noStrike">
                <a:solidFill>
                  <a:srgbClr val="000000"/>
                </a:solidFill>
                <a:effectLst/>
                <a:uFillTx/>
                <a:latin typeface="Arial"/>
              </a:rPr>
              <a:t>περιμέναμ</a:t>
            </a:r>
            <a:r>
              <a:rPr lang="en-US" sz="2000" b="0" u="none" strike="noStrike">
                <a:solidFill>
                  <a:srgbClr val="000000"/>
                </a:solidFill>
                <a:effectLst/>
                <a:uFillTx/>
                <a:latin typeface="Arial"/>
              </a:rPr>
              <a:t>ε στην </a:t>
            </a:r>
            <a:r>
              <a:rPr lang="en-US" sz="2000" b="0" u="none" strike="noStrike">
                <a:solidFill>
                  <a:srgbClr val="000000"/>
                </a:solidFill>
                <a:effectLst/>
                <a:uFillTx/>
                <a:latin typeface="Arial"/>
              </a:rPr>
              <a:t>τύχη.</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a:t>
            </a:r>
            <a:r>
              <a:rPr lang="en-US" sz="2000" b="0" u="none" strike="noStrike">
                <a:solidFill>
                  <a:srgbClr val="000000"/>
                </a:solidFill>
                <a:effectLst/>
                <a:uFillTx/>
                <a:latin typeface="Arial"/>
              </a:rPr>
              <a:t>ΤΙΚΑ: </a:t>
            </a:r>
            <a:r>
              <a:rPr lang="en-US" sz="2000" b="0" u="none" strike="noStrike">
                <a:solidFill>
                  <a:srgbClr val="000000"/>
                </a:solidFill>
                <a:effectLst/>
                <a:uFillTx/>
                <a:latin typeface="Arial"/>
              </a:rPr>
              <a:t>Παράδειγμ</a:t>
            </a:r>
            <a:r>
              <a:rPr lang="en-US" sz="2000" b="0" u="none" strike="noStrike">
                <a:solidFill>
                  <a:srgbClr val="000000"/>
                </a:solidFill>
                <a:effectLst/>
                <a:uFillTx/>
                <a:latin typeface="Arial"/>
              </a:rPr>
              <a:t>α με δέκα </a:t>
            </a:r>
            <a:r>
              <a:rPr lang="en-US" sz="2000" b="0" u="none" strike="noStrike">
                <a:solidFill>
                  <a:srgbClr val="000000"/>
                </a:solidFill>
                <a:effectLst/>
                <a:uFillTx/>
                <a:latin typeface="Arial"/>
              </a:rPr>
              <a:t>αποδείξεις</a:t>
            </a:r>
            <a:r>
              <a:rPr lang="en-US" sz="2000" b="0" u="none" strike="noStrike">
                <a:solidFill>
                  <a:srgbClr val="000000"/>
                </a:solidFill>
                <a:effectLst/>
                <a:uFillTx/>
                <a:latin typeface="Arial"/>
              </a:rPr>
              <a:t>, όπου οι </a:t>
            </a:r>
            <a:r>
              <a:rPr lang="en-US" sz="2000" b="0" u="none" strike="noStrike">
                <a:solidFill>
                  <a:srgbClr val="000000"/>
                </a:solidFill>
                <a:effectLst/>
                <a:uFillTx/>
                <a:latin typeface="Arial"/>
              </a:rPr>
              <a:t>τρεις </a:t>
            </a:r>
            <a:r>
              <a:rPr lang="en-US" sz="2000" b="0" u="none" strike="noStrike">
                <a:solidFill>
                  <a:srgbClr val="000000"/>
                </a:solidFill>
                <a:effectLst/>
                <a:uFillTx/>
                <a:latin typeface="Arial"/>
              </a:rPr>
              <a:t>έχουν </a:t>
            </a:r>
            <a:r>
              <a:rPr lang="en-US" sz="2000" b="0" u="none" strike="noStrike">
                <a:solidFill>
                  <a:srgbClr val="000000"/>
                </a:solidFill>
                <a:effectLst/>
                <a:uFillTx/>
                <a:latin typeface="Arial"/>
              </a:rPr>
              <a:t>ψωμί και </a:t>
            </a:r>
            <a:r>
              <a:rPr lang="en-US" sz="2000" b="0" u="none" strike="noStrike">
                <a:solidFill>
                  <a:srgbClr val="000000"/>
                </a:solidFill>
                <a:effectLst/>
                <a:uFillTx/>
                <a:latin typeface="Arial"/>
              </a:rPr>
              <a:t>βούτυρο </a:t>
            </a:r>
            <a:r>
              <a:rPr lang="en-US" sz="2000" b="0" u="none" strike="noStrike">
                <a:solidFill>
                  <a:srgbClr val="000000"/>
                </a:solidFill>
                <a:effectLst/>
                <a:uFillTx/>
                <a:latin typeface="Arial"/>
              </a:rPr>
              <a:t>μαζί. </a:t>
            </a:r>
            <a:r>
              <a:rPr lang="en-US" sz="2000" b="0" u="none" strike="noStrike">
                <a:solidFill>
                  <a:srgbClr val="000000"/>
                </a:solidFill>
                <a:effectLst/>
                <a:uFillTx/>
                <a:latin typeface="Arial"/>
              </a:rPr>
              <a:t>Support </a:t>
            </a:r>
            <a:r>
              <a:rPr lang="en-US" sz="2000" b="0" u="none" strike="noStrike">
                <a:solidFill>
                  <a:srgbClr val="000000"/>
                </a:solidFill>
                <a:effectLst/>
                <a:uFillTx/>
                <a:latin typeface="Arial"/>
              </a:rPr>
              <a:t>ίσον τρία </a:t>
            </a:r>
            <a:r>
              <a:rPr lang="en-US" sz="2000" b="0" u="none" strike="noStrike">
                <a:solidFill>
                  <a:srgbClr val="000000"/>
                </a:solidFill>
                <a:effectLst/>
                <a:uFillTx/>
                <a:latin typeface="Arial"/>
              </a:rPr>
              <a:t>δέκατα,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0,3. Αν το </a:t>
            </a:r>
            <a:r>
              <a:rPr lang="en-US" sz="2000" b="0" u="none" strike="noStrike">
                <a:solidFill>
                  <a:srgbClr val="000000"/>
                </a:solidFill>
                <a:effectLst/>
                <a:uFillTx/>
                <a:latin typeface="Arial"/>
              </a:rPr>
              <a:t>ψωμί </a:t>
            </a:r>
            <a:r>
              <a:rPr lang="en-US" sz="2000" b="0" u="none" strike="noStrike">
                <a:solidFill>
                  <a:srgbClr val="000000"/>
                </a:solidFill>
                <a:effectLst/>
                <a:uFillTx/>
                <a:latin typeface="Arial"/>
              </a:rPr>
              <a:t>υπάρχει </a:t>
            </a:r>
            <a:r>
              <a:rPr lang="en-US" sz="2000" b="0" u="none" strike="noStrike">
                <a:solidFill>
                  <a:srgbClr val="000000"/>
                </a:solidFill>
                <a:effectLst/>
                <a:uFillTx/>
                <a:latin typeface="Arial"/>
              </a:rPr>
              <a:t>σε πέντε </a:t>
            </a:r>
            <a:r>
              <a:rPr lang="en-US" sz="2000" b="0" u="none" strike="noStrike">
                <a:solidFill>
                  <a:srgbClr val="000000"/>
                </a:solidFill>
                <a:effectLst/>
                <a:uFillTx/>
                <a:latin typeface="Arial"/>
              </a:rPr>
              <a:t>αποδείξεις</a:t>
            </a:r>
            <a:r>
              <a:rPr lang="en-US" sz="2000" b="0" u="none" strike="noStrike">
                <a:solidFill>
                  <a:srgbClr val="000000"/>
                </a:solidFill>
                <a:effectLst/>
                <a:uFillTx/>
                <a:latin typeface="Arial"/>
              </a:rPr>
              <a:t>, το </a:t>
            </a:r>
            <a:r>
              <a:rPr lang="en-US" sz="2000" b="0" u="none" strike="noStrike">
                <a:solidFill>
                  <a:srgbClr val="000000"/>
                </a:solidFill>
                <a:effectLst/>
                <a:uFillTx/>
                <a:latin typeface="Arial"/>
              </a:rPr>
              <a:t>confidenc</a:t>
            </a:r>
            <a:r>
              <a:rPr lang="en-US" sz="2000" b="0" u="none" strike="noStrike">
                <a:solidFill>
                  <a:srgbClr val="000000"/>
                </a:solidFill>
                <a:effectLst/>
                <a:uFillTx/>
                <a:latin typeface="Arial"/>
              </a:rPr>
              <a:t>e είναι </a:t>
            </a:r>
            <a:r>
              <a:rPr lang="en-US" sz="2000" b="0" u="none" strike="noStrike">
                <a:solidFill>
                  <a:srgbClr val="000000"/>
                </a:solidFill>
                <a:effectLst/>
                <a:uFillTx/>
                <a:latin typeface="Arial"/>
              </a:rPr>
              <a:t>τρία </a:t>
            </a:r>
            <a:r>
              <a:rPr lang="en-US" sz="2000" b="0" u="none" strike="noStrike">
                <a:solidFill>
                  <a:srgbClr val="000000"/>
                </a:solidFill>
                <a:effectLst/>
                <a:uFillTx/>
                <a:latin typeface="Arial"/>
              </a:rPr>
              <a:t>πέμπτα,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0,6. Τώρα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κρίσιμο. </a:t>
            </a:r>
            <a:r>
              <a:rPr lang="en-US" sz="2000" b="0" u="none" strike="noStrike">
                <a:solidFill>
                  <a:srgbClr val="000000"/>
                </a:solidFill>
                <a:effectLst/>
                <a:uFillTx/>
                <a:latin typeface="Arial"/>
              </a:rPr>
              <a:t>Αν το </a:t>
            </a:r>
            <a:r>
              <a:rPr lang="en-US" sz="2000" b="0" u="none" strike="noStrike">
                <a:solidFill>
                  <a:srgbClr val="000000"/>
                </a:solidFill>
                <a:effectLst/>
                <a:uFillTx/>
                <a:latin typeface="Arial"/>
              </a:rPr>
              <a:t>βούτυρο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ούτως ή </a:t>
            </a:r>
            <a:r>
              <a:rPr lang="en-US" sz="2000" b="0" u="none" strike="noStrike">
                <a:solidFill>
                  <a:srgbClr val="000000"/>
                </a:solidFill>
                <a:effectLst/>
                <a:uFillTx/>
                <a:latin typeface="Arial"/>
              </a:rPr>
              <a:t>άλλως </a:t>
            </a:r>
            <a:r>
              <a:rPr lang="en-US" sz="2000" b="0" u="none" strike="noStrike">
                <a:solidFill>
                  <a:srgbClr val="000000"/>
                </a:solidFill>
                <a:effectLst/>
                <a:uFillTx/>
                <a:latin typeface="Arial"/>
              </a:rPr>
              <a:t>δημοφιλές</a:t>
            </a:r>
            <a:r>
              <a:rPr lang="en-US" sz="2000" b="0" u="none" strike="noStrike">
                <a:solidFill>
                  <a:srgbClr val="000000"/>
                </a:solidFill>
                <a:effectLst/>
                <a:uFillTx/>
                <a:latin typeface="Arial"/>
              </a:rPr>
              <a:t>, με </a:t>
            </a:r>
            <a:r>
              <a:rPr lang="en-US" sz="2000" b="0" u="none" strike="noStrike">
                <a:solidFill>
                  <a:srgbClr val="000000"/>
                </a:solidFill>
                <a:effectLst/>
                <a:uFillTx/>
                <a:latin typeface="Arial"/>
              </a:rPr>
              <a:t>support </a:t>
            </a:r>
            <a:r>
              <a:rPr lang="en-US" sz="2000" b="0" u="none" strike="noStrike">
                <a:solidFill>
                  <a:srgbClr val="000000"/>
                </a:solidFill>
                <a:effectLst/>
                <a:uFillTx/>
                <a:latin typeface="Arial"/>
              </a:rPr>
              <a:t>0,8, τότε </a:t>
            </a:r>
            <a:r>
              <a:rPr lang="en-US" sz="2000" b="0" u="none" strike="noStrike">
                <a:solidFill>
                  <a:srgbClr val="000000"/>
                </a:solidFill>
                <a:effectLst/>
                <a:uFillTx/>
                <a:latin typeface="Arial"/>
              </a:rPr>
              <a:t>το lift είναι </a:t>
            </a:r>
            <a:r>
              <a:rPr lang="en-US" sz="2000" b="0" u="none" strike="noStrike">
                <a:solidFill>
                  <a:srgbClr val="000000"/>
                </a:solidFill>
                <a:effectLst/>
                <a:uFillTx/>
                <a:latin typeface="Arial"/>
              </a:rPr>
              <a:t>0,6 διά </a:t>
            </a:r>
            <a:r>
              <a:rPr lang="en-US" sz="2000" b="0" u="none" strike="noStrike">
                <a:solidFill>
                  <a:srgbClr val="000000"/>
                </a:solidFill>
                <a:effectLst/>
                <a:uFillTx/>
                <a:latin typeface="Arial"/>
              </a:rPr>
              <a:t>0,8, ίσον </a:t>
            </a:r>
            <a:r>
              <a:rPr lang="en-US" sz="2000" b="0" u="none" strike="noStrike">
                <a:solidFill>
                  <a:srgbClr val="000000"/>
                </a:solidFill>
                <a:effectLst/>
                <a:uFillTx/>
                <a:latin typeface="Arial"/>
              </a:rPr>
              <a:t>0,75, κάτω </a:t>
            </a:r>
            <a:r>
              <a:rPr lang="en-US" sz="2000" b="0" u="none" strike="noStrike">
                <a:solidFill>
                  <a:srgbClr val="000000"/>
                </a:solidFill>
                <a:effectLst/>
                <a:uFillTx/>
                <a:latin typeface="Arial"/>
              </a:rPr>
              <a:t>από ένα, </a:t>
            </a:r>
            <a:r>
              <a:rPr lang="en-US" sz="2000" b="0" u="none" strike="noStrike">
                <a:solidFill>
                  <a:srgbClr val="000000"/>
                </a:solidFill>
                <a:effectLst/>
                <a:uFillTx/>
                <a:latin typeface="Arial"/>
              </a:rPr>
              <a:t>καμία </a:t>
            </a:r>
            <a:r>
              <a:rPr lang="en-US" sz="2000" b="0" u="none" strike="noStrike">
                <a:solidFill>
                  <a:srgbClr val="000000"/>
                </a:solidFill>
                <a:effectLst/>
                <a:uFillTx/>
                <a:latin typeface="Arial"/>
              </a:rPr>
              <a:t>πραγματικ</a:t>
            </a:r>
            <a:r>
              <a:rPr lang="en-US" sz="2000" b="0" u="none" strike="noStrike">
                <a:solidFill>
                  <a:srgbClr val="000000"/>
                </a:solidFill>
                <a:effectLst/>
                <a:uFillTx/>
                <a:latin typeface="Arial"/>
              </a:rPr>
              <a:t>ή σχέση. </a:t>
            </a:r>
            <a:r>
              <a:rPr lang="en-US" sz="2000" b="0" u="none" strike="noStrike">
                <a:solidFill>
                  <a:srgbClr val="000000"/>
                </a:solidFill>
                <a:effectLst/>
                <a:uFillTx/>
                <a:latin typeface="Arial"/>
              </a:rPr>
              <a:t>Αν το </a:t>
            </a:r>
            <a:r>
              <a:rPr lang="en-US" sz="2000" b="0" u="none" strike="noStrike">
                <a:solidFill>
                  <a:srgbClr val="000000"/>
                </a:solidFill>
                <a:effectLst/>
                <a:uFillTx/>
                <a:latin typeface="Arial"/>
              </a:rPr>
              <a:t>βούτυρο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σπάνιο, με </a:t>
            </a:r>
            <a:r>
              <a:rPr lang="en-US" sz="2000" b="0" u="none" strike="noStrike">
                <a:solidFill>
                  <a:srgbClr val="000000"/>
                </a:solidFill>
                <a:effectLst/>
                <a:uFillTx/>
                <a:latin typeface="Arial"/>
              </a:rPr>
              <a:t>support </a:t>
            </a:r>
            <a:r>
              <a:rPr lang="en-US" sz="2000" b="0" u="none" strike="noStrike">
                <a:solidFill>
                  <a:srgbClr val="000000"/>
                </a:solidFill>
                <a:effectLst/>
                <a:uFillTx/>
                <a:latin typeface="Arial"/>
              </a:rPr>
              <a:t>0,2, τότε </a:t>
            </a:r>
            <a:r>
              <a:rPr lang="en-US" sz="2000" b="0" u="none" strike="noStrike">
                <a:solidFill>
                  <a:srgbClr val="000000"/>
                </a:solidFill>
                <a:effectLst/>
                <a:uFillTx/>
                <a:latin typeface="Arial"/>
              </a:rPr>
              <a:t>το lift είναι </a:t>
            </a:r>
            <a:r>
              <a:rPr lang="en-US" sz="2000" b="0" u="none" strike="noStrike">
                <a:solidFill>
                  <a:srgbClr val="000000"/>
                </a:solidFill>
                <a:effectLst/>
                <a:uFillTx/>
                <a:latin typeface="Arial"/>
              </a:rPr>
              <a:t>3, </a:t>
            </a:r>
            <a:r>
              <a:rPr lang="en-US" sz="2000" b="0" u="none" strike="noStrike">
                <a:solidFill>
                  <a:srgbClr val="000000"/>
                </a:solidFill>
                <a:effectLst/>
                <a:uFillTx/>
                <a:latin typeface="Arial"/>
              </a:rPr>
              <a:t>τριπλάσια </a:t>
            </a:r>
            <a:r>
              <a:rPr lang="en-US" sz="2000" b="0" u="none" strike="noStrike">
                <a:solidFill>
                  <a:srgbClr val="000000"/>
                </a:solidFill>
                <a:effectLst/>
                <a:uFillTx/>
                <a:latin typeface="Arial"/>
              </a:rPr>
              <a:t>πιθανότητ</a:t>
            </a:r>
            <a:r>
              <a:rPr lang="en-US" sz="2000" b="0" u="none" strike="noStrike">
                <a:solidFill>
                  <a:srgbClr val="000000"/>
                </a:solidFill>
                <a:effectLst/>
                <a:uFillTx/>
                <a:latin typeface="Arial"/>
              </a:rPr>
              <a:t>α από την </a:t>
            </a:r>
            <a:r>
              <a:rPr lang="en-US" sz="2000" b="0" u="none" strike="noStrike">
                <a:solidFill>
                  <a:srgbClr val="000000"/>
                </a:solidFill>
                <a:effectLst/>
                <a:uFillTx/>
                <a:latin typeface="Arial"/>
              </a:rPr>
              <a:t>τύχη. Οι </a:t>
            </a:r>
            <a:r>
              <a:rPr lang="en-US" sz="2000" b="0" u="none" strike="noStrike">
                <a:solidFill>
                  <a:srgbClr val="000000"/>
                </a:solidFill>
                <a:effectLst/>
                <a:uFillTx/>
                <a:latin typeface="Arial"/>
              </a:rPr>
              <a:t>τύποι είναι </a:t>
            </a:r>
            <a:r>
              <a:rPr lang="en-US" sz="2000" b="0" u="none" strike="noStrike">
                <a:solidFill>
                  <a:srgbClr val="000000"/>
                </a:solidFill>
                <a:effectLst/>
                <a:uFillTx/>
                <a:latin typeface="Arial"/>
              </a:rPr>
              <a:t>στις </a:t>
            </a:r>
            <a:r>
              <a:rPr lang="en-US" sz="2000" b="0" u="none" strike="noStrike">
                <a:solidFill>
                  <a:srgbClr val="000000"/>
                </a:solidFill>
                <a:effectLst/>
                <a:uFillTx/>
                <a:latin typeface="Arial"/>
              </a:rPr>
              <a:t>εφεδρικές </a:t>
            </a:r>
            <a:r>
              <a:rPr lang="en-US" sz="2000" b="0" u="none" strike="noStrike">
                <a:solidFill>
                  <a:srgbClr val="000000"/>
                </a:solidFill>
                <a:effectLst/>
                <a:uFillTx/>
                <a:latin typeface="Arial"/>
              </a:rPr>
              <a:t>διαφάνειες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a:t>
            </a:r>
            <a:r>
              <a:rPr lang="en-US" sz="2000" b="0" u="none" strike="noStrike">
                <a:solidFill>
                  <a:srgbClr val="000000"/>
                </a:solidFill>
                <a:effectLst/>
                <a:uFillTx/>
                <a:latin typeface="Arial"/>
              </a:rPr>
              <a:t>ΕΡΩΤΗΣΗ</a:t>
            </a:r>
            <a:r>
              <a:rPr lang="en-US" sz="2000" b="0" u="none" strike="noStrike">
                <a:solidFill>
                  <a:srgbClr val="000000"/>
                </a:solidFill>
                <a:effectLst/>
                <a:uFillTx/>
                <a:latin typeface="Arial"/>
              </a:rPr>
              <a:t>: «Γιατί </a:t>
            </a:r>
            <a:r>
              <a:rPr lang="en-US" sz="2000" b="0" u="none" strike="noStrike">
                <a:solidFill>
                  <a:srgbClr val="000000"/>
                </a:solidFill>
                <a:effectLst/>
                <a:uFillTx/>
                <a:latin typeface="Arial"/>
              </a:rPr>
              <a:t>δύο </a:t>
            </a:r>
            <a:r>
              <a:rPr lang="en-US" sz="2000" b="0" u="none" strike="noStrike">
                <a:solidFill>
                  <a:srgbClr val="000000"/>
                </a:solidFill>
                <a:effectLst/>
                <a:uFillTx/>
                <a:latin typeface="Arial"/>
              </a:rPr>
              <a:t>αλγόριθμο</a:t>
            </a:r>
            <a:r>
              <a:rPr lang="en-US" sz="2000" b="0" u="none" strike="noStrike">
                <a:solidFill>
                  <a:srgbClr val="000000"/>
                </a:solidFill>
                <a:effectLst/>
                <a:uFillTx/>
                <a:latin typeface="Arial"/>
              </a:rPr>
              <a:t>ι για το </a:t>
            </a:r>
            <a:r>
              <a:rPr lang="en-US" sz="2000" b="0" u="none" strike="noStrike">
                <a:solidFill>
                  <a:srgbClr val="000000"/>
                </a:solidFill>
                <a:effectLst/>
                <a:uFillTx/>
                <a:latin typeface="Arial"/>
              </a:rPr>
              <a:t>ίδιο </a:t>
            </a:r>
            <a:r>
              <a:rPr lang="en-US" sz="2000" b="0" u="none" strike="noStrike">
                <a:solidFill>
                  <a:srgbClr val="000000"/>
                </a:solidFill>
                <a:effectLst/>
                <a:uFillTx/>
                <a:latin typeface="Arial"/>
              </a:rPr>
              <a:t>πράγμα;» </a:t>
            </a:r>
            <a:r>
              <a:rPr lang="en-US" sz="2000" b="0" u="none" strike="noStrike">
                <a:solidFill>
                  <a:srgbClr val="000000"/>
                </a:solidFill>
                <a:effectLst/>
                <a:uFillTx/>
                <a:latin typeface="Arial"/>
              </a:rPr>
              <a:t>Το ζήτησε </a:t>
            </a:r>
            <a:r>
              <a:rPr lang="en-US" sz="2000" b="0" u="none" strike="noStrike">
                <a:solidFill>
                  <a:srgbClr val="000000"/>
                </a:solidFill>
                <a:effectLst/>
                <a:uFillTx/>
                <a:latin typeface="Arial"/>
              </a:rPr>
              <a:t>η </a:t>
            </a:r>
            <a:r>
              <a:rPr lang="en-US" sz="2000" b="0" u="none" strike="noStrike">
                <a:solidFill>
                  <a:srgbClr val="000000"/>
                </a:solidFill>
                <a:effectLst/>
                <a:uFillTx/>
                <a:latin typeface="Arial"/>
              </a:rPr>
              <a:t>επίβλεψη, </a:t>
            </a:r>
            <a:r>
              <a:rPr lang="en-US" sz="2000" b="0" u="none" strike="noStrike">
                <a:solidFill>
                  <a:srgbClr val="000000"/>
                </a:solidFill>
                <a:effectLst/>
                <a:uFillTx/>
                <a:latin typeface="Arial"/>
              </a:rPr>
              <a:t>και </a:t>
            </a:r>
            <a:r>
              <a:rPr lang="en-US" sz="2000" b="0" u="none" strike="noStrike">
                <a:solidFill>
                  <a:srgbClr val="000000"/>
                </a:solidFill>
                <a:effectLst/>
                <a:uFillTx/>
                <a:latin typeface="Arial"/>
              </a:rPr>
              <a:t>επέτρεψε </a:t>
            </a:r>
            <a:r>
              <a:rPr lang="en-US" sz="2000" b="0" u="none" strike="noStrike">
                <a:solidFill>
                  <a:srgbClr val="000000"/>
                </a:solidFill>
                <a:effectLst/>
                <a:uFillTx/>
                <a:latin typeface="Arial"/>
              </a:rPr>
              <a:t>να </a:t>
            </a:r>
            <a:r>
              <a:rPr lang="en-US" sz="2000" b="0" u="none" strike="noStrike">
                <a:solidFill>
                  <a:srgbClr val="000000"/>
                </a:solidFill>
                <a:effectLst/>
                <a:uFillTx/>
                <a:latin typeface="Arial"/>
              </a:rPr>
              <a:t>δείξουμε </a:t>
            </a:r>
            <a:r>
              <a:rPr lang="en-US" sz="2000" b="0" u="none" strike="noStrike">
                <a:solidFill>
                  <a:srgbClr val="000000"/>
                </a:solidFill>
                <a:effectLst/>
                <a:uFillTx/>
                <a:latin typeface="Arial"/>
              </a:rPr>
              <a:t>πειραματι</a:t>
            </a:r>
            <a:r>
              <a:rPr lang="en-US" sz="2000" b="0" u="none" strike="noStrike">
                <a:solidFill>
                  <a:srgbClr val="000000"/>
                </a:solidFill>
                <a:effectLst/>
                <a:uFillTx/>
                <a:latin typeface="Arial"/>
              </a:rPr>
              <a:t>κά ότι </a:t>
            </a:r>
            <a:r>
              <a:rPr lang="en-US" sz="2000" b="0" u="none" strike="noStrike">
                <a:solidFill>
                  <a:srgbClr val="000000"/>
                </a:solidFill>
                <a:effectLst/>
                <a:uFillTx/>
                <a:latin typeface="Arial"/>
              </a:rPr>
              <a:t>δίνουν </a:t>
            </a:r>
            <a:r>
              <a:rPr lang="en-US" sz="2000" b="0" u="none" strike="noStrike">
                <a:solidFill>
                  <a:srgbClr val="000000"/>
                </a:solidFill>
                <a:effectLst/>
                <a:uFillTx/>
                <a:latin typeface="Arial"/>
              </a:rPr>
              <a:t>ταυτόσημ</a:t>
            </a:r>
            <a:r>
              <a:rPr lang="en-US" sz="2000" b="0" u="none" strike="noStrike">
                <a:solidFill>
                  <a:srgbClr val="000000"/>
                </a:solidFill>
                <a:effectLst/>
                <a:uFillTx/>
                <a:latin typeface="Arial"/>
              </a:rPr>
              <a:t>ο </a:t>
            </a:r>
            <a:r>
              <a:rPr lang="en-US" sz="2000" b="0" u="none" strike="noStrike">
                <a:solidFill>
                  <a:srgbClr val="000000"/>
                </a:solidFill>
                <a:effectLst/>
                <a:uFillTx/>
                <a:latin typeface="Arial"/>
              </a:rPr>
              <a:t>αποτέλεσ</a:t>
            </a:r>
            <a:r>
              <a:rPr lang="en-US" sz="2000" b="0" u="none" strike="noStrike">
                <a:solidFill>
                  <a:srgbClr val="000000"/>
                </a:solidFill>
                <a:effectLst/>
                <a:uFillTx/>
                <a:latin typeface="Arial"/>
              </a:rPr>
              <a:t>μα. Η </a:t>
            </a:r>
            <a:r>
              <a:rPr lang="en-US" sz="2000" b="0" u="none" strike="noStrike">
                <a:solidFill>
                  <a:srgbClr val="000000"/>
                </a:solidFill>
                <a:effectLst/>
                <a:uFillTx/>
                <a:latin typeface="Arial"/>
              </a:rPr>
              <a:t>επιλογή </a:t>
            </a:r>
            <a:r>
              <a:rPr lang="en-US" sz="2000" b="0" u="none" strike="noStrike">
                <a:solidFill>
                  <a:srgbClr val="000000"/>
                </a:solidFill>
                <a:effectLst/>
                <a:uFillTx/>
                <a:latin typeface="Arial"/>
              </a:rPr>
              <a:t>ανάμεσά </a:t>
            </a:r>
            <a:r>
              <a:rPr lang="en-US" sz="2000" b="0" u="none" strike="noStrike">
                <a:solidFill>
                  <a:srgbClr val="000000"/>
                </a:solidFill>
                <a:effectLst/>
                <a:uFillTx/>
                <a:latin typeface="Arial"/>
              </a:rPr>
              <a:t>τους είναι </a:t>
            </a:r>
            <a:r>
              <a:rPr lang="en-US" sz="2000" b="0" u="none" strike="noStrike">
                <a:solidFill>
                  <a:srgbClr val="000000"/>
                </a:solidFill>
                <a:effectLst/>
                <a:uFillTx/>
                <a:latin typeface="Arial"/>
              </a:rPr>
              <a:t>θέμα </a:t>
            </a:r>
            <a:r>
              <a:rPr lang="en-US" sz="2000" b="0" u="none" strike="noStrike">
                <a:solidFill>
                  <a:srgbClr val="000000"/>
                </a:solidFill>
                <a:effectLst/>
                <a:uFillTx/>
                <a:latin typeface="Arial"/>
              </a:rPr>
              <a:t>χρόνου </a:t>
            </a:r>
            <a:r>
              <a:rPr lang="en-US" sz="2000" b="0" u="none" strike="noStrike">
                <a:solidFill>
                  <a:srgbClr val="000000"/>
                </a:solidFill>
                <a:effectLst/>
                <a:uFillTx/>
                <a:latin typeface="Arial"/>
              </a:rPr>
              <a:t>εκτέλεσης, </a:t>
            </a:r>
            <a:r>
              <a:rPr lang="en-US" sz="2000" b="0" u="none" strike="noStrike">
                <a:solidFill>
                  <a:srgbClr val="000000"/>
                </a:solidFill>
                <a:effectLst/>
                <a:uFillTx/>
                <a:latin typeface="Arial"/>
              </a:rPr>
              <a:t>όχι </a:t>
            </a:r>
            <a:r>
              <a:rPr lang="en-US" sz="2000" b="0" u="none" strike="noStrike">
                <a:solidFill>
                  <a:srgbClr val="000000"/>
                </a:solidFill>
                <a:effectLst/>
                <a:uFillTx/>
                <a:latin typeface="Arial"/>
              </a:rPr>
              <a:t>ευρήματος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p:txBody>
      </p:sp>
      <p:sp>
        <p:nvSpPr>
          <p:cNvPr id="475" name="PlaceHolder 3"/>
          <p:cNvSpPr>
            <a:spLocks noGrp="1"/>
          </p:cNvSpPr>
          <p:nvPr>
            <p:ph type="sldNum" idx="2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ADD3FB5-ECD7-4FAB-AB7F-5712C99BD9F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1143000" y="685800"/>
            <a:ext cx="4571280" cy="3428280"/>
          </a:xfrm>
          <a:prstGeom prst="rect">
            <a:avLst/>
          </a:prstGeom>
          <a:ln w="0">
            <a:noFill/>
          </a:ln>
        </p:spPr>
      </p:sp>
      <p:sp>
        <p:nvSpPr>
          <p:cNvPr id="47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Καλάθι σημαίνει όλα τα προϊόντα μιας παραγγελίας μαζί. Ο πελάτης στη μέση έβαζε δεκαεπτά </a:t>
            </a:r>
            <a:r>
              <a:rPr lang="en-US" sz="2000" b="0" u="none" strike="noStrike">
                <a:solidFill>
                  <a:srgbClr val="000000"/>
                </a:solidFill>
                <a:effectLst/>
                <a:uFillTx/>
                <a:latin typeface="Arial"/>
              </a:rPr>
              <a:t>διαφορετικά προϊόντα σε ένα καλάθι. Σε λιανική θα περιμέναμε δύο ή τρία.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πείραμα: ίδιο κατώφλι support 0,02, ίδια δεδομένα, δύο αλγόριθμοι. Και οι δύο </a:t>
            </a:r>
            <a:r>
              <a:rPr lang="en-US" sz="2000" b="0" u="none" strike="noStrike">
                <a:solidFill>
                  <a:srgbClr val="000000"/>
                </a:solidFill>
                <a:effectLst/>
                <a:uFillTx/>
                <a:latin typeface="Arial"/>
              </a:rPr>
              <a:t>βγάζουν 385 συχνά σύνολα και 134 κανόνες, ταυτόσημα. Η μόνη διαφορά είναι ο χρόνος, 5,14 </a:t>
            </a:r>
            <a:r>
              <a:rPr lang="en-US" sz="2000" b="0" u="none" strike="noStrike">
                <a:solidFill>
                  <a:srgbClr val="000000"/>
                </a:solidFill>
                <a:effectLst/>
                <a:uFillTx/>
                <a:latin typeface="Arial"/>
              </a:rPr>
              <a:t>δευτερόλεπτα ο Apriori έναντι 1,96 του FP-Growth.</a:t>
            </a:r>
            <a:endParaRPr lang="en-US" sz="2000" b="0" u="none" strike="noStrike">
              <a:solidFill>
                <a:srgbClr val="000000"/>
              </a:solidFill>
              <a:effectLst/>
              <a:uFillTx/>
              <a:latin typeface="Arial"/>
            </a:endParaRPr>
          </a:p>
        </p:txBody>
      </p:sp>
      <p:sp>
        <p:nvSpPr>
          <p:cNvPr id="478" name="PlaceHolder 3"/>
          <p:cNvSpPr>
            <a:spLocks noGrp="1"/>
          </p:cNvSpPr>
          <p:nvPr>
            <p:ph type="sldNum" idx="26"/>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EF2F6B3-92E2-46BE-AF85-B19C54A5D83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1143000" y="685800"/>
            <a:ext cx="4571280" cy="3428280"/>
          </a:xfrm>
          <a:prstGeom prst="rect">
            <a:avLst/>
          </a:prstGeom>
          <a:ln w="0">
            <a:noFill/>
          </a:ln>
        </p:spPr>
      </p:sp>
      <p:sp>
        <p:nvSpPr>
          <p:cNvPr id="48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τελίτσα </a:t>
            </a:r>
            <a:r>
              <a:rPr lang="en-US" sz="2000" b="0" u="none" strike="noStrike">
                <a:solidFill>
                  <a:srgbClr val="000000"/>
                </a:solidFill>
                <a:effectLst/>
                <a:uFillTx/>
                <a:latin typeface="Arial"/>
              </a:rPr>
              <a:t>στο </a:t>
            </a:r>
            <a:r>
              <a:rPr lang="en-US" sz="2000" b="0" u="none" strike="noStrike">
                <a:solidFill>
                  <a:srgbClr val="000000"/>
                </a:solidFill>
                <a:effectLst/>
                <a:uFillTx/>
                <a:latin typeface="Arial"/>
              </a:rPr>
              <a:t>αριστερ</a:t>
            </a:r>
            <a:r>
              <a:rPr lang="en-US" sz="2000" b="0" u="none" strike="noStrike">
                <a:solidFill>
                  <a:srgbClr val="000000"/>
                </a:solidFill>
                <a:effectLst/>
                <a:uFillTx/>
                <a:latin typeface="Arial"/>
              </a:rPr>
              <a:t>ό </a:t>
            </a:r>
            <a:r>
              <a:rPr lang="en-US" sz="2000" b="0" u="none" strike="noStrike">
                <a:solidFill>
                  <a:srgbClr val="000000"/>
                </a:solidFill>
                <a:effectLst/>
                <a:uFillTx/>
                <a:latin typeface="Arial"/>
              </a:rPr>
              <a:t>γράφημ</a:t>
            </a:r>
            <a:r>
              <a:rPr lang="en-US" sz="2000" b="0" u="none" strike="noStrike">
                <a:solidFill>
                  <a:srgbClr val="000000"/>
                </a:solidFill>
                <a:effectLst/>
                <a:uFillTx/>
                <a:latin typeface="Arial"/>
              </a:rPr>
              <a:t>α είναι </a:t>
            </a:r>
            <a:r>
              <a:rPr lang="en-US" sz="2000" b="0" u="none" strike="noStrike">
                <a:solidFill>
                  <a:srgbClr val="000000"/>
                </a:solidFill>
                <a:effectLst/>
                <a:uFillTx/>
                <a:latin typeface="Arial"/>
              </a:rPr>
              <a:t>ένας </a:t>
            </a:r>
            <a:r>
              <a:rPr lang="en-US" sz="2000" b="0" u="none" strike="noStrike">
                <a:solidFill>
                  <a:srgbClr val="000000"/>
                </a:solidFill>
                <a:effectLst/>
                <a:uFillTx/>
                <a:latin typeface="Arial"/>
              </a:rPr>
              <a:t>κανόνας</a:t>
            </a:r>
            <a:r>
              <a:rPr lang="en-US" sz="2000" b="0" u="none" strike="noStrike">
                <a:solidFill>
                  <a:srgbClr val="000000"/>
                </a:solidFill>
                <a:effectLst/>
                <a:uFillTx/>
                <a:latin typeface="Arial"/>
              </a:rPr>
              <a:t>. Ο πιο </a:t>
            </a:r>
            <a:r>
              <a:rPr lang="en-US" sz="2000" b="0" u="none" strike="noStrike">
                <a:solidFill>
                  <a:srgbClr val="000000"/>
                </a:solidFill>
                <a:effectLst/>
                <a:uFillTx/>
                <a:latin typeface="Arial"/>
              </a:rPr>
              <a:t>δυνατός </a:t>
            </a:r>
            <a:r>
              <a:rPr lang="en-US" sz="2000" b="0" u="none" strike="noStrike">
                <a:solidFill>
                  <a:srgbClr val="000000"/>
                </a:solidFill>
                <a:effectLst/>
                <a:uFillTx/>
                <a:latin typeface="Arial"/>
              </a:rPr>
              <a:t>λέει ότι </a:t>
            </a:r>
            <a:r>
              <a:rPr lang="en-US" sz="2000" b="0" u="none" strike="noStrike">
                <a:solidFill>
                  <a:srgbClr val="000000"/>
                </a:solidFill>
                <a:effectLst/>
                <a:uFillTx/>
                <a:latin typeface="Arial"/>
              </a:rPr>
              <a:t>τρία </a:t>
            </a:r>
            <a:r>
              <a:rPr lang="en-US" sz="2000" b="0" u="none" strike="noStrike">
                <a:solidFill>
                  <a:srgbClr val="000000"/>
                </a:solidFill>
                <a:effectLst/>
                <a:uFillTx/>
                <a:latin typeface="Arial"/>
              </a:rPr>
              <a:t>χρώματ</a:t>
            </a:r>
            <a:r>
              <a:rPr lang="en-US" sz="2000" b="0" u="none" strike="noStrike">
                <a:solidFill>
                  <a:srgbClr val="000000"/>
                </a:solidFill>
                <a:effectLst/>
                <a:uFillTx/>
                <a:latin typeface="Arial"/>
              </a:rPr>
              <a:t>α του </a:t>
            </a:r>
            <a:r>
              <a:rPr lang="en-US" sz="2000" b="0" u="none" strike="noStrike">
                <a:solidFill>
                  <a:srgbClr val="000000"/>
                </a:solidFill>
                <a:effectLst/>
                <a:uFillTx/>
                <a:latin typeface="Arial"/>
              </a:rPr>
              <a:t>ίδιου σετ </a:t>
            </a:r>
            <a:r>
              <a:rPr lang="en-US" sz="2000" b="0" u="none" strike="noStrike">
                <a:solidFill>
                  <a:srgbClr val="000000"/>
                </a:solidFill>
                <a:effectLst/>
                <a:uFillTx/>
                <a:latin typeface="Arial"/>
              </a:rPr>
              <a:t>τσαγιού </a:t>
            </a:r>
            <a:r>
              <a:rPr lang="en-US" sz="2000" b="0" u="none" strike="noStrike">
                <a:solidFill>
                  <a:srgbClr val="000000"/>
                </a:solidFill>
                <a:effectLst/>
                <a:uFillTx/>
                <a:latin typeface="Arial"/>
              </a:rPr>
              <a:t>αγοράζο</a:t>
            </a:r>
            <a:r>
              <a:rPr lang="en-US" sz="2000" b="0" u="none" strike="noStrike">
                <a:solidFill>
                  <a:srgbClr val="000000"/>
                </a:solidFill>
                <a:effectLst/>
                <a:uFillTx/>
                <a:latin typeface="Arial"/>
              </a:rPr>
              <a:t>νται μαζί </a:t>
            </a:r>
            <a:r>
              <a:rPr lang="en-US" sz="2000" b="0" u="none" strike="noStrike">
                <a:solidFill>
                  <a:srgbClr val="000000"/>
                </a:solidFill>
                <a:effectLst/>
                <a:uFillTx/>
                <a:latin typeface="Arial"/>
              </a:rPr>
              <a:t>εικοσιπέ</a:t>
            </a:r>
            <a:r>
              <a:rPr lang="en-US" sz="2000" b="0" u="none" strike="noStrike">
                <a:solidFill>
                  <a:srgbClr val="000000"/>
                </a:solidFill>
                <a:effectLst/>
                <a:uFillTx/>
                <a:latin typeface="Arial"/>
              </a:rPr>
              <a:t>ντε </a:t>
            </a:r>
            <a:r>
              <a:rPr lang="en-US" sz="2000" b="0" u="none" strike="noStrike">
                <a:solidFill>
                  <a:srgbClr val="000000"/>
                </a:solidFill>
                <a:effectLst/>
                <a:uFillTx/>
                <a:latin typeface="Arial"/>
              </a:rPr>
              <a:t>φορές </a:t>
            </a:r>
            <a:r>
              <a:rPr lang="en-US" sz="2000" b="0" u="none" strike="noStrike">
                <a:solidFill>
                  <a:srgbClr val="000000"/>
                </a:solidFill>
                <a:effectLst/>
                <a:uFillTx/>
                <a:latin typeface="Arial"/>
              </a:rPr>
              <a:t>πιο </a:t>
            </a:r>
            <a:r>
              <a:rPr lang="en-US" sz="2000" b="0" u="none" strike="noStrike">
                <a:solidFill>
                  <a:srgbClr val="000000"/>
                </a:solidFill>
                <a:effectLst/>
                <a:uFillTx/>
                <a:latin typeface="Arial"/>
              </a:rPr>
              <a:t>συχνά </a:t>
            </a:r>
            <a:r>
              <a:rPr lang="en-US" sz="2000" b="0" u="none" strike="noStrike">
                <a:solidFill>
                  <a:srgbClr val="000000"/>
                </a:solidFill>
                <a:effectLst/>
                <a:uFillTx/>
                <a:latin typeface="Arial"/>
              </a:rPr>
              <a:t>απ' ό,τι </a:t>
            </a:r>
            <a:r>
              <a:rPr lang="en-US" sz="2000" b="0" u="none" strike="noStrike">
                <a:solidFill>
                  <a:srgbClr val="000000"/>
                </a:solidFill>
                <a:effectLst/>
                <a:uFillTx/>
                <a:latin typeface="Arial"/>
              </a:rPr>
              <a:t>τυχαία.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a:t>
            </a:r>
            <a:r>
              <a:rPr lang="en-US" sz="2000" b="0" u="none" strike="noStrike">
                <a:solidFill>
                  <a:srgbClr val="000000"/>
                </a:solidFill>
                <a:effectLst/>
                <a:uFillTx/>
                <a:latin typeface="Arial"/>
              </a:rPr>
              <a:t>ΑΤΙΚΑ: </a:t>
            </a:r>
            <a:r>
              <a:rPr lang="en-US" sz="2000" b="0" u="none" strike="noStrike">
                <a:solidFill>
                  <a:srgbClr val="000000"/>
                </a:solidFill>
                <a:effectLst/>
                <a:uFillTx/>
                <a:latin typeface="Arial"/>
              </a:rPr>
              <a:t>Το δεξιό </a:t>
            </a:r>
            <a:r>
              <a:rPr lang="en-US" sz="2000" b="0" u="none" strike="noStrike">
                <a:solidFill>
                  <a:srgbClr val="000000"/>
                </a:solidFill>
                <a:effectLst/>
                <a:uFillTx/>
                <a:latin typeface="Arial"/>
              </a:rPr>
              <a:t>γράφημ</a:t>
            </a:r>
            <a:r>
              <a:rPr lang="en-US" sz="2000" b="0" u="none" strike="noStrike">
                <a:solidFill>
                  <a:srgbClr val="000000"/>
                </a:solidFill>
                <a:effectLst/>
                <a:uFillTx/>
                <a:latin typeface="Arial"/>
              </a:rPr>
              <a:t>α δείχνει </a:t>
            </a:r>
            <a:r>
              <a:rPr lang="en-US" sz="2000" b="0" u="none" strike="noStrike">
                <a:solidFill>
                  <a:srgbClr val="000000"/>
                </a:solidFill>
                <a:effectLst/>
                <a:uFillTx/>
                <a:latin typeface="Arial"/>
              </a:rPr>
              <a:t>τι γίνεται </a:t>
            </a:r>
            <a:r>
              <a:rPr lang="en-US" sz="2000" b="0" u="none" strike="noStrike">
                <a:solidFill>
                  <a:srgbClr val="000000"/>
                </a:solidFill>
                <a:effectLst/>
                <a:uFillTx/>
                <a:latin typeface="Arial"/>
              </a:rPr>
              <a:t>αν </a:t>
            </a:r>
            <a:r>
              <a:rPr lang="en-US" sz="2000" b="0" u="none" strike="noStrike">
                <a:solidFill>
                  <a:srgbClr val="000000"/>
                </a:solidFill>
                <a:effectLst/>
                <a:uFillTx/>
                <a:latin typeface="Arial"/>
              </a:rPr>
              <a:t>αλλάξεις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κατώφλι,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σπάνιο </a:t>
            </a:r>
            <a:r>
              <a:rPr lang="en-US" sz="2000" b="0" u="none" strike="noStrike">
                <a:solidFill>
                  <a:srgbClr val="000000"/>
                </a:solidFill>
                <a:effectLst/>
                <a:uFillTx/>
                <a:latin typeface="Arial"/>
              </a:rPr>
              <a:t>επιτρέπε</a:t>
            </a:r>
            <a:r>
              <a:rPr lang="en-US" sz="2000" b="0" u="none" strike="noStrike">
                <a:solidFill>
                  <a:srgbClr val="000000"/>
                </a:solidFill>
                <a:effectLst/>
                <a:uFillTx/>
                <a:latin typeface="Arial"/>
              </a:rPr>
              <a:t>ις να </a:t>
            </a:r>
            <a:r>
              <a:rPr lang="en-US" sz="2000" b="0" u="none" strike="noStrike">
                <a:solidFill>
                  <a:srgbClr val="000000"/>
                </a:solidFill>
                <a:effectLst/>
                <a:uFillTx/>
                <a:latin typeface="Arial"/>
              </a:rPr>
              <a:t>είναι ένα </a:t>
            </a:r>
            <a:r>
              <a:rPr lang="en-US" sz="2000" b="0" u="none" strike="noStrike">
                <a:solidFill>
                  <a:srgbClr val="000000"/>
                </a:solidFill>
                <a:effectLst/>
                <a:uFillTx/>
                <a:latin typeface="Arial"/>
              </a:rPr>
              <a:t>σύνολο </a:t>
            </a:r>
            <a:r>
              <a:rPr lang="en-US" sz="2000" b="0" u="none" strike="noStrike">
                <a:solidFill>
                  <a:srgbClr val="000000"/>
                </a:solidFill>
                <a:effectLst/>
                <a:uFillTx/>
                <a:latin typeface="Arial"/>
              </a:rPr>
              <a:t>για να το </a:t>
            </a:r>
            <a:r>
              <a:rPr lang="en-US" sz="2000" b="0" u="none" strike="noStrike">
                <a:solidFill>
                  <a:srgbClr val="000000"/>
                </a:solidFill>
                <a:effectLst/>
                <a:uFillTx/>
                <a:latin typeface="Arial"/>
              </a:rPr>
              <a:t>μετρήσο</a:t>
            </a:r>
            <a:r>
              <a:rPr lang="en-US" sz="2000" b="0" u="none" strike="noStrike">
                <a:solidFill>
                  <a:srgbClr val="000000"/>
                </a:solidFill>
                <a:effectLst/>
                <a:uFillTx/>
                <a:latin typeface="Arial"/>
              </a:rPr>
              <a:t>υμε. Στο </a:t>
            </a:r>
            <a:r>
              <a:rPr lang="en-US" sz="2000" b="0" u="none" strike="noStrike">
                <a:solidFill>
                  <a:srgbClr val="000000"/>
                </a:solidFill>
                <a:effectLst/>
                <a:uFillTx/>
                <a:latin typeface="Arial"/>
              </a:rPr>
              <a:t>1% </a:t>
            </a:r>
            <a:r>
              <a:rPr lang="en-US" sz="2000" b="0" u="none" strike="noStrike">
                <a:solidFill>
                  <a:srgbClr val="000000"/>
                </a:solidFill>
                <a:effectLst/>
                <a:uFillTx/>
                <a:latin typeface="Arial"/>
              </a:rPr>
              <a:t>βγαίνου</a:t>
            </a:r>
            <a:r>
              <a:rPr lang="en-US" sz="2000" b="0" u="none" strike="noStrike">
                <a:solidFill>
                  <a:srgbClr val="000000"/>
                </a:solidFill>
                <a:effectLst/>
                <a:uFillTx/>
                <a:latin typeface="Arial"/>
              </a:rPr>
              <a:t>ν 1.556 </a:t>
            </a:r>
            <a:r>
              <a:rPr lang="en-US" sz="2000" b="0" u="none" strike="noStrike">
                <a:solidFill>
                  <a:srgbClr val="000000"/>
                </a:solidFill>
                <a:effectLst/>
                <a:uFillTx/>
                <a:latin typeface="Arial"/>
              </a:rPr>
              <a:t>σύνολα, </a:t>
            </a:r>
            <a:r>
              <a:rPr lang="en-US" sz="2000" b="0" u="none" strike="noStrike">
                <a:solidFill>
                  <a:srgbClr val="000000"/>
                </a:solidFill>
                <a:effectLst/>
                <a:uFillTx/>
                <a:latin typeface="Arial"/>
              </a:rPr>
              <a:t>στο 2% </a:t>
            </a:r>
            <a:r>
              <a:rPr lang="en-US" sz="2000" b="0" u="none" strike="noStrike">
                <a:solidFill>
                  <a:srgbClr val="000000"/>
                </a:solidFill>
                <a:effectLst/>
                <a:uFillTx/>
                <a:latin typeface="Arial"/>
              </a:rPr>
              <a:t>βγαίνου</a:t>
            </a:r>
            <a:r>
              <a:rPr lang="en-US" sz="2000" b="0" u="none" strike="noStrike">
                <a:solidFill>
                  <a:srgbClr val="000000"/>
                </a:solidFill>
                <a:effectLst/>
                <a:uFillTx/>
                <a:latin typeface="Arial"/>
              </a:rPr>
              <a:t>ν 385, </a:t>
            </a:r>
            <a:r>
              <a:rPr lang="en-US" sz="2000" b="0" u="none" strike="noStrike">
                <a:solidFill>
                  <a:srgbClr val="000000"/>
                </a:solidFill>
                <a:effectLst/>
                <a:uFillTx/>
                <a:latin typeface="Arial"/>
              </a:rPr>
              <a:t>στο 5% </a:t>
            </a:r>
            <a:r>
              <a:rPr lang="en-US" sz="2000" b="0" u="none" strike="noStrike">
                <a:solidFill>
                  <a:srgbClr val="000000"/>
                </a:solidFill>
                <a:effectLst/>
                <a:uFillTx/>
                <a:latin typeface="Arial"/>
              </a:rPr>
              <a:t>μένουν </a:t>
            </a:r>
            <a:r>
              <a:rPr lang="en-US" sz="2000" b="0" u="none" strike="noStrike">
                <a:solidFill>
                  <a:srgbClr val="000000"/>
                </a:solidFill>
                <a:effectLst/>
                <a:uFillTx/>
                <a:latin typeface="Arial"/>
              </a:rPr>
              <a:t>35 </a:t>
            </a:r>
            <a:r>
              <a:rPr lang="en-US" sz="2000" b="0" u="none" strike="noStrike">
                <a:solidFill>
                  <a:srgbClr val="000000"/>
                </a:solidFill>
                <a:effectLst/>
                <a:uFillTx/>
                <a:latin typeface="Arial"/>
              </a:rPr>
              <a:t>σύνολα </a:t>
            </a:r>
            <a:r>
              <a:rPr lang="en-US" sz="2000" b="0" u="none" strike="noStrike">
                <a:solidFill>
                  <a:srgbClr val="000000"/>
                </a:solidFill>
                <a:effectLst/>
                <a:uFillTx/>
                <a:latin typeface="Arial"/>
              </a:rPr>
              <a:t>και </a:t>
            </a:r>
            <a:r>
              <a:rPr lang="en-US" sz="2000" b="0" u="none" strike="noStrike">
                <a:solidFill>
                  <a:srgbClr val="000000"/>
                </a:solidFill>
                <a:effectLst/>
                <a:uFillTx/>
                <a:latin typeface="Arial"/>
              </a:rPr>
              <a:t>κανένας </a:t>
            </a:r>
            <a:r>
              <a:rPr lang="en-US" sz="2000" b="0" u="none" strike="noStrike">
                <a:solidFill>
                  <a:srgbClr val="000000"/>
                </a:solidFill>
                <a:effectLst/>
                <a:uFillTx/>
                <a:latin typeface="Arial"/>
              </a:rPr>
              <a:t>κανόνας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p:txBody>
      </p:sp>
      <p:sp>
        <p:nvSpPr>
          <p:cNvPr id="481" name="PlaceHolder 3"/>
          <p:cNvSpPr>
            <a:spLocks noGrp="1"/>
          </p:cNvSpPr>
          <p:nvPr>
            <p:ph type="sldNum" idx="2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A0F3C0A-7DA9-47EC-AF1A-1226202B1E8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1143000" y="685800"/>
            <a:ext cx="4571280" cy="3428280"/>
          </a:xfrm>
          <a:prstGeom prst="rect">
            <a:avLst/>
          </a:prstGeom>
          <a:ln w="0">
            <a:noFill/>
          </a:ln>
        </p:spPr>
      </p:sp>
      <p:sp>
        <p:nvSpPr>
          <p:cNvPr id="48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Έχουμε </a:t>
            </a:r>
            <a:r>
              <a:rPr lang="en-US" sz="2000" b="0" u="none" strike="noStrike">
                <a:solidFill>
                  <a:srgbClr val="000000"/>
                </a:solidFill>
                <a:effectLst/>
                <a:uFillTx/>
                <a:latin typeface="Arial"/>
              </a:rPr>
              <a:t>έναν </a:t>
            </a:r>
            <a:r>
              <a:rPr lang="en-US" sz="2000" b="0" u="none" strike="noStrike">
                <a:solidFill>
                  <a:srgbClr val="000000"/>
                </a:solidFill>
                <a:effectLst/>
                <a:uFillTx/>
                <a:latin typeface="Arial"/>
              </a:rPr>
              <a:t>σωρό </a:t>
            </a:r>
            <a:r>
              <a:rPr lang="en-US" sz="2000" b="0" u="none" strike="noStrike">
                <a:solidFill>
                  <a:srgbClr val="000000"/>
                </a:solidFill>
                <a:effectLst/>
                <a:uFillTx/>
                <a:latin typeface="Arial"/>
              </a:rPr>
              <a:t>στοιχεία, </a:t>
            </a:r>
            <a:r>
              <a:rPr lang="en-US" sz="2000" b="0" u="none" strike="noStrike">
                <a:solidFill>
                  <a:srgbClr val="000000"/>
                </a:solidFill>
                <a:effectLst/>
                <a:uFillTx/>
                <a:latin typeface="Arial"/>
              </a:rPr>
              <a:t>χώρες ή </a:t>
            </a:r>
            <a:r>
              <a:rPr lang="en-US" sz="2000" b="0" u="none" strike="noStrike">
                <a:solidFill>
                  <a:srgbClr val="000000"/>
                </a:solidFill>
                <a:effectLst/>
                <a:uFillTx/>
                <a:latin typeface="Arial"/>
              </a:rPr>
              <a:t>πελάτες, </a:t>
            </a:r>
            <a:r>
              <a:rPr lang="en-US" sz="2000" b="0" u="none" strike="noStrike">
                <a:solidFill>
                  <a:srgbClr val="000000"/>
                </a:solidFill>
                <a:effectLst/>
                <a:uFillTx/>
                <a:latin typeface="Arial"/>
              </a:rPr>
              <a:t>και </a:t>
            </a:r>
            <a:r>
              <a:rPr lang="en-US" sz="2000" b="0" u="none" strike="noStrike">
                <a:solidFill>
                  <a:srgbClr val="000000"/>
                </a:solidFill>
                <a:effectLst/>
                <a:uFillTx/>
                <a:latin typeface="Arial"/>
              </a:rPr>
              <a:t>θέλουμε </a:t>
            </a:r>
            <a:r>
              <a:rPr lang="en-US" sz="2000" b="0" u="none" strike="noStrike">
                <a:solidFill>
                  <a:srgbClr val="000000"/>
                </a:solidFill>
                <a:effectLst/>
                <a:uFillTx/>
                <a:latin typeface="Arial"/>
              </a:rPr>
              <a:t>να τα </a:t>
            </a:r>
            <a:r>
              <a:rPr lang="en-US" sz="2000" b="0" u="none" strike="noStrike">
                <a:solidFill>
                  <a:srgbClr val="000000"/>
                </a:solidFill>
                <a:effectLst/>
                <a:uFillTx/>
                <a:latin typeface="Arial"/>
              </a:rPr>
              <a:t>χωρίσουμ</a:t>
            </a:r>
            <a:r>
              <a:rPr lang="en-US" sz="2000" b="0" u="none" strike="noStrike">
                <a:solidFill>
                  <a:srgbClr val="000000"/>
                </a:solidFill>
                <a:effectLst/>
                <a:uFillTx/>
                <a:latin typeface="Arial"/>
              </a:rPr>
              <a:t>ε σε </a:t>
            </a:r>
            <a:r>
              <a:rPr lang="en-US" sz="2000" b="0" u="none" strike="noStrike">
                <a:solidFill>
                  <a:srgbClr val="000000"/>
                </a:solidFill>
                <a:effectLst/>
                <a:uFillTx/>
                <a:latin typeface="Arial"/>
              </a:rPr>
              <a:t>ομάδες </a:t>
            </a:r>
            <a:r>
              <a:rPr lang="en-US" sz="2000" b="0" u="none" strike="noStrike">
                <a:solidFill>
                  <a:srgbClr val="000000"/>
                </a:solidFill>
                <a:effectLst/>
                <a:uFillTx/>
                <a:latin typeface="Arial"/>
              </a:rPr>
              <a:t>όπου τα </a:t>
            </a:r>
            <a:r>
              <a:rPr lang="en-US" sz="2000" b="0" u="none" strike="noStrike">
                <a:solidFill>
                  <a:srgbClr val="000000"/>
                </a:solidFill>
                <a:effectLst/>
                <a:uFillTx/>
                <a:latin typeface="Arial"/>
              </a:rPr>
              <a:t>μέλη </a:t>
            </a:r>
            <a:r>
              <a:rPr lang="en-US" sz="2000" b="0" u="none" strike="noStrike">
                <a:solidFill>
                  <a:srgbClr val="000000"/>
                </a:solidFill>
                <a:effectLst/>
                <a:uFillTx/>
                <a:latin typeface="Arial"/>
              </a:rPr>
              <a:t>μοιάζουν </a:t>
            </a:r>
            <a:r>
              <a:rPr lang="en-US" sz="2000" b="0" u="none" strike="noStrike">
                <a:solidFill>
                  <a:srgbClr val="000000"/>
                </a:solidFill>
                <a:effectLst/>
                <a:uFillTx/>
                <a:latin typeface="Arial"/>
              </a:rPr>
              <a:t>μεταξύ </a:t>
            </a:r>
            <a:r>
              <a:rPr lang="en-US" sz="2000" b="0" u="none" strike="noStrike">
                <a:solidFill>
                  <a:srgbClr val="000000"/>
                </a:solidFill>
                <a:effectLst/>
                <a:uFillTx/>
                <a:latin typeface="Arial"/>
              </a:rPr>
              <a:t>τους. Το </a:t>
            </a:r>
            <a:r>
              <a:rPr lang="en-US" sz="2000" b="0" u="none" strike="noStrike">
                <a:solidFill>
                  <a:srgbClr val="000000"/>
                </a:solidFill>
                <a:effectLst/>
                <a:uFillTx/>
                <a:latin typeface="Arial"/>
              </a:rPr>
              <a:t>RFM είναι </a:t>
            </a:r>
            <a:r>
              <a:rPr lang="en-US" sz="2000" b="0" u="none" strike="noStrike">
                <a:solidFill>
                  <a:srgbClr val="000000"/>
                </a:solidFill>
                <a:effectLst/>
                <a:uFillTx/>
                <a:latin typeface="Arial"/>
              </a:rPr>
              <a:t>τρία απλά </a:t>
            </a:r>
            <a:r>
              <a:rPr lang="en-US" sz="2000" b="0" u="none" strike="noStrike">
                <a:solidFill>
                  <a:srgbClr val="000000"/>
                </a:solidFill>
                <a:effectLst/>
                <a:uFillTx/>
                <a:latin typeface="Arial"/>
              </a:rPr>
              <a:t>νούμερα </a:t>
            </a:r>
            <a:r>
              <a:rPr lang="en-US" sz="2000" b="0" u="none" strike="noStrike">
                <a:solidFill>
                  <a:srgbClr val="000000"/>
                </a:solidFill>
                <a:effectLst/>
                <a:uFillTx/>
                <a:latin typeface="Arial"/>
              </a:rPr>
              <a:t>για κάθε </a:t>
            </a:r>
            <a:r>
              <a:rPr lang="en-US" sz="2000" b="0" u="none" strike="noStrike">
                <a:solidFill>
                  <a:srgbClr val="000000"/>
                </a:solidFill>
                <a:effectLst/>
                <a:uFillTx/>
                <a:latin typeface="Arial"/>
              </a:rPr>
              <a:t>πελάτη: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πρόσφατα </a:t>
            </a:r>
            <a:r>
              <a:rPr lang="en-US" sz="2000" b="0" u="none" strike="noStrike">
                <a:solidFill>
                  <a:srgbClr val="000000"/>
                </a:solidFill>
                <a:effectLst/>
                <a:uFillTx/>
                <a:latin typeface="Arial"/>
              </a:rPr>
              <a:t>αγόρασε,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συχνά </a:t>
            </a:r>
            <a:r>
              <a:rPr lang="en-US" sz="2000" b="0" u="none" strike="noStrike">
                <a:solidFill>
                  <a:srgbClr val="000000"/>
                </a:solidFill>
                <a:effectLst/>
                <a:uFillTx/>
                <a:latin typeface="Arial"/>
              </a:rPr>
              <a:t>αγοράζει, </a:t>
            </a:r>
            <a:r>
              <a:rPr lang="en-US" sz="2000" b="0" u="none" strike="noStrike">
                <a:solidFill>
                  <a:srgbClr val="000000"/>
                </a:solidFill>
                <a:effectLst/>
                <a:uFillTx/>
                <a:latin typeface="Arial"/>
              </a:rPr>
              <a:t>πόσα έχει </a:t>
            </a:r>
            <a:r>
              <a:rPr lang="en-US" sz="2000" b="0" u="none" strike="noStrike">
                <a:solidFill>
                  <a:srgbClr val="000000"/>
                </a:solidFill>
                <a:effectLst/>
                <a:uFillTx/>
                <a:latin typeface="Arial"/>
              </a:rPr>
              <a:t>ξοδέψει.</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a:t>
            </a:r>
            <a:r>
              <a:rPr lang="en-US" sz="2000" b="0" u="none" strike="noStrike">
                <a:solidFill>
                  <a:srgbClr val="000000"/>
                </a:solidFill>
                <a:effectLst/>
                <a:uFillTx/>
                <a:latin typeface="Arial"/>
              </a:rPr>
              <a:t>ΤΙΚΑ: Το </a:t>
            </a:r>
            <a:r>
              <a:rPr lang="en-US" sz="2000" b="0" u="none" strike="noStrike">
                <a:solidFill>
                  <a:srgbClr val="000000"/>
                </a:solidFill>
                <a:effectLst/>
                <a:uFillTx/>
                <a:latin typeface="Arial"/>
              </a:rPr>
              <a:t>silhouette </a:t>
            </a:r>
            <a:r>
              <a:rPr lang="en-US" sz="2000" b="0" u="none" strike="noStrike">
                <a:solidFill>
                  <a:srgbClr val="000000"/>
                </a:solidFill>
                <a:effectLst/>
                <a:uFillTx/>
                <a:latin typeface="Arial"/>
              </a:rPr>
              <a:t>συγκρίνει </a:t>
            </a:r>
            <a:r>
              <a:rPr lang="en-US" sz="2000" b="0" u="none" strike="noStrike">
                <a:solidFill>
                  <a:srgbClr val="000000"/>
                </a:solidFill>
                <a:effectLst/>
                <a:uFillTx/>
                <a:latin typeface="Arial"/>
              </a:rPr>
              <a:t>πόσο </a:t>
            </a:r>
            <a:r>
              <a:rPr lang="en-US" sz="2000" b="0" u="none" strike="noStrike">
                <a:solidFill>
                  <a:srgbClr val="000000"/>
                </a:solidFill>
                <a:effectLst/>
                <a:uFillTx/>
                <a:latin typeface="Arial"/>
              </a:rPr>
              <a:t>κοντά είναι </a:t>
            </a: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σημείο </a:t>
            </a:r>
            <a:r>
              <a:rPr lang="en-US" sz="2000" b="0" u="none" strike="noStrike">
                <a:solidFill>
                  <a:srgbClr val="000000"/>
                </a:solidFill>
                <a:effectLst/>
                <a:uFillTx/>
                <a:latin typeface="Arial"/>
              </a:rPr>
              <a:t>στη δική </a:t>
            </a:r>
            <a:r>
              <a:rPr lang="en-US" sz="2000" b="0" u="none" strike="noStrike">
                <a:solidFill>
                  <a:srgbClr val="000000"/>
                </a:solidFill>
                <a:effectLst/>
                <a:uFillTx/>
                <a:latin typeface="Arial"/>
              </a:rPr>
              <a:t>του ομάδα </a:t>
            </a:r>
            <a:r>
              <a:rPr lang="en-US" sz="2000" b="0" u="none" strike="noStrike">
                <a:solidFill>
                  <a:srgbClr val="000000"/>
                </a:solidFill>
                <a:effectLst/>
                <a:uFillTx/>
                <a:latin typeface="Arial"/>
              </a:rPr>
              <a:t>σε σχέση </a:t>
            </a:r>
            <a:r>
              <a:rPr lang="en-US" sz="2000" b="0" u="none" strike="noStrike">
                <a:solidFill>
                  <a:srgbClr val="000000"/>
                </a:solidFill>
                <a:effectLst/>
                <a:uFillTx/>
                <a:latin typeface="Arial"/>
              </a:rPr>
              <a:t>με την πιο </a:t>
            </a:r>
            <a:r>
              <a:rPr lang="en-US" sz="2000" b="0" u="none" strike="noStrike">
                <a:solidFill>
                  <a:srgbClr val="000000"/>
                </a:solidFill>
                <a:effectLst/>
                <a:uFillTx/>
                <a:latin typeface="Arial"/>
              </a:rPr>
              <a:t>κοντινή </a:t>
            </a:r>
            <a:r>
              <a:rPr lang="en-US" sz="2000" b="0" u="none" strike="noStrike">
                <a:solidFill>
                  <a:srgbClr val="000000"/>
                </a:solidFill>
                <a:effectLst/>
                <a:uFillTx/>
                <a:latin typeface="Arial"/>
              </a:rPr>
              <a:t>άλλη. </a:t>
            </a:r>
            <a:r>
              <a:rPr lang="en-US" sz="2000" b="0" u="none" strike="noStrike">
                <a:solidFill>
                  <a:srgbClr val="000000"/>
                </a:solidFill>
                <a:effectLst/>
                <a:uFillTx/>
                <a:latin typeface="Arial"/>
              </a:rPr>
              <a:t>Κοντά στο </a:t>
            </a:r>
            <a:r>
              <a:rPr lang="en-US" sz="2000" b="0" u="none" strike="noStrike">
                <a:solidFill>
                  <a:srgbClr val="000000"/>
                </a:solidFill>
                <a:effectLst/>
                <a:uFillTx/>
                <a:latin typeface="Arial"/>
              </a:rPr>
              <a:t>συν ένα </a:t>
            </a:r>
            <a:r>
              <a:rPr lang="en-US" sz="2000" b="0" u="none" strike="noStrike">
                <a:solidFill>
                  <a:srgbClr val="000000"/>
                </a:solidFill>
                <a:effectLst/>
                <a:uFillTx/>
                <a:latin typeface="Arial"/>
              </a:rPr>
              <a:t>είναι καλό, </a:t>
            </a:r>
            <a:r>
              <a:rPr lang="en-US" sz="2000" b="0" u="none" strike="noStrike">
                <a:solidFill>
                  <a:srgbClr val="000000"/>
                </a:solidFill>
                <a:effectLst/>
                <a:uFillTx/>
                <a:latin typeface="Arial"/>
              </a:rPr>
              <a:t>στο μηδέν </a:t>
            </a:r>
            <a:r>
              <a:rPr lang="en-US" sz="2000" b="0" u="none" strike="noStrike">
                <a:solidFill>
                  <a:srgbClr val="000000"/>
                </a:solidFill>
                <a:effectLst/>
                <a:uFillTx/>
                <a:latin typeface="Arial"/>
              </a:rPr>
              <a:t>μπερδεμέ</a:t>
            </a:r>
            <a:r>
              <a:rPr lang="en-US" sz="2000" b="0" u="none" strike="noStrike">
                <a:solidFill>
                  <a:srgbClr val="000000"/>
                </a:solidFill>
                <a:effectLst/>
                <a:uFillTx/>
                <a:latin typeface="Arial"/>
              </a:rPr>
              <a:t>νο, στο </a:t>
            </a:r>
            <a:r>
              <a:rPr lang="en-US" sz="2000" b="0" u="none" strike="noStrike">
                <a:solidFill>
                  <a:srgbClr val="000000"/>
                </a:solidFill>
                <a:effectLst/>
                <a:uFillTx/>
                <a:latin typeface="Arial"/>
              </a:rPr>
              <a:t>μείον ένα </a:t>
            </a:r>
            <a:r>
              <a:rPr lang="en-US" sz="2000" b="0" u="none" strike="noStrike">
                <a:solidFill>
                  <a:srgbClr val="000000"/>
                </a:solidFill>
                <a:effectLst/>
                <a:uFillTx/>
                <a:latin typeface="Arial"/>
              </a:rPr>
              <a:t>λάθος </a:t>
            </a:r>
            <a:r>
              <a:rPr lang="en-US" sz="2000" b="0" u="none" strike="noStrike">
                <a:solidFill>
                  <a:srgbClr val="000000"/>
                </a:solidFill>
                <a:effectLst/>
                <a:uFillTx/>
                <a:latin typeface="Arial"/>
              </a:rPr>
              <a:t>ομάδα. </a:t>
            </a:r>
            <a:r>
              <a:rPr lang="en-US" sz="2000" b="0" u="none" strike="noStrike">
                <a:solidFill>
                  <a:srgbClr val="000000"/>
                </a:solidFill>
                <a:effectLst/>
                <a:uFillTx/>
                <a:latin typeface="Arial"/>
              </a:rPr>
              <a:t>Δοκιμάζου</a:t>
            </a:r>
            <a:r>
              <a:rPr lang="en-US" sz="2000" b="0" u="none" strike="noStrike">
                <a:solidFill>
                  <a:srgbClr val="000000"/>
                </a:solidFill>
                <a:effectLst/>
                <a:uFillTx/>
                <a:latin typeface="Arial"/>
              </a:rPr>
              <a:t>με πολλά </a:t>
            </a:r>
            <a:r>
              <a:rPr lang="en-US" sz="2000" b="0" u="none" strike="noStrike">
                <a:solidFill>
                  <a:srgbClr val="000000"/>
                </a:solidFill>
                <a:effectLst/>
                <a:uFillTx/>
                <a:latin typeface="Arial"/>
              </a:rPr>
              <a:t>k και </a:t>
            </a:r>
            <a:r>
              <a:rPr lang="en-US" sz="2000" b="0" u="none" strike="noStrike">
                <a:solidFill>
                  <a:srgbClr val="000000"/>
                </a:solidFill>
                <a:effectLst/>
                <a:uFillTx/>
                <a:latin typeface="Arial"/>
              </a:rPr>
              <a:t>κρατάμε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καλύτερο </a:t>
            </a:r>
            <a:r>
              <a:rPr lang="en-US" sz="2000" b="0" u="none" strike="noStrike">
                <a:solidFill>
                  <a:srgbClr val="000000"/>
                </a:solidFill>
                <a:effectLst/>
                <a:uFillTx/>
                <a:latin typeface="Arial"/>
              </a:rPr>
              <a:t>μέσο </a:t>
            </a:r>
            <a:r>
              <a:rPr lang="en-US" sz="2000" b="0" u="none" strike="noStrike">
                <a:solidFill>
                  <a:srgbClr val="000000"/>
                </a:solidFill>
                <a:effectLst/>
                <a:uFillTx/>
                <a:latin typeface="Arial"/>
              </a:rPr>
              <a:t>σκορ. Οι </a:t>
            </a:r>
            <a:r>
              <a:rPr lang="en-US" sz="2000" b="0" u="none" strike="noStrike">
                <a:solidFill>
                  <a:srgbClr val="000000"/>
                </a:solidFill>
                <a:effectLst/>
                <a:uFillTx/>
                <a:latin typeface="Arial"/>
              </a:rPr>
              <a:t>τύποι είναι </a:t>
            </a:r>
            <a:r>
              <a:rPr lang="en-US" sz="2000" b="0" u="none" strike="noStrike">
                <a:solidFill>
                  <a:srgbClr val="000000"/>
                </a:solidFill>
                <a:effectLst/>
                <a:uFillTx/>
                <a:latin typeface="Arial"/>
              </a:rPr>
              <a:t>στις </a:t>
            </a:r>
            <a:r>
              <a:rPr lang="en-US" sz="2000" b="0" u="none" strike="noStrike">
                <a:solidFill>
                  <a:srgbClr val="000000"/>
                </a:solidFill>
                <a:effectLst/>
                <a:uFillTx/>
                <a:latin typeface="Arial"/>
              </a:rPr>
              <a:t>εφεδρικές </a:t>
            </a:r>
            <a:r>
              <a:rPr lang="en-US" sz="2000" b="0" u="none" strike="noStrike">
                <a:solidFill>
                  <a:srgbClr val="000000"/>
                </a:solidFill>
                <a:effectLst/>
                <a:uFillTx/>
                <a:latin typeface="Arial"/>
              </a:rPr>
              <a:t>διαφάνειες</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a:t>
            </a:r>
            <a:r>
              <a:rPr lang="en-US" sz="2000" b="0" u="none" strike="noStrike">
                <a:solidFill>
                  <a:srgbClr val="000000"/>
                </a:solidFill>
                <a:effectLst/>
                <a:uFillTx/>
                <a:latin typeface="Arial"/>
              </a:rPr>
              <a:t>ΕΡΩΤΗΣΗ</a:t>
            </a:r>
            <a:r>
              <a:rPr lang="en-US" sz="2000" b="0" u="none" strike="noStrike">
                <a:solidFill>
                  <a:srgbClr val="000000"/>
                </a:solidFill>
                <a:effectLst/>
                <a:uFillTx/>
                <a:latin typeface="Arial"/>
              </a:rPr>
              <a:t>: «Γιατί </a:t>
            </a:r>
            <a:r>
              <a:rPr lang="en-US" sz="2000" b="0" u="none" strike="noStrike">
                <a:solidFill>
                  <a:srgbClr val="000000"/>
                </a:solidFill>
                <a:effectLst/>
                <a:uFillTx/>
                <a:latin typeface="Arial"/>
              </a:rPr>
              <a:t>δύο </a:t>
            </a:r>
            <a:r>
              <a:rPr lang="en-US" sz="2000" b="0" u="none" strike="noStrike">
                <a:solidFill>
                  <a:srgbClr val="000000"/>
                </a:solidFill>
                <a:effectLst/>
                <a:uFillTx/>
                <a:latin typeface="Arial"/>
              </a:rPr>
              <a:t>επίπεδα;» </a:t>
            </a:r>
            <a:r>
              <a:rPr lang="en-US" sz="2000" b="0" u="none" strike="noStrike">
                <a:solidFill>
                  <a:srgbClr val="000000"/>
                </a:solidFill>
                <a:effectLst/>
                <a:uFillTx/>
                <a:latin typeface="Arial"/>
              </a:rPr>
              <a:t>Το ζήτησε </a:t>
            </a:r>
            <a:r>
              <a:rPr lang="en-US" sz="2000" b="0" u="none" strike="noStrike">
                <a:solidFill>
                  <a:srgbClr val="000000"/>
                </a:solidFill>
                <a:effectLst/>
                <a:uFillTx/>
                <a:latin typeface="Arial"/>
              </a:rPr>
              <a:t>η </a:t>
            </a:r>
            <a:r>
              <a:rPr lang="en-US" sz="2000" b="0" u="none" strike="noStrike">
                <a:solidFill>
                  <a:srgbClr val="000000"/>
                </a:solidFill>
                <a:effectLst/>
                <a:uFillTx/>
                <a:latin typeface="Arial"/>
              </a:rPr>
              <a:t>επίβλεψη: </a:t>
            </a:r>
            <a:r>
              <a:rPr lang="en-US" sz="2000" b="0" u="none" strike="noStrike">
                <a:solidFill>
                  <a:srgbClr val="000000"/>
                </a:solidFill>
                <a:effectLst/>
                <a:uFillTx/>
                <a:latin typeface="Arial"/>
              </a:rPr>
              <a:t>πρώτα </a:t>
            </a:r>
            <a:r>
              <a:rPr lang="en-US" sz="2000" b="0" u="none" strike="noStrike">
                <a:solidFill>
                  <a:srgbClr val="000000"/>
                </a:solidFill>
                <a:effectLst/>
                <a:uFillTx/>
                <a:latin typeface="Arial"/>
              </a:rPr>
              <a:t>ομαδοποί</a:t>
            </a:r>
            <a:r>
              <a:rPr lang="en-US" sz="2000" b="0" u="none" strike="noStrike">
                <a:solidFill>
                  <a:srgbClr val="000000"/>
                </a:solidFill>
                <a:effectLst/>
                <a:uFillTx/>
                <a:latin typeface="Arial"/>
              </a:rPr>
              <a:t>ηση στις </a:t>
            </a:r>
            <a:r>
              <a:rPr lang="en-US" sz="2000" b="0" u="none" strike="noStrike">
                <a:solidFill>
                  <a:srgbClr val="000000"/>
                </a:solidFill>
                <a:effectLst/>
                <a:uFillTx/>
                <a:latin typeface="Arial"/>
              </a:rPr>
              <a:t>πιο </a:t>
            </a:r>
            <a:r>
              <a:rPr lang="en-US" sz="2000" b="0" u="none" strike="noStrike">
                <a:solidFill>
                  <a:srgbClr val="000000"/>
                </a:solidFill>
                <a:effectLst/>
                <a:uFillTx/>
                <a:latin typeface="Arial"/>
              </a:rPr>
              <a:t>σημαντικέ</a:t>
            </a:r>
            <a:r>
              <a:rPr lang="en-US" sz="2000" b="0" u="none" strike="noStrike">
                <a:solidFill>
                  <a:srgbClr val="000000"/>
                </a:solidFill>
                <a:effectLst/>
                <a:uFillTx/>
                <a:latin typeface="Arial"/>
              </a:rPr>
              <a:t>ς </a:t>
            </a:r>
            <a:r>
              <a:rPr lang="en-US" sz="2000" b="0" u="none" strike="noStrike">
                <a:solidFill>
                  <a:srgbClr val="000000"/>
                </a:solidFill>
                <a:effectLst/>
                <a:uFillTx/>
                <a:latin typeface="Arial"/>
              </a:rPr>
              <a:t>παραμέτρ</a:t>
            </a:r>
            <a:r>
              <a:rPr lang="en-US" sz="2000" b="0" u="none" strike="noStrike">
                <a:solidFill>
                  <a:srgbClr val="000000"/>
                </a:solidFill>
                <a:effectLst/>
                <a:uFillTx/>
                <a:latin typeface="Arial"/>
              </a:rPr>
              <a:t>ους, </a:t>
            </a:r>
            <a:r>
              <a:rPr lang="en-US" sz="2000" b="0" u="none" strike="noStrike">
                <a:solidFill>
                  <a:srgbClr val="000000"/>
                </a:solidFill>
                <a:effectLst/>
                <a:uFillTx/>
                <a:latin typeface="Arial"/>
              </a:rPr>
              <a:t>περιοχή </a:t>
            </a:r>
            <a:r>
              <a:rPr lang="en-US" sz="2000" b="0" u="none" strike="noStrike">
                <a:solidFill>
                  <a:srgbClr val="000000"/>
                </a:solidFill>
                <a:effectLst/>
                <a:uFillTx/>
                <a:latin typeface="Arial"/>
              </a:rPr>
              <a:t>και χρόνο, </a:t>
            </a:r>
            <a:r>
              <a:rPr lang="en-US" sz="2000" b="0" u="none" strike="noStrike">
                <a:solidFill>
                  <a:srgbClr val="000000"/>
                </a:solidFill>
                <a:effectLst/>
                <a:uFillTx/>
                <a:latin typeface="Arial"/>
              </a:rPr>
              <a:t>και μετά </a:t>
            </a:r>
            <a:r>
              <a:rPr lang="en-US" sz="2000" b="0" u="none" strike="noStrike">
                <a:solidFill>
                  <a:srgbClr val="000000"/>
                </a:solidFill>
                <a:effectLst/>
                <a:uFillTx/>
                <a:latin typeface="Arial"/>
              </a:rPr>
              <a:t>μέσα σε </a:t>
            </a: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ομάδα </a:t>
            </a:r>
            <a:r>
              <a:rPr lang="en-US" sz="2000" b="0" u="none" strike="noStrike">
                <a:solidFill>
                  <a:srgbClr val="000000"/>
                </a:solidFill>
                <a:effectLst/>
                <a:uFillTx/>
                <a:latin typeface="Arial"/>
              </a:rPr>
              <a:t>ξανά με </a:t>
            </a:r>
            <a:r>
              <a:rPr lang="en-US" sz="2000" b="0" u="none" strike="noStrike">
                <a:solidFill>
                  <a:srgbClr val="000000"/>
                </a:solidFill>
                <a:effectLst/>
                <a:uFillTx/>
                <a:latin typeface="Arial"/>
              </a:rPr>
              <a:t>RFM. </a:t>
            </a:r>
            <a:r>
              <a:rPr lang="en-US" sz="2000" b="0" u="none" strike="noStrike">
                <a:solidFill>
                  <a:srgbClr val="000000"/>
                </a:solidFill>
                <a:effectLst/>
                <a:uFillTx/>
                <a:latin typeface="Arial"/>
              </a:rPr>
              <a:t>Παίρνουμε </a:t>
            </a:r>
            <a:r>
              <a:rPr lang="en-US" sz="2000" b="0" u="none" strike="noStrike">
                <a:solidFill>
                  <a:srgbClr val="000000"/>
                </a:solidFill>
                <a:effectLst/>
                <a:uFillTx/>
                <a:latin typeface="Arial"/>
              </a:rPr>
              <a:t>πληροφορ</a:t>
            </a:r>
            <a:r>
              <a:rPr lang="en-US" sz="2000" b="0" u="none" strike="noStrike">
                <a:solidFill>
                  <a:srgbClr val="000000"/>
                </a:solidFill>
                <a:effectLst/>
                <a:uFillTx/>
                <a:latin typeface="Arial"/>
              </a:rPr>
              <a:t>ία σε δύο </a:t>
            </a:r>
            <a:r>
              <a:rPr lang="en-US" sz="2000" b="0" u="none" strike="noStrike">
                <a:solidFill>
                  <a:srgbClr val="000000"/>
                </a:solidFill>
                <a:effectLst/>
                <a:uFillTx/>
                <a:latin typeface="Arial"/>
              </a:rPr>
              <a:t>επίπεδα </a:t>
            </a:r>
            <a:r>
              <a:rPr lang="en-US" sz="2000" b="0" u="none" strike="noStrike">
                <a:solidFill>
                  <a:srgbClr val="000000"/>
                </a:solidFill>
                <a:effectLst/>
                <a:uFillTx/>
                <a:latin typeface="Arial"/>
              </a:rPr>
              <a:t>αντί για </a:t>
            </a:r>
            <a:r>
              <a:rPr lang="en-US" sz="2000" b="0" u="none" strike="noStrike">
                <a:solidFill>
                  <a:srgbClr val="000000"/>
                </a:solidFill>
                <a:effectLst/>
                <a:uFillTx/>
                <a:latin typeface="Arial"/>
              </a:rPr>
              <a:t>ένα. </a:t>
            </a:r>
            <a:r>
              <a:rPr lang="en-US" sz="2000" b="0" u="none" strike="noStrike">
                <a:solidFill>
                  <a:srgbClr val="000000"/>
                </a:solidFill>
                <a:effectLst/>
                <a:uFillTx/>
                <a:latin typeface="Arial"/>
              </a:rPr>
              <a:t>Επίσης, η </a:t>
            </a:r>
            <a:r>
              <a:rPr lang="en-US" sz="2000" b="0" u="none" strike="noStrike">
                <a:solidFill>
                  <a:srgbClr val="000000"/>
                </a:solidFill>
                <a:effectLst/>
                <a:uFillTx/>
                <a:latin typeface="Arial"/>
              </a:rPr>
              <a:t>τυποποίη</a:t>
            </a:r>
            <a:r>
              <a:rPr lang="en-US" sz="2000" b="0" u="none" strike="noStrike">
                <a:solidFill>
                  <a:srgbClr val="000000"/>
                </a:solidFill>
                <a:effectLst/>
                <a:uFillTx/>
                <a:latin typeface="Arial"/>
              </a:rPr>
              <a:t>ση των </a:t>
            </a:r>
            <a:r>
              <a:rPr lang="en-US" sz="2000" b="0" u="none" strike="noStrike">
                <a:solidFill>
                  <a:srgbClr val="000000"/>
                </a:solidFill>
                <a:effectLst/>
                <a:uFillTx/>
                <a:latin typeface="Arial"/>
              </a:rPr>
              <a:t>μεταβλητ</a:t>
            </a:r>
            <a:r>
              <a:rPr lang="en-US" sz="2000" b="0" u="none" strike="noStrike">
                <a:solidFill>
                  <a:srgbClr val="000000"/>
                </a:solidFill>
                <a:effectLst/>
                <a:uFillTx/>
                <a:latin typeface="Arial"/>
              </a:rPr>
              <a:t>ών πριν το </a:t>
            </a:r>
            <a:r>
              <a:rPr lang="en-US" sz="2000" b="0" u="none" strike="noStrike">
                <a:solidFill>
                  <a:srgbClr val="000000"/>
                </a:solidFill>
                <a:effectLst/>
                <a:uFillTx/>
                <a:latin typeface="Arial"/>
              </a:rPr>
              <a:t>clustering </a:t>
            </a:r>
            <a:r>
              <a:rPr lang="en-US" sz="2000" b="0" u="none" strike="noStrike">
                <a:solidFill>
                  <a:srgbClr val="000000"/>
                </a:solidFill>
                <a:effectLst/>
                <a:uFillTx/>
                <a:latin typeface="Arial"/>
              </a:rPr>
              <a:t>δεν είναι </a:t>
            </a:r>
            <a:r>
              <a:rPr lang="en-US" sz="2000" b="0" u="none" strike="noStrike">
                <a:solidFill>
                  <a:srgbClr val="000000"/>
                </a:solidFill>
                <a:effectLst/>
                <a:uFillTx/>
                <a:latin typeface="Arial"/>
              </a:rPr>
              <a:t>βελτίωση,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προϋπόθε</a:t>
            </a:r>
            <a:r>
              <a:rPr lang="en-US" sz="2000" b="0" u="none" strike="noStrike">
                <a:solidFill>
                  <a:srgbClr val="000000"/>
                </a:solidFill>
                <a:effectLst/>
                <a:uFillTx/>
                <a:latin typeface="Arial"/>
              </a:rPr>
              <a:t>ση, </a:t>
            </a:r>
            <a:r>
              <a:rPr lang="en-US" sz="2000" b="0" u="none" strike="noStrike">
                <a:solidFill>
                  <a:srgbClr val="000000"/>
                </a:solidFill>
                <a:effectLst/>
                <a:uFillTx/>
                <a:latin typeface="Arial"/>
              </a:rPr>
              <a:t>αλλιώς η </a:t>
            </a:r>
            <a:r>
              <a:rPr lang="en-US" sz="2000" b="0" u="none" strike="noStrike">
                <a:solidFill>
                  <a:srgbClr val="000000"/>
                </a:solidFill>
                <a:effectLst/>
                <a:uFillTx/>
                <a:latin typeface="Arial"/>
              </a:rPr>
              <a:t>μεταβλητή </a:t>
            </a:r>
            <a:r>
              <a:rPr lang="en-US" sz="2000" b="0" u="none" strike="noStrike">
                <a:solidFill>
                  <a:srgbClr val="000000"/>
                </a:solidFill>
                <a:effectLst/>
                <a:uFillTx/>
                <a:latin typeface="Arial"/>
              </a:rPr>
              <a:t>με τη </a:t>
            </a:r>
            <a:r>
              <a:rPr lang="en-US" sz="2000" b="0" u="none" strike="noStrike">
                <a:solidFill>
                  <a:srgbClr val="000000"/>
                </a:solidFill>
                <a:effectLst/>
                <a:uFillTx/>
                <a:latin typeface="Arial"/>
              </a:rPr>
              <a:t>μεγαλύτερ</a:t>
            </a:r>
            <a:r>
              <a:rPr lang="en-US" sz="2000" b="0" u="none" strike="noStrike">
                <a:solidFill>
                  <a:srgbClr val="000000"/>
                </a:solidFill>
                <a:effectLst/>
                <a:uFillTx/>
                <a:latin typeface="Arial"/>
              </a:rPr>
              <a:t>η κλίμακα </a:t>
            </a:r>
            <a:r>
              <a:rPr lang="en-US" sz="2000" b="0" u="none" strike="noStrike">
                <a:solidFill>
                  <a:srgbClr val="000000"/>
                </a:solidFill>
                <a:effectLst/>
                <a:uFillTx/>
                <a:latin typeface="Arial"/>
              </a:rPr>
              <a:t>κυριαρχεί.</a:t>
            </a:r>
            <a:endParaRPr lang="en-US" sz="2000" b="0" u="none" strike="noStrike">
              <a:solidFill>
                <a:srgbClr val="000000"/>
              </a:solidFill>
              <a:effectLst/>
              <a:uFillTx/>
              <a:latin typeface="Arial"/>
            </a:endParaRPr>
          </a:p>
        </p:txBody>
      </p:sp>
      <p:sp>
        <p:nvSpPr>
          <p:cNvPr id="484" name="PlaceHolder 3"/>
          <p:cNvSpPr>
            <a:spLocks noGrp="1"/>
          </p:cNvSpPr>
          <p:nvPr>
            <p:ph type="sldNum" idx="2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16DD2B7-29E3-4BC4-A7FB-2A28B86B8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1143000" y="685800"/>
            <a:ext cx="4571280" cy="3428280"/>
          </a:xfrm>
          <a:prstGeom prst="rect">
            <a:avLst/>
          </a:prstGeom>
          <a:ln w="0">
            <a:noFill/>
          </a:ln>
        </p:spPr>
      </p:sp>
      <p:sp>
        <p:nvSpPr>
          <p:cNvPr id="48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endParaRPr lang="en-US" sz="2000" b="0" u="none" strike="noStrike">
              <a:solidFill>
                <a:srgbClr val="000000"/>
              </a:solidFill>
              <a:effectLst/>
              <a:uFillTx/>
              <a:latin typeface="Arial"/>
            </a:endParaRPr>
          </a:p>
        </p:txBody>
      </p:sp>
      <p:sp>
        <p:nvSpPr>
          <p:cNvPr id="487" name="PlaceHolder 3"/>
          <p:cNvSpPr>
            <a:spLocks noGrp="1"/>
          </p:cNvSpPr>
          <p:nvPr>
            <p:ph type="sldNum" idx="2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4962F9F-99EF-4543-97CF-A3B82059C3A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1143000" y="685800"/>
            <a:ext cx="4571280" cy="3428280"/>
          </a:xfrm>
          <a:prstGeom prst="rect">
            <a:avLst/>
          </a:prstGeom>
          <a:ln w="0">
            <a:noFill/>
          </a:ln>
        </p:spPr>
      </p:sp>
      <p:sp>
        <p:nvSpPr>
          <p:cNvPr id="48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endParaRPr lang="en-US" sz="2000" b="0" u="none" strike="noStrike">
              <a:solidFill>
                <a:srgbClr val="000000"/>
              </a:solidFill>
              <a:effectLst/>
              <a:uFillTx/>
              <a:latin typeface="Arial"/>
            </a:endParaRPr>
          </a:p>
        </p:txBody>
      </p:sp>
      <p:sp>
        <p:nvSpPr>
          <p:cNvPr id="490" name="PlaceHolder 3"/>
          <p:cNvSpPr>
            <a:spLocks noGrp="1"/>
          </p:cNvSpPr>
          <p:nvPr>
            <p:ph type="sldNum" idx="3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8AB0997-EA37-4D4D-89B1-3487CBC2812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sldImg"/>
          </p:nvPr>
        </p:nvSpPr>
        <p:spPr>
          <a:xfrm>
            <a:off x="1143000" y="685800"/>
            <a:ext cx="4571280" cy="3428280"/>
          </a:xfrm>
          <a:prstGeom prst="rect">
            <a:avLst/>
          </a:prstGeom>
          <a:ln w="0">
            <a:noFill/>
          </a:ln>
        </p:spPr>
      </p:sp>
      <p:sp>
        <p:nvSpPr>
          <p:cNvPr id="49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Growth </a:t>
            </a:r>
            <a:r>
              <a:rPr lang="en-US" sz="2000" b="0" u="none" strike="noStrike">
                <a:solidFill>
                  <a:srgbClr val="000000"/>
                </a:solidFill>
                <a:effectLst/>
                <a:uFillTx/>
                <a:latin typeface="Arial"/>
              </a:rPr>
              <a:t>Accoun</a:t>
            </a:r>
            <a:r>
              <a:rPr lang="en-US" sz="2000" b="0" u="none" strike="noStrike">
                <a:solidFill>
                  <a:srgbClr val="000000"/>
                </a:solidFill>
                <a:effectLst/>
                <a:uFillTx/>
                <a:latin typeface="Arial"/>
              </a:rPr>
              <a:t>ting </a:t>
            </a:r>
            <a:r>
              <a:rPr lang="en-US" sz="2000" b="0" u="none" strike="noStrike">
                <a:solidFill>
                  <a:srgbClr val="000000"/>
                </a:solidFill>
                <a:effectLst/>
                <a:uFillTx/>
                <a:latin typeface="Arial"/>
              </a:rPr>
              <a:t>σπάει </a:t>
            </a:r>
            <a:r>
              <a:rPr lang="en-US" sz="2000" b="0" u="none" strike="noStrike">
                <a:solidFill>
                  <a:srgbClr val="000000"/>
                </a:solidFill>
                <a:effectLst/>
                <a:uFillTx/>
                <a:latin typeface="Arial"/>
              </a:rPr>
              <a:t>τη </a:t>
            </a:r>
            <a:r>
              <a:rPr lang="en-US" sz="2000" b="0" u="none" strike="noStrike">
                <a:solidFill>
                  <a:srgbClr val="000000"/>
                </a:solidFill>
                <a:effectLst/>
                <a:uFillTx/>
                <a:latin typeface="Arial"/>
              </a:rPr>
              <a:t>μεταβο</a:t>
            </a:r>
            <a:r>
              <a:rPr lang="en-US" sz="2000" b="0" u="none" strike="noStrike">
                <a:solidFill>
                  <a:srgbClr val="000000"/>
                </a:solidFill>
                <a:effectLst/>
                <a:uFillTx/>
                <a:latin typeface="Arial"/>
              </a:rPr>
              <a:t>λή των </a:t>
            </a:r>
            <a:r>
              <a:rPr lang="en-US" sz="2000" b="0" u="none" strike="noStrike">
                <a:solidFill>
                  <a:srgbClr val="000000"/>
                </a:solidFill>
                <a:effectLst/>
                <a:uFillTx/>
                <a:latin typeface="Arial"/>
              </a:rPr>
              <a:t>εσόδων </a:t>
            </a:r>
            <a:r>
              <a:rPr lang="en-US" sz="2000" b="0" u="none" strike="noStrike">
                <a:solidFill>
                  <a:srgbClr val="000000"/>
                </a:solidFill>
                <a:effectLst/>
                <a:uFillTx/>
                <a:latin typeface="Arial"/>
              </a:rPr>
              <a:t>κάθε </a:t>
            </a:r>
            <a:r>
              <a:rPr lang="en-US" sz="2000" b="0" u="none" strike="noStrike">
                <a:solidFill>
                  <a:srgbClr val="000000"/>
                </a:solidFill>
                <a:effectLst/>
                <a:uFillTx/>
                <a:latin typeface="Arial"/>
              </a:rPr>
              <a:t>μήνα </a:t>
            </a:r>
            <a:r>
              <a:rPr lang="en-US" sz="2000" b="0" u="none" strike="noStrike">
                <a:solidFill>
                  <a:srgbClr val="000000"/>
                </a:solidFill>
                <a:effectLst/>
                <a:uFillTx/>
                <a:latin typeface="Arial"/>
              </a:rPr>
              <a:t>σε έξι </a:t>
            </a:r>
            <a:r>
              <a:rPr lang="en-US" sz="2000" b="0" u="none" strike="noStrike">
                <a:solidFill>
                  <a:srgbClr val="000000"/>
                </a:solidFill>
                <a:effectLst/>
                <a:uFillTx/>
                <a:latin typeface="Arial"/>
              </a:rPr>
              <a:t>κουβάδ</a:t>
            </a:r>
            <a:r>
              <a:rPr lang="en-US" sz="2000" b="0" u="none" strike="noStrike">
                <a:solidFill>
                  <a:srgbClr val="000000"/>
                </a:solidFill>
                <a:effectLst/>
                <a:uFillTx/>
                <a:latin typeface="Arial"/>
              </a:rPr>
              <a:t>ες: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έφεραν </a:t>
            </a:r>
            <a:r>
              <a:rPr lang="en-US" sz="2000" b="0" u="none" strike="noStrike">
                <a:solidFill>
                  <a:srgbClr val="000000"/>
                </a:solidFill>
                <a:effectLst/>
                <a:uFillTx/>
                <a:latin typeface="Arial"/>
              </a:rPr>
              <a:t>νέοι </a:t>
            </a:r>
            <a:r>
              <a:rPr lang="en-US" sz="2000" b="0" u="none" strike="noStrike">
                <a:solidFill>
                  <a:srgbClr val="000000"/>
                </a:solidFill>
                <a:effectLst/>
                <a:uFillTx/>
                <a:latin typeface="Arial"/>
              </a:rPr>
              <a:t>πελάτε</a:t>
            </a:r>
            <a:r>
              <a:rPr lang="en-US" sz="2000" b="0" u="none" strike="noStrike">
                <a:solidFill>
                  <a:srgbClr val="000000"/>
                </a:solidFill>
                <a:effectLst/>
                <a:uFillTx/>
                <a:latin typeface="Arial"/>
              </a:rPr>
              <a:t>ς, πόσα </a:t>
            </a:r>
            <a:r>
              <a:rPr lang="en-US" sz="2000" b="0" u="none" strike="noStrike">
                <a:solidFill>
                  <a:srgbClr val="000000"/>
                </a:solidFill>
                <a:effectLst/>
                <a:uFillTx/>
                <a:latin typeface="Arial"/>
              </a:rPr>
              <a:t>παλιοί </a:t>
            </a:r>
            <a:r>
              <a:rPr lang="en-US" sz="2000" b="0" u="none" strike="noStrike">
                <a:solidFill>
                  <a:srgbClr val="000000"/>
                </a:solidFill>
                <a:effectLst/>
                <a:uFillTx/>
                <a:latin typeface="Arial"/>
              </a:rPr>
              <a:t>που </a:t>
            </a:r>
            <a:r>
              <a:rPr lang="en-US" sz="2000" b="0" u="none" strike="noStrike">
                <a:solidFill>
                  <a:srgbClr val="000000"/>
                </a:solidFill>
                <a:effectLst/>
                <a:uFillTx/>
                <a:latin typeface="Arial"/>
              </a:rPr>
              <a:t>ξαναγύ</a:t>
            </a:r>
            <a:r>
              <a:rPr lang="en-US" sz="2000" b="0" u="none" strike="noStrike">
                <a:solidFill>
                  <a:srgbClr val="000000"/>
                </a:solidFill>
                <a:effectLst/>
                <a:uFillTx/>
                <a:latin typeface="Arial"/>
              </a:rPr>
              <a:t>ρισαν,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έμειναν </a:t>
            </a:r>
            <a:r>
              <a:rPr lang="en-US" sz="2000" b="0" u="none" strike="noStrike">
                <a:solidFill>
                  <a:srgbClr val="000000"/>
                </a:solidFill>
                <a:effectLst/>
                <a:uFillTx/>
                <a:latin typeface="Arial"/>
              </a:rPr>
              <a:t>ίδια,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κέρδισα</a:t>
            </a:r>
            <a:r>
              <a:rPr lang="en-US" sz="2000" b="0" u="none" strike="noStrike">
                <a:solidFill>
                  <a:srgbClr val="000000"/>
                </a:solidFill>
                <a:effectLst/>
                <a:uFillTx/>
                <a:latin typeface="Arial"/>
              </a:rPr>
              <a:t>ν από </a:t>
            </a:r>
            <a:r>
              <a:rPr lang="en-US" sz="2000" b="0" u="none" strike="noStrike">
                <a:solidFill>
                  <a:srgbClr val="000000"/>
                </a:solidFill>
                <a:effectLst/>
                <a:uFillTx/>
                <a:latin typeface="Arial"/>
              </a:rPr>
              <a:t>πελάτε</a:t>
            </a:r>
            <a:r>
              <a:rPr lang="en-US" sz="2000" b="0" u="none" strike="noStrike">
                <a:solidFill>
                  <a:srgbClr val="000000"/>
                </a:solidFill>
                <a:effectLst/>
                <a:uFillTx/>
                <a:latin typeface="Arial"/>
              </a:rPr>
              <a:t>ς που </a:t>
            </a:r>
            <a:r>
              <a:rPr lang="en-US" sz="2000" b="0" u="none" strike="noStrike">
                <a:solidFill>
                  <a:srgbClr val="000000"/>
                </a:solidFill>
                <a:effectLst/>
                <a:uFillTx/>
                <a:latin typeface="Arial"/>
              </a:rPr>
              <a:t>ξόδεψα</a:t>
            </a:r>
            <a:r>
              <a:rPr lang="en-US" sz="2000" b="0" u="none" strike="noStrike">
                <a:solidFill>
                  <a:srgbClr val="000000"/>
                </a:solidFill>
                <a:effectLst/>
                <a:uFillTx/>
                <a:latin typeface="Arial"/>
              </a:rPr>
              <a:t>ν </a:t>
            </a:r>
            <a:r>
              <a:rPr lang="en-US" sz="2000" b="0" u="none" strike="noStrike">
                <a:solidFill>
                  <a:srgbClr val="000000"/>
                </a:solidFill>
                <a:effectLst/>
                <a:uFillTx/>
                <a:latin typeface="Arial"/>
              </a:rPr>
              <a:t>παραπ</a:t>
            </a:r>
            <a:r>
              <a:rPr lang="en-US" sz="2000" b="0" u="none" strike="noStrike">
                <a:solidFill>
                  <a:srgbClr val="000000"/>
                </a:solidFill>
                <a:effectLst/>
                <a:uFillTx/>
                <a:latin typeface="Arial"/>
              </a:rPr>
              <a:t>άνω,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χάθηκα</a:t>
            </a:r>
            <a:r>
              <a:rPr lang="en-US" sz="2000" b="0" u="none" strike="noStrike">
                <a:solidFill>
                  <a:srgbClr val="000000"/>
                </a:solidFill>
                <a:effectLst/>
                <a:uFillTx/>
                <a:latin typeface="Arial"/>
              </a:rPr>
              <a:t>ν από </a:t>
            </a:r>
            <a:r>
              <a:rPr lang="en-US" sz="2000" b="0" u="none" strike="noStrike">
                <a:solidFill>
                  <a:srgbClr val="000000"/>
                </a:solidFill>
                <a:effectLst/>
                <a:uFillTx/>
                <a:latin typeface="Arial"/>
              </a:rPr>
              <a:t>πελάτε</a:t>
            </a:r>
            <a:r>
              <a:rPr lang="en-US" sz="2000" b="0" u="none" strike="noStrike">
                <a:solidFill>
                  <a:srgbClr val="000000"/>
                </a:solidFill>
                <a:effectLst/>
                <a:uFillTx/>
                <a:latin typeface="Arial"/>
              </a:rPr>
              <a:t>ς που </a:t>
            </a:r>
            <a:r>
              <a:rPr lang="en-US" sz="2000" b="0" u="none" strike="noStrike">
                <a:solidFill>
                  <a:srgbClr val="000000"/>
                </a:solidFill>
                <a:effectLst/>
                <a:uFillTx/>
                <a:latin typeface="Arial"/>
              </a:rPr>
              <a:t>ξόδεψα</a:t>
            </a:r>
            <a:r>
              <a:rPr lang="en-US" sz="2000" b="0" u="none" strike="noStrike">
                <a:solidFill>
                  <a:srgbClr val="000000"/>
                </a:solidFill>
                <a:effectLst/>
                <a:uFillTx/>
                <a:latin typeface="Arial"/>
              </a:rPr>
              <a:t>ν </a:t>
            </a:r>
            <a:r>
              <a:rPr lang="en-US" sz="2000" b="0" u="none" strike="noStrike">
                <a:solidFill>
                  <a:srgbClr val="000000"/>
                </a:solidFill>
                <a:effectLst/>
                <a:uFillTx/>
                <a:latin typeface="Arial"/>
              </a:rPr>
              <a:t>λιγότερ</a:t>
            </a:r>
            <a:r>
              <a:rPr lang="en-US" sz="2000" b="0" u="none" strike="noStrike">
                <a:solidFill>
                  <a:srgbClr val="000000"/>
                </a:solidFill>
                <a:effectLst/>
                <a:uFillTx/>
                <a:latin typeface="Arial"/>
              </a:rPr>
              <a:t>α, και </a:t>
            </a:r>
            <a:r>
              <a:rPr lang="en-US" sz="2000" b="0" u="none" strike="noStrike">
                <a:solidFill>
                  <a:srgbClr val="000000"/>
                </a:solidFill>
                <a:effectLst/>
                <a:uFillTx/>
                <a:latin typeface="Arial"/>
              </a:rPr>
              <a:t>πόσα </a:t>
            </a:r>
            <a:r>
              <a:rPr lang="en-US" sz="2000" b="0" u="none" strike="noStrike">
                <a:solidFill>
                  <a:srgbClr val="000000"/>
                </a:solidFill>
                <a:effectLst/>
                <a:uFillTx/>
                <a:latin typeface="Arial"/>
              </a:rPr>
              <a:t>χάθηκα</a:t>
            </a:r>
            <a:r>
              <a:rPr lang="en-US" sz="2000" b="0" u="none" strike="noStrike">
                <a:solidFill>
                  <a:srgbClr val="000000"/>
                </a:solidFill>
                <a:effectLst/>
                <a:uFillTx/>
                <a:latin typeface="Arial"/>
              </a:rPr>
              <a:t>ν </a:t>
            </a:r>
            <a:r>
              <a:rPr lang="en-US" sz="2000" b="0" u="none" strike="noStrike">
                <a:solidFill>
                  <a:srgbClr val="000000"/>
                </a:solidFill>
                <a:effectLst/>
                <a:uFillTx/>
                <a:latin typeface="Arial"/>
              </a:rPr>
              <a:t>εντελώ</a:t>
            </a:r>
            <a:r>
              <a:rPr lang="en-US" sz="2000" b="0" u="none" strike="noStrike">
                <a:solidFill>
                  <a:srgbClr val="000000"/>
                </a:solidFill>
                <a:effectLst/>
                <a:uFillTx/>
                <a:latin typeface="Arial"/>
              </a:rPr>
              <a:t>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a:t>
            </a:r>
            <a:r>
              <a:rPr lang="en-US" sz="2000" b="0" u="none" strike="noStrike">
                <a:solidFill>
                  <a:srgbClr val="000000"/>
                </a:solidFill>
                <a:effectLst/>
                <a:uFillTx/>
                <a:latin typeface="Arial"/>
              </a:rPr>
              <a:t>ΜΑΤΙΚ</a:t>
            </a:r>
            <a:r>
              <a:rPr lang="en-US" sz="2000" b="0" u="none" strike="noStrike">
                <a:solidFill>
                  <a:srgbClr val="000000"/>
                </a:solidFill>
                <a:effectLst/>
                <a:uFillTx/>
                <a:latin typeface="Arial"/>
              </a:rPr>
              <a:t>Α: </a:t>
            </a:r>
            <a:r>
              <a:rPr lang="en-US" sz="2000" b="0" u="none" strike="noStrike">
                <a:solidFill>
                  <a:srgbClr val="000000"/>
                </a:solidFill>
                <a:effectLst/>
                <a:uFillTx/>
                <a:latin typeface="Arial"/>
              </a:rPr>
              <a:t>Quick </a:t>
            </a:r>
            <a:r>
              <a:rPr lang="en-US" sz="2000" b="0" u="none" strike="noStrike">
                <a:solidFill>
                  <a:srgbClr val="000000"/>
                </a:solidFill>
                <a:effectLst/>
                <a:uFillTx/>
                <a:latin typeface="Arial"/>
              </a:rPr>
              <a:t>ratio </a:t>
            </a:r>
            <a:r>
              <a:rPr lang="en-US" sz="2000" b="0" u="none" strike="noStrike">
                <a:solidFill>
                  <a:srgbClr val="000000"/>
                </a:solidFill>
                <a:effectLst/>
                <a:uFillTx/>
                <a:latin typeface="Arial"/>
              </a:rPr>
              <a:t>ίσον τα </a:t>
            </a:r>
            <a:r>
              <a:rPr lang="en-US" sz="2000" b="0" u="none" strike="noStrike">
                <a:solidFill>
                  <a:srgbClr val="000000"/>
                </a:solidFill>
                <a:effectLst/>
                <a:uFillTx/>
                <a:latin typeface="Arial"/>
              </a:rPr>
              <a:t>καλά </a:t>
            </a:r>
            <a:r>
              <a:rPr lang="en-US" sz="2000" b="0" u="none" strike="noStrike">
                <a:solidFill>
                  <a:srgbClr val="000000"/>
                </a:solidFill>
                <a:effectLst/>
                <a:uFillTx/>
                <a:latin typeface="Arial"/>
              </a:rPr>
              <a:t>διά τα </a:t>
            </a:r>
            <a:r>
              <a:rPr lang="en-US" sz="2000" b="0" u="none" strike="noStrike">
                <a:solidFill>
                  <a:srgbClr val="000000"/>
                </a:solidFill>
                <a:effectLst/>
                <a:uFillTx/>
                <a:latin typeface="Arial"/>
              </a:rPr>
              <a:t>κακά, </a:t>
            </a:r>
            <a:r>
              <a:rPr lang="en-US" sz="2000" b="0" u="none" strike="noStrike">
                <a:solidFill>
                  <a:srgbClr val="000000"/>
                </a:solidFill>
                <a:effectLst/>
                <a:uFillTx/>
                <a:latin typeface="Arial"/>
              </a:rPr>
              <a:t>δηλαδή </a:t>
            </a:r>
            <a:r>
              <a:rPr lang="en-US" sz="2000" b="0" u="none" strike="noStrike">
                <a:solidFill>
                  <a:srgbClr val="000000"/>
                </a:solidFill>
                <a:effectLst/>
                <a:uFillTx/>
                <a:latin typeface="Arial"/>
              </a:rPr>
              <a:t>νέα συν </a:t>
            </a:r>
            <a:r>
              <a:rPr lang="en-US" sz="2000" b="0" u="none" strike="noStrike">
                <a:solidFill>
                  <a:srgbClr val="000000"/>
                </a:solidFill>
                <a:effectLst/>
                <a:uFillTx/>
                <a:latin typeface="Arial"/>
              </a:rPr>
              <a:t>αναβιω</a:t>
            </a:r>
            <a:r>
              <a:rPr lang="en-US" sz="2000" b="0" u="none" strike="noStrike">
                <a:solidFill>
                  <a:srgbClr val="000000"/>
                </a:solidFill>
                <a:effectLst/>
                <a:uFillTx/>
                <a:latin typeface="Arial"/>
              </a:rPr>
              <a:t>μένα </a:t>
            </a:r>
            <a:r>
              <a:rPr lang="en-US" sz="2000" b="0" u="none" strike="noStrike">
                <a:solidFill>
                  <a:srgbClr val="000000"/>
                </a:solidFill>
                <a:effectLst/>
                <a:uFillTx/>
                <a:latin typeface="Arial"/>
              </a:rPr>
              <a:t>συν </a:t>
            </a:r>
            <a:r>
              <a:rPr lang="en-US" sz="2000" b="0" u="none" strike="noStrike">
                <a:solidFill>
                  <a:srgbClr val="000000"/>
                </a:solidFill>
                <a:effectLst/>
                <a:uFillTx/>
                <a:latin typeface="Arial"/>
              </a:rPr>
              <a:t>επέκτα</a:t>
            </a:r>
            <a:r>
              <a:rPr lang="en-US" sz="2000" b="0" u="none" strike="noStrike">
                <a:solidFill>
                  <a:srgbClr val="000000"/>
                </a:solidFill>
                <a:effectLst/>
                <a:uFillTx/>
                <a:latin typeface="Arial"/>
              </a:rPr>
              <a:t>ση, διά </a:t>
            </a:r>
            <a:r>
              <a:rPr lang="en-US" sz="2000" b="0" u="none" strike="noStrike">
                <a:solidFill>
                  <a:srgbClr val="000000"/>
                </a:solidFill>
                <a:effectLst/>
                <a:uFillTx/>
                <a:latin typeface="Arial"/>
              </a:rPr>
              <a:t>συρρίκ</a:t>
            </a:r>
            <a:r>
              <a:rPr lang="en-US" sz="2000" b="0" u="none" strike="noStrike">
                <a:solidFill>
                  <a:srgbClr val="000000"/>
                </a:solidFill>
                <a:effectLst/>
                <a:uFillTx/>
                <a:latin typeface="Arial"/>
              </a:rPr>
              <a:t>νωση </a:t>
            </a:r>
            <a:r>
              <a:rPr lang="en-US" sz="2000" b="0" u="none" strike="noStrike">
                <a:solidFill>
                  <a:srgbClr val="000000"/>
                </a:solidFill>
                <a:effectLst/>
                <a:uFillTx/>
                <a:latin typeface="Arial"/>
              </a:rPr>
              <a:t>συν </a:t>
            </a:r>
            <a:r>
              <a:rPr lang="en-US" sz="2000" b="0" u="none" strike="noStrike">
                <a:solidFill>
                  <a:srgbClr val="000000"/>
                </a:solidFill>
                <a:effectLst/>
                <a:uFillTx/>
                <a:latin typeface="Arial"/>
              </a:rPr>
              <a:t>απώλει</a:t>
            </a:r>
            <a:r>
              <a:rPr lang="en-US" sz="2000" b="0" u="none" strike="noStrike">
                <a:solidFill>
                  <a:srgbClr val="000000"/>
                </a:solidFill>
                <a:effectLst/>
                <a:uFillTx/>
                <a:latin typeface="Arial"/>
              </a:rPr>
              <a:t>α. </a:t>
            </a:r>
            <a:r>
              <a:rPr lang="en-US" sz="2000" b="0" u="none" strike="noStrike">
                <a:solidFill>
                  <a:srgbClr val="000000"/>
                </a:solidFill>
                <a:effectLst/>
                <a:uFillTx/>
                <a:latin typeface="Arial"/>
              </a:rPr>
              <a:t>Πάνω </a:t>
            </a:r>
            <a:r>
              <a:rPr lang="en-US" sz="2000" b="0" u="none" strike="noStrike">
                <a:solidFill>
                  <a:srgbClr val="000000"/>
                </a:solidFill>
                <a:effectLst/>
                <a:uFillTx/>
                <a:latin typeface="Arial"/>
              </a:rPr>
              <a:t>από </a:t>
            </a:r>
            <a:r>
              <a:rPr lang="en-US" sz="2000" b="0" u="none" strike="noStrike">
                <a:solidFill>
                  <a:srgbClr val="000000"/>
                </a:solidFill>
                <a:effectLst/>
                <a:uFillTx/>
                <a:latin typeface="Arial"/>
              </a:rPr>
              <a:t>ένα η </a:t>
            </a:r>
            <a:r>
              <a:rPr lang="en-US" sz="2000" b="0" u="none" strike="noStrike">
                <a:solidFill>
                  <a:srgbClr val="000000"/>
                </a:solidFill>
                <a:effectLst/>
                <a:uFillTx/>
                <a:latin typeface="Arial"/>
              </a:rPr>
              <a:t>επιχείρ</a:t>
            </a:r>
            <a:r>
              <a:rPr lang="en-US" sz="2000" b="0" u="none" strike="noStrike">
                <a:solidFill>
                  <a:srgbClr val="000000"/>
                </a:solidFill>
                <a:effectLst/>
                <a:uFillTx/>
                <a:latin typeface="Arial"/>
              </a:rPr>
              <a:t>ηση </a:t>
            </a:r>
            <a:r>
              <a:rPr lang="en-US" sz="2000" b="0" u="none" strike="noStrike">
                <a:solidFill>
                  <a:srgbClr val="000000"/>
                </a:solidFill>
                <a:effectLst/>
                <a:uFillTx/>
                <a:latin typeface="Arial"/>
              </a:rPr>
              <a:t>μεγαλώ</a:t>
            </a:r>
            <a:r>
              <a:rPr lang="en-US" sz="2000" b="0" u="none" strike="noStrike">
                <a:solidFill>
                  <a:srgbClr val="000000"/>
                </a:solidFill>
                <a:effectLst/>
                <a:uFillTx/>
                <a:latin typeface="Arial"/>
              </a:rPr>
              <a:t>νει, </a:t>
            </a:r>
            <a:r>
              <a:rPr lang="en-US" sz="2000" b="0" u="none" strike="noStrike">
                <a:solidFill>
                  <a:srgbClr val="000000"/>
                </a:solidFill>
                <a:effectLst/>
                <a:uFillTx/>
                <a:latin typeface="Arial"/>
              </a:rPr>
              <a:t>κάτω </a:t>
            </a:r>
            <a:r>
              <a:rPr lang="en-US" sz="2000" b="0" u="none" strike="noStrike">
                <a:solidFill>
                  <a:srgbClr val="000000"/>
                </a:solidFill>
                <a:effectLst/>
                <a:uFillTx/>
                <a:latin typeface="Arial"/>
              </a:rPr>
              <a:t>από </a:t>
            </a:r>
            <a:r>
              <a:rPr lang="en-US" sz="2000" b="0" u="none" strike="noStrike">
                <a:solidFill>
                  <a:srgbClr val="000000"/>
                </a:solidFill>
                <a:effectLst/>
                <a:uFillTx/>
                <a:latin typeface="Arial"/>
              </a:rPr>
              <a:t>ένα </a:t>
            </a:r>
            <a:r>
              <a:rPr lang="en-US" sz="2000" b="0" u="none" strike="noStrike">
                <a:solidFill>
                  <a:srgbClr val="000000"/>
                </a:solidFill>
                <a:effectLst/>
                <a:uFillTx/>
                <a:latin typeface="Arial"/>
              </a:rPr>
              <a:t>μικραίν</a:t>
            </a:r>
            <a:r>
              <a:rPr lang="en-US" sz="2000" b="0" u="none" strike="noStrike">
                <a:solidFill>
                  <a:srgbClr val="000000"/>
                </a:solidFill>
                <a:effectLst/>
                <a:uFillTx/>
                <a:latin typeface="Arial"/>
              </a:rPr>
              <a:t>ει. Ο </a:t>
            </a:r>
            <a:r>
              <a:rPr lang="en-US" sz="2000" b="0" u="none" strike="noStrike">
                <a:solidFill>
                  <a:srgbClr val="000000"/>
                </a:solidFill>
                <a:effectLst/>
                <a:uFillTx/>
                <a:latin typeface="Arial"/>
              </a:rPr>
              <a:t>συντελε</a:t>
            </a:r>
            <a:r>
              <a:rPr lang="en-US" sz="2000" b="0" u="none" strike="noStrike">
                <a:solidFill>
                  <a:srgbClr val="000000"/>
                </a:solidFill>
                <a:effectLst/>
                <a:uFillTx/>
                <a:latin typeface="Arial"/>
              </a:rPr>
              <a:t>στής </a:t>
            </a:r>
            <a:r>
              <a:rPr lang="en-US" sz="2000" b="0" u="none" strike="noStrike">
                <a:solidFill>
                  <a:srgbClr val="000000"/>
                </a:solidFill>
                <a:effectLst/>
                <a:uFillTx/>
                <a:latin typeface="Arial"/>
              </a:rPr>
              <a:t>Gini: </a:t>
            </a:r>
            <a:r>
              <a:rPr lang="en-US" sz="2000" b="0" u="none" strike="noStrike">
                <a:solidFill>
                  <a:srgbClr val="000000"/>
                </a:solidFill>
                <a:effectLst/>
                <a:uFillTx/>
                <a:latin typeface="Arial"/>
              </a:rPr>
              <a:t>φαντασ</a:t>
            </a:r>
            <a:r>
              <a:rPr lang="en-US" sz="2000" b="0" u="none" strike="noStrike">
                <a:solidFill>
                  <a:srgbClr val="000000"/>
                </a:solidFill>
                <a:effectLst/>
                <a:uFillTx/>
                <a:latin typeface="Arial"/>
              </a:rPr>
              <a:t>τείτε </a:t>
            </a:r>
            <a:r>
              <a:rPr lang="en-US" sz="2000" b="0" u="none" strike="noStrike">
                <a:solidFill>
                  <a:srgbClr val="000000"/>
                </a:solidFill>
                <a:effectLst/>
                <a:uFillTx/>
                <a:latin typeface="Arial"/>
              </a:rPr>
              <a:t>εκατό </a:t>
            </a:r>
            <a:r>
              <a:rPr lang="en-US" sz="2000" b="0" u="none" strike="noStrike">
                <a:solidFill>
                  <a:srgbClr val="000000"/>
                </a:solidFill>
                <a:effectLst/>
                <a:uFillTx/>
                <a:latin typeface="Arial"/>
              </a:rPr>
              <a:t>ανθρώ</a:t>
            </a:r>
            <a:r>
              <a:rPr lang="en-US" sz="2000" b="0" u="none" strike="noStrike">
                <a:solidFill>
                  <a:srgbClr val="000000"/>
                </a:solidFill>
                <a:effectLst/>
                <a:uFillTx/>
                <a:latin typeface="Arial"/>
              </a:rPr>
              <a:t>πους. </a:t>
            </a:r>
            <a:r>
              <a:rPr lang="en-US" sz="2000" b="0" u="none" strike="noStrike">
                <a:solidFill>
                  <a:srgbClr val="000000"/>
                </a:solidFill>
                <a:effectLst/>
                <a:uFillTx/>
                <a:latin typeface="Arial"/>
              </a:rPr>
              <a:t>Αν </a:t>
            </a:r>
            <a:r>
              <a:rPr lang="en-US" sz="2000" b="0" u="none" strike="noStrike">
                <a:solidFill>
                  <a:srgbClr val="000000"/>
                </a:solidFill>
                <a:effectLst/>
                <a:uFillTx/>
                <a:latin typeface="Arial"/>
              </a:rPr>
              <a:t>έχουν </a:t>
            </a:r>
            <a:r>
              <a:rPr lang="en-US" sz="2000" b="0" u="none" strike="noStrike">
                <a:solidFill>
                  <a:srgbClr val="000000"/>
                </a:solidFill>
                <a:effectLst/>
                <a:uFillTx/>
                <a:latin typeface="Arial"/>
              </a:rPr>
              <a:t>ακριβώ</a:t>
            </a:r>
            <a:r>
              <a:rPr lang="en-US" sz="2000" b="0" u="none" strike="noStrike">
                <a:solidFill>
                  <a:srgbClr val="000000"/>
                </a:solidFill>
                <a:effectLst/>
                <a:uFillTx/>
                <a:latin typeface="Arial"/>
              </a:rPr>
              <a:t>ς τα </a:t>
            </a:r>
            <a:r>
              <a:rPr lang="en-US" sz="2000" b="0" u="none" strike="noStrike">
                <a:solidFill>
                  <a:srgbClr val="000000"/>
                </a:solidFill>
                <a:effectLst/>
                <a:uFillTx/>
                <a:latin typeface="Arial"/>
              </a:rPr>
              <a:t>ίδια, </a:t>
            </a:r>
            <a:r>
              <a:rPr lang="en-US" sz="2000" b="0" u="none" strike="noStrike">
                <a:solidFill>
                  <a:srgbClr val="000000"/>
                </a:solidFill>
                <a:effectLst/>
                <a:uFillTx/>
                <a:latin typeface="Arial"/>
              </a:rPr>
              <a:t>Gini </a:t>
            </a:r>
            <a:r>
              <a:rPr lang="en-US" sz="2000" b="0" u="none" strike="noStrike">
                <a:solidFill>
                  <a:srgbClr val="000000"/>
                </a:solidFill>
                <a:effectLst/>
                <a:uFillTx/>
                <a:latin typeface="Arial"/>
              </a:rPr>
              <a:t>μηδέν. </a:t>
            </a:r>
            <a:r>
              <a:rPr lang="en-US" sz="2000" b="0" u="none" strike="noStrike">
                <a:solidFill>
                  <a:srgbClr val="000000"/>
                </a:solidFill>
                <a:effectLst/>
                <a:uFillTx/>
                <a:latin typeface="Arial"/>
              </a:rPr>
              <a:t>Αν ένας </a:t>
            </a:r>
            <a:r>
              <a:rPr lang="en-US" sz="2000" b="0" u="none" strike="noStrike">
                <a:solidFill>
                  <a:srgbClr val="000000"/>
                </a:solidFill>
                <a:effectLst/>
                <a:uFillTx/>
                <a:latin typeface="Arial"/>
              </a:rPr>
              <a:t>τα έχει </a:t>
            </a:r>
            <a:r>
              <a:rPr lang="en-US" sz="2000" b="0" u="none" strike="noStrike">
                <a:solidFill>
                  <a:srgbClr val="000000"/>
                </a:solidFill>
                <a:effectLst/>
                <a:uFillTx/>
                <a:latin typeface="Arial"/>
              </a:rPr>
              <a:t>όλα, </a:t>
            </a:r>
            <a:r>
              <a:rPr lang="en-US" sz="2000" b="0" u="none" strike="noStrike">
                <a:solidFill>
                  <a:srgbClr val="000000"/>
                </a:solidFill>
                <a:effectLst/>
                <a:uFillTx/>
                <a:latin typeface="Arial"/>
              </a:rPr>
              <a:t>Gini </a:t>
            </a:r>
            <a:r>
              <a:rPr lang="en-US" sz="2000" b="0" u="none" strike="noStrike">
                <a:solidFill>
                  <a:srgbClr val="000000"/>
                </a:solidFill>
                <a:effectLst/>
                <a:uFillTx/>
                <a:latin typeface="Arial"/>
              </a:rPr>
              <a:t>ένα. Το </a:t>
            </a:r>
            <a:r>
              <a:rPr lang="en-US" sz="2000" b="0" u="none" strike="noStrike">
                <a:solidFill>
                  <a:srgbClr val="000000"/>
                </a:solidFill>
                <a:effectLst/>
                <a:uFillTx/>
                <a:latin typeface="Arial"/>
              </a:rPr>
              <a:t>0,740 </a:t>
            </a:r>
            <a:r>
              <a:rPr lang="en-US" sz="2000" b="0" u="none" strike="noStrike">
                <a:solidFill>
                  <a:srgbClr val="000000"/>
                </a:solidFill>
                <a:effectLst/>
                <a:uFillTx/>
                <a:latin typeface="Arial"/>
              </a:rPr>
              <a:t>είναι </a:t>
            </a:r>
            <a:r>
              <a:rPr lang="en-US" sz="2000" b="0" u="none" strike="noStrike">
                <a:solidFill>
                  <a:srgbClr val="000000"/>
                </a:solidFill>
                <a:effectLst/>
                <a:uFillTx/>
                <a:latin typeface="Arial"/>
              </a:rPr>
              <a:t>κοντά </a:t>
            </a:r>
            <a:r>
              <a:rPr lang="en-US" sz="2000" b="0" u="none" strike="noStrike">
                <a:solidFill>
                  <a:srgbClr val="000000"/>
                </a:solidFill>
                <a:effectLst/>
                <a:uFillTx/>
                <a:latin typeface="Arial"/>
              </a:rPr>
              <a:t>στο </a:t>
            </a:r>
            <a:r>
              <a:rPr lang="en-US" sz="2000" b="0" u="none" strike="noStrike">
                <a:solidFill>
                  <a:srgbClr val="000000"/>
                </a:solidFill>
                <a:effectLst/>
                <a:uFillTx/>
                <a:latin typeface="Arial"/>
              </a:rPr>
              <a:t>άνισο </a:t>
            </a:r>
            <a:r>
              <a:rPr lang="en-US" sz="2000" b="0" u="none" strike="noStrike">
                <a:solidFill>
                  <a:srgbClr val="000000"/>
                </a:solidFill>
                <a:effectLst/>
                <a:uFillTx/>
                <a:latin typeface="Arial"/>
              </a:rPr>
              <a:t>άκρο. </a:t>
            </a:r>
            <a:r>
              <a:rPr lang="en-US" sz="2000" b="0" u="none" strike="noStrike">
                <a:solidFill>
                  <a:srgbClr val="000000"/>
                </a:solidFill>
                <a:effectLst/>
                <a:uFillTx/>
                <a:latin typeface="Arial"/>
              </a:rPr>
              <a:t>Το </a:t>
            </a:r>
            <a:r>
              <a:rPr lang="en-US" sz="2000" b="0" u="none" strike="noStrike">
                <a:solidFill>
                  <a:srgbClr val="000000"/>
                </a:solidFill>
                <a:effectLst/>
                <a:uFillTx/>
                <a:latin typeface="Arial"/>
              </a:rPr>
              <a:t>κρίσιμο </a:t>
            </a:r>
            <a:r>
              <a:rPr lang="en-US" sz="2000" b="0" u="none" strike="noStrike">
                <a:solidFill>
                  <a:srgbClr val="000000"/>
                </a:solidFill>
                <a:effectLst/>
                <a:uFillTx/>
                <a:latin typeface="Arial"/>
              </a:rPr>
              <a:t>όμως </a:t>
            </a:r>
            <a:r>
              <a:rPr lang="en-US" sz="2000" b="0" u="none" strike="noStrike">
                <a:solidFill>
                  <a:srgbClr val="000000"/>
                </a:solidFill>
                <a:effectLst/>
                <a:uFillTx/>
                <a:latin typeface="Arial"/>
              </a:rPr>
              <a:t>είναι το </a:t>
            </a:r>
            <a:r>
              <a:rPr lang="en-US" sz="2000" b="0" u="none" strike="noStrike">
                <a:solidFill>
                  <a:srgbClr val="000000"/>
                </a:solidFill>
                <a:effectLst/>
                <a:uFillTx/>
                <a:latin typeface="Arial"/>
              </a:rPr>
              <a:t>3,3%: </a:t>
            </a:r>
            <a:r>
              <a:rPr lang="en-US" sz="2000" b="0" u="none" strike="noStrike">
                <a:solidFill>
                  <a:srgbClr val="000000"/>
                </a:solidFill>
                <a:effectLst/>
                <a:uFillTx/>
                <a:latin typeface="Arial"/>
              </a:rPr>
              <a:t>αν </a:t>
            </a:r>
            <a:r>
              <a:rPr lang="en-US" sz="2000" b="0" u="none" strike="noStrike">
                <a:solidFill>
                  <a:srgbClr val="000000"/>
                </a:solidFill>
                <a:effectLst/>
                <a:uFillTx/>
                <a:latin typeface="Arial"/>
              </a:rPr>
              <a:t>έφευγε </a:t>
            </a:r>
            <a:r>
              <a:rPr lang="en-US" sz="2000" b="0" u="none" strike="noStrike">
                <a:solidFill>
                  <a:srgbClr val="000000"/>
                </a:solidFill>
                <a:effectLst/>
                <a:uFillTx/>
                <a:latin typeface="Arial"/>
              </a:rPr>
              <a:t>ο </a:t>
            </a:r>
            <a:r>
              <a:rPr lang="en-US" sz="2000" b="0" u="none" strike="noStrike">
                <a:solidFill>
                  <a:srgbClr val="000000"/>
                </a:solidFill>
                <a:effectLst/>
                <a:uFillTx/>
                <a:latin typeface="Arial"/>
              </a:rPr>
              <a:t>μεγαλύ</a:t>
            </a:r>
            <a:r>
              <a:rPr lang="en-US" sz="2000" b="0" u="none" strike="noStrike">
                <a:solidFill>
                  <a:srgbClr val="000000"/>
                </a:solidFill>
                <a:effectLst/>
                <a:uFillTx/>
                <a:latin typeface="Arial"/>
              </a:rPr>
              <a:t>τερος </a:t>
            </a:r>
            <a:r>
              <a:rPr lang="en-US" sz="2000" b="0" u="none" strike="noStrike">
                <a:solidFill>
                  <a:srgbClr val="000000"/>
                </a:solidFill>
                <a:effectLst/>
                <a:uFillTx/>
                <a:latin typeface="Arial"/>
              </a:rPr>
              <a:t>πελάτη</a:t>
            </a:r>
            <a:r>
              <a:rPr lang="en-US" sz="2000" b="0" u="none" strike="noStrike">
                <a:solidFill>
                  <a:srgbClr val="000000"/>
                </a:solidFill>
                <a:effectLst/>
                <a:uFillTx/>
                <a:latin typeface="Arial"/>
              </a:rPr>
              <a:t>ς, η </a:t>
            </a:r>
            <a:r>
              <a:rPr lang="en-US" sz="2000" b="0" u="none" strike="noStrike">
                <a:solidFill>
                  <a:srgbClr val="000000"/>
                </a:solidFill>
                <a:effectLst/>
                <a:uFillTx/>
                <a:latin typeface="Arial"/>
              </a:rPr>
              <a:t>επιχείρ</a:t>
            </a:r>
            <a:r>
              <a:rPr lang="en-US" sz="2000" b="0" u="none" strike="noStrike">
                <a:solidFill>
                  <a:srgbClr val="000000"/>
                </a:solidFill>
                <a:effectLst/>
                <a:uFillTx/>
                <a:latin typeface="Arial"/>
              </a:rPr>
              <a:t>ηση </a:t>
            </a:r>
            <a:r>
              <a:rPr lang="en-US" sz="2000" b="0" u="none" strike="noStrike">
                <a:solidFill>
                  <a:srgbClr val="000000"/>
                </a:solidFill>
                <a:effectLst/>
                <a:uFillTx/>
                <a:latin typeface="Arial"/>
              </a:rPr>
              <a:t>δεν θα </a:t>
            </a:r>
            <a:r>
              <a:rPr lang="en-US" sz="2000" b="0" u="none" strike="noStrike">
                <a:solidFill>
                  <a:srgbClr val="000000"/>
                </a:solidFill>
                <a:effectLst/>
                <a:uFillTx/>
                <a:latin typeface="Arial"/>
              </a:rPr>
              <a:t>κατέρρε</a:t>
            </a:r>
            <a:r>
              <a:rPr lang="en-US" sz="2000" b="0" u="none" strike="noStrike">
                <a:solidFill>
                  <a:srgbClr val="000000"/>
                </a:solidFill>
                <a:effectLst/>
                <a:uFillTx/>
                <a:latin typeface="Arial"/>
              </a:rPr>
              <a:t>ε.</a:t>
            </a:r>
            <a:endParaRPr lang="en-US" sz="2000" b="0" u="none" strike="noStrike">
              <a:solidFill>
                <a:srgbClr val="000000"/>
              </a:solidFill>
              <a:effectLst/>
              <a:uFillTx/>
              <a:latin typeface="Arial"/>
            </a:endParaRPr>
          </a:p>
        </p:txBody>
      </p:sp>
      <p:sp>
        <p:nvSpPr>
          <p:cNvPr id="493" name="PlaceHolder 3"/>
          <p:cNvSpPr>
            <a:spLocks noGrp="1"/>
          </p:cNvSpPr>
          <p:nvPr>
            <p:ph type="sldNum" idx="3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9A9C318-914C-465D-9D77-A780412D538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sldImg"/>
          </p:nvPr>
        </p:nvSpPr>
        <p:spPr>
          <a:xfrm>
            <a:off x="1143000" y="685800"/>
            <a:ext cx="4571280" cy="3428280"/>
          </a:xfrm>
          <a:prstGeom prst="rect">
            <a:avLst/>
          </a:prstGeom>
          <a:ln w="0">
            <a:noFill/>
          </a:ln>
        </p:spPr>
      </p:sp>
      <p:sp>
        <p:nvSpPr>
          <p:cNvPr id="49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endParaRPr lang="en-US" sz="2000" b="0" u="none" strike="noStrike">
              <a:solidFill>
                <a:srgbClr val="000000"/>
              </a:solidFill>
              <a:effectLst/>
              <a:uFillTx/>
              <a:latin typeface="Arial"/>
            </a:endParaRPr>
          </a:p>
        </p:txBody>
      </p:sp>
      <p:sp>
        <p:nvSpPr>
          <p:cNvPr id="496" name="PlaceHolder 3"/>
          <p:cNvSpPr>
            <a:spLocks noGrp="1"/>
          </p:cNvSpPr>
          <p:nvPr>
            <p:ph type="sldNum" idx="3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7EF9F62-E7B4-4F56-8B19-8D294741B15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ldImg"/>
          </p:nvPr>
        </p:nvSpPr>
        <p:spPr>
          <a:xfrm>
            <a:off x="1143000" y="685800"/>
            <a:ext cx="4571280" cy="3428280"/>
          </a:xfrm>
          <a:prstGeom prst="rect">
            <a:avLst/>
          </a:prstGeom>
          <a:ln w="0">
            <a:noFill/>
          </a:ln>
        </p:spPr>
      </p:sp>
      <p:sp>
        <p:nvSpPr>
          <p:cNvPr id="49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Τέταρτο μέρος: </a:t>
            </a:r>
            <a:r>
              <a:rPr lang="en-US" sz="2000" b="0" u="none" strike="noStrike">
                <a:solidFill>
                  <a:srgbClr val="000000"/>
                </a:solidFill>
                <a:effectLst/>
                <a:uFillTx/>
                <a:latin typeface="Arial"/>
              </a:rPr>
              <a:t>συμπεράσματα, </a:t>
            </a:r>
            <a:r>
              <a:rPr lang="en-US" sz="2000" b="0" u="none" strike="noStrike">
                <a:solidFill>
                  <a:srgbClr val="000000"/>
                </a:solidFill>
                <a:effectLst/>
                <a:uFillTx/>
                <a:latin typeface="Arial"/>
              </a:rPr>
              <a:t>περιορισμοί και </a:t>
            </a:r>
            <a:r>
              <a:rPr lang="en-US" sz="2000" b="0" u="none" strike="noStrike">
                <a:solidFill>
                  <a:srgbClr val="000000"/>
                </a:solidFill>
                <a:effectLst/>
                <a:uFillTx/>
                <a:latin typeface="Arial"/>
              </a:rPr>
              <a:t>επεκτάσεις.</a:t>
            </a:r>
            <a:endParaRPr lang="en-US" sz="2000" b="0" u="none" strike="noStrike">
              <a:solidFill>
                <a:srgbClr val="000000"/>
              </a:solidFill>
              <a:effectLst/>
              <a:uFillTx/>
              <a:latin typeface="Arial"/>
            </a:endParaRPr>
          </a:p>
        </p:txBody>
      </p:sp>
      <p:sp>
        <p:nvSpPr>
          <p:cNvPr id="499" name="PlaceHolder 3"/>
          <p:cNvSpPr>
            <a:spLocks noGrp="1"/>
          </p:cNvSpPr>
          <p:nvPr>
            <p:ph type="sldNum" idx="3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175CCD7-689D-43C1-8648-535FA6E4336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type="sldImg"/>
          </p:nvPr>
        </p:nvSpPr>
        <p:spPr>
          <a:xfrm>
            <a:off x="1143000" y="685800"/>
            <a:ext cx="4571280" cy="3428280"/>
          </a:xfrm>
          <a:prstGeom prst="rect">
            <a:avLst/>
          </a:prstGeom>
          <a:ln w="0">
            <a:noFill/>
          </a:ln>
        </p:spPr>
      </p:sp>
      <p:sp>
        <p:nvSpPr>
          <p:cNvPr id="50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Αν κρατήσετε μία διαφάνεια από όλη την παρουσίαση, ας είναι αυτή. Αριστερά τι απαντήθηκε, δεξιά τι κάνει ο ιδιοκτήτης του μαγαζιού με τις απαντήσεις.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endParaRPr lang="en-US" sz="2000" b="0" u="none" strike="noStrike">
              <a:solidFill>
                <a:srgbClr val="000000"/>
              </a:solidFill>
              <a:effectLst/>
              <a:uFillTx/>
              <a:latin typeface="Arial"/>
            </a:endParaRPr>
          </a:p>
        </p:txBody>
      </p:sp>
      <p:sp>
        <p:nvSpPr>
          <p:cNvPr id="502" name="PlaceHolder 3"/>
          <p:cNvSpPr>
            <a:spLocks noGrp="1"/>
          </p:cNvSpPr>
          <p:nvPr>
            <p:ph type="sldNum" idx="3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8CC6CA9-AF30-4861-AD43-27581F7B520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sldImg"/>
          </p:nvPr>
        </p:nvSpPr>
        <p:spPr>
          <a:xfrm>
            <a:off x="1143000" y="685800"/>
            <a:ext cx="4571280" cy="3428280"/>
          </a:xfrm>
          <a:prstGeom prst="rect">
            <a:avLst/>
          </a:prstGeom>
          <a:ln w="0">
            <a:noFill/>
          </a:ln>
        </p:spPr>
      </p:sp>
      <p:sp>
        <p:nvSpPr>
          <p:cNvPr id="50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endParaRPr lang="en-US" sz="2000" b="0" u="none" strike="noStrike">
              <a:solidFill>
                <a:srgbClr val="000000"/>
              </a:solidFill>
              <a:effectLst/>
              <a:uFillTx/>
              <a:latin typeface="Arial"/>
            </a:endParaRPr>
          </a:p>
        </p:txBody>
      </p:sp>
      <p:sp>
        <p:nvSpPr>
          <p:cNvPr id="505" name="PlaceHolder 3"/>
          <p:cNvSpPr>
            <a:spLocks noGrp="1"/>
          </p:cNvSpPr>
          <p:nvPr>
            <p:ph type="sldNum" idx="3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8D69BDD-8C10-4C8E-8F0A-7D3AA307AD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ftr" idx="1"/>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 name="PlaceHolder 2"/>
          <p:cNvSpPr>
            <a:spLocks noGrp="1"/>
          </p:cNvSpPr>
          <p:nvPr>
            <p:ph type="sldNum" idx="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E3A02C2-AD2F-491B-9D51-FCAD5E09E24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 name="PlaceHolder 3"/>
          <p:cNvSpPr>
            <a:spLocks noGrp="1"/>
          </p:cNvSpPr>
          <p:nvPr>
            <p:ph type="dt" idx="3"/>
          </p:nvPr>
        </p:nvSpPr>
        <p:spPr>
          <a:xfrm>
            <a:off x="457200" y="6356520"/>
            <a:ext cx="213300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tabLst>
                <a:tab pos="0" algn="l"/>
              </a:tabLst>
              <a:defRPr lang="en-US" sz="4400" b="0" u="none" strike="noStrike">
                <a:solidFill>
                  <a:schemeClr val="dk1"/>
                </a:solidFill>
                <a:effectLst/>
                <a:uFillTx/>
                <a:latin typeface="Calibri"/>
              </a:defRPr>
            </a:lvl1pPr>
          </a:lstStyle>
          <a:p>
            <a:pPr indent="0" algn="ctr" defTabSz="457200">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510480"/>
            <a:ext cx="10971720" cy="670680"/>
          </a:xfrm>
          <a:prstGeom prst="rect">
            <a:avLst/>
          </a:prstGeom>
          <a:noFill/>
          <a:ln w="0">
            <a:noFill/>
          </a:ln>
        </p:spPr>
        <p:txBody>
          <a:bodyPr lIns="0" tIns="0" rIns="0" bIns="0" anchor="ctr">
            <a:spAutoFit/>
          </a:bodyPr>
          <a:lstStyle>
            <a:lvl1pPr indent="0" algn="l" defTabSz="457200">
              <a:buNone/>
              <a:tabLst>
                <a:tab pos="0" algn="l"/>
              </a:tabLst>
              <a:defRPr lang="en-US" sz="4400" b="0" u="none" strike="noStrike">
                <a:solidFill>
                  <a:schemeClr val="dk1"/>
                </a:solidFill>
                <a:effectLst/>
                <a:uFillTx/>
                <a:latin typeface="Calibri"/>
              </a:defRPr>
            </a:lvl1pPr>
          </a:lstStyle>
          <a:p>
            <a:pPr indent="0" algn="l" defTabSz="457200">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8" name="PlaceHolder 2"/>
          <p:cNvSpPr>
            <a:spLocks noGrp="1"/>
          </p:cNvSpPr>
          <p:nvPr>
            <p:ph type="ftr" idx="4"/>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CDCD0177-F1B7-4AEA-9CAB-3C1018C33E1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457200" y="6356520"/>
            <a:ext cx="213300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 Id="rId3" Type="http://schemas.openxmlformats.org/officeDocument/2006/relationships/slideLayout" Target="../slideLayouts/slideLayout1.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Relationship Id="rId4"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Rectangle 1"/>
          <p:cNvSpPr/>
          <p:nvPr/>
        </p:nvSpPr>
        <p:spPr>
          <a:xfrm>
            <a:off x="0" y="0"/>
            <a:ext cx="12191040" cy="250056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 name="TextBox 2"/>
          <p:cNvSpPr/>
          <p:nvPr/>
        </p:nvSpPr>
        <p:spPr>
          <a:xfrm>
            <a:off x="548640" y="50292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ΔΙΠΛΩΜΑΤΙΚΗ ΕΡΓΑΣΙΑ</a:t>
            </a:r>
            <a:endParaRPr lang="en-US" sz="1200" b="0" u="none" strike="noStrike">
              <a:solidFill>
                <a:srgbClr val="000000"/>
              </a:solidFill>
              <a:effectLst/>
              <a:uFillTx/>
              <a:latin typeface="Arial"/>
            </a:endParaRPr>
          </a:p>
        </p:txBody>
      </p:sp>
      <p:sp>
        <p:nvSpPr>
          <p:cNvPr id="20" name="TextBox 3"/>
          <p:cNvSpPr/>
          <p:nvPr/>
        </p:nvSpPr>
        <p:spPr>
          <a:xfrm>
            <a:off x="548640" y="868680"/>
            <a:ext cx="11090880" cy="1152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100" b="1" u="none" strike="noStrike">
                <a:solidFill>
                  <a:srgbClr val="FFFFFF"/>
                </a:solidFill>
                <a:effectLst/>
                <a:uFillTx/>
                <a:latin typeface="Cambria"/>
                <a:ea typeface="DejaVu Sans"/>
              </a:rPr>
              <a:t>Εξαγωγή Ευφυών Αναλύσεων </a:t>
            </a:r>
            <a:endParaRPr lang="en-US" sz="3100" b="0" u="none" strike="noStrike">
              <a:solidFill>
                <a:srgbClr val="000000"/>
              </a:solidFill>
              <a:effectLst/>
              <a:uFillTx/>
              <a:latin typeface="Arial"/>
            </a:endParaRPr>
          </a:p>
          <a:p>
            <a:pPr defTabSz="457200">
              <a:lnSpc>
                <a:spcPct val="122000"/>
              </a:lnSpc>
            </a:pPr>
            <a:r>
              <a:rPr lang="en-US" sz="3100" b="1" u="none" strike="noStrike">
                <a:solidFill>
                  <a:srgbClr val="FFFFFF"/>
                </a:solidFill>
                <a:effectLst/>
                <a:uFillTx/>
                <a:latin typeface="Cambria"/>
                <a:ea typeface="DejaVu Sans"/>
              </a:rPr>
              <a:t>από Δεδομένα Ηλεκτρονικού Εμπορίου</a:t>
            </a:r>
            <a:endParaRPr lang="en-US" sz="3100" b="0" u="none" strike="noStrike">
              <a:solidFill>
                <a:srgbClr val="000000"/>
              </a:solidFill>
              <a:effectLst/>
              <a:uFillTx/>
              <a:latin typeface="Arial"/>
            </a:endParaRPr>
          </a:p>
        </p:txBody>
      </p:sp>
      <p:sp>
        <p:nvSpPr>
          <p:cNvPr id="21" name="TextBox 4"/>
          <p:cNvSpPr/>
          <p:nvPr/>
        </p:nvSpPr>
        <p:spPr>
          <a:xfrm>
            <a:off x="548640" y="2240280"/>
            <a:ext cx="11090880" cy="2602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2" name="TextBox 5"/>
          <p:cNvSpPr/>
          <p:nvPr/>
        </p:nvSpPr>
        <p:spPr>
          <a:xfrm>
            <a:off x="548640" y="3063240"/>
            <a:ext cx="11090880" cy="4086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200" b="1" u="none" strike="noStrike">
                <a:solidFill>
                  <a:srgbClr val="2C5530"/>
                </a:solidFill>
                <a:effectLst/>
                <a:uFillTx/>
                <a:latin typeface="Cambria"/>
                <a:ea typeface="DejaVu Sans"/>
              </a:rPr>
              <a:t>Μουρτογιάννης Χρήστος</a:t>
            </a:r>
            <a:endParaRPr lang="en-US" sz="2200" b="0" u="none" strike="noStrike">
              <a:solidFill>
                <a:srgbClr val="000000"/>
              </a:solidFill>
              <a:effectLst/>
              <a:uFillTx/>
              <a:latin typeface="Arial"/>
            </a:endParaRPr>
          </a:p>
        </p:txBody>
      </p:sp>
      <p:sp>
        <p:nvSpPr>
          <p:cNvPr id="23" name="TextBox 6"/>
          <p:cNvSpPr/>
          <p:nvPr/>
        </p:nvSpPr>
        <p:spPr>
          <a:xfrm>
            <a:off x="548640" y="3736440"/>
            <a:ext cx="11090880" cy="49644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400"/>
              </a:spcAft>
            </a:pPr>
            <a:r>
              <a:rPr lang="en-US" sz="1200" b="0" u="none" strike="noStrike">
                <a:solidFill>
                  <a:srgbClr val="6B6259"/>
                </a:solidFill>
                <a:effectLst/>
                <a:uFillTx/>
                <a:latin typeface="Calibri"/>
                <a:ea typeface="DejaVu Sans"/>
              </a:rPr>
              <a:t>Διατμηματικό ΠΜΣ «Διοίκηση και Οικονομική </a:t>
            </a:r>
            <a:r>
              <a:rPr lang="en-US" sz="1200" b="0" u="none" strike="noStrike">
                <a:solidFill>
                  <a:srgbClr val="6B6259"/>
                </a:solidFill>
                <a:effectLst/>
                <a:uFillTx/>
                <a:latin typeface="Calibri"/>
                <a:ea typeface="DejaVu Sans"/>
              </a:rPr>
              <a:t>Τηλεπικοινωνιακών Δικτύων και Πληροφοριακών </a:t>
            </a:r>
            <a:r>
              <a:rPr lang="en-US" sz="1200" b="0" u="none" strike="noStrike">
                <a:solidFill>
                  <a:srgbClr val="6B6259"/>
                </a:solidFill>
                <a:effectLst/>
                <a:uFillTx/>
                <a:latin typeface="Calibri"/>
                <a:ea typeface="DejaVu Sans"/>
              </a:rPr>
              <a:t>Συστημάτων»</a:t>
            </a:r>
            <a:endParaRPr lang="en-US" sz="1200" b="0" u="none" strike="noStrike">
              <a:solidFill>
                <a:srgbClr val="000000"/>
              </a:solidFill>
              <a:effectLst/>
              <a:uFillTx/>
              <a:latin typeface="Arial"/>
            </a:endParaRPr>
          </a:p>
          <a:p>
            <a:pPr defTabSz="457200">
              <a:lnSpc>
                <a:spcPct val="122000"/>
              </a:lnSpc>
              <a:spcAft>
                <a:spcPts val="400"/>
              </a:spcAft>
            </a:pPr>
            <a:r>
              <a:rPr lang="en-US" sz="1200" b="0" u="none" strike="noStrike">
                <a:solidFill>
                  <a:srgbClr val="6B6259"/>
                </a:solidFill>
                <a:effectLst/>
                <a:uFillTx/>
                <a:latin typeface="Calibri"/>
                <a:ea typeface="DejaVu Sans"/>
              </a:rPr>
              <a:t>Εθνικό και Καποδιστριακό Πανεπιστήμιο Αθηνών, Τμήμα </a:t>
            </a:r>
            <a:r>
              <a:rPr lang="en-US" sz="1200" b="0" u="none" strike="noStrike">
                <a:solidFill>
                  <a:srgbClr val="6B6259"/>
                </a:solidFill>
                <a:effectLst/>
                <a:uFillTx/>
                <a:latin typeface="Calibri"/>
                <a:ea typeface="DejaVu Sans"/>
              </a:rPr>
              <a:t>Πληροφορικής και Τηλεπικοινωνιών</a:t>
            </a:r>
            <a:endParaRPr lang="en-US" sz="1200" b="0" u="none" strike="noStrike">
              <a:solidFill>
                <a:srgbClr val="000000"/>
              </a:solidFill>
              <a:effectLst/>
              <a:uFillTx/>
              <a:latin typeface="Arial"/>
            </a:endParaRPr>
          </a:p>
        </p:txBody>
      </p:sp>
      <p:sp>
        <p:nvSpPr>
          <p:cNvPr id="24" name="Rounded Rectangle 7"/>
          <p:cNvSpPr/>
          <p:nvPr/>
        </p:nvSpPr>
        <p:spPr>
          <a:xfrm>
            <a:off x="4389840" y="4480560"/>
            <a:ext cx="6582960" cy="155376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 name="TextBox 8"/>
          <p:cNvSpPr/>
          <p:nvPr/>
        </p:nvSpPr>
        <p:spPr>
          <a:xfrm>
            <a:off x="4664160" y="4645080"/>
            <a:ext cx="60343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1" u="none" strike="noStrike">
                <a:solidFill>
                  <a:srgbClr val="E8A33D"/>
                </a:solidFill>
                <a:effectLst/>
                <a:uFillTx/>
                <a:latin typeface="Calibri"/>
                <a:ea typeface="DejaVu Sans"/>
              </a:rPr>
              <a:t>ΤΡΙΜΕΛΗΣ ΕΞΕΤΑΣΤΙΚΗ ΕΠΙΤΡΟΠΗ</a:t>
            </a:r>
            <a:endParaRPr lang="en-US" sz="1100" b="0" u="none" strike="noStrike">
              <a:solidFill>
                <a:srgbClr val="000000"/>
              </a:solidFill>
              <a:effectLst/>
              <a:uFillTx/>
              <a:latin typeface="Arial"/>
            </a:endParaRPr>
          </a:p>
        </p:txBody>
      </p:sp>
      <p:sp>
        <p:nvSpPr>
          <p:cNvPr id="26" name="TextBox 9"/>
          <p:cNvSpPr/>
          <p:nvPr/>
        </p:nvSpPr>
        <p:spPr>
          <a:xfrm>
            <a:off x="4664160" y="4992480"/>
            <a:ext cx="10965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Επιβλέπων:</a:t>
            </a:r>
            <a:endParaRPr lang="en-US" sz="1200" b="0" u="none" strike="noStrike">
              <a:solidFill>
                <a:srgbClr val="000000"/>
              </a:solidFill>
              <a:effectLst/>
              <a:uFillTx/>
              <a:latin typeface="Arial"/>
            </a:endParaRPr>
          </a:p>
        </p:txBody>
      </p:sp>
      <p:sp>
        <p:nvSpPr>
          <p:cNvPr id="27" name="TextBox 10"/>
          <p:cNvSpPr/>
          <p:nvPr/>
        </p:nvSpPr>
        <p:spPr>
          <a:xfrm>
            <a:off x="5807160" y="4992480"/>
            <a:ext cx="48456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Ευστάθιος </a:t>
            </a:r>
            <a:r>
              <a:rPr lang="en-US" sz="1200" b="0" u="none" strike="noStrike">
                <a:solidFill>
                  <a:srgbClr val="241F1B"/>
                </a:solidFill>
                <a:effectLst/>
                <a:uFillTx/>
                <a:latin typeface="Calibri"/>
                <a:ea typeface="DejaVu Sans"/>
              </a:rPr>
              <a:t>Χατζηευθυμιάδης, </a:t>
            </a:r>
            <a:r>
              <a:rPr lang="en-US" sz="1200" b="0" u="none" strike="noStrike">
                <a:solidFill>
                  <a:srgbClr val="241F1B"/>
                </a:solidFill>
                <a:effectLst/>
                <a:uFillTx/>
                <a:latin typeface="Calibri"/>
                <a:ea typeface="DejaVu Sans"/>
              </a:rPr>
              <a:t>Καθηγητής, ΕΚΠΑ</a:t>
            </a:r>
            <a:endParaRPr lang="en-US" sz="1200" b="0" u="none" strike="noStrike">
              <a:solidFill>
                <a:srgbClr val="000000"/>
              </a:solidFill>
              <a:effectLst/>
              <a:uFillTx/>
              <a:latin typeface="Arial"/>
            </a:endParaRPr>
          </a:p>
        </p:txBody>
      </p:sp>
      <p:sp>
        <p:nvSpPr>
          <p:cNvPr id="28" name="TextBox 11"/>
          <p:cNvSpPr/>
          <p:nvPr/>
        </p:nvSpPr>
        <p:spPr>
          <a:xfrm>
            <a:off x="4664160" y="5303520"/>
            <a:ext cx="10965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Εξεταστής:</a:t>
            </a:r>
            <a:endParaRPr lang="en-US" sz="1200" b="0" u="none" strike="noStrike">
              <a:solidFill>
                <a:srgbClr val="000000"/>
              </a:solidFill>
              <a:effectLst/>
              <a:uFillTx/>
              <a:latin typeface="Arial"/>
            </a:endParaRPr>
          </a:p>
        </p:txBody>
      </p:sp>
      <p:sp>
        <p:nvSpPr>
          <p:cNvPr id="29" name="TextBox 12"/>
          <p:cNvSpPr/>
          <p:nvPr/>
        </p:nvSpPr>
        <p:spPr>
          <a:xfrm>
            <a:off x="5807160" y="5303520"/>
            <a:ext cx="48456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Κωνσταντίνος Κολομβάτσος, Πανεπιστήμιο Θεσσαλίας</a:t>
            </a:r>
            <a:endParaRPr lang="en-US" sz="1200" b="0" u="none" strike="noStrike">
              <a:solidFill>
                <a:srgbClr val="000000"/>
              </a:solidFill>
              <a:effectLst/>
              <a:uFillTx/>
              <a:latin typeface="Arial"/>
            </a:endParaRPr>
          </a:p>
        </p:txBody>
      </p:sp>
      <p:sp>
        <p:nvSpPr>
          <p:cNvPr id="30" name="TextBox 13"/>
          <p:cNvSpPr/>
          <p:nvPr/>
        </p:nvSpPr>
        <p:spPr>
          <a:xfrm>
            <a:off x="4664160" y="5614560"/>
            <a:ext cx="10965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Εξεταστ</a:t>
            </a:r>
            <a:r>
              <a:rPr lang="en-US" sz="1200" b="1" u="none" strike="noStrike">
                <a:solidFill>
                  <a:srgbClr val="2C5530"/>
                </a:solidFill>
                <a:effectLst/>
                <a:uFillTx/>
                <a:latin typeface="Calibri"/>
                <a:ea typeface="DejaVu Sans"/>
              </a:rPr>
              <a:t>ής:</a:t>
            </a:r>
            <a:endParaRPr lang="en-US" sz="1200" b="0" u="none" strike="noStrike">
              <a:solidFill>
                <a:srgbClr val="000000"/>
              </a:solidFill>
              <a:effectLst/>
              <a:uFillTx/>
              <a:latin typeface="Arial"/>
            </a:endParaRPr>
          </a:p>
        </p:txBody>
      </p:sp>
      <p:sp>
        <p:nvSpPr>
          <p:cNvPr id="31" name="TextBox 14"/>
          <p:cNvSpPr/>
          <p:nvPr/>
        </p:nvSpPr>
        <p:spPr>
          <a:xfrm>
            <a:off x="5807160" y="5614560"/>
            <a:ext cx="48456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Μιλτιάδης Κυριακάκος, ΕΔΙΠ, ΕΚΠΑ</a:t>
            </a:r>
            <a:endParaRPr lang="en-US" sz="1200" b="0" u="none" strike="noStrike">
              <a:solidFill>
                <a:srgbClr val="000000"/>
              </a:solidFill>
              <a:effectLst/>
              <a:uFillTx/>
              <a:latin typeface="Arial"/>
            </a:endParaRPr>
          </a:p>
        </p:txBody>
      </p:sp>
      <p:sp>
        <p:nvSpPr>
          <p:cNvPr id="32" name="TextBox 15"/>
          <p:cNvSpPr/>
          <p:nvPr/>
        </p:nvSpPr>
        <p:spPr>
          <a:xfrm>
            <a:off x="548640" y="6263640"/>
            <a:ext cx="11090880" cy="222840"/>
          </a:xfrm>
          <a:prstGeom prst="rect">
            <a:avLst/>
          </a:prstGeom>
          <a:noFill/>
          <a:ln w="0">
            <a:noFill/>
          </a:ln>
        </p:spPr>
        <p:style>
          <a:lnRef idx="0"/>
          <a:fillRef idx="0"/>
          <a:effectRef idx="0"/>
          <a:fontRef idx="minor"/>
        </p:style>
        <p:txBody>
          <a:bodyPr lIns="0" tIns="0" rIns="0" bIns="0" anchor="t" anchorCtr="1">
            <a:spAutoFit/>
          </a:bodyPr>
          <a:p>
            <a:pPr algn="r" defTabSz="457200">
              <a:lnSpc>
                <a:spcPct val="122000"/>
              </a:lnSpc>
            </a:pPr>
            <a:r>
              <a:rPr lang="en-US" sz="1200" b="0" u="none" strike="noStrike">
                <a:solidFill>
                  <a:srgbClr val="6B6259"/>
                </a:solidFill>
                <a:effectLst/>
                <a:uFillTx/>
                <a:latin typeface="Calibri"/>
                <a:ea typeface="DejaVu Sans"/>
              </a:rPr>
              <a:t>Αθήνα, Σεπτέμβριος 2026</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ΠΕΡΙΕΧΟΜΕΝΑ</a:t>
            </a:r>
            <a:endParaRPr lang="en-US" sz="1200" b="0" u="none" strike="noStrike">
              <a:solidFill>
                <a:srgbClr val="000000"/>
              </a:solidFill>
              <a:effectLst/>
              <a:uFillTx/>
              <a:latin typeface="Arial"/>
            </a:endParaRPr>
          </a:p>
        </p:txBody>
      </p:sp>
      <p:sp>
        <p:nvSpPr>
          <p:cNvPr id="34"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Τέσσερα μέρη</a:t>
            </a:r>
            <a:endParaRPr lang="en-US" sz="3000" b="0" u="none" strike="noStrike">
              <a:solidFill>
                <a:srgbClr val="000000"/>
              </a:solidFill>
              <a:effectLst/>
              <a:uFillTx/>
              <a:latin typeface="Arial"/>
            </a:endParaRPr>
          </a:p>
        </p:txBody>
      </p:sp>
      <p:sp>
        <p:nvSpPr>
          <p:cNvPr id="35" name="TextBox 3"/>
          <p:cNvSpPr/>
          <p:nvPr/>
        </p:nvSpPr>
        <p:spPr>
          <a:xfrm>
            <a:off x="548640" y="6473880"/>
            <a:ext cx="36568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6"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a:t>
            </a:r>
            <a:endParaRPr lang="en-US" sz="900" b="0" u="none" strike="noStrike">
              <a:solidFill>
                <a:srgbClr val="000000"/>
              </a:solidFill>
              <a:effectLst/>
              <a:uFillTx/>
              <a:latin typeface="Arial"/>
            </a:endParaRPr>
          </a:p>
        </p:txBody>
      </p:sp>
      <p:sp>
        <p:nvSpPr>
          <p:cNvPr id="37" name="Rounded Rectangle 5"/>
          <p:cNvSpPr/>
          <p:nvPr/>
        </p:nvSpPr>
        <p:spPr>
          <a:xfrm>
            <a:off x="5486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 name="Rectangle 6"/>
          <p:cNvSpPr/>
          <p:nvPr/>
        </p:nvSpPr>
        <p:spPr>
          <a:xfrm>
            <a:off x="5486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39" name="TextBox 7"/>
          <p:cNvSpPr/>
          <p:nvPr/>
        </p:nvSpPr>
        <p:spPr>
          <a:xfrm>
            <a:off x="804600" y="2240280"/>
            <a:ext cx="2095560" cy="7434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1</a:t>
            </a:r>
            <a:endParaRPr lang="en-US" sz="4000" b="0" u="none" strike="noStrike">
              <a:solidFill>
                <a:srgbClr val="000000"/>
              </a:solidFill>
              <a:effectLst/>
              <a:uFillTx/>
              <a:latin typeface="Arial"/>
            </a:endParaRPr>
          </a:p>
        </p:txBody>
      </p:sp>
      <p:sp>
        <p:nvSpPr>
          <p:cNvPr id="40" name="TextBox 8"/>
          <p:cNvSpPr/>
          <p:nvPr/>
        </p:nvSpPr>
        <p:spPr>
          <a:xfrm>
            <a:off x="8046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Το πρόβλημα</a:t>
            </a:r>
            <a:endParaRPr lang="en-US" sz="1700" b="0" u="none" strike="noStrike">
              <a:solidFill>
                <a:srgbClr val="000000"/>
              </a:solidFill>
              <a:effectLst/>
              <a:uFillTx/>
              <a:latin typeface="Arial"/>
            </a:endParaRPr>
          </a:p>
        </p:txBody>
      </p:sp>
      <p:sp>
        <p:nvSpPr>
          <p:cNvPr id="41" name="TextBox 9"/>
          <p:cNvSpPr/>
          <p:nvPr/>
        </p:nvSpPr>
        <p:spPr>
          <a:xfrm>
            <a:off x="8046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Δεδομένα, στρατηγική </a:t>
            </a:r>
            <a:r>
              <a:rPr lang="en-US" sz="1200" b="0" u="none" strike="noStrike">
                <a:solidFill>
                  <a:srgbClr val="6B6259"/>
                </a:solidFill>
                <a:effectLst/>
                <a:uFillTx/>
                <a:latin typeface="Calibri"/>
                <a:ea typeface="DejaVu Sans"/>
              </a:rPr>
              <a:t>ανάπτυξη</a:t>
            </a:r>
            <a:endParaRPr lang="en-US" sz="1200" b="0" u="none" strike="noStrike">
              <a:solidFill>
                <a:srgbClr val="000000"/>
              </a:solidFill>
              <a:effectLst/>
              <a:uFillTx/>
              <a:latin typeface="Arial"/>
            </a:endParaRPr>
          </a:p>
        </p:txBody>
      </p:sp>
      <p:sp>
        <p:nvSpPr>
          <p:cNvPr id="42" name="Rounded Rectangle 10"/>
          <p:cNvSpPr/>
          <p:nvPr/>
        </p:nvSpPr>
        <p:spPr>
          <a:xfrm>
            <a:off x="33764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3" name="Rectangle 11"/>
          <p:cNvSpPr/>
          <p:nvPr/>
        </p:nvSpPr>
        <p:spPr>
          <a:xfrm>
            <a:off x="33764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44" name="TextBox 12"/>
          <p:cNvSpPr/>
          <p:nvPr/>
        </p:nvSpPr>
        <p:spPr>
          <a:xfrm>
            <a:off x="3632400" y="2240280"/>
            <a:ext cx="2095560" cy="7434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2</a:t>
            </a:r>
            <a:endParaRPr lang="en-US" sz="4000" b="0" u="none" strike="noStrike">
              <a:solidFill>
                <a:srgbClr val="000000"/>
              </a:solidFill>
              <a:effectLst/>
              <a:uFillTx/>
              <a:latin typeface="Arial"/>
            </a:endParaRPr>
          </a:p>
        </p:txBody>
      </p:sp>
      <p:sp>
        <p:nvSpPr>
          <p:cNvPr id="45" name="TextBox 13"/>
          <p:cNvSpPr/>
          <p:nvPr/>
        </p:nvSpPr>
        <p:spPr>
          <a:xfrm>
            <a:off x="36324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Το σύστημα</a:t>
            </a:r>
            <a:endParaRPr lang="en-US" sz="1700" b="0" u="none" strike="noStrike">
              <a:solidFill>
                <a:srgbClr val="000000"/>
              </a:solidFill>
              <a:effectLst/>
              <a:uFillTx/>
              <a:latin typeface="Arial"/>
            </a:endParaRPr>
          </a:p>
        </p:txBody>
      </p:sp>
      <p:sp>
        <p:nvSpPr>
          <p:cNvPr id="46" name="TextBox 14"/>
          <p:cNvSpPr/>
          <p:nvPr/>
        </p:nvSpPr>
        <p:spPr>
          <a:xfrm>
            <a:off x="36324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Δομή, αρχιτεκτονική, λειτουργία</a:t>
            </a:r>
            <a:endParaRPr lang="en-US" sz="1200" b="0" u="none" strike="noStrike">
              <a:solidFill>
                <a:srgbClr val="000000"/>
              </a:solidFill>
              <a:effectLst/>
              <a:uFillTx/>
              <a:latin typeface="Arial"/>
            </a:endParaRPr>
          </a:p>
        </p:txBody>
      </p:sp>
      <p:sp>
        <p:nvSpPr>
          <p:cNvPr id="47" name="Rounded Rectangle 15"/>
          <p:cNvSpPr/>
          <p:nvPr/>
        </p:nvSpPr>
        <p:spPr>
          <a:xfrm>
            <a:off x="62042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8" name="Rectangle 16"/>
          <p:cNvSpPr/>
          <p:nvPr/>
        </p:nvSpPr>
        <p:spPr>
          <a:xfrm>
            <a:off x="62042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49" name="TextBox 17"/>
          <p:cNvSpPr/>
          <p:nvPr/>
        </p:nvSpPr>
        <p:spPr>
          <a:xfrm>
            <a:off x="6460200" y="2240280"/>
            <a:ext cx="2095560" cy="7434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3</a:t>
            </a:r>
            <a:endParaRPr lang="en-US" sz="4000" b="0" u="none" strike="noStrike">
              <a:solidFill>
                <a:srgbClr val="000000"/>
              </a:solidFill>
              <a:effectLst/>
              <a:uFillTx/>
              <a:latin typeface="Arial"/>
            </a:endParaRPr>
          </a:p>
        </p:txBody>
      </p:sp>
      <p:sp>
        <p:nvSpPr>
          <p:cNvPr id="50" name="TextBox 18"/>
          <p:cNvSpPr/>
          <p:nvPr/>
        </p:nvSpPr>
        <p:spPr>
          <a:xfrm>
            <a:off x="64602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Τα ευρήματα</a:t>
            </a:r>
            <a:endParaRPr lang="en-US" sz="1700" b="0" u="none" strike="noStrike">
              <a:solidFill>
                <a:srgbClr val="000000"/>
              </a:solidFill>
              <a:effectLst/>
              <a:uFillTx/>
              <a:latin typeface="Arial"/>
            </a:endParaRPr>
          </a:p>
        </p:txBody>
      </p:sp>
      <p:sp>
        <p:nvSpPr>
          <p:cNvPr id="51" name="TextBox 19"/>
          <p:cNvSpPr/>
          <p:nvPr/>
        </p:nvSpPr>
        <p:spPr>
          <a:xfrm>
            <a:off x="64602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Παρουσίαση και αξιολόγηση</a:t>
            </a:r>
            <a:endParaRPr lang="en-US" sz="1200" b="0" u="none" strike="noStrike">
              <a:solidFill>
                <a:srgbClr val="000000"/>
              </a:solidFill>
              <a:effectLst/>
              <a:uFillTx/>
              <a:latin typeface="Arial"/>
            </a:endParaRPr>
          </a:p>
        </p:txBody>
      </p:sp>
      <p:sp>
        <p:nvSpPr>
          <p:cNvPr id="52" name="Rounded Rectangle 20"/>
          <p:cNvSpPr/>
          <p:nvPr/>
        </p:nvSpPr>
        <p:spPr>
          <a:xfrm>
            <a:off x="9032040" y="1920240"/>
            <a:ext cx="2607480" cy="28339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3" name="Rectangle 21"/>
          <p:cNvSpPr/>
          <p:nvPr/>
        </p:nvSpPr>
        <p:spPr>
          <a:xfrm>
            <a:off x="9032040" y="1920240"/>
            <a:ext cx="2607480" cy="817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54" name="TextBox 22"/>
          <p:cNvSpPr/>
          <p:nvPr/>
        </p:nvSpPr>
        <p:spPr>
          <a:xfrm>
            <a:off x="9288000" y="2240280"/>
            <a:ext cx="2095560" cy="7434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4000" b="1" u="none" strike="noStrike">
                <a:solidFill>
                  <a:srgbClr val="D7E5D2"/>
                </a:solidFill>
                <a:effectLst/>
                <a:uFillTx/>
                <a:latin typeface="Cambria"/>
                <a:ea typeface="DejaVu Sans"/>
              </a:rPr>
              <a:t>4</a:t>
            </a:r>
            <a:endParaRPr lang="en-US" sz="4000" b="0" u="none" strike="noStrike">
              <a:solidFill>
                <a:srgbClr val="000000"/>
              </a:solidFill>
              <a:effectLst/>
              <a:uFillTx/>
              <a:latin typeface="Arial"/>
            </a:endParaRPr>
          </a:p>
        </p:txBody>
      </p:sp>
      <p:sp>
        <p:nvSpPr>
          <p:cNvPr id="55" name="TextBox 23"/>
          <p:cNvSpPr/>
          <p:nvPr/>
        </p:nvSpPr>
        <p:spPr>
          <a:xfrm>
            <a:off x="9288000" y="2971800"/>
            <a:ext cx="2095560" cy="3160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Συμπεράσματα</a:t>
            </a:r>
            <a:endParaRPr lang="en-US" sz="1700" b="0" u="none" strike="noStrike">
              <a:solidFill>
                <a:srgbClr val="000000"/>
              </a:solidFill>
              <a:effectLst/>
              <a:uFillTx/>
              <a:latin typeface="Arial"/>
            </a:endParaRPr>
          </a:p>
        </p:txBody>
      </p:sp>
      <p:sp>
        <p:nvSpPr>
          <p:cNvPr id="56" name="TextBox 24"/>
          <p:cNvSpPr/>
          <p:nvPr/>
        </p:nvSpPr>
        <p:spPr>
          <a:xfrm>
            <a:off x="9288000" y="3520440"/>
            <a:ext cx="2095560" cy="2228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Προστιθέμενη αξία</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Rectangle 1"/>
          <p:cNvSpPr/>
          <p:nvPr/>
        </p:nvSpPr>
        <p:spPr>
          <a:xfrm>
            <a:off x="0" y="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8" name="TextBox 2"/>
          <p:cNvSpPr/>
          <p:nvPr/>
        </p:nvSpPr>
        <p:spPr>
          <a:xfrm>
            <a:off x="548640" y="1600200"/>
            <a:ext cx="11090880" cy="17841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59" name="TextBox 3"/>
          <p:cNvSpPr/>
          <p:nvPr/>
        </p:nvSpPr>
        <p:spPr>
          <a:xfrm>
            <a:off x="548640" y="297180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1η ΕΝΟΤΗΤΑ</a:t>
            </a:r>
            <a:endParaRPr lang="en-US" sz="4000" b="0" u="none" strike="noStrike">
              <a:solidFill>
                <a:srgbClr val="000000"/>
              </a:solidFill>
              <a:effectLst/>
              <a:uFillTx/>
              <a:latin typeface="Arial"/>
            </a:endParaRPr>
          </a:p>
        </p:txBody>
      </p:sp>
      <p:sp>
        <p:nvSpPr>
          <p:cNvPr id="60"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a:t>
            </a:r>
            <a:r>
              <a:rPr lang="en-US" sz="4400" b="1" u="none" strike="noStrike">
                <a:solidFill>
                  <a:srgbClr val="FFFFFF"/>
                </a:solidFill>
                <a:effectLst/>
                <a:uFillTx/>
                <a:latin typeface="Cambria"/>
                <a:ea typeface="DejaVu Sans"/>
              </a:rPr>
              <a:t>πρόβ</a:t>
            </a:r>
            <a:r>
              <a:rPr lang="en-US" sz="4400" b="1" u="none" strike="noStrike">
                <a:solidFill>
                  <a:srgbClr val="FFFFFF"/>
                </a:solidFill>
                <a:effectLst/>
                <a:uFillTx/>
                <a:latin typeface="Cambria"/>
                <a:ea typeface="DejaVu Sans"/>
              </a:rPr>
              <a:t>λημα</a:t>
            </a:r>
            <a:endParaRPr lang="en-US" sz="4400" b="0" u="none" strike="noStrike">
              <a:solidFill>
                <a:srgbClr val="000000"/>
              </a:solidFill>
              <a:effectLst/>
              <a:uFillTx/>
              <a:latin typeface="Arial"/>
            </a:endParaRPr>
          </a:p>
        </p:txBody>
      </p:sp>
      <p:sp>
        <p:nvSpPr>
          <p:cNvPr id="61"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2"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3"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ΠΡΟΒΛΗΜΑ</a:t>
            </a:r>
            <a:endParaRPr lang="en-US" sz="1200" b="0" u="none" strike="noStrike">
              <a:solidFill>
                <a:srgbClr val="000000"/>
              </a:solidFill>
              <a:effectLst/>
              <a:uFillTx/>
              <a:latin typeface="Arial"/>
            </a:endParaRPr>
          </a:p>
        </p:txBody>
      </p:sp>
      <p:sp>
        <p:nvSpPr>
          <p:cNvPr id="65"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Αξιο</a:t>
            </a:r>
            <a:r>
              <a:rPr lang="en-US" sz="3000" b="1" u="none" strike="noStrike">
                <a:solidFill>
                  <a:srgbClr val="2C5530"/>
                </a:solidFill>
                <a:effectLst/>
                <a:uFillTx/>
                <a:latin typeface="Cambria"/>
                <a:ea typeface="DejaVu Sans"/>
              </a:rPr>
              <a:t>ποίη</a:t>
            </a:r>
            <a:r>
              <a:rPr lang="en-US" sz="3000" b="1" u="none" strike="noStrike">
                <a:solidFill>
                  <a:srgbClr val="2C5530"/>
                </a:solidFill>
                <a:effectLst/>
                <a:uFillTx/>
                <a:latin typeface="Cambria"/>
                <a:ea typeface="DejaVu Sans"/>
              </a:rPr>
              <a:t>ση </a:t>
            </a:r>
            <a:r>
              <a:rPr lang="en-US" sz="3000" b="1" u="none" strike="noStrike">
                <a:solidFill>
                  <a:srgbClr val="2C5530"/>
                </a:solidFill>
                <a:effectLst/>
                <a:uFillTx/>
                <a:latin typeface="Cambria"/>
                <a:ea typeface="DejaVu Sans"/>
              </a:rPr>
              <a:t>των </a:t>
            </a:r>
            <a:r>
              <a:rPr lang="en-US" sz="3000" b="1" u="none" strike="noStrike">
                <a:solidFill>
                  <a:srgbClr val="2C5530"/>
                </a:solidFill>
                <a:effectLst/>
                <a:uFillTx/>
                <a:latin typeface="Cambria"/>
                <a:ea typeface="DejaVu Sans"/>
              </a:rPr>
              <a:t>δεδο</a:t>
            </a:r>
            <a:r>
              <a:rPr lang="en-US" sz="3000" b="1" u="none" strike="noStrike">
                <a:solidFill>
                  <a:srgbClr val="2C5530"/>
                </a:solidFill>
                <a:effectLst/>
                <a:uFillTx/>
                <a:latin typeface="Cambria"/>
                <a:ea typeface="DejaVu Sans"/>
              </a:rPr>
              <a:t>μένω</a:t>
            </a:r>
            <a:r>
              <a:rPr lang="en-US" sz="3000" b="1" u="none" strike="noStrike">
                <a:solidFill>
                  <a:srgbClr val="2C5530"/>
                </a:solidFill>
                <a:effectLst/>
                <a:uFillTx/>
                <a:latin typeface="Cambria"/>
                <a:ea typeface="DejaVu Sans"/>
              </a:rPr>
              <a:t>ν</a:t>
            </a:r>
            <a:endParaRPr lang="en-US" sz="3000" b="0" u="none" strike="noStrike">
              <a:solidFill>
                <a:srgbClr val="000000"/>
              </a:solidFill>
              <a:effectLst/>
              <a:uFillTx/>
              <a:latin typeface="Arial"/>
            </a:endParaRPr>
          </a:p>
        </p:txBody>
      </p:sp>
      <p:sp>
        <p:nvSpPr>
          <p:cNvPr id="66" name="TextBox 3"/>
          <p:cNvSpPr/>
          <p:nvPr/>
        </p:nvSpPr>
        <p:spPr>
          <a:xfrm>
            <a:off x="548640" y="6473880"/>
            <a:ext cx="36568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7"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4</a:t>
            </a:r>
            <a:endParaRPr lang="en-US" sz="900" b="0" u="none" strike="noStrike">
              <a:solidFill>
                <a:srgbClr val="000000"/>
              </a:solidFill>
              <a:effectLst/>
              <a:uFillTx/>
              <a:latin typeface="Arial"/>
            </a:endParaRPr>
          </a:p>
        </p:txBody>
      </p:sp>
      <p:sp>
        <p:nvSpPr>
          <p:cNvPr id="68" name="TextBox 5"/>
          <p:cNvSpPr/>
          <p:nvPr/>
        </p:nvSpPr>
        <p:spPr>
          <a:xfrm>
            <a:off x="548640" y="2286000"/>
            <a:ext cx="5348520" cy="2876760"/>
          </a:xfrm>
          <a:prstGeom prst="rect">
            <a:avLst/>
          </a:prstGeom>
          <a:noFill/>
          <a:ln w="0">
            <a:noFill/>
          </a:ln>
        </p:spPr>
        <p:style>
          <a:lnRef idx="0"/>
          <a:fillRef idx="0"/>
          <a:effectRef idx="0"/>
          <a:fontRef idx="minor"/>
        </p:style>
        <p:txBody>
          <a:bodyPr lIns="0" tIns="0" rIns="0" bIns="0" anchor="t">
            <a:spAutoFit/>
          </a:bodyPr>
          <a:p>
            <a:pPr defTabSz="457200">
              <a:lnSpc>
                <a:spcPts val="2599"/>
              </a:lnSpc>
              <a:spcAft>
                <a:spcPts val="799"/>
              </a:spcAft>
            </a:pPr>
            <a:r>
              <a:rPr lang="en-US" sz="2000" b="0" u="none" strike="noStrike">
                <a:solidFill>
                  <a:srgbClr val="224B12"/>
                </a:solidFill>
                <a:effectLst/>
                <a:uFillTx/>
                <a:latin typeface="Calibri"/>
                <a:ea typeface="DejaVu Sans"/>
              </a:rPr>
              <a:t>- </a:t>
            </a:r>
            <a:r>
              <a:rPr lang="en-US" sz="2589" b="0" u="none" strike="noStrike" baseline="7000">
                <a:solidFill>
                  <a:srgbClr val="241F1B"/>
                </a:solidFill>
                <a:effectLst/>
                <a:uFillTx/>
                <a:latin typeface="Calibri"/>
                <a:ea typeface="GoogleSansFlex-Regular_opsz110000_wdth5C0000_wght1540000_GRAD_ROND_slnt"/>
              </a:rPr>
              <a:t>Τα e-shops καταγράφουν τεράστιους όγκους δεδομένων, παραγγελίες, προϊόντα, επιστροφές.</a:t>
            </a:r>
            <a:endParaRPr lang="en-US" sz="2590" b="0" u="none" strike="noStrike">
              <a:solidFill>
                <a:srgbClr val="000000"/>
              </a:solidFill>
              <a:effectLst/>
              <a:uFillTx/>
              <a:latin typeface="Arial"/>
            </a:endParaRPr>
          </a:p>
          <a:p>
            <a:pPr defTabSz="457200">
              <a:lnSpc>
                <a:spcPts val="2599"/>
              </a:lnSpc>
              <a:spcAft>
                <a:spcPts val="799"/>
              </a:spcAft>
            </a:pPr>
            <a:r>
              <a:rPr lang="en-US" sz="2000" b="0" u="none" strike="noStrike">
                <a:solidFill>
                  <a:srgbClr val="224B12"/>
                </a:solidFill>
                <a:effectLst/>
                <a:uFillTx/>
                <a:latin typeface="Calibri"/>
                <a:ea typeface="DejaVu Sans"/>
              </a:rPr>
              <a:t>- </a:t>
            </a:r>
            <a:r>
              <a:rPr lang="en-US" sz="2589" b="0" u="none" strike="noStrike" baseline="7000">
                <a:solidFill>
                  <a:srgbClr val="241F1B"/>
                </a:solidFill>
                <a:effectLst/>
                <a:uFillTx/>
                <a:latin typeface="Calibri"/>
                <a:ea typeface="GoogleSansFlex-Regular_opsz110000_wdth5C0000_wght1540000_GRAD_ROND_slnt"/>
              </a:rPr>
              <a:t>Τα τμήματα marketing και πωλήσεων συχνά δεν αξιοποιούν αυτή την πληροφορία στη λήψη αποφάσεων.</a:t>
            </a:r>
            <a:endParaRPr lang="en-US" sz="259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2589" b="1" u="none" strike="noStrike" baseline="7000">
                <a:solidFill>
                  <a:srgbClr val="241F1B"/>
                </a:solidFill>
                <a:effectLst/>
                <a:uFillTx/>
                <a:latin typeface="Calibri"/>
                <a:ea typeface="GoogleSansFlex-Regular_opsz110000_wdth5C0000_wght1540000_GRAD_ROND_slnt"/>
              </a:rPr>
              <a:t>Η παρούσα διπλωματική εργασία προτείνει έναν γρήγορο, αποδοτικό και προσιτό τρόπο αξιοποίησης αυτών των δεδομένων.</a:t>
            </a:r>
            <a:endParaRPr lang="en-US" sz="2590" b="0" u="none" strike="noStrike">
              <a:solidFill>
                <a:srgbClr val="000000"/>
              </a:solidFill>
              <a:effectLst/>
              <a:uFillTx/>
              <a:latin typeface="Arial"/>
            </a:endParaRPr>
          </a:p>
          <a:p>
            <a:pPr defTabSz="457200">
              <a:lnSpc>
                <a:spcPct val="122000"/>
              </a:lnSpc>
              <a:spcAft>
                <a:spcPts val="901"/>
              </a:spcAft>
            </a:pPr>
            <a:endParaRPr lang="en-US" sz="1500" b="0" u="none" strike="noStrike">
              <a:solidFill>
                <a:srgbClr val="000000"/>
              </a:solidFill>
              <a:effectLst/>
              <a:uFillTx/>
              <a:latin typeface="Arial"/>
            </a:endParaRPr>
          </a:p>
        </p:txBody>
      </p:sp>
      <p:sp>
        <p:nvSpPr>
          <p:cNvPr id="69" name="Rounded Rectangle 6"/>
          <p:cNvSpPr/>
          <p:nvPr/>
        </p:nvSpPr>
        <p:spPr>
          <a:xfrm>
            <a:off x="6291000" y="211680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0" name="TextBox 7"/>
          <p:cNvSpPr/>
          <p:nvPr/>
        </p:nvSpPr>
        <p:spPr>
          <a:xfrm>
            <a:off x="6519600" y="2281320"/>
            <a:ext cx="4891320" cy="25056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2C5530"/>
                </a:solidFill>
                <a:effectLst/>
                <a:uFillTx/>
                <a:latin typeface="Cambria"/>
                <a:ea typeface="DejaVu Sans"/>
              </a:rPr>
              <a:t>Τ</a:t>
            </a:r>
            <a:r>
              <a:rPr lang="en-US" sz="1350" b="1" u="none" strike="noStrike">
                <a:solidFill>
                  <a:srgbClr val="2C5530"/>
                </a:solidFill>
                <a:effectLst/>
                <a:uFillTx/>
                <a:latin typeface="Cambria"/>
                <a:ea typeface="DejaVu Sans"/>
              </a:rPr>
              <a:t>Ι</a:t>
            </a:r>
            <a:r>
              <a:rPr lang="en-US" sz="1350" b="1" u="none" strike="noStrike">
                <a:solidFill>
                  <a:srgbClr val="2C5530"/>
                </a:solidFill>
                <a:effectLst/>
                <a:uFillTx/>
                <a:latin typeface="Cambria"/>
                <a:ea typeface="DejaVu Sans"/>
              </a:rPr>
              <a:t> </a:t>
            </a:r>
            <a:r>
              <a:rPr lang="en-US" sz="1350" b="1" u="none" strike="noStrike">
                <a:solidFill>
                  <a:srgbClr val="2C5530"/>
                </a:solidFill>
                <a:effectLst/>
                <a:uFillTx/>
                <a:latin typeface="Cambria"/>
                <a:ea typeface="DejaVu Sans"/>
              </a:rPr>
              <a:t>Ε</a:t>
            </a:r>
            <a:r>
              <a:rPr lang="en-US" sz="1350" b="1" u="none" strike="noStrike">
                <a:solidFill>
                  <a:srgbClr val="2C5530"/>
                </a:solidFill>
                <a:effectLst/>
                <a:uFillTx/>
                <a:latin typeface="Cambria"/>
                <a:ea typeface="DejaVu Sans"/>
              </a:rPr>
              <a:t>Χ</a:t>
            </a:r>
            <a:r>
              <a:rPr lang="en-US" sz="1350" b="1" u="none" strike="noStrike">
                <a:solidFill>
                  <a:srgbClr val="2C5530"/>
                </a:solidFill>
                <a:effectLst/>
                <a:uFillTx/>
                <a:latin typeface="Cambria"/>
                <a:ea typeface="DejaVu Sans"/>
              </a:rPr>
              <a:t>Ο</a:t>
            </a:r>
            <a:r>
              <a:rPr lang="en-US" sz="1350" b="1" u="none" strike="noStrike">
                <a:solidFill>
                  <a:srgbClr val="2C5530"/>
                </a:solidFill>
                <a:effectLst/>
                <a:uFillTx/>
                <a:latin typeface="Cambria"/>
                <a:ea typeface="DejaVu Sans"/>
              </a:rPr>
              <a:t>Υ</a:t>
            </a:r>
            <a:r>
              <a:rPr lang="en-US" sz="1350" b="1" u="none" strike="noStrike">
                <a:solidFill>
                  <a:srgbClr val="2C5530"/>
                </a:solidFill>
                <a:effectLst/>
                <a:uFillTx/>
                <a:latin typeface="Cambria"/>
                <a:ea typeface="DejaVu Sans"/>
              </a:rPr>
              <a:t>Μ</a:t>
            </a:r>
            <a:r>
              <a:rPr lang="en-US" sz="1350" b="1" u="none" strike="noStrike">
                <a:solidFill>
                  <a:srgbClr val="2C5530"/>
                </a:solidFill>
                <a:effectLst/>
                <a:uFillTx/>
                <a:latin typeface="Cambria"/>
                <a:ea typeface="DejaVu Sans"/>
              </a:rPr>
              <a:t>Ε</a:t>
            </a:r>
            <a:endParaRPr lang="en-US" sz="1350" b="0" u="none" strike="noStrike">
              <a:solidFill>
                <a:srgbClr val="000000"/>
              </a:solidFill>
              <a:effectLst/>
              <a:uFillTx/>
              <a:latin typeface="Arial"/>
            </a:endParaRPr>
          </a:p>
        </p:txBody>
      </p:sp>
      <p:sp>
        <p:nvSpPr>
          <p:cNvPr id="71" name="TextBox 8"/>
          <p:cNvSpPr/>
          <p:nvPr/>
        </p:nvSpPr>
        <p:spPr>
          <a:xfrm>
            <a:off x="6519600" y="2619720"/>
            <a:ext cx="4891320" cy="2602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241F1B"/>
                </a:solidFill>
                <a:effectLst/>
                <a:uFillTx/>
                <a:latin typeface="Calibri"/>
                <a:ea typeface="DejaVu Sans"/>
              </a:rPr>
              <a:t>Πλήρεςιστορικό και δεδομένα πωλήσεων/επιστροφών</a:t>
            </a:r>
            <a:endParaRPr lang="en-US" sz="1400" b="0" u="none" strike="noStrike">
              <a:solidFill>
                <a:srgbClr val="000000"/>
              </a:solidFill>
              <a:effectLst/>
              <a:uFillTx/>
              <a:latin typeface="Arial"/>
            </a:endParaRPr>
          </a:p>
        </p:txBody>
      </p:sp>
      <p:sp>
        <p:nvSpPr>
          <p:cNvPr id="72" name="Rounded Rectangle 9"/>
          <p:cNvSpPr/>
          <p:nvPr/>
        </p:nvSpPr>
        <p:spPr>
          <a:xfrm>
            <a:off x="6291000" y="3351240"/>
            <a:ext cx="5348520" cy="1050840"/>
          </a:xfrm>
          <a:prstGeom prst="roundRect">
            <a:avLst>
              <a:gd name="adj" fmla="val 16667"/>
            </a:avLst>
          </a:prstGeom>
          <a:solidFill>
            <a:srgbClr val="FFFFFF"/>
          </a:solid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3" name="TextBox 10"/>
          <p:cNvSpPr/>
          <p:nvPr/>
        </p:nvSpPr>
        <p:spPr>
          <a:xfrm>
            <a:off x="6519600" y="3515760"/>
            <a:ext cx="4891320" cy="25056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B0413E"/>
                </a:solidFill>
                <a:effectLst/>
                <a:uFillTx/>
                <a:latin typeface="Cambria"/>
                <a:ea typeface="DejaVu Sans"/>
              </a:rPr>
              <a:t>ΤΟ ΚΕΝΟ</a:t>
            </a:r>
            <a:endParaRPr lang="en-US" sz="1350" b="0" u="none" strike="noStrike">
              <a:solidFill>
                <a:srgbClr val="000000"/>
              </a:solidFill>
              <a:effectLst/>
              <a:uFillTx/>
              <a:latin typeface="Arial"/>
            </a:endParaRPr>
          </a:p>
        </p:txBody>
      </p:sp>
      <p:sp>
        <p:nvSpPr>
          <p:cNvPr id="74" name="TextBox 11"/>
          <p:cNvSpPr/>
          <p:nvPr/>
        </p:nvSpPr>
        <p:spPr>
          <a:xfrm>
            <a:off x="6519600" y="3854160"/>
            <a:ext cx="4891320" cy="2602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B0413E"/>
                </a:solidFill>
                <a:effectLst/>
                <a:uFillTx/>
                <a:latin typeface="Calibri"/>
                <a:ea typeface="DejaVu Sans"/>
              </a:rPr>
              <a:t>Αποφάσεις χωρίς αξιοποίηση των πληροφοριών</a:t>
            </a:r>
            <a:endParaRPr lang="en-US" sz="1400" b="0" u="none" strike="noStrike">
              <a:solidFill>
                <a:srgbClr val="000000"/>
              </a:solidFill>
              <a:effectLst/>
              <a:uFillTx/>
              <a:latin typeface="Arial"/>
            </a:endParaRPr>
          </a:p>
        </p:txBody>
      </p:sp>
      <p:sp>
        <p:nvSpPr>
          <p:cNvPr id="75" name="Rounded Rectangle 12"/>
          <p:cNvSpPr/>
          <p:nvPr/>
        </p:nvSpPr>
        <p:spPr>
          <a:xfrm>
            <a:off x="6291000" y="4585680"/>
            <a:ext cx="5348520" cy="1050840"/>
          </a:xfrm>
          <a:prstGeom prst="roundRect">
            <a:avLst>
              <a:gd name="adj" fmla="val 16667"/>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6" name="TextBox 13"/>
          <p:cNvSpPr/>
          <p:nvPr/>
        </p:nvSpPr>
        <p:spPr>
          <a:xfrm>
            <a:off x="6519600" y="4750200"/>
            <a:ext cx="4891320" cy="25056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FFFFFF"/>
                </a:solidFill>
                <a:effectLst/>
                <a:uFillTx/>
                <a:latin typeface="Cambria"/>
                <a:ea typeface="DejaVu Sans"/>
              </a:rPr>
              <a:t>ΤΙ ΘΕΛΟΥΜΕ</a:t>
            </a:r>
            <a:endParaRPr lang="en-US" sz="1350" b="0" u="none" strike="noStrike">
              <a:solidFill>
                <a:srgbClr val="000000"/>
              </a:solidFill>
              <a:effectLst/>
              <a:uFillTx/>
              <a:latin typeface="Arial"/>
            </a:endParaRPr>
          </a:p>
        </p:txBody>
      </p:sp>
      <p:sp>
        <p:nvSpPr>
          <p:cNvPr id="77" name="TextBox 14"/>
          <p:cNvSpPr/>
          <p:nvPr/>
        </p:nvSpPr>
        <p:spPr>
          <a:xfrm>
            <a:off x="6519600" y="5088600"/>
            <a:ext cx="4891320" cy="2602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D7E5D2"/>
                </a:solidFill>
                <a:effectLst/>
                <a:uFillTx/>
                <a:latin typeface="Calibri"/>
                <a:ea typeface="DejaVu Sans"/>
              </a:rPr>
              <a:t>Αποφάσεις που στηρίζονται στα δεδομένα</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 ΣΤΟΧΟΙ</a:t>
            </a:r>
            <a:endParaRPr lang="en-US" sz="1200" b="0" u="none" strike="noStrike">
              <a:solidFill>
                <a:srgbClr val="000000"/>
              </a:solidFill>
              <a:effectLst/>
              <a:uFillTx/>
              <a:latin typeface="Arial"/>
            </a:endParaRPr>
          </a:p>
        </p:txBody>
      </p:sp>
      <p:sp>
        <p:nvSpPr>
          <p:cNvPr id="79"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7 ερωτήματα που καλούνται να απαντήσουν οι επιχειρήσεις</a:t>
            </a:r>
            <a:endParaRPr lang="en-US" sz="3000" b="0" u="none" strike="noStrike">
              <a:solidFill>
                <a:srgbClr val="000000"/>
              </a:solidFill>
              <a:effectLst/>
              <a:uFillTx/>
              <a:latin typeface="Arial"/>
            </a:endParaRPr>
          </a:p>
        </p:txBody>
      </p:sp>
      <p:sp>
        <p:nvSpPr>
          <p:cNvPr id="80" name="TextBox 3"/>
          <p:cNvSpPr/>
          <p:nvPr/>
        </p:nvSpPr>
        <p:spPr>
          <a:xfrm>
            <a:off x="548640" y="6473880"/>
            <a:ext cx="36568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1"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5</a:t>
            </a:r>
            <a:endParaRPr lang="en-US" sz="900" b="0" u="none" strike="noStrike">
              <a:solidFill>
                <a:srgbClr val="000000"/>
              </a:solidFill>
              <a:effectLst/>
              <a:uFillTx/>
              <a:latin typeface="Arial"/>
            </a:endParaRPr>
          </a:p>
        </p:txBody>
      </p:sp>
      <p:sp>
        <p:nvSpPr>
          <p:cNvPr id="82" name="TextBox 5"/>
          <p:cNvSpPr/>
          <p:nvPr/>
        </p:nvSpPr>
        <p:spPr>
          <a:xfrm>
            <a:off x="548640" y="6157080"/>
            <a:ext cx="11090880" cy="261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3" name="TextBox 7"/>
          <p:cNvSpPr/>
          <p:nvPr/>
        </p:nvSpPr>
        <p:spPr>
          <a:xfrm>
            <a:off x="548640" y="219168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1</a:t>
            </a:r>
            <a:endParaRPr lang="en-US" sz="1600" b="0" u="none" strike="noStrike">
              <a:solidFill>
                <a:srgbClr val="000000"/>
              </a:solidFill>
              <a:effectLst/>
              <a:uFillTx/>
              <a:latin typeface="Arial"/>
            </a:endParaRPr>
          </a:p>
        </p:txBody>
      </p:sp>
      <p:sp>
        <p:nvSpPr>
          <p:cNvPr id="84" name="TextBox 8"/>
          <p:cNvSpPr/>
          <p:nvPr/>
        </p:nvSpPr>
        <p:spPr>
          <a:xfrm>
            <a:off x="581040" y="1907280"/>
            <a:ext cx="7648200" cy="3643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800" b="0" u="none" strike="noStrike">
                <a:solidFill>
                  <a:srgbClr val="224B12"/>
                </a:solidFill>
                <a:effectLst/>
                <a:uFillTx/>
                <a:latin typeface="Calibri"/>
                <a:ea typeface="DejaVu Sans"/>
              </a:rPr>
              <a:t>1.</a:t>
            </a:r>
            <a:r>
              <a:rPr lang="en-US" sz="2000" b="0" u="none" strike="noStrike">
                <a:solidFill>
                  <a:srgbClr val="241F1B"/>
                </a:solidFill>
                <a:effectLst/>
                <a:uFillTx/>
                <a:latin typeface="Calibri"/>
                <a:ea typeface="DejaVu Sans"/>
              </a:rPr>
              <a:t> Ποια προϊόντα φέρνουν τα περισσότερα έσοδα?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2.</a:t>
            </a:r>
            <a:r>
              <a:rPr lang="en-US" sz="2000" b="0" u="none" strike="noStrike">
                <a:solidFill>
                  <a:srgbClr val="241F1B"/>
                </a:solidFill>
                <a:effectLst/>
                <a:uFillTx/>
                <a:latin typeface="Calibri"/>
                <a:ea typeface="DejaVu Sans"/>
              </a:rPr>
              <a:t> Ποιοι πελάτες αγοράζουν τα περισσότερα?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3</a:t>
            </a:r>
            <a:r>
              <a:rPr lang="en-US" sz="2800" b="0" u="none" strike="noStrike">
                <a:solidFill>
                  <a:srgbClr val="241F1B"/>
                </a:solidFill>
                <a:effectLst/>
                <a:uFillTx/>
                <a:latin typeface="Calibri"/>
                <a:ea typeface="DejaVu Sans"/>
              </a:rPr>
              <a:t>.</a:t>
            </a:r>
            <a:r>
              <a:rPr lang="en-US" sz="2000" b="0" u="none" strike="noStrike">
                <a:solidFill>
                  <a:srgbClr val="241F1B"/>
                </a:solidFill>
                <a:effectLst/>
                <a:uFillTx/>
                <a:latin typeface="Calibri"/>
                <a:ea typeface="DejaVu Sans"/>
              </a:rPr>
              <a:t> Ποιες περιοχές αγοράζουν τα περισσότερα?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4.</a:t>
            </a:r>
            <a:r>
              <a:rPr lang="en-US" sz="2000" b="0" u="none" strike="noStrike">
                <a:solidFill>
                  <a:srgbClr val="241F1B"/>
                </a:solidFill>
                <a:effectLst/>
                <a:uFillTx/>
                <a:latin typeface="Calibri"/>
                <a:ea typeface="DejaVu Sans"/>
              </a:rPr>
              <a:t> Πότε μέσα στον χρόνο γίνονται οι περισσότερες πωλήσεις?</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Arial Unicode MS"/>
              </a:rPr>
              <a:t>5.</a:t>
            </a:r>
            <a:r>
              <a:rPr lang="en-US" sz="2000" b="0" u="none" strike="noStrike">
                <a:solidFill>
                  <a:srgbClr val="241F1B"/>
                </a:solidFill>
                <a:effectLst/>
                <a:uFillTx/>
                <a:latin typeface="Calibri"/>
                <a:ea typeface="Arial Unicode MS"/>
              </a:rPr>
              <a:t> Ποια προϊόντα επιστρέφονται πιο συχνά?</a:t>
            </a:r>
            <a:br>
              <a:rPr sz="2000"/>
            </a:br>
            <a:r>
              <a:rPr lang="en-US" sz="2800" b="0" u="none" strike="noStrike">
                <a:solidFill>
                  <a:srgbClr val="224B12"/>
                </a:solidFill>
                <a:effectLst/>
                <a:uFillTx/>
                <a:latin typeface="Calibri"/>
                <a:ea typeface="DejaVu Sans"/>
              </a:rPr>
              <a:t>6.</a:t>
            </a:r>
            <a:r>
              <a:rPr lang="en-US" sz="2000" b="0" u="none" strike="noStrike">
                <a:solidFill>
                  <a:srgbClr val="241F1B"/>
                </a:solidFill>
                <a:effectLst/>
                <a:uFillTx/>
                <a:latin typeface="Calibri"/>
                <a:ea typeface="DejaVu Sans"/>
              </a:rPr>
              <a:t> Πώς μοιράζονται οι πωλήσεις ανά τιμή?</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7.</a:t>
            </a:r>
            <a:r>
              <a:rPr lang="en-US" sz="2000" b="0" u="none" strike="noStrike">
                <a:solidFill>
                  <a:srgbClr val="241F1B"/>
                </a:solidFill>
                <a:effectLst/>
                <a:uFillTx/>
                <a:latin typeface="Calibri"/>
                <a:ea typeface="DejaVu Sans"/>
              </a:rPr>
              <a:t> Πώς μοιράζονται οι πωλήσεις ανά είδος προϊόντος</a:t>
            </a:r>
            <a:endParaRPr lang="en-US" sz="2000" b="0" u="none" strike="noStrike">
              <a:solidFill>
                <a:srgbClr val="000000"/>
              </a:solidFill>
              <a:effectLst/>
              <a:uFillTx/>
              <a:latin typeface="Arial"/>
            </a:endParaRPr>
          </a:p>
        </p:txBody>
      </p:sp>
      <p:sp>
        <p:nvSpPr>
          <p:cNvPr id="85" name="TextBox 10"/>
          <p:cNvSpPr/>
          <p:nvPr/>
        </p:nvSpPr>
        <p:spPr>
          <a:xfrm>
            <a:off x="6231600" y="219168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2</a:t>
            </a:r>
            <a:endParaRPr lang="en-US" sz="1600" b="0" u="none" strike="noStrike">
              <a:solidFill>
                <a:srgbClr val="000000"/>
              </a:solidFill>
              <a:effectLst/>
              <a:uFillTx/>
              <a:latin typeface="Arial"/>
            </a:endParaRPr>
          </a:p>
        </p:txBody>
      </p:sp>
      <p:sp>
        <p:nvSpPr>
          <p:cNvPr id="86" name="TextBox 13"/>
          <p:cNvSpPr/>
          <p:nvPr/>
        </p:nvSpPr>
        <p:spPr>
          <a:xfrm>
            <a:off x="548640" y="3033000"/>
            <a:ext cx="493200" cy="2962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7" name="TextBox 14"/>
          <p:cNvSpPr/>
          <p:nvPr/>
        </p:nvSpPr>
        <p:spPr>
          <a:xfrm>
            <a:off x="1225440" y="3042000"/>
            <a:ext cx="4676400" cy="297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8" name="TextBox 16"/>
          <p:cNvSpPr/>
          <p:nvPr/>
        </p:nvSpPr>
        <p:spPr>
          <a:xfrm>
            <a:off x="6231600" y="303300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4</a:t>
            </a:r>
            <a:endParaRPr lang="en-US" sz="1600" b="0" u="none" strike="noStrike">
              <a:solidFill>
                <a:srgbClr val="000000"/>
              </a:solidFill>
              <a:effectLst/>
              <a:uFillTx/>
              <a:latin typeface="Arial"/>
            </a:endParaRPr>
          </a:p>
        </p:txBody>
      </p:sp>
      <p:sp>
        <p:nvSpPr>
          <p:cNvPr id="89" name="TextBox 17"/>
          <p:cNvSpPr/>
          <p:nvPr/>
        </p:nvSpPr>
        <p:spPr>
          <a:xfrm>
            <a:off x="6908400" y="3042000"/>
            <a:ext cx="4676400" cy="5932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0" name="TextBox 19"/>
          <p:cNvSpPr/>
          <p:nvPr/>
        </p:nvSpPr>
        <p:spPr>
          <a:xfrm>
            <a:off x="548640" y="3873960"/>
            <a:ext cx="493200" cy="29700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5</a:t>
            </a:r>
            <a:endParaRPr lang="en-US" sz="1600" b="0" u="none" strike="noStrike">
              <a:solidFill>
                <a:srgbClr val="000000"/>
              </a:solidFill>
              <a:effectLst/>
              <a:uFillTx/>
              <a:latin typeface="Arial"/>
            </a:endParaRPr>
          </a:p>
        </p:txBody>
      </p:sp>
      <p:sp>
        <p:nvSpPr>
          <p:cNvPr id="91" name="TextBox 20"/>
          <p:cNvSpPr/>
          <p:nvPr/>
        </p:nvSpPr>
        <p:spPr>
          <a:xfrm>
            <a:off x="1225440" y="3883320"/>
            <a:ext cx="4676400" cy="297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2" name="TextBox 26"/>
          <p:cNvSpPr/>
          <p:nvPr/>
        </p:nvSpPr>
        <p:spPr>
          <a:xfrm>
            <a:off x="1225440" y="4724640"/>
            <a:ext cx="4676400" cy="297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ΑΡΧΕΣ ΣΧΕΔΙΑΣΗΣ</a:t>
            </a:r>
            <a:endParaRPr lang="en-US" sz="1200" b="0" u="none" strike="noStrike">
              <a:solidFill>
                <a:srgbClr val="000000"/>
              </a:solidFill>
              <a:effectLst/>
              <a:uFillTx/>
              <a:latin typeface="Arial"/>
            </a:endParaRPr>
          </a:p>
        </p:txBody>
      </p:sp>
      <p:sp>
        <p:nvSpPr>
          <p:cNvPr id="94"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Δύο κανόνες</a:t>
            </a:r>
            <a:endParaRPr lang="en-US" sz="3000" b="0" u="none" strike="noStrike">
              <a:solidFill>
                <a:srgbClr val="000000"/>
              </a:solidFill>
              <a:effectLst/>
              <a:uFillTx/>
              <a:latin typeface="Arial"/>
            </a:endParaRPr>
          </a:p>
        </p:txBody>
      </p:sp>
      <p:sp>
        <p:nvSpPr>
          <p:cNvPr id="95" name="TextBox 3"/>
          <p:cNvSpPr/>
          <p:nvPr/>
        </p:nvSpPr>
        <p:spPr>
          <a:xfrm>
            <a:off x="548640" y="6473880"/>
            <a:ext cx="36568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6"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6</a:t>
            </a:r>
            <a:endParaRPr lang="en-US" sz="900" b="0" u="none" strike="noStrike">
              <a:solidFill>
                <a:srgbClr val="000000"/>
              </a:solidFill>
              <a:effectLst/>
              <a:uFillTx/>
              <a:latin typeface="Arial"/>
            </a:endParaRPr>
          </a:p>
        </p:txBody>
      </p:sp>
      <p:sp>
        <p:nvSpPr>
          <p:cNvPr id="97" name="TextBox 5"/>
          <p:cNvSpPr/>
          <p:nvPr/>
        </p:nvSpPr>
        <p:spPr>
          <a:xfrm>
            <a:off x="548640" y="6157080"/>
            <a:ext cx="11090880" cy="261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8" name="Rounded Rectangle 6"/>
          <p:cNvSpPr/>
          <p:nvPr/>
        </p:nvSpPr>
        <p:spPr>
          <a:xfrm>
            <a:off x="548640" y="2234880"/>
            <a:ext cx="5453640" cy="2102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9" name="TextBox 7"/>
          <p:cNvSpPr/>
          <p:nvPr/>
        </p:nvSpPr>
        <p:spPr>
          <a:xfrm>
            <a:off x="777240" y="2423160"/>
            <a:ext cx="4996440" cy="334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800" b="1" u="none" strike="noStrike">
                <a:solidFill>
                  <a:srgbClr val="2C5530"/>
                </a:solidFill>
                <a:effectLst/>
                <a:uFillTx/>
                <a:latin typeface="Cambria"/>
                <a:ea typeface="DejaVu Sans"/>
              </a:rPr>
              <a:t>ΚΑΘΟΛΙΚΟΤΗΤΑ</a:t>
            </a:r>
            <a:endParaRPr lang="en-US" sz="1800" b="0" u="none" strike="noStrike">
              <a:solidFill>
                <a:srgbClr val="000000"/>
              </a:solidFill>
              <a:effectLst/>
              <a:uFillTx/>
              <a:latin typeface="Arial"/>
            </a:endParaRPr>
          </a:p>
        </p:txBody>
      </p:sp>
      <p:sp>
        <p:nvSpPr>
          <p:cNvPr id="100" name="TextBox 8"/>
          <p:cNvSpPr/>
          <p:nvPr/>
        </p:nvSpPr>
        <p:spPr>
          <a:xfrm>
            <a:off x="718200" y="3044160"/>
            <a:ext cx="4996440" cy="7682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000" b="0" u="none" strike="noStrike">
                <a:solidFill>
                  <a:srgbClr val="241F1B"/>
                </a:solidFill>
                <a:effectLst/>
                <a:uFillTx/>
                <a:latin typeface="Calibri"/>
                <a:ea typeface="DejaVu Sans"/>
              </a:rPr>
              <a:t>-</a:t>
            </a:r>
            <a:r>
              <a:rPr lang="en-US" sz="1600" b="0" u="none" strike="noStrike">
                <a:solidFill>
                  <a:srgbClr val="241F1B"/>
                </a:solidFill>
                <a:effectLst/>
                <a:uFillTx/>
                <a:latin typeface="Calibri"/>
                <a:ea typeface="DejaVu Sans"/>
              </a:rPr>
              <a:t> Πρόκειται </a:t>
            </a:r>
            <a:r>
              <a:rPr lang="en-US" sz="1600" b="0" u="none" strike="noStrike">
                <a:solidFill>
                  <a:srgbClr val="241F1B"/>
                </a:solidFill>
                <a:effectLst/>
                <a:uFillTx/>
                <a:latin typeface="Calibri"/>
                <a:ea typeface="DejaVu Sans"/>
              </a:rPr>
              <a:t>για ένα </a:t>
            </a:r>
            <a:r>
              <a:rPr lang="en-US" sz="1600" b="0" u="none" strike="noStrike">
                <a:solidFill>
                  <a:srgbClr val="241F1B"/>
                </a:solidFill>
                <a:effectLst/>
                <a:uFillTx/>
                <a:latin typeface="Calibri"/>
                <a:ea typeface="DejaVu Sans"/>
              </a:rPr>
              <a:t>σύστημα </a:t>
            </a:r>
            <a:r>
              <a:rPr lang="en-US" sz="1600" b="0" u="none" strike="noStrike">
                <a:solidFill>
                  <a:srgbClr val="241F1B"/>
                </a:solidFill>
                <a:effectLst/>
                <a:uFillTx/>
                <a:latin typeface="Calibri"/>
                <a:ea typeface="DejaVu Sans"/>
              </a:rPr>
              <a:t>γενικής </a:t>
            </a:r>
            <a:r>
              <a:rPr lang="en-US" sz="1600" b="0" u="none" strike="noStrike">
                <a:solidFill>
                  <a:srgbClr val="241F1B"/>
                </a:solidFill>
                <a:effectLst/>
                <a:uFillTx/>
                <a:latin typeface="Calibri"/>
                <a:ea typeface="DejaVu Sans"/>
              </a:rPr>
              <a:t>εφαρμογής.</a:t>
            </a:r>
            <a:endParaRPr lang="en-US" sz="1600" b="0" u="none" strike="noStrike">
              <a:solidFill>
                <a:srgbClr val="000000"/>
              </a:solidFill>
              <a:effectLst/>
              <a:uFillTx/>
              <a:latin typeface="Arial"/>
            </a:endParaRPr>
          </a:p>
          <a:p>
            <a:pPr defTabSz="457200">
              <a:lnSpc>
                <a:spcPct val="122000"/>
              </a:lnSpc>
            </a:pPr>
            <a:r>
              <a:rPr lang="en-US" sz="3450" b="0" u="none" strike="noStrike" baseline="8000">
                <a:solidFill>
                  <a:srgbClr val="241F1B"/>
                </a:solidFill>
                <a:effectLst/>
                <a:uFillTx/>
                <a:latin typeface="Calibri"/>
                <a:ea typeface="GoogleSansFlex-Regular_opsz110000_wdth5C0000_wght1540000_GRAD_ROND_slnt"/>
              </a:rPr>
              <a:t>-</a:t>
            </a:r>
            <a:r>
              <a:rPr lang="en-US" sz="2758" b="0" u="none" strike="noStrike" baseline="8000">
                <a:solidFill>
                  <a:srgbClr val="241F1B"/>
                </a:solidFill>
                <a:effectLst/>
                <a:uFillTx/>
                <a:latin typeface="Calibri"/>
                <a:ea typeface="GoogleSansFlex-Regular_opsz110000_wdth5C0000_wght1540000_GRAD_ROND_slnt"/>
              </a:rPr>
              <a:t> Δεν είναι </a:t>
            </a:r>
            <a:r>
              <a:rPr lang="en-US" sz="2758" b="0" u="none" strike="noStrike" baseline="8000">
                <a:solidFill>
                  <a:srgbClr val="241F1B"/>
                </a:solidFill>
                <a:effectLst/>
                <a:uFillTx/>
                <a:latin typeface="Calibri"/>
                <a:ea typeface="GoogleSansFlex-Regular_opsz110000_wdth5C0000_wght1540000_GRAD_ROND_slnt"/>
              </a:rPr>
              <a:t>περιορισμέν</a:t>
            </a:r>
            <a:r>
              <a:rPr lang="en-US" sz="2758" b="0" u="none" strike="noStrike" baseline="8000">
                <a:solidFill>
                  <a:srgbClr val="241F1B"/>
                </a:solidFill>
                <a:effectLst/>
                <a:uFillTx/>
                <a:latin typeface="Calibri"/>
                <a:ea typeface="GoogleSansFlex-Regular_opsz110000_wdth5C0000_wght1540000_GRAD_ROND_slnt"/>
              </a:rPr>
              <a:t>ο σε ένα </a:t>
            </a:r>
            <a:r>
              <a:rPr lang="en-US" sz="2758" b="0" u="none" strike="noStrike" baseline="8000">
                <a:solidFill>
                  <a:srgbClr val="241F1B"/>
                </a:solidFill>
                <a:effectLst/>
                <a:uFillTx/>
                <a:latin typeface="Calibri"/>
                <a:ea typeface="GoogleSansFlex-Regular_opsz110000_wdth5C0000_wght1540000_GRAD_ROND_slnt"/>
              </a:rPr>
              <a:t>μόνο </a:t>
            </a:r>
            <a:r>
              <a:rPr lang="en-US" sz="2758" b="0" u="none" strike="noStrike" baseline="8000">
                <a:solidFill>
                  <a:srgbClr val="241F1B"/>
                </a:solidFill>
                <a:effectLst/>
                <a:uFillTx/>
                <a:latin typeface="Calibri"/>
                <a:ea typeface="GoogleSansFlex-Regular_opsz110000_wdth5C0000_wght1540000_GRAD_ROND_slnt"/>
              </a:rPr>
              <a:t>κατάστημα.</a:t>
            </a:r>
            <a:endParaRPr lang="en-US" sz="2760" b="0" u="none" strike="noStrike">
              <a:solidFill>
                <a:srgbClr val="000000"/>
              </a:solidFill>
              <a:effectLst/>
              <a:uFillTx/>
              <a:latin typeface="Arial"/>
            </a:endParaRPr>
          </a:p>
        </p:txBody>
      </p:sp>
      <p:sp>
        <p:nvSpPr>
          <p:cNvPr id="101" name="Rounded Rectangle 9"/>
          <p:cNvSpPr/>
          <p:nvPr/>
        </p:nvSpPr>
        <p:spPr>
          <a:xfrm>
            <a:off x="6185880" y="2258640"/>
            <a:ext cx="5453640" cy="2102400"/>
          </a:xfrm>
          <a:prstGeom prst="roundRect">
            <a:avLst>
              <a:gd name="adj" fmla="val 16667"/>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2" name="TextBox 10"/>
          <p:cNvSpPr/>
          <p:nvPr/>
        </p:nvSpPr>
        <p:spPr>
          <a:xfrm>
            <a:off x="6414480" y="2423160"/>
            <a:ext cx="4996440" cy="334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800" b="1" u="none" strike="noStrike">
                <a:solidFill>
                  <a:srgbClr val="FFFFFF"/>
                </a:solidFill>
                <a:effectLst/>
                <a:uFillTx/>
                <a:latin typeface="Cambria"/>
                <a:ea typeface="DejaVu Sans"/>
              </a:rPr>
              <a:t>ΕΙΛΙΚΡΙΝΕΙΑ</a:t>
            </a:r>
            <a:endParaRPr lang="en-US" sz="1800" b="0" u="none" strike="noStrike">
              <a:solidFill>
                <a:srgbClr val="000000"/>
              </a:solidFill>
              <a:effectLst/>
              <a:uFillTx/>
              <a:latin typeface="Arial"/>
            </a:endParaRPr>
          </a:p>
        </p:txBody>
      </p:sp>
      <p:sp>
        <p:nvSpPr>
          <p:cNvPr id="103" name="TextBox 11"/>
          <p:cNvSpPr/>
          <p:nvPr/>
        </p:nvSpPr>
        <p:spPr>
          <a:xfrm>
            <a:off x="6400800" y="2976120"/>
            <a:ext cx="4996440" cy="681840"/>
          </a:xfrm>
          <a:prstGeom prst="rect">
            <a:avLst/>
          </a:prstGeom>
          <a:noFill/>
          <a:ln w="0">
            <a:noFill/>
          </a:ln>
        </p:spPr>
        <p:style>
          <a:lnRef idx="0"/>
          <a:fillRef idx="0"/>
          <a:effectRef idx="0"/>
          <a:fontRef idx="minor"/>
        </p:style>
        <p:txBody>
          <a:bodyPr lIns="0" tIns="0" rIns="0" bIns="0" anchor="t">
            <a:spAutoFit/>
          </a:bodyPr>
          <a:p>
            <a:pPr defTabSz="457200">
              <a:lnSpc>
                <a:spcPct val="100000"/>
              </a:lnSpc>
              <a:spcBef>
                <a:spcPts val="283"/>
              </a:spcBef>
              <a:spcAft>
                <a:spcPts val="283"/>
              </a:spcAft>
            </a:pPr>
            <a:r>
              <a:rPr lang="en-US" sz="2000" b="0" u="none" strike="noStrike">
                <a:solidFill>
                  <a:srgbClr val="D7E5D2"/>
                </a:solidFill>
                <a:effectLst/>
                <a:uFillTx/>
                <a:latin typeface="Calibri"/>
                <a:ea typeface="GoogleSansFlex-Regular_opsz110000_wdth5C0000_wght1540000_GRAD_ROND_slnt"/>
              </a:rPr>
              <a:t>-</a:t>
            </a:r>
            <a:r>
              <a:rPr lang="en-US" sz="1800" b="0" u="none" strike="noStrike">
                <a:solidFill>
                  <a:srgbClr val="D7E5D2"/>
                </a:solidFill>
                <a:effectLst/>
                <a:uFillTx/>
                <a:latin typeface="Calibri"/>
                <a:ea typeface="GoogleSansFlex-Regular_opsz110000_wdth5C0000_wght1540000_GRAD_ROND_slnt"/>
              </a:rPr>
              <a:t> </a:t>
            </a:r>
            <a:r>
              <a:rPr lang="en-US" sz="1600" b="0" u="none" strike="noStrike">
                <a:solidFill>
                  <a:srgbClr val="D7E5D2"/>
                </a:solidFill>
                <a:effectLst/>
                <a:uFillTx/>
                <a:latin typeface="Calibri"/>
                <a:ea typeface="GoogleSansFlex-Regular_opsz110000_wdth5C0000_wght1540000_GRAD_ROND_slnt"/>
              </a:rPr>
              <a:t>Αυστηρή μέτρηση όσων δεδομένων είναι διαθέσιμα.</a:t>
            </a:r>
            <a:endParaRPr lang="en-US" sz="1600" b="0" u="none" strike="noStrike">
              <a:solidFill>
                <a:srgbClr val="000000"/>
              </a:solidFill>
              <a:effectLst/>
              <a:uFillTx/>
              <a:latin typeface="Arial"/>
            </a:endParaRPr>
          </a:p>
          <a:p>
            <a:pPr defTabSz="457200">
              <a:lnSpc>
                <a:spcPct val="100000"/>
              </a:lnSpc>
              <a:spcBef>
                <a:spcPts val="283"/>
              </a:spcBef>
              <a:spcAft>
                <a:spcPts val="283"/>
              </a:spcAft>
            </a:pPr>
            <a:r>
              <a:rPr lang="en-US" sz="2000" b="0" u="none" strike="noStrike">
                <a:solidFill>
                  <a:srgbClr val="D7E5D2"/>
                </a:solidFill>
                <a:effectLst/>
                <a:uFillTx/>
                <a:latin typeface="Calibri"/>
                <a:ea typeface="Arial Unicode MS"/>
              </a:rPr>
              <a:t>-</a:t>
            </a:r>
            <a:r>
              <a:rPr lang="en-US" sz="1600" b="0" u="none" strike="noStrike">
                <a:solidFill>
                  <a:srgbClr val="D7E5D2"/>
                </a:solidFill>
                <a:effectLst/>
                <a:uFillTx/>
                <a:latin typeface="Calibri"/>
                <a:ea typeface="Arial Unicode MS"/>
              </a:rPr>
              <a:t> Χ</a:t>
            </a:r>
            <a:r>
              <a:rPr lang="en-US" sz="1600" b="0" u="none" strike="noStrike">
                <a:solidFill>
                  <a:srgbClr val="D7E5D2"/>
                </a:solidFill>
                <a:effectLst/>
                <a:uFillTx/>
                <a:latin typeface="Calibri"/>
                <a:ea typeface="GoogleSansFlex-Regular_opsz110000_wdth5C0000_wght1540000_GRAD_ROND_slnt"/>
              </a:rPr>
              <a:t>ωρίς εικασίες.</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Rectangle 1"/>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5" name="TextBox 2"/>
          <p:cNvSpPr/>
          <p:nvPr/>
        </p:nvSpPr>
        <p:spPr>
          <a:xfrm>
            <a:off x="548640" y="1600200"/>
            <a:ext cx="11090880" cy="16452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06" name="TextBox 3"/>
          <p:cNvSpPr/>
          <p:nvPr/>
        </p:nvSpPr>
        <p:spPr>
          <a:xfrm>
            <a:off x="548640" y="297180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2η ΕΝΟΤΗΤΑ</a:t>
            </a:r>
            <a:endParaRPr lang="en-US" sz="4000" b="0" u="none" strike="noStrike">
              <a:solidFill>
                <a:srgbClr val="000000"/>
              </a:solidFill>
              <a:effectLst/>
              <a:uFillTx/>
              <a:latin typeface="Arial"/>
            </a:endParaRPr>
          </a:p>
        </p:txBody>
      </p:sp>
      <p:sp>
        <p:nvSpPr>
          <p:cNvPr id="107"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σύστημα</a:t>
            </a:r>
            <a:endParaRPr lang="en-US" sz="4400" b="0" u="none" strike="noStrike">
              <a:solidFill>
                <a:srgbClr val="000000"/>
              </a:solidFill>
              <a:effectLst/>
              <a:uFillTx/>
              <a:latin typeface="Arial"/>
            </a:endParaRPr>
          </a:p>
        </p:txBody>
      </p:sp>
      <p:sp>
        <p:nvSpPr>
          <p:cNvPr id="108" name="TextBox 5"/>
          <p:cNvSpPr/>
          <p:nvPr/>
        </p:nvSpPr>
        <p:spPr>
          <a:xfrm>
            <a:off x="548640" y="4645080"/>
            <a:ext cx="11090880" cy="365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09" name="TextBox 6"/>
          <p:cNvSpPr/>
          <p:nvPr/>
        </p:nvSpPr>
        <p:spPr>
          <a:xfrm>
            <a:off x="548640" y="6473880"/>
            <a:ext cx="54856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10"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7</a:t>
            </a:r>
            <a:endParaRPr lang="en-US" sz="900" b="0" u="none" strike="noStrike">
              <a:solidFill>
                <a:srgbClr val="000000"/>
              </a:solidFill>
              <a:effectLst/>
              <a:uFillTx/>
              <a:latin typeface="Arial"/>
            </a:endParaRPr>
          </a:p>
        </p:txBody>
      </p:sp>
      <p:sp>
        <p:nvSpPr>
          <p:cNvPr id="111" name="Rectangle 3"/>
          <p:cNvSpPr/>
          <p:nvPr/>
        </p:nvSpPr>
        <p:spPr>
          <a:xfrm>
            <a:off x="360" y="36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2" name="TextBox 2"/>
          <p:cNvSpPr/>
          <p:nvPr/>
        </p:nvSpPr>
        <p:spPr>
          <a:xfrm>
            <a:off x="549000" y="1600560"/>
            <a:ext cx="11090880" cy="17841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13" name="TextBox 3"/>
          <p:cNvSpPr/>
          <p:nvPr/>
        </p:nvSpPr>
        <p:spPr>
          <a:xfrm>
            <a:off x="549000" y="297216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2η ΕΝΟΤΗΤΑ</a:t>
            </a:r>
            <a:endParaRPr lang="en-US" sz="4000" b="0" u="none" strike="noStrike">
              <a:solidFill>
                <a:srgbClr val="000000"/>
              </a:solidFill>
              <a:effectLst/>
              <a:uFillTx/>
              <a:latin typeface="Arial"/>
            </a:endParaRPr>
          </a:p>
        </p:txBody>
      </p:sp>
      <p:sp>
        <p:nvSpPr>
          <p:cNvPr id="114" name="TextBox 4"/>
          <p:cNvSpPr/>
          <p:nvPr/>
        </p:nvSpPr>
        <p:spPr>
          <a:xfrm>
            <a:off x="549000" y="380412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a:t>
            </a:r>
            <a:r>
              <a:rPr lang="en-US" sz="4400" b="1" u="none" strike="noStrike">
                <a:solidFill>
                  <a:srgbClr val="FFFFFF"/>
                </a:solidFill>
                <a:effectLst/>
                <a:uFillTx/>
                <a:latin typeface="Cambria"/>
                <a:ea typeface="DejaVu Sans"/>
              </a:rPr>
              <a:t>σύστημ</a:t>
            </a:r>
            <a:r>
              <a:rPr lang="en-US" sz="4400" b="1" u="none" strike="noStrike">
                <a:solidFill>
                  <a:srgbClr val="FFFFFF"/>
                </a:solidFill>
                <a:effectLst/>
                <a:uFillTx/>
                <a:latin typeface="Cambria"/>
                <a:ea typeface="DejaVu Sans"/>
              </a:rPr>
              <a:t>α</a:t>
            </a:r>
            <a:endParaRPr lang="en-US" sz="4400" b="0" u="none" strike="noStrike">
              <a:solidFill>
                <a:srgbClr val="000000"/>
              </a:solidFill>
              <a:effectLst/>
              <a:uFillTx/>
              <a:latin typeface="Arial"/>
            </a:endParaRPr>
          </a:p>
        </p:txBody>
      </p:sp>
      <p:sp>
        <p:nvSpPr>
          <p:cNvPr id="115" name="TextBox 5"/>
          <p:cNvSpPr/>
          <p:nvPr/>
        </p:nvSpPr>
        <p:spPr>
          <a:xfrm>
            <a:off x="549000" y="4645440"/>
            <a:ext cx="11090880" cy="2786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16" name="TextBox 6"/>
          <p:cNvSpPr/>
          <p:nvPr/>
        </p:nvSpPr>
        <p:spPr>
          <a:xfrm>
            <a:off x="549000" y="6474240"/>
            <a:ext cx="54856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17" name="TextBox 7"/>
          <p:cNvSpPr/>
          <p:nvPr/>
        </p:nvSpPr>
        <p:spPr>
          <a:xfrm>
            <a:off x="11094840" y="647424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19"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Interfaces και outputs</a:t>
            </a:r>
            <a:endParaRPr lang="en-US" sz="3000" b="0" u="none" strike="noStrike">
              <a:solidFill>
                <a:srgbClr val="000000"/>
              </a:solidFill>
              <a:effectLst/>
              <a:uFillTx/>
              <a:latin typeface="Arial"/>
            </a:endParaRPr>
          </a:p>
        </p:txBody>
      </p:sp>
      <p:sp>
        <p:nvSpPr>
          <p:cNvPr id="120"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8</a:t>
            </a:r>
            <a:endParaRPr lang="en-US" sz="900" b="0" u="none" strike="noStrike">
              <a:solidFill>
                <a:srgbClr val="000000"/>
              </a:solidFill>
              <a:effectLst/>
              <a:uFillTx/>
              <a:latin typeface="Arial"/>
            </a:endParaRPr>
          </a:p>
        </p:txBody>
      </p:sp>
      <p:sp>
        <p:nvSpPr>
          <p:cNvPr id="121" name="Rounded Rectangle 6"/>
          <p:cNvSpPr/>
          <p:nvPr/>
        </p:nvSpPr>
        <p:spPr>
          <a:xfrm>
            <a:off x="512640" y="245268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2" name="Rectangle 7"/>
          <p:cNvSpPr/>
          <p:nvPr/>
        </p:nvSpPr>
        <p:spPr>
          <a:xfrm>
            <a:off x="512640" y="245268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23" name="TextBox 8"/>
          <p:cNvSpPr/>
          <p:nvPr/>
        </p:nvSpPr>
        <p:spPr>
          <a:xfrm>
            <a:off x="768600" y="253512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API</a:t>
            </a:r>
            <a:endParaRPr lang="en-US" sz="1300" b="0" u="none" strike="noStrike">
              <a:solidFill>
                <a:srgbClr val="000000"/>
              </a:solidFill>
              <a:effectLst/>
              <a:uFillTx/>
              <a:latin typeface="Arial"/>
            </a:endParaRPr>
          </a:p>
        </p:txBody>
      </p:sp>
      <p:sp>
        <p:nvSpPr>
          <p:cNvPr id="124" name="TextBox 9"/>
          <p:cNvSpPr/>
          <p:nvPr/>
        </p:nvSpPr>
        <p:spPr>
          <a:xfrm>
            <a:off x="2615760" y="255348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Δέχεται τα αιτήματα</a:t>
            </a:r>
            <a:endParaRPr lang="en-US" sz="1200" b="0" u="none" strike="noStrike">
              <a:solidFill>
                <a:srgbClr val="000000"/>
              </a:solidFill>
              <a:effectLst/>
              <a:uFillTx/>
              <a:latin typeface="Arial"/>
            </a:endParaRPr>
          </a:p>
        </p:txBody>
      </p:sp>
      <p:sp>
        <p:nvSpPr>
          <p:cNvPr id="125" name="Rounded Rectangle 10"/>
          <p:cNvSpPr/>
          <p:nvPr/>
        </p:nvSpPr>
        <p:spPr>
          <a:xfrm>
            <a:off x="512640" y="312948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6" name="Rectangle 11"/>
          <p:cNvSpPr/>
          <p:nvPr/>
        </p:nvSpPr>
        <p:spPr>
          <a:xfrm>
            <a:off x="512640" y="312948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27" name="TextBox 12"/>
          <p:cNvSpPr/>
          <p:nvPr/>
        </p:nvSpPr>
        <p:spPr>
          <a:xfrm>
            <a:off x="768600" y="321156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Services</a:t>
            </a:r>
            <a:endParaRPr lang="en-US" sz="1300" b="0" u="none" strike="noStrike">
              <a:solidFill>
                <a:srgbClr val="000000"/>
              </a:solidFill>
              <a:effectLst/>
              <a:uFillTx/>
              <a:latin typeface="Arial"/>
            </a:endParaRPr>
          </a:p>
        </p:txBody>
      </p:sp>
      <p:sp>
        <p:nvSpPr>
          <p:cNvPr id="128" name="TextBox 13"/>
          <p:cNvSpPr/>
          <p:nvPr/>
        </p:nvSpPr>
        <p:spPr>
          <a:xfrm>
            <a:off x="2615760" y="322992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1200" b="0" u="none" strike="noStrike">
                <a:solidFill>
                  <a:srgbClr val="6B6259"/>
                </a:solidFill>
                <a:effectLst/>
                <a:uFillTx/>
                <a:latin typeface="Calibri"/>
                <a:ea typeface="DejaVu Sans"/>
              </a:rPr>
              <a:t>Επιχειρη</a:t>
            </a:r>
            <a:r>
              <a:rPr lang="en-US" sz="1200" b="0" u="none" strike="noStrike">
                <a:solidFill>
                  <a:srgbClr val="6B6259"/>
                </a:solidFill>
                <a:effectLst/>
                <a:uFillTx/>
                <a:latin typeface="Calibri"/>
                <a:ea typeface="DejaVu Sans"/>
              </a:rPr>
              <a:t>σιακή </a:t>
            </a:r>
            <a:r>
              <a:rPr lang="en-US" sz="1200" b="0" u="none" strike="noStrike">
                <a:solidFill>
                  <a:srgbClr val="6B6259"/>
                </a:solidFill>
                <a:effectLst/>
                <a:uFillTx/>
                <a:latin typeface="Calibri"/>
                <a:ea typeface="DejaVu Sans"/>
              </a:rPr>
              <a:t>λογική</a:t>
            </a:r>
            <a:endParaRPr lang="en-US" sz="1200" b="0" u="none" strike="noStrike">
              <a:solidFill>
                <a:srgbClr val="000000"/>
              </a:solidFill>
              <a:effectLst/>
              <a:uFillTx/>
              <a:latin typeface="Arial"/>
            </a:endParaRPr>
          </a:p>
        </p:txBody>
      </p:sp>
      <p:sp>
        <p:nvSpPr>
          <p:cNvPr id="129" name="Rounded Rectangle 14"/>
          <p:cNvSpPr/>
          <p:nvPr/>
        </p:nvSpPr>
        <p:spPr>
          <a:xfrm>
            <a:off x="512640" y="380592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0" name="Rectangle 15"/>
          <p:cNvSpPr/>
          <p:nvPr/>
        </p:nvSpPr>
        <p:spPr>
          <a:xfrm>
            <a:off x="512640" y="380592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31" name="TextBox 16"/>
          <p:cNvSpPr/>
          <p:nvPr/>
        </p:nvSpPr>
        <p:spPr>
          <a:xfrm>
            <a:off x="768600" y="388836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Repositories</a:t>
            </a:r>
            <a:endParaRPr lang="en-US" sz="1300" b="0" u="none" strike="noStrike">
              <a:solidFill>
                <a:srgbClr val="000000"/>
              </a:solidFill>
              <a:effectLst/>
              <a:uFillTx/>
              <a:latin typeface="Arial"/>
            </a:endParaRPr>
          </a:p>
        </p:txBody>
      </p:sp>
      <p:sp>
        <p:nvSpPr>
          <p:cNvPr id="132" name="TextBox 17"/>
          <p:cNvSpPr/>
          <p:nvPr/>
        </p:nvSpPr>
        <p:spPr>
          <a:xfrm>
            <a:off x="2615760" y="390672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SQL queries</a:t>
            </a:r>
            <a:endParaRPr lang="en-US" sz="1200" b="0" u="none" strike="noStrike">
              <a:solidFill>
                <a:srgbClr val="000000"/>
              </a:solidFill>
              <a:effectLst/>
              <a:uFillTx/>
              <a:latin typeface="Arial"/>
            </a:endParaRPr>
          </a:p>
        </p:txBody>
      </p:sp>
      <p:sp>
        <p:nvSpPr>
          <p:cNvPr id="133" name="Rounded Rectangle 18"/>
          <p:cNvSpPr/>
          <p:nvPr/>
        </p:nvSpPr>
        <p:spPr>
          <a:xfrm>
            <a:off x="512640" y="4482720"/>
            <a:ext cx="5348520" cy="5662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4" name="Rectangle 19"/>
          <p:cNvSpPr/>
          <p:nvPr/>
        </p:nvSpPr>
        <p:spPr>
          <a:xfrm>
            <a:off x="512640" y="4482720"/>
            <a:ext cx="81720" cy="566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41040" tIns="45000" rIns="41040" bIns="45000" anchor="ctr">
            <a:noAutofit/>
          </a:bodyPr>
          <a:p>
            <a:pPr/>
            <a:endParaRPr lang="en-US" sz="1800" b="0" u="none" strike="noStrike">
              <a:solidFill>
                <a:schemeClr val="lt1"/>
              </a:solidFill>
              <a:effectLst/>
              <a:uFillTx/>
              <a:latin typeface="Calibri"/>
            </a:endParaRPr>
          </a:p>
        </p:txBody>
      </p:sp>
      <p:sp>
        <p:nvSpPr>
          <p:cNvPr id="135" name="TextBox 20"/>
          <p:cNvSpPr/>
          <p:nvPr/>
        </p:nvSpPr>
        <p:spPr>
          <a:xfrm>
            <a:off x="768600" y="4565160"/>
            <a:ext cx="18280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PostgreSQL</a:t>
            </a:r>
            <a:endParaRPr lang="en-US" sz="1300" b="0" u="none" strike="noStrike">
              <a:solidFill>
                <a:srgbClr val="000000"/>
              </a:solidFill>
              <a:effectLst/>
              <a:uFillTx/>
              <a:latin typeface="Arial"/>
            </a:endParaRPr>
          </a:p>
        </p:txBody>
      </p:sp>
      <p:sp>
        <p:nvSpPr>
          <p:cNvPr id="136" name="TextBox 21"/>
          <p:cNvSpPr/>
          <p:nvPr/>
        </p:nvSpPr>
        <p:spPr>
          <a:xfrm>
            <a:off x="2615760" y="4583160"/>
            <a:ext cx="301680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Βάση δεδομένων</a:t>
            </a:r>
            <a:endParaRPr lang="en-US" sz="1200" b="0" u="none" strike="noStrike">
              <a:solidFill>
                <a:srgbClr val="000000"/>
              </a:solidFill>
              <a:effectLst/>
              <a:uFillTx/>
              <a:latin typeface="Arial"/>
            </a:endParaRPr>
          </a:p>
        </p:txBody>
      </p:sp>
      <p:sp>
        <p:nvSpPr>
          <p:cNvPr id="137" name="Rounded Rectangle 25"/>
          <p:cNvSpPr/>
          <p:nvPr/>
        </p:nvSpPr>
        <p:spPr>
          <a:xfrm>
            <a:off x="6291000" y="192852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8" name="TextBox 26"/>
          <p:cNvSpPr/>
          <p:nvPr/>
        </p:nvSpPr>
        <p:spPr>
          <a:xfrm>
            <a:off x="6519600" y="209304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REST API</a:t>
            </a:r>
            <a:endParaRPr lang="en-US" sz="1350" b="0" u="none" strike="noStrike">
              <a:solidFill>
                <a:srgbClr val="000000"/>
              </a:solidFill>
              <a:effectLst/>
              <a:uFillTx/>
              <a:latin typeface="Arial"/>
            </a:endParaRPr>
          </a:p>
        </p:txBody>
      </p:sp>
      <p:sp>
        <p:nvSpPr>
          <p:cNvPr id="139" name="TextBox 27"/>
          <p:cNvSpPr/>
          <p:nvPr/>
        </p:nvSpPr>
        <p:spPr>
          <a:xfrm>
            <a:off x="6519600" y="243144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JSON </a:t>
            </a:r>
            <a:r>
              <a:rPr lang="en-US" sz="1400" b="0" u="none" strike="noStrike">
                <a:solidFill>
                  <a:srgbClr val="241F1B"/>
                </a:solidFill>
                <a:effectLst/>
                <a:uFillTx/>
                <a:latin typeface="Calibri"/>
                <a:ea typeface="DejaVu Sans"/>
              </a:rPr>
              <a:t>respon</a:t>
            </a:r>
            <a:r>
              <a:rPr lang="en-US" sz="1400" b="0" u="none" strike="noStrike">
                <a:solidFill>
                  <a:srgbClr val="241F1B"/>
                </a:solidFill>
                <a:effectLst/>
                <a:uFillTx/>
                <a:latin typeface="Calibri"/>
                <a:ea typeface="DejaVu Sans"/>
              </a:rPr>
              <a:t>se with </a:t>
            </a:r>
            <a:r>
              <a:rPr lang="en-US" sz="1400" b="0" u="none" strike="noStrike">
                <a:solidFill>
                  <a:srgbClr val="241F1B"/>
                </a:solidFill>
                <a:effectLst/>
                <a:uFillTx/>
                <a:latin typeface="Calibri"/>
                <a:ea typeface="DejaVu Sans"/>
              </a:rPr>
              <a:t>version</a:t>
            </a:r>
            <a:r>
              <a:rPr lang="en-US" sz="1400" b="0" u="none" strike="noStrike">
                <a:solidFill>
                  <a:srgbClr val="241F1B"/>
                </a:solidFill>
                <a:effectLst/>
                <a:uFillTx/>
                <a:latin typeface="Calibri"/>
                <a:ea typeface="DejaVu Sans"/>
              </a:rPr>
              <a:t>ing</a:t>
            </a:r>
            <a:endParaRPr lang="en-US" sz="1400" b="0" u="none" strike="noStrike">
              <a:solidFill>
                <a:srgbClr val="000000"/>
              </a:solidFill>
              <a:effectLst/>
              <a:uFillTx/>
              <a:latin typeface="Arial"/>
            </a:endParaRPr>
          </a:p>
        </p:txBody>
      </p:sp>
      <p:sp>
        <p:nvSpPr>
          <p:cNvPr id="140" name="Rounded Rectangle 28"/>
          <p:cNvSpPr/>
          <p:nvPr/>
        </p:nvSpPr>
        <p:spPr>
          <a:xfrm>
            <a:off x="6291000" y="316296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1" name="TextBox 29"/>
          <p:cNvSpPr/>
          <p:nvPr/>
        </p:nvSpPr>
        <p:spPr>
          <a:xfrm>
            <a:off x="6519600" y="332748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METABASE</a:t>
            </a:r>
            <a:endParaRPr lang="en-US" sz="1350" b="0" u="none" strike="noStrike">
              <a:solidFill>
                <a:srgbClr val="000000"/>
              </a:solidFill>
              <a:effectLst/>
              <a:uFillTx/>
              <a:latin typeface="Arial"/>
            </a:endParaRPr>
          </a:p>
        </p:txBody>
      </p:sp>
      <p:sp>
        <p:nvSpPr>
          <p:cNvPr id="142" name="TextBox 30"/>
          <p:cNvSpPr/>
          <p:nvPr/>
        </p:nvSpPr>
        <p:spPr>
          <a:xfrm>
            <a:off x="6519600" y="366588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Έτοιμοι πίνακες με στατιστικά και αναλύσεις</a:t>
            </a:r>
            <a:endParaRPr lang="en-US" sz="1400" b="0" u="none" strike="noStrike">
              <a:solidFill>
                <a:srgbClr val="000000"/>
              </a:solidFill>
              <a:effectLst/>
              <a:uFillTx/>
              <a:latin typeface="Arial"/>
            </a:endParaRPr>
          </a:p>
        </p:txBody>
      </p:sp>
      <p:sp>
        <p:nvSpPr>
          <p:cNvPr id="143" name="Rounded Rectangle 31"/>
          <p:cNvSpPr/>
          <p:nvPr/>
        </p:nvSpPr>
        <p:spPr>
          <a:xfrm>
            <a:off x="6291000" y="439740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4" name="TextBox 32"/>
          <p:cNvSpPr/>
          <p:nvPr/>
        </p:nvSpPr>
        <p:spPr>
          <a:xfrm>
            <a:off x="6519600" y="456192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JUP</a:t>
            </a:r>
            <a:r>
              <a:rPr lang="en-US" sz="1350" b="1" u="none" strike="noStrike">
                <a:solidFill>
                  <a:srgbClr val="2C5530"/>
                </a:solidFill>
                <a:effectLst/>
                <a:uFillTx/>
                <a:latin typeface="Cambria"/>
                <a:ea typeface="DejaVu Sans"/>
              </a:rPr>
              <a:t>YT</a:t>
            </a:r>
            <a:r>
              <a:rPr lang="en-US" sz="1350" b="1" u="none" strike="noStrike">
                <a:solidFill>
                  <a:srgbClr val="2C5530"/>
                </a:solidFill>
                <a:effectLst/>
                <a:uFillTx/>
                <a:latin typeface="Cambria"/>
                <a:ea typeface="DejaVu Sans"/>
              </a:rPr>
              <a:t>ER</a:t>
            </a:r>
            <a:endParaRPr lang="en-US" sz="1350" b="0" u="none" strike="noStrike">
              <a:solidFill>
                <a:srgbClr val="000000"/>
              </a:solidFill>
              <a:effectLst/>
              <a:uFillTx/>
              <a:latin typeface="Arial"/>
            </a:endParaRPr>
          </a:p>
        </p:txBody>
      </p:sp>
      <p:sp>
        <p:nvSpPr>
          <p:cNvPr id="145" name="TextBox 33"/>
          <p:cNvSpPr/>
          <p:nvPr/>
        </p:nvSpPr>
        <p:spPr>
          <a:xfrm>
            <a:off x="6519600" y="490032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Τα διαγράμματα της διπλωματικής</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47"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Τρόποι εισαγωγής δεδομένων</a:t>
            </a:r>
            <a:endParaRPr lang="en-US" sz="3000" b="0" u="none" strike="noStrike">
              <a:solidFill>
                <a:srgbClr val="000000"/>
              </a:solidFill>
              <a:effectLst/>
              <a:uFillTx/>
              <a:latin typeface="Arial"/>
            </a:endParaRPr>
          </a:p>
        </p:txBody>
      </p:sp>
      <p:sp>
        <p:nvSpPr>
          <p:cNvPr id="14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9</a:t>
            </a:r>
            <a:endParaRPr lang="en-US" sz="900" b="0" u="none" strike="noStrike">
              <a:solidFill>
                <a:srgbClr val="000000"/>
              </a:solidFill>
              <a:effectLst/>
              <a:uFillTx/>
              <a:latin typeface="Arial"/>
            </a:endParaRPr>
          </a:p>
        </p:txBody>
      </p:sp>
      <p:sp>
        <p:nvSpPr>
          <p:cNvPr id="149" name="Rectangle 6"/>
          <p:cNvSpPr/>
          <p:nvPr/>
        </p:nvSpPr>
        <p:spPr>
          <a:xfrm>
            <a:off x="5715000" y="3312360"/>
            <a:ext cx="408024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0" name="TextBox 7"/>
          <p:cNvSpPr/>
          <p:nvPr/>
        </p:nvSpPr>
        <p:spPr>
          <a:xfrm>
            <a:off x="5806440" y="3394440"/>
            <a:ext cx="23839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 Επιλογές</a:t>
            </a:r>
            <a:endParaRPr lang="en-US" sz="1200" b="0" u="none" strike="noStrike">
              <a:solidFill>
                <a:srgbClr val="000000"/>
              </a:solidFill>
              <a:effectLst/>
              <a:uFillTx/>
              <a:latin typeface="Arial"/>
            </a:endParaRPr>
          </a:p>
        </p:txBody>
      </p:sp>
      <p:sp>
        <p:nvSpPr>
          <p:cNvPr id="151" name="TextBox 8"/>
          <p:cNvSpPr/>
          <p:nvPr/>
        </p:nvSpPr>
        <p:spPr>
          <a:xfrm>
            <a:off x="8373960" y="3394440"/>
            <a:ext cx="14212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Παραμετροποίση</a:t>
            </a:r>
            <a:endParaRPr lang="en-US" sz="1200" b="0" u="none" strike="noStrike">
              <a:solidFill>
                <a:srgbClr val="000000"/>
              </a:solidFill>
              <a:effectLst/>
              <a:uFillTx/>
              <a:latin typeface="Arial"/>
            </a:endParaRPr>
          </a:p>
        </p:txBody>
      </p:sp>
      <p:sp>
        <p:nvSpPr>
          <p:cNvPr id="152" name="TextBox 10"/>
          <p:cNvSpPr/>
          <p:nvPr/>
        </p:nvSpPr>
        <p:spPr>
          <a:xfrm>
            <a:off x="5806440" y="3751200"/>
            <a:ext cx="23839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Batch API requests</a:t>
            </a:r>
            <a:endParaRPr lang="en-US" sz="1250" b="0" u="none" strike="noStrike">
              <a:solidFill>
                <a:srgbClr val="000000"/>
              </a:solidFill>
              <a:effectLst/>
              <a:uFillTx/>
              <a:latin typeface="Arial"/>
            </a:endParaRPr>
          </a:p>
        </p:txBody>
      </p:sp>
      <p:sp>
        <p:nvSpPr>
          <p:cNvPr id="153" name="TextBox 11"/>
          <p:cNvSpPr/>
          <p:nvPr/>
        </p:nvSpPr>
        <p:spPr>
          <a:xfrm>
            <a:off x="8373960" y="375120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Όχι</a:t>
            </a:r>
            <a:endParaRPr lang="en-US" sz="1250" b="0" u="none" strike="noStrike">
              <a:solidFill>
                <a:srgbClr val="000000"/>
              </a:solidFill>
              <a:effectLst/>
              <a:uFillTx/>
              <a:latin typeface="Arial"/>
            </a:endParaRPr>
          </a:p>
        </p:txBody>
      </p:sp>
      <p:sp>
        <p:nvSpPr>
          <p:cNvPr id="154" name="TextBox 14"/>
          <p:cNvSpPr/>
          <p:nvPr/>
        </p:nvSpPr>
        <p:spPr>
          <a:xfrm>
            <a:off x="5806440" y="4116960"/>
            <a:ext cx="2383920" cy="232200"/>
          </a:xfrm>
          <a:prstGeom prst="rect">
            <a:avLst/>
          </a:prstGeom>
          <a:solidFill>
            <a:srgbClr val="FFFFFF"/>
          </a:solid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Database Reads</a:t>
            </a:r>
            <a:endParaRPr lang="en-US" sz="1250" b="0" u="none" strike="noStrike">
              <a:solidFill>
                <a:srgbClr val="000000"/>
              </a:solidFill>
              <a:effectLst/>
              <a:uFillTx/>
              <a:latin typeface="Arial"/>
            </a:endParaRPr>
          </a:p>
        </p:txBody>
      </p:sp>
      <p:sp>
        <p:nvSpPr>
          <p:cNvPr id="155" name="TextBox 15"/>
          <p:cNvSpPr/>
          <p:nvPr/>
        </p:nvSpPr>
        <p:spPr>
          <a:xfrm>
            <a:off x="8373960" y="4116960"/>
            <a:ext cx="1421280" cy="232200"/>
          </a:xfrm>
          <a:prstGeom prst="rect">
            <a:avLst/>
          </a:prstGeom>
          <a:solidFill>
            <a:srgbClr val="FFFFFF"/>
          </a:solid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Όχι</a:t>
            </a:r>
            <a:endParaRPr lang="en-US" sz="1250" b="0" u="none" strike="noStrike">
              <a:solidFill>
                <a:srgbClr val="000000"/>
              </a:solidFill>
              <a:effectLst/>
              <a:uFillTx/>
              <a:latin typeface="Arial"/>
            </a:endParaRPr>
          </a:p>
        </p:txBody>
      </p:sp>
      <p:sp>
        <p:nvSpPr>
          <p:cNvPr id="156" name="TextBox 17"/>
          <p:cNvSpPr/>
          <p:nvPr/>
        </p:nvSpPr>
        <p:spPr>
          <a:xfrm>
            <a:off x="5806440" y="4482720"/>
            <a:ext cx="23839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Export Αρχείο</a:t>
            </a:r>
            <a:endParaRPr lang="en-US" sz="1250" b="0" u="none" strike="noStrike">
              <a:solidFill>
                <a:srgbClr val="000000"/>
              </a:solidFill>
              <a:effectLst/>
              <a:uFillTx/>
              <a:latin typeface="Arial"/>
            </a:endParaRPr>
          </a:p>
        </p:txBody>
      </p:sp>
      <p:sp>
        <p:nvSpPr>
          <p:cNvPr id="157" name="TextBox 18"/>
          <p:cNvSpPr/>
          <p:nvPr/>
        </p:nvSpPr>
        <p:spPr>
          <a:xfrm>
            <a:off x="8373960" y="448272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Ναι</a:t>
            </a:r>
            <a:endParaRPr lang="en-US" sz="1250" b="0" u="none" strike="noStrike">
              <a:solidFill>
                <a:srgbClr val="000000"/>
              </a:solidFill>
              <a:effectLst/>
              <a:uFillTx/>
              <a:latin typeface="Arial"/>
            </a:endParaRPr>
          </a:p>
        </p:txBody>
      </p:sp>
      <p:sp>
        <p:nvSpPr>
          <p:cNvPr id="158" name="TextBox 23"/>
          <p:cNvSpPr/>
          <p:nvPr/>
        </p:nvSpPr>
        <p:spPr>
          <a:xfrm>
            <a:off x="457200" y="2057400"/>
            <a:ext cx="5348520" cy="2970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600" b="1" u="none" strike="noStrike">
                <a:solidFill>
                  <a:srgbClr val="E8A33D"/>
                </a:solidFill>
                <a:effectLst/>
                <a:uFillTx/>
                <a:latin typeface="Calibri"/>
                <a:ea typeface="DejaVu Sans"/>
              </a:rPr>
              <a:t>6 ΣΤΑΘΕΡΕΣ </a:t>
            </a:r>
            <a:r>
              <a:rPr lang="en-US" sz="1600" b="1" u="none" strike="noStrike">
                <a:solidFill>
                  <a:srgbClr val="E8A33D"/>
                </a:solidFill>
                <a:effectLst/>
                <a:uFillTx/>
                <a:latin typeface="Calibri"/>
                <a:ea typeface="DejaVu Sans"/>
              </a:rPr>
              <a:t>ΕΝΝΟΙΕΣ </a:t>
            </a:r>
            <a:r>
              <a:rPr lang="en-US" sz="1600" b="1" u="none" strike="noStrike">
                <a:solidFill>
                  <a:srgbClr val="E8A33D"/>
                </a:solidFill>
                <a:effectLst/>
                <a:uFillTx/>
                <a:latin typeface="Calibri"/>
                <a:ea typeface="DejaVu Sans"/>
              </a:rPr>
              <a:t>ΓΙΑ ΚΑΘΕ </a:t>
            </a:r>
            <a:r>
              <a:rPr lang="en-US" sz="1600" b="1" u="none" strike="noStrike">
                <a:solidFill>
                  <a:srgbClr val="E8A33D"/>
                </a:solidFill>
                <a:effectLst/>
                <a:uFillTx/>
                <a:latin typeface="Calibri"/>
                <a:ea typeface="DejaVu Sans"/>
              </a:rPr>
              <a:t>ΕΠΙΧΕΙΡΗΣ</a:t>
            </a:r>
            <a:r>
              <a:rPr lang="en-US" sz="1600" b="1" u="none" strike="noStrike">
                <a:solidFill>
                  <a:srgbClr val="E8A33D"/>
                </a:solidFill>
                <a:effectLst/>
                <a:uFillTx/>
                <a:latin typeface="Calibri"/>
                <a:ea typeface="DejaVu Sans"/>
              </a:rPr>
              <a:t>Η</a:t>
            </a:r>
            <a:endParaRPr lang="en-US" sz="1600" b="0" u="none" strike="noStrike">
              <a:solidFill>
                <a:srgbClr val="000000"/>
              </a:solidFill>
              <a:effectLst/>
              <a:uFillTx/>
              <a:latin typeface="Arial"/>
            </a:endParaRPr>
          </a:p>
        </p:txBody>
      </p:sp>
      <p:sp>
        <p:nvSpPr>
          <p:cNvPr id="159" name="Rounded Rectangle 24"/>
          <p:cNvSpPr/>
          <p:nvPr/>
        </p:nvSpPr>
        <p:spPr>
          <a:xfrm>
            <a:off x="914400" y="251460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0" name="TextBox 25"/>
          <p:cNvSpPr/>
          <p:nvPr/>
        </p:nvSpPr>
        <p:spPr>
          <a:xfrm>
            <a:off x="914400" y="2606040"/>
            <a:ext cx="2610000" cy="2228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Πελάτης</a:t>
            </a:r>
            <a:endParaRPr lang="en-US" sz="1200" b="0" u="none" strike="noStrike">
              <a:solidFill>
                <a:srgbClr val="000000"/>
              </a:solidFill>
              <a:effectLst/>
              <a:uFillTx/>
              <a:latin typeface="Arial"/>
            </a:endParaRPr>
          </a:p>
        </p:txBody>
      </p:sp>
      <p:sp>
        <p:nvSpPr>
          <p:cNvPr id="161" name="TextBox 37"/>
          <p:cNvSpPr/>
          <p:nvPr/>
        </p:nvSpPr>
        <p:spPr>
          <a:xfrm>
            <a:off x="6291000" y="301716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FFFFFF"/>
                </a:solidFill>
                <a:effectLst/>
                <a:uFillTx/>
                <a:latin typeface="Cambria"/>
                <a:ea typeface="DejaVu Sans"/>
              </a:rPr>
              <a:t>Η ΑΠΟΔΕΙΞΗ</a:t>
            </a:r>
            <a:endParaRPr lang="en-US" sz="1350" b="0" u="none" strike="noStrike">
              <a:solidFill>
                <a:srgbClr val="000000"/>
              </a:solidFill>
              <a:effectLst/>
              <a:uFillTx/>
              <a:latin typeface="Arial"/>
            </a:endParaRPr>
          </a:p>
        </p:txBody>
      </p:sp>
      <p:sp>
        <p:nvSpPr>
          <p:cNvPr id="162" name="Rounded Rectangle 1"/>
          <p:cNvSpPr/>
          <p:nvPr/>
        </p:nvSpPr>
        <p:spPr>
          <a:xfrm>
            <a:off x="914400" y="304524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3" name="TextBox 25"/>
          <p:cNvSpPr/>
          <p:nvPr/>
        </p:nvSpPr>
        <p:spPr>
          <a:xfrm>
            <a:off x="914400" y="313668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Προ</a:t>
            </a:r>
            <a:r>
              <a:rPr lang="en-US" sz="1200" b="1" u="none" strike="noStrike">
                <a:solidFill>
                  <a:srgbClr val="2C5530"/>
                </a:solidFill>
                <a:effectLst/>
                <a:uFillTx/>
                <a:latin typeface="Calibri"/>
                <a:ea typeface="DejaVu Sans"/>
              </a:rPr>
              <a:t>ϊόν</a:t>
            </a:r>
            <a:endParaRPr lang="en-US" sz="1200" b="0" u="none" strike="noStrike">
              <a:solidFill>
                <a:srgbClr val="000000"/>
              </a:solidFill>
              <a:effectLst/>
              <a:uFillTx/>
              <a:latin typeface="Arial"/>
            </a:endParaRPr>
          </a:p>
        </p:txBody>
      </p:sp>
      <p:sp>
        <p:nvSpPr>
          <p:cNvPr id="164" name="Rounded Rectangle 2"/>
          <p:cNvSpPr/>
          <p:nvPr/>
        </p:nvSpPr>
        <p:spPr>
          <a:xfrm>
            <a:off x="914400" y="365760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5" name="TextBox 25"/>
          <p:cNvSpPr/>
          <p:nvPr/>
        </p:nvSpPr>
        <p:spPr>
          <a:xfrm>
            <a:off x="914400" y="374904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Περιοχή</a:t>
            </a:r>
            <a:endParaRPr lang="en-US" sz="1200" b="0" u="none" strike="noStrike">
              <a:solidFill>
                <a:srgbClr val="000000"/>
              </a:solidFill>
              <a:effectLst/>
              <a:uFillTx/>
              <a:latin typeface="Arial"/>
            </a:endParaRPr>
          </a:p>
        </p:txBody>
      </p:sp>
      <p:sp>
        <p:nvSpPr>
          <p:cNvPr id="166" name="Rounded Rectangle 3"/>
          <p:cNvSpPr/>
          <p:nvPr/>
        </p:nvSpPr>
        <p:spPr>
          <a:xfrm>
            <a:off x="914400" y="418824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7" name="TextBox 25"/>
          <p:cNvSpPr/>
          <p:nvPr/>
        </p:nvSpPr>
        <p:spPr>
          <a:xfrm>
            <a:off x="914400" y="427968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Παραγγελία</a:t>
            </a:r>
            <a:endParaRPr lang="en-US" sz="1200" b="0" u="none" strike="noStrike">
              <a:solidFill>
                <a:srgbClr val="000000"/>
              </a:solidFill>
              <a:effectLst/>
              <a:uFillTx/>
              <a:latin typeface="Arial"/>
            </a:endParaRPr>
          </a:p>
        </p:txBody>
      </p:sp>
      <p:sp>
        <p:nvSpPr>
          <p:cNvPr id="168" name="Rounded Rectangle 4"/>
          <p:cNvSpPr/>
          <p:nvPr/>
        </p:nvSpPr>
        <p:spPr>
          <a:xfrm>
            <a:off x="914400" y="480060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9" name="TextBox 25"/>
          <p:cNvSpPr/>
          <p:nvPr/>
        </p:nvSpPr>
        <p:spPr>
          <a:xfrm>
            <a:off x="914400" y="489204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Γραμμή Παραγγελίας</a:t>
            </a:r>
            <a:endParaRPr lang="en-US" sz="1200" b="0" u="none" strike="noStrike">
              <a:solidFill>
                <a:srgbClr val="000000"/>
              </a:solidFill>
              <a:effectLst/>
              <a:uFillTx/>
              <a:latin typeface="Arial"/>
            </a:endParaRPr>
          </a:p>
        </p:txBody>
      </p:sp>
      <p:sp>
        <p:nvSpPr>
          <p:cNvPr id="170" name="Rounded Rectangle 8"/>
          <p:cNvSpPr/>
          <p:nvPr/>
        </p:nvSpPr>
        <p:spPr>
          <a:xfrm>
            <a:off x="914400" y="5331240"/>
            <a:ext cx="2610000" cy="383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1" name="TextBox 25"/>
          <p:cNvSpPr/>
          <p:nvPr/>
        </p:nvSpPr>
        <p:spPr>
          <a:xfrm>
            <a:off x="914400" y="5422680"/>
            <a:ext cx="2610000" cy="22284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Επιστροφή</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73"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API Responses</a:t>
            </a:r>
            <a:endParaRPr lang="en-US" sz="3000" b="0" u="none" strike="noStrike">
              <a:solidFill>
                <a:srgbClr val="000000"/>
              </a:solidFill>
              <a:effectLst/>
              <a:uFillTx/>
              <a:latin typeface="Arial"/>
            </a:endParaRPr>
          </a:p>
        </p:txBody>
      </p:sp>
      <p:sp>
        <p:nvSpPr>
          <p:cNvPr id="174"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10</a:t>
            </a:r>
            <a:endParaRPr lang="en-US" sz="900" b="0" u="none" strike="noStrike">
              <a:solidFill>
                <a:srgbClr val="000000"/>
              </a:solidFill>
              <a:effectLst/>
              <a:uFillTx/>
              <a:latin typeface="Arial"/>
            </a:endParaRPr>
          </a:p>
        </p:txBody>
      </p:sp>
      <p:sp>
        <p:nvSpPr>
          <p:cNvPr id="175" name="TextBox 5"/>
          <p:cNvSpPr/>
          <p:nvPr/>
        </p:nvSpPr>
        <p:spPr>
          <a:xfrm>
            <a:off x="548640" y="6157080"/>
            <a:ext cx="1109088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endParaRPr lang="en-US" sz="1800" b="0" u="none" strike="noStrike">
              <a:solidFill>
                <a:srgbClr val="000000"/>
              </a:solidFill>
              <a:effectLst/>
              <a:uFillTx/>
              <a:latin typeface="Arial"/>
            </a:endParaRPr>
          </a:p>
        </p:txBody>
      </p:sp>
      <p:sp>
        <p:nvSpPr>
          <p:cNvPr id="176" name="TextBox 6"/>
          <p:cNvSpPr/>
          <p:nvPr/>
        </p:nvSpPr>
        <p:spPr>
          <a:xfrm>
            <a:off x="548640" y="209520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onsolas"/>
                <a:ea typeface="DejaVu Sans"/>
              </a:rPr>
              <a:t>GET /api/v1/forecasting/revenue?horizon=3</a:t>
            </a:r>
            <a:endParaRPr lang="en-US" sz="1150" b="0" u="none" strike="noStrike">
              <a:solidFill>
                <a:srgbClr val="000000"/>
              </a:solidFill>
              <a:effectLst/>
              <a:uFillTx/>
              <a:latin typeface="Arial"/>
            </a:endParaRPr>
          </a:p>
        </p:txBody>
      </p:sp>
      <p:sp>
        <p:nvSpPr>
          <p:cNvPr id="177" name="Rectangle 7"/>
          <p:cNvSpPr/>
          <p:nvPr/>
        </p:nvSpPr>
        <p:spPr>
          <a:xfrm>
            <a:off x="548640" y="2442600"/>
            <a:ext cx="5348520" cy="281520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8" name="TextBox 8"/>
          <p:cNvSpPr/>
          <p:nvPr/>
        </p:nvSpPr>
        <p:spPr>
          <a:xfrm>
            <a:off x="694800" y="2570760"/>
            <a:ext cx="5055840" cy="2565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"method": "exponential_smoothing",</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"horizon": 3,</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"history_length": 25,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"forecast":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587222.83, 502905.56, 671261.41</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"metrics":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"mean_absolute_percentage_error": 51.12</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"skill_score": -0.21</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p:txBody>
      </p:sp>
      <p:sp>
        <p:nvSpPr>
          <p:cNvPr id="179" name="TextBox 10"/>
          <p:cNvSpPr/>
          <p:nvPr/>
        </p:nvSpPr>
        <p:spPr>
          <a:xfrm>
            <a:off x="6291000" y="209520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onsolas"/>
                <a:ea typeface="DejaVu Sans"/>
              </a:rPr>
              <a:t>GET </a:t>
            </a:r>
            <a:r>
              <a:rPr lang="en-US" sz="1150" b="1" u="none" strike="noStrike">
                <a:solidFill>
                  <a:srgbClr val="E8A33D"/>
                </a:solidFill>
                <a:effectLst/>
                <a:uFillTx/>
                <a:latin typeface="Consolas"/>
                <a:ea typeface="DejaVu Sans"/>
              </a:rPr>
              <a:t>/api/v1/prof</a:t>
            </a:r>
            <a:r>
              <a:rPr lang="en-US" sz="1150" b="1" u="none" strike="noStrike">
                <a:solidFill>
                  <a:srgbClr val="E8A33D"/>
                </a:solidFill>
                <a:effectLst/>
                <a:uFillTx/>
                <a:latin typeface="Consolas"/>
                <a:ea typeface="DejaVu Sans"/>
              </a:rPr>
              <a:t>itability/un</a:t>
            </a:r>
            <a:r>
              <a:rPr lang="en-US" sz="1150" b="1" u="none" strike="noStrike">
                <a:solidFill>
                  <a:srgbClr val="E8A33D"/>
                </a:solidFill>
                <a:effectLst/>
                <a:uFillTx/>
                <a:latin typeface="Consolas"/>
                <a:ea typeface="DejaVu Sans"/>
              </a:rPr>
              <a:t>it-economics</a:t>
            </a:r>
            <a:endParaRPr lang="en-US" sz="1150" b="0" u="none" strike="noStrike">
              <a:solidFill>
                <a:srgbClr val="000000"/>
              </a:solidFill>
              <a:effectLst/>
              <a:uFillTx/>
              <a:latin typeface="Arial"/>
            </a:endParaRPr>
          </a:p>
        </p:txBody>
      </p:sp>
      <p:sp>
        <p:nvSpPr>
          <p:cNvPr id="180" name="Rectangle 11"/>
          <p:cNvSpPr/>
          <p:nvPr/>
        </p:nvSpPr>
        <p:spPr>
          <a:xfrm>
            <a:off x="6291000" y="2442600"/>
            <a:ext cx="5348520" cy="281520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1" name="TextBox 12"/>
          <p:cNvSpPr/>
          <p:nvPr/>
        </p:nvSpPr>
        <p:spPr>
          <a:xfrm>
            <a:off x="6437520" y="2570760"/>
            <a:ext cx="5055840" cy="2565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"average_customer_revenue": 2895.0,</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"lifetime_value": 1447.5,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"assumptions":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"gross_margin": 0.5,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"customer_acquisition_cost": 0.0</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"disclaimer":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Scenario output, not a </a:t>
            </a:r>
            <a:r>
              <a:rPr lang="en-US" sz="1150" b="0" u="none" strike="noStrike">
                <a:solidFill>
                  <a:srgbClr val="241F1B"/>
                </a:solidFill>
                <a:effectLst/>
                <a:uFillTx/>
                <a:latin typeface="Consolas"/>
                <a:ea typeface="DejaVu Sans"/>
              </a:rPr>
              <a:t>measurement.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The source data contains </a:t>
            </a:r>
            <a:r>
              <a:rPr lang="en-US" sz="1150" b="0" u="none" strike="noStrike">
                <a:solidFill>
                  <a:srgbClr val="241F1B"/>
                </a:solidFill>
                <a:effectLst/>
                <a:uFillTx/>
                <a:latin typeface="Consolas"/>
                <a:ea typeface="DejaVu Sans"/>
              </a:rPr>
              <a:t>no cost of goods</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and no marketing spend."</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83"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Me</a:t>
            </a:r>
            <a:r>
              <a:rPr lang="en-US" sz="3000" b="1" u="none" strike="noStrike">
                <a:solidFill>
                  <a:srgbClr val="2C5530"/>
                </a:solidFill>
                <a:effectLst/>
                <a:uFillTx/>
                <a:latin typeface="Cambria"/>
                <a:ea typeface="DejaVu Sans"/>
              </a:rPr>
              <a:t>ta</a:t>
            </a:r>
            <a:r>
              <a:rPr lang="en-US" sz="3000" b="1" u="none" strike="noStrike">
                <a:solidFill>
                  <a:srgbClr val="2C5530"/>
                </a:solidFill>
                <a:effectLst/>
                <a:uFillTx/>
                <a:latin typeface="Cambria"/>
                <a:ea typeface="DejaVu Sans"/>
              </a:rPr>
              <a:t>ba</a:t>
            </a:r>
            <a:r>
              <a:rPr lang="en-US" sz="3000" b="1" u="none" strike="noStrike">
                <a:solidFill>
                  <a:srgbClr val="2C5530"/>
                </a:solidFill>
                <a:effectLst/>
                <a:uFillTx/>
                <a:latin typeface="Cambria"/>
                <a:ea typeface="DejaVu Sans"/>
              </a:rPr>
              <a:t>se</a:t>
            </a:r>
            <a:endParaRPr lang="en-US" sz="3000" b="0" u="none" strike="noStrike">
              <a:solidFill>
                <a:srgbClr val="000000"/>
              </a:solidFill>
              <a:effectLst/>
              <a:uFillTx/>
              <a:latin typeface="Arial"/>
            </a:endParaRPr>
          </a:p>
        </p:txBody>
      </p:sp>
      <p:sp>
        <p:nvSpPr>
          <p:cNvPr id="184"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11</a:t>
            </a:r>
            <a:endParaRPr lang="en-US" sz="900" b="0" u="none" strike="noStrike">
              <a:solidFill>
                <a:srgbClr val="000000"/>
              </a:solidFill>
              <a:effectLst/>
              <a:uFillTx/>
              <a:latin typeface="Arial"/>
            </a:endParaRPr>
          </a:p>
        </p:txBody>
      </p:sp>
      <p:pic>
        <p:nvPicPr>
          <p:cNvPr id="185" name="Picture 6" descr="metabase-dashboard.jpg"/>
          <p:cNvPicPr/>
          <p:nvPr/>
        </p:nvPicPr>
        <p:blipFill>
          <a:blip r:embed="rId1"/>
          <a:stretch/>
        </p:blipFill>
        <p:spPr>
          <a:xfrm>
            <a:off x="457200" y="1691640"/>
            <a:ext cx="5348520" cy="2651760"/>
          </a:xfrm>
          <a:prstGeom prst="rect">
            <a:avLst/>
          </a:prstGeom>
          <a:noFill/>
          <a:ln w="0">
            <a:noFill/>
          </a:ln>
        </p:spPr>
      </p:pic>
      <p:pic>
        <p:nvPicPr>
          <p:cNvPr id="186" name="Picture 9" descr="metabase-association-rules.jpg"/>
          <p:cNvPicPr/>
          <p:nvPr/>
        </p:nvPicPr>
        <p:blipFill>
          <a:blip r:embed="rId2"/>
          <a:stretch/>
        </p:blipFill>
        <p:spPr>
          <a:xfrm>
            <a:off x="6298560" y="3589560"/>
            <a:ext cx="5131440" cy="25826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Rectangle 1"/>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8" name="TextBox 2"/>
          <p:cNvSpPr/>
          <p:nvPr/>
        </p:nvSpPr>
        <p:spPr>
          <a:xfrm>
            <a:off x="548640" y="1600200"/>
            <a:ext cx="11090880" cy="17848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600" b="1" u="none" strike="noStrike">
                <a:solidFill>
                  <a:srgbClr val="3E6E43"/>
                </a:solidFill>
                <a:effectLst/>
                <a:uFillTx/>
                <a:latin typeface="Cambria"/>
                <a:ea typeface="DejaVu Sans"/>
              </a:rPr>
              <a:t>03</a:t>
            </a:r>
            <a:endParaRPr lang="en-US" sz="9600" b="0" u="none" strike="noStrike">
              <a:solidFill>
                <a:srgbClr val="000000"/>
              </a:solidFill>
              <a:effectLst/>
              <a:uFillTx/>
              <a:latin typeface="Arial"/>
            </a:endParaRPr>
          </a:p>
        </p:txBody>
      </p:sp>
      <p:sp>
        <p:nvSpPr>
          <p:cNvPr id="189" name="TextBox 3"/>
          <p:cNvSpPr/>
          <p:nvPr/>
        </p:nvSpPr>
        <p:spPr>
          <a:xfrm>
            <a:off x="548640" y="3474720"/>
            <a:ext cx="110908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E8A33D"/>
                </a:solidFill>
                <a:effectLst/>
                <a:uFillTx/>
                <a:latin typeface="Calibri"/>
                <a:ea typeface="DejaVu Sans"/>
              </a:rPr>
              <a:t>ΕΝΟΤΗΤΑ</a:t>
            </a:r>
            <a:endParaRPr lang="en-US" sz="1300" b="0" u="none" strike="noStrike">
              <a:solidFill>
                <a:srgbClr val="000000"/>
              </a:solidFill>
              <a:effectLst/>
              <a:uFillTx/>
              <a:latin typeface="Arial"/>
            </a:endParaRPr>
          </a:p>
        </p:txBody>
      </p:sp>
      <p:sp>
        <p:nvSpPr>
          <p:cNvPr id="190"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Τα ευρήματα</a:t>
            </a:r>
            <a:endParaRPr lang="en-US" sz="4400" b="0" u="none" strike="noStrike">
              <a:solidFill>
                <a:srgbClr val="000000"/>
              </a:solidFill>
              <a:effectLst/>
              <a:uFillTx/>
              <a:latin typeface="Arial"/>
            </a:endParaRPr>
          </a:p>
        </p:txBody>
      </p:sp>
      <p:sp>
        <p:nvSpPr>
          <p:cNvPr id="191"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500" b="0" u="none" strike="noStrike">
                <a:solidFill>
                  <a:srgbClr val="D7E5D2"/>
                </a:solidFill>
                <a:effectLst/>
                <a:uFillTx/>
                <a:latin typeface="Calibri"/>
                <a:ea typeface="DejaVu Sans"/>
              </a:rPr>
              <a:t>Τι βγήκε από ένα </a:t>
            </a:r>
            <a:r>
              <a:rPr lang="en-US" sz="1500" b="0" u="none" strike="noStrike">
                <a:solidFill>
                  <a:srgbClr val="D7E5D2"/>
                </a:solidFill>
                <a:effectLst/>
                <a:uFillTx/>
                <a:latin typeface="Calibri"/>
                <a:ea typeface="DejaVu Sans"/>
              </a:rPr>
              <a:t>εκατομμύριο γραμμές </a:t>
            </a:r>
            <a:r>
              <a:rPr lang="en-US" sz="1500" b="0" u="none" strike="noStrike">
                <a:solidFill>
                  <a:srgbClr val="D7E5D2"/>
                </a:solidFill>
                <a:effectLst/>
                <a:uFillTx/>
                <a:latin typeface="Calibri"/>
                <a:ea typeface="DejaVu Sans"/>
              </a:rPr>
              <a:t>πωλήσεων</a:t>
            </a:r>
            <a:endParaRPr lang="en-US" sz="1500" b="0" u="none" strike="noStrike">
              <a:solidFill>
                <a:srgbClr val="000000"/>
              </a:solidFill>
              <a:effectLst/>
              <a:uFillTx/>
              <a:latin typeface="Arial"/>
            </a:endParaRPr>
          </a:p>
        </p:txBody>
      </p:sp>
      <p:sp>
        <p:nvSpPr>
          <p:cNvPr id="192"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00" b="0" u="none" strike="noStrike">
                <a:solidFill>
                  <a:srgbClr val="D7E5D2"/>
                </a:solidFill>
                <a:effectLst/>
                <a:uFillTx/>
                <a:latin typeface="Calibri"/>
                <a:ea typeface="DejaVu Sans"/>
              </a:rPr>
              <a:t>ENSIGHTS · Διπλωματική εργασία</a:t>
            </a:r>
            <a:endParaRPr lang="en-US" sz="900" b="0" u="none" strike="noStrike">
              <a:solidFill>
                <a:srgbClr val="000000"/>
              </a:solidFill>
              <a:effectLst/>
              <a:uFillTx/>
              <a:latin typeface="Arial"/>
            </a:endParaRPr>
          </a:p>
        </p:txBody>
      </p:sp>
      <p:sp>
        <p:nvSpPr>
          <p:cNvPr id="193"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12</a:t>
            </a:r>
            <a:endParaRPr lang="en-US" sz="900" b="0" u="none" strike="noStrike">
              <a:solidFill>
                <a:srgbClr val="000000"/>
              </a:solidFill>
              <a:effectLst/>
              <a:uFillTx/>
              <a:latin typeface="Arial"/>
            </a:endParaRPr>
          </a:p>
        </p:txBody>
      </p:sp>
      <p:sp>
        <p:nvSpPr>
          <p:cNvPr id="194" name="Rectangle 4"/>
          <p:cNvSpPr/>
          <p:nvPr/>
        </p:nvSpPr>
        <p:spPr>
          <a:xfrm>
            <a:off x="360" y="36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5" name="TextBox 2"/>
          <p:cNvSpPr/>
          <p:nvPr/>
        </p:nvSpPr>
        <p:spPr>
          <a:xfrm>
            <a:off x="549000" y="1600560"/>
            <a:ext cx="11090880" cy="16452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96" name="TextBox 3"/>
          <p:cNvSpPr/>
          <p:nvPr/>
        </p:nvSpPr>
        <p:spPr>
          <a:xfrm>
            <a:off x="549000" y="297216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2η </a:t>
            </a:r>
            <a:r>
              <a:rPr lang="en-US" sz="4000" b="1" u="none" strike="noStrike">
                <a:solidFill>
                  <a:srgbClr val="E8A33D"/>
                </a:solidFill>
                <a:effectLst/>
                <a:uFillTx/>
                <a:latin typeface="Calibri"/>
                <a:ea typeface="DejaVu Sans"/>
              </a:rPr>
              <a:t>ΕΝΟΤΗ</a:t>
            </a:r>
            <a:r>
              <a:rPr lang="en-US" sz="4000" b="1" u="none" strike="noStrike">
                <a:solidFill>
                  <a:srgbClr val="E8A33D"/>
                </a:solidFill>
                <a:effectLst/>
                <a:uFillTx/>
                <a:latin typeface="Calibri"/>
                <a:ea typeface="DejaVu Sans"/>
              </a:rPr>
              <a:t>ΤΑ</a:t>
            </a:r>
            <a:endParaRPr lang="en-US" sz="4000" b="0" u="none" strike="noStrike">
              <a:solidFill>
                <a:srgbClr val="000000"/>
              </a:solidFill>
              <a:effectLst/>
              <a:uFillTx/>
              <a:latin typeface="Arial"/>
            </a:endParaRPr>
          </a:p>
        </p:txBody>
      </p:sp>
      <p:sp>
        <p:nvSpPr>
          <p:cNvPr id="197" name="TextBox 4"/>
          <p:cNvSpPr/>
          <p:nvPr/>
        </p:nvSpPr>
        <p:spPr>
          <a:xfrm>
            <a:off x="549000" y="380412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a:t>
            </a:r>
            <a:r>
              <a:rPr lang="en-US" sz="4400" b="1" u="none" strike="noStrike">
                <a:solidFill>
                  <a:srgbClr val="FFFFFF"/>
                </a:solidFill>
                <a:effectLst/>
                <a:uFillTx/>
                <a:latin typeface="Cambria"/>
                <a:ea typeface="DejaVu Sans"/>
              </a:rPr>
              <a:t>σύστη</a:t>
            </a:r>
            <a:r>
              <a:rPr lang="en-US" sz="4400" b="1" u="none" strike="noStrike">
                <a:solidFill>
                  <a:srgbClr val="FFFFFF"/>
                </a:solidFill>
                <a:effectLst/>
                <a:uFillTx/>
                <a:latin typeface="Cambria"/>
                <a:ea typeface="DejaVu Sans"/>
              </a:rPr>
              <a:t>μα</a:t>
            </a:r>
            <a:endParaRPr lang="en-US" sz="4400" b="0" u="none" strike="noStrike">
              <a:solidFill>
                <a:srgbClr val="000000"/>
              </a:solidFill>
              <a:effectLst/>
              <a:uFillTx/>
              <a:latin typeface="Arial"/>
            </a:endParaRPr>
          </a:p>
        </p:txBody>
      </p:sp>
      <p:sp>
        <p:nvSpPr>
          <p:cNvPr id="198" name="TextBox 5"/>
          <p:cNvSpPr/>
          <p:nvPr/>
        </p:nvSpPr>
        <p:spPr>
          <a:xfrm>
            <a:off x="549000" y="4645440"/>
            <a:ext cx="11090880" cy="365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99" name="TextBox 6"/>
          <p:cNvSpPr/>
          <p:nvPr/>
        </p:nvSpPr>
        <p:spPr>
          <a:xfrm>
            <a:off x="549000" y="6474240"/>
            <a:ext cx="54856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00" name="TextBox 7"/>
          <p:cNvSpPr/>
          <p:nvPr/>
        </p:nvSpPr>
        <p:spPr>
          <a:xfrm>
            <a:off x="11094840" y="647424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7</a:t>
            </a:r>
            <a:endParaRPr lang="en-US" sz="900" b="0" u="none" strike="noStrike">
              <a:solidFill>
                <a:srgbClr val="000000"/>
              </a:solidFill>
              <a:effectLst/>
              <a:uFillTx/>
              <a:latin typeface="Arial"/>
            </a:endParaRPr>
          </a:p>
        </p:txBody>
      </p:sp>
      <p:sp>
        <p:nvSpPr>
          <p:cNvPr id="201" name="Rectangle 5"/>
          <p:cNvSpPr/>
          <p:nvPr/>
        </p:nvSpPr>
        <p:spPr>
          <a:xfrm>
            <a:off x="720" y="72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2" name="TextBox 1"/>
          <p:cNvSpPr/>
          <p:nvPr/>
        </p:nvSpPr>
        <p:spPr>
          <a:xfrm>
            <a:off x="549360" y="1600920"/>
            <a:ext cx="11090880" cy="17841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03" name="TextBox 8"/>
          <p:cNvSpPr/>
          <p:nvPr/>
        </p:nvSpPr>
        <p:spPr>
          <a:xfrm>
            <a:off x="549360" y="297252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3η ΕΝΟΤΗΤΑ</a:t>
            </a:r>
            <a:endParaRPr lang="en-US" sz="4000" b="0" u="none" strike="noStrike">
              <a:solidFill>
                <a:srgbClr val="000000"/>
              </a:solidFill>
              <a:effectLst/>
              <a:uFillTx/>
              <a:latin typeface="Arial"/>
            </a:endParaRPr>
          </a:p>
        </p:txBody>
      </p:sp>
      <p:sp>
        <p:nvSpPr>
          <p:cNvPr id="204" name="TextBox 9"/>
          <p:cNvSpPr/>
          <p:nvPr/>
        </p:nvSpPr>
        <p:spPr>
          <a:xfrm>
            <a:off x="549360" y="380448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Τα ευρήματα</a:t>
            </a:r>
            <a:endParaRPr lang="en-US" sz="4400" b="0" u="none" strike="noStrike">
              <a:solidFill>
                <a:srgbClr val="000000"/>
              </a:solidFill>
              <a:effectLst/>
              <a:uFillTx/>
              <a:latin typeface="Arial"/>
            </a:endParaRPr>
          </a:p>
        </p:txBody>
      </p:sp>
      <p:sp>
        <p:nvSpPr>
          <p:cNvPr id="205" name="TextBox 10"/>
          <p:cNvSpPr/>
          <p:nvPr/>
        </p:nvSpPr>
        <p:spPr>
          <a:xfrm>
            <a:off x="549360" y="4645800"/>
            <a:ext cx="11090880" cy="2786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06" name="TextBox 11"/>
          <p:cNvSpPr/>
          <p:nvPr/>
        </p:nvSpPr>
        <p:spPr>
          <a:xfrm>
            <a:off x="549360" y="6474600"/>
            <a:ext cx="54856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07" name="TextBox 12"/>
          <p:cNvSpPr/>
          <p:nvPr/>
        </p:nvSpPr>
        <p:spPr>
          <a:xfrm>
            <a:off x="11095200" y="647460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ΤΑ ΔΕΔΟΜΕΝΑ</a:t>
            </a:r>
            <a:endParaRPr lang="en-US" sz="1200" b="0" u="none" strike="noStrike">
              <a:solidFill>
                <a:srgbClr val="000000"/>
              </a:solidFill>
              <a:effectLst/>
              <a:uFillTx/>
              <a:latin typeface="Arial"/>
            </a:endParaRPr>
          </a:p>
        </p:txBody>
      </p:sp>
      <p:sp>
        <p:nvSpPr>
          <p:cNvPr id="209"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Online </a:t>
            </a:r>
            <a:r>
              <a:rPr lang="en-US" sz="3000" b="1" u="none" strike="noStrike">
                <a:solidFill>
                  <a:srgbClr val="2C5530"/>
                </a:solidFill>
                <a:effectLst/>
                <a:uFillTx/>
                <a:latin typeface="Cambria"/>
                <a:ea typeface="DejaVu Sans"/>
              </a:rPr>
              <a:t>Retail II: </a:t>
            </a:r>
            <a:r>
              <a:rPr lang="en-US" sz="3000" b="1" u="none" strike="noStrike">
                <a:solidFill>
                  <a:srgbClr val="2C5530"/>
                </a:solidFill>
                <a:effectLst/>
                <a:uFillTx/>
                <a:latin typeface="Cambria"/>
                <a:ea typeface="DejaVu Sans"/>
              </a:rPr>
              <a:t>το </a:t>
            </a:r>
            <a:r>
              <a:rPr lang="en-US" sz="3000" b="1" u="none" strike="noStrike">
                <a:solidFill>
                  <a:srgbClr val="2C5530"/>
                </a:solidFill>
                <a:effectLst/>
                <a:uFillTx/>
                <a:latin typeface="Cambria"/>
                <a:ea typeface="DejaVu Sans"/>
              </a:rPr>
              <a:t>πείραμα</a:t>
            </a:r>
            <a:endParaRPr lang="en-US" sz="3000" b="0" u="none" strike="noStrike">
              <a:solidFill>
                <a:srgbClr val="000000"/>
              </a:solidFill>
              <a:effectLst/>
              <a:uFillTx/>
              <a:latin typeface="Arial"/>
            </a:endParaRPr>
          </a:p>
        </p:txBody>
      </p:sp>
      <p:sp>
        <p:nvSpPr>
          <p:cNvPr id="210"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13</a:t>
            </a:r>
            <a:endParaRPr lang="en-US" sz="900" b="0" u="none" strike="noStrike">
              <a:solidFill>
                <a:srgbClr val="000000"/>
              </a:solidFill>
              <a:effectLst/>
              <a:uFillTx/>
              <a:latin typeface="Arial"/>
            </a:endParaRPr>
          </a:p>
        </p:txBody>
      </p:sp>
      <p:sp>
        <p:nvSpPr>
          <p:cNvPr id="211" name="Rounded Rectangle 6"/>
          <p:cNvSpPr/>
          <p:nvPr/>
        </p:nvSpPr>
        <p:spPr>
          <a:xfrm>
            <a:off x="54864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2" name="TextBox 7"/>
          <p:cNvSpPr/>
          <p:nvPr/>
        </p:nvSpPr>
        <p:spPr>
          <a:xfrm>
            <a:off x="54864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39.516</a:t>
            </a:r>
            <a:endParaRPr lang="en-US" sz="2400" b="0" u="none" strike="noStrike">
              <a:solidFill>
                <a:srgbClr val="000000"/>
              </a:solidFill>
              <a:effectLst/>
              <a:uFillTx/>
              <a:latin typeface="Arial"/>
            </a:endParaRPr>
          </a:p>
        </p:txBody>
      </p:sp>
      <p:sp>
        <p:nvSpPr>
          <p:cNvPr id="213" name="TextBox 8"/>
          <p:cNvSpPr/>
          <p:nvPr/>
        </p:nvSpPr>
        <p:spPr>
          <a:xfrm>
            <a:off x="60336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Παραγγελίες</a:t>
            </a:r>
            <a:endParaRPr lang="en-US" sz="1100" b="0" u="none" strike="noStrike">
              <a:solidFill>
                <a:srgbClr val="000000"/>
              </a:solidFill>
              <a:effectLst/>
              <a:uFillTx/>
              <a:latin typeface="Arial"/>
            </a:endParaRPr>
          </a:p>
        </p:txBody>
      </p:sp>
      <p:sp>
        <p:nvSpPr>
          <p:cNvPr id="214" name="Rounded Rectangle 9"/>
          <p:cNvSpPr/>
          <p:nvPr/>
        </p:nvSpPr>
        <p:spPr>
          <a:xfrm>
            <a:off x="242172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5" name="TextBox 10"/>
          <p:cNvSpPr/>
          <p:nvPr/>
        </p:nvSpPr>
        <p:spPr>
          <a:xfrm>
            <a:off x="242172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1.002.423</a:t>
            </a:r>
            <a:endParaRPr lang="en-US" sz="2400" b="0" u="none" strike="noStrike">
              <a:solidFill>
                <a:srgbClr val="000000"/>
              </a:solidFill>
              <a:effectLst/>
              <a:uFillTx/>
              <a:latin typeface="Arial"/>
            </a:endParaRPr>
          </a:p>
        </p:txBody>
      </p:sp>
      <p:sp>
        <p:nvSpPr>
          <p:cNvPr id="216" name="TextBox 11"/>
          <p:cNvSpPr/>
          <p:nvPr/>
        </p:nvSpPr>
        <p:spPr>
          <a:xfrm>
            <a:off x="247644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Γραμμές</a:t>
            </a:r>
            <a:endParaRPr lang="en-US" sz="1100" b="0" u="none" strike="noStrike">
              <a:solidFill>
                <a:srgbClr val="000000"/>
              </a:solidFill>
              <a:effectLst/>
              <a:uFillTx/>
              <a:latin typeface="Arial"/>
            </a:endParaRPr>
          </a:p>
        </p:txBody>
      </p:sp>
      <p:sp>
        <p:nvSpPr>
          <p:cNvPr id="217" name="Rounded Rectangle 12"/>
          <p:cNvSpPr/>
          <p:nvPr/>
        </p:nvSpPr>
        <p:spPr>
          <a:xfrm>
            <a:off x="429480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8" name="TextBox 13"/>
          <p:cNvSpPr/>
          <p:nvPr/>
        </p:nvSpPr>
        <p:spPr>
          <a:xfrm>
            <a:off x="429480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17.925</a:t>
            </a:r>
            <a:endParaRPr lang="en-US" sz="2400" b="0" u="none" strike="noStrike">
              <a:solidFill>
                <a:srgbClr val="000000"/>
              </a:solidFill>
              <a:effectLst/>
              <a:uFillTx/>
              <a:latin typeface="Arial"/>
            </a:endParaRPr>
          </a:p>
        </p:txBody>
      </p:sp>
      <p:sp>
        <p:nvSpPr>
          <p:cNvPr id="219" name="TextBox 14"/>
          <p:cNvSpPr/>
          <p:nvPr/>
        </p:nvSpPr>
        <p:spPr>
          <a:xfrm>
            <a:off x="434952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Επιστροφές</a:t>
            </a:r>
            <a:endParaRPr lang="en-US" sz="1100" b="0" u="none" strike="noStrike">
              <a:solidFill>
                <a:srgbClr val="000000"/>
              </a:solidFill>
              <a:effectLst/>
              <a:uFillTx/>
              <a:latin typeface="Arial"/>
            </a:endParaRPr>
          </a:p>
        </p:txBody>
      </p:sp>
      <p:sp>
        <p:nvSpPr>
          <p:cNvPr id="220" name="Rounded Rectangle 15"/>
          <p:cNvSpPr/>
          <p:nvPr/>
        </p:nvSpPr>
        <p:spPr>
          <a:xfrm>
            <a:off x="616752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1" name="TextBox 16"/>
          <p:cNvSpPr/>
          <p:nvPr/>
        </p:nvSpPr>
        <p:spPr>
          <a:xfrm>
            <a:off x="616752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5.875</a:t>
            </a:r>
            <a:endParaRPr lang="en-US" sz="2400" b="0" u="none" strike="noStrike">
              <a:solidFill>
                <a:srgbClr val="000000"/>
              </a:solidFill>
              <a:effectLst/>
              <a:uFillTx/>
              <a:latin typeface="Arial"/>
            </a:endParaRPr>
          </a:p>
        </p:txBody>
      </p:sp>
      <p:sp>
        <p:nvSpPr>
          <p:cNvPr id="222" name="TextBox 17"/>
          <p:cNvSpPr/>
          <p:nvPr/>
        </p:nvSpPr>
        <p:spPr>
          <a:xfrm>
            <a:off x="622260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Πελάτες</a:t>
            </a:r>
            <a:endParaRPr lang="en-US" sz="1100" b="0" u="none" strike="noStrike">
              <a:solidFill>
                <a:srgbClr val="000000"/>
              </a:solidFill>
              <a:effectLst/>
              <a:uFillTx/>
              <a:latin typeface="Arial"/>
            </a:endParaRPr>
          </a:p>
        </p:txBody>
      </p:sp>
      <p:sp>
        <p:nvSpPr>
          <p:cNvPr id="223" name="Rounded Rectangle 18"/>
          <p:cNvSpPr/>
          <p:nvPr/>
        </p:nvSpPr>
        <p:spPr>
          <a:xfrm>
            <a:off x="804060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4" name="TextBox 19"/>
          <p:cNvSpPr/>
          <p:nvPr/>
        </p:nvSpPr>
        <p:spPr>
          <a:xfrm>
            <a:off x="804060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4.900</a:t>
            </a:r>
            <a:endParaRPr lang="en-US" sz="2400" b="0" u="none" strike="noStrike">
              <a:solidFill>
                <a:srgbClr val="000000"/>
              </a:solidFill>
              <a:effectLst/>
              <a:uFillTx/>
              <a:latin typeface="Arial"/>
            </a:endParaRPr>
          </a:p>
        </p:txBody>
      </p:sp>
      <p:sp>
        <p:nvSpPr>
          <p:cNvPr id="225" name="TextBox 20"/>
          <p:cNvSpPr/>
          <p:nvPr/>
        </p:nvSpPr>
        <p:spPr>
          <a:xfrm>
            <a:off x="809532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Προϊόντα</a:t>
            </a:r>
            <a:endParaRPr lang="en-US" sz="1100" b="0" u="none" strike="noStrike">
              <a:solidFill>
                <a:srgbClr val="000000"/>
              </a:solidFill>
              <a:effectLst/>
              <a:uFillTx/>
              <a:latin typeface="Arial"/>
            </a:endParaRPr>
          </a:p>
        </p:txBody>
      </p:sp>
      <p:sp>
        <p:nvSpPr>
          <p:cNvPr id="226" name="Rounded Rectangle 21"/>
          <p:cNvSpPr/>
          <p:nvPr/>
        </p:nvSpPr>
        <p:spPr>
          <a:xfrm>
            <a:off x="9913680" y="2258640"/>
            <a:ext cx="17258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7" name="TextBox 22"/>
          <p:cNvSpPr/>
          <p:nvPr/>
        </p:nvSpPr>
        <p:spPr>
          <a:xfrm>
            <a:off x="9913680" y="2350080"/>
            <a:ext cx="17258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43</a:t>
            </a:r>
            <a:endParaRPr lang="en-US" sz="2400" b="0" u="none" strike="noStrike">
              <a:solidFill>
                <a:srgbClr val="000000"/>
              </a:solidFill>
              <a:effectLst/>
              <a:uFillTx/>
              <a:latin typeface="Arial"/>
            </a:endParaRPr>
          </a:p>
        </p:txBody>
      </p:sp>
      <p:sp>
        <p:nvSpPr>
          <p:cNvPr id="228" name="TextBox 23"/>
          <p:cNvSpPr/>
          <p:nvPr/>
        </p:nvSpPr>
        <p:spPr>
          <a:xfrm>
            <a:off x="9968400" y="2807280"/>
            <a:ext cx="161640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Περιοχές</a:t>
            </a:r>
            <a:endParaRPr lang="en-US" sz="1100" b="0" u="none" strike="noStrike">
              <a:solidFill>
                <a:srgbClr val="000000"/>
              </a:solidFill>
              <a:effectLst/>
              <a:uFillTx/>
              <a:latin typeface="Arial"/>
            </a:endParaRPr>
          </a:p>
        </p:txBody>
      </p:sp>
      <p:sp>
        <p:nvSpPr>
          <p:cNvPr id="229" name="TextBox 24"/>
          <p:cNvSpPr/>
          <p:nvPr/>
        </p:nvSpPr>
        <p:spPr>
          <a:xfrm>
            <a:off x="548640" y="3891240"/>
            <a:ext cx="11090880" cy="203796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Βρετανικό κατάστημα χονδρικής με είδη δώρων, από το 2009 ως το 2011 μέσω του δημοσίου συνόλου δεδομένων UCI.</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Επιλέχθηκε καθώς: </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α. </a:t>
            </a:r>
            <a:r>
              <a:rPr lang="en-US" sz="1500" b="0" u="none" strike="noStrike">
                <a:solidFill>
                  <a:srgbClr val="241F1B"/>
                </a:solidFill>
                <a:effectLst/>
                <a:uFillTx/>
                <a:latin typeface="Calibri"/>
                <a:ea typeface="DejaVu Sans"/>
              </a:rPr>
              <a:t>είναι δημόσιο, άρα ο καθένας μπορεί να ελέγξει τα αποτελέσματα</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β. </a:t>
            </a:r>
            <a:r>
              <a:rPr lang="en-US" sz="1500" b="0" u="none" strike="noStrike">
                <a:solidFill>
                  <a:srgbClr val="241F1B"/>
                </a:solidFill>
                <a:effectLst/>
                <a:uFillTx/>
                <a:latin typeface="Calibri"/>
                <a:ea typeface="DejaVu Sans"/>
              </a:rPr>
              <a:t>εχει χρησιμοποιήσει ήδη δημοσιευμένη έρευνα, άρα μπορούμε να συγκρίνουμε τα αποτελέσματα</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γ. </a:t>
            </a:r>
            <a:r>
              <a:rPr lang="en-US" sz="1500" b="0" u="none" strike="noStrike">
                <a:solidFill>
                  <a:srgbClr val="241F1B"/>
                </a:solidFill>
                <a:effectLst/>
                <a:uFillTx/>
                <a:latin typeface="Calibri"/>
                <a:ea typeface="DejaVu Sans"/>
              </a:rPr>
              <a:t>κρατάει τα ακυρωμένα παραστατικά, χωρίς τα οποία το ερώτημα των επιστροφών θα ήταν αδύνατο</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ΠΕΡΙΓΡΑΦΙΚΗ ΑΝΑΛΥΣΗ</a:t>
            </a:r>
            <a:endParaRPr lang="en-US" sz="1200" b="0" u="none" strike="noStrike">
              <a:solidFill>
                <a:srgbClr val="000000"/>
              </a:solidFill>
              <a:effectLst/>
              <a:uFillTx/>
              <a:latin typeface="Arial"/>
            </a:endParaRPr>
          </a:p>
        </p:txBody>
      </p:sp>
      <p:sp>
        <p:nvSpPr>
          <p:cNvPr id="23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Τι </a:t>
            </a:r>
            <a:r>
              <a:rPr lang="en-US" sz="3000" b="1" u="none" strike="noStrike">
                <a:solidFill>
                  <a:srgbClr val="2C5530"/>
                </a:solidFill>
                <a:effectLst/>
                <a:uFillTx/>
                <a:latin typeface="Cambria"/>
                <a:ea typeface="DejaVu Sans"/>
              </a:rPr>
              <a:t>πουλ</a:t>
            </a:r>
            <a:r>
              <a:rPr lang="en-US" sz="3000" b="1" u="none" strike="noStrike">
                <a:solidFill>
                  <a:srgbClr val="2C5530"/>
                </a:solidFill>
                <a:effectLst/>
                <a:uFillTx/>
                <a:latin typeface="Cambria"/>
                <a:ea typeface="DejaVu Sans"/>
              </a:rPr>
              <a:t>άει </a:t>
            </a:r>
            <a:r>
              <a:rPr lang="en-US" sz="3000" b="1" u="none" strike="noStrike">
                <a:solidFill>
                  <a:srgbClr val="2C5530"/>
                </a:solidFill>
                <a:effectLst/>
                <a:uFillTx/>
                <a:latin typeface="Cambria"/>
                <a:ea typeface="DejaVu Sans"/>
              </a:rPr>
              <a:t>και </a:t>
            </a:r>
            <a:r>
              <a:rPr lang="en-US" sz="3000" b="1" u="none" strike="noStrike">
                <a:solidFill>
                  <a:srgbClr val="2C5530"/>
                </a:solidFill>
                <a:effectLst/>
                <a:uFillTx/>
                <a:latin typeface="Cambria"/>
                <a:ea typeface="DejaVu Sans"/>
              </a:rPr>
              <a:t>πού</a:t>
            </a:r>
            <a:endParaRPr lang="en-US" sz="3000" b="0" u="none" strike="noStrike">
              <a:solidFill>
                <a:srgbClr val="000000"/>
              </a:solidFill>
              <a:effectLst/>
              <a:uFillTx/>
              <a:latin typeface="Arial"/>
            </a:endParaRPr>
          </a:p>
        </p:txBody>
      </p:sp>
      <p:sp>
        <p:nvSpPr>
          <p:cNvPr id="23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14</a:t>
            </a:r>
            <a:endParaRPr lang="en-US" sz="900" b="0" u="none" strike="noStrike">
              <a:solidFill>
                <a:srgbClr val="000000"/>
              </a:solidFill>
              <a:effectLst/>
              <a:uFillTx/>
              <a:latin typeface="Arial"/>
            </a:endParaRPr>
          </a:p>
        </p:txBody>
      </p:sp>
      <p:pic>
        <p:nvPicPr>
          <p:cNvPr id="233" name="Picture 5" descr="top-products.png"/>
          <p:cNvPicPr/>
          <p:nvPr/>
        </p:nvPicPr>
        <p:blipFill>
          <a:blip r:embed="rId1"/>
          <a:stretch/>
        </p:blipFill>
        <p:spPr>
          <a:xfrm>
            <a:off x="548640" y="1837440"/>
            <a:ext cx="5348520" cy="2674080"/>
          </a:xfrm>
          <a:prstGeom prst="rect">
            <a:avLst/>
          </a:prstGeom>
          <a:solidFill>
            <a:srgbClr val="224B12"/>
          </a:solidFill>
          <a:ln w="0">
            <a:noFill/>
          </a:ln>
        </p:spPr>
      </p:pic>
      <p:sp>
        <p:nvSpPr>
          <p:cNvPr id="234" name="Rectangle 6"/>
          <p:cNvSpPr/>
          <p:nvPr/>
        </p:nvSpPr>
        <p:spPr>
          <a:xfrm>
            <a:off x="548640" y="183744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5" name="TextBox 7"/>
          <p:cNvSpPr/>
          <p:nvPr/>
        </p:nvSpPr>
        <p:spPr>
          <a:xfrm>
            <a:off x="548640" y="46036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Προϊόντα με τα υψηλότερα έσοδα</a:t>
            </a:r>
            <a:endParaRPr lang="en-US" sz="1100" b="0" u="none" strike="noStrike">
              <a:solidFill>
                <a:srgbClr val="000000"/>
              </a:solidFill>
              <a:effectLst/>
              <a:uFillTx/>
              <a:latin typeface="Arial"/>
            </a:endParaRPr>
          </a:p>
        </p:txBody>
      </p:sp>
      <p:pic>
        <p:nvPicPr>
          <p:cNvPr id="236" name="Picture 8" descr="top-regions.png"/>
          <p:cNvPicPr/>
          <p:nvPr/>
        </p:nvPicPr>
        <p:blipFill>
          <a:blip r:embed="rId2"/>
          <a:stretch/>
        </p:blipFill>
        <p:spPr>
          <a:xfrm>
            <a:off x="6291000" y="1837440"/>
            <a:ext cx="5348520" cy="2674080"/>
          </a:xfrm>
          <a:prstGeom prst="rect">
            <a:avLst/>
          </a:prstGeom>
          <a:noFill/>
          <a:ln w="0">
            <a:noFill/>
          </a:ln>
        </p:spPr>
      </p:pic>
      <p:sp>
        <p:nvSpPr>
          <p:cNvPr id="237" name="Rectangle 9"/>
          <p:cNvSpPr/>
          <p:nvPr/>
        </p:nvSpPr>
        <p:spPr>
          <a:xfrm>
            <a:off x="6291000" y="183744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8" name="TextBox 10"/>
          <p:cNvSpPr/>
          <p:nvPr/>
        </p:nvSpPr>
        <p:spPr>
          <a:xfrm>
            <a:off x="6291000" y="46036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Περιοχές με τα υψηλότερα έσοδα</a:t>
            </a:r>
            <a:endParaRPr lang="en-US" sz="1100" b="0" u="none" strike="noStrike">
              <a:solidFill>
                <a:srgbClr val="000000"/>
              </a:solidFill>
              <a:effectLst/>
              <a:uFillTx/>
              <a:latin typeface="Arial"/>
            </a:endParaRPr>
          </a:p>
        </p:txBody>
      </p:sp>
      <p:sp>
        <p:nvSpPr>
          <p:cNvPr id="239" name="TextBox 11"/>
          <p:cNvSpPr/>
          <p:nvPr/>
        </p:nvSpPr>
        <p:spPr>
          <a:xfrm>
            <a:off x="457200" y="5401080"/>
            <a:ext cx="11090880" cy="85788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Το REGENCY CAKESTAND </a:t>
            </a:r>
            <a:r>
              <a:rPr lang="en-US" sz="1150" b="0" u="none" strike="noStrike">
                <a:solidFill>
                  <a:srgbClr val="241F1B"/>
                </a:solidFill>
                <a:effectLst/>
                <a:uFillTx/>
                <a:latin typeface="Calibri"/>
                <a:ea typeface="DejaVu Sans"/>
              </a:rPr>
              <a:t>βγαίνει πρώτο με 26.315 </a:t>
            </a:r>
            <a:r>
              <a:rPr lang="en-US" sz="1150" b="0" u="none" strike="noStrike">
                <a:solidFill>
                  <a:srgbClr val="241F1B"/>
                </a:solidFill>
                <a:effectLst/>
                <a:uFillTx/>
                <a:latin typeface="Calibri"/>
                <a:ea typeface="DejaVu Sans"/>
              </a:rPr>
              <a:t>κομμάτια, ενώ το JUMBO </a:t>
            </a:r>
            <a:r>
              <a:rPr lang="en-US" sz="1150" b="0" u="none" strike="noStrike">
                <a:solidFill>
                  <a:srgbClr val="241F1B"/>
                </a:solidFill>
                <a:effectLst/>
                <a:uFillTx/>
                <a:latin typeface="Calibri"/>
                <a:ea typeface="DejaVu Sans"/>
              </a:rPr>
              <a:t>BAG πουλάει σχεδόν </a:t>
            </a:r>
            <a:r>
              <a:rPr lang="en-US" sz="1150" b="0" u="none" strike="noStrike">
                <a:solidFill>
                  <a:srgbClr val="241F1B"/>
                </a:solidFill>
                <a:effectLst/>
                <a:uFillTx/>
                <a:latin typeface="Calibri"/>
                <a:ea typeface="DejaVu Sans"/>
              </a:rPr>
              <a:t>τετραπλάσια κομμάτια και </a:t>
            </a:r>
            <a:r>
              <a:rPr lang="en-US" sz="1150" b="0" u="none" strike="noStrike">
                <a:solidFill>
                  <a:srgbClr val="241F1B"/>
                </a:solidFill>
                <a:effectLst/>
                <a:uFillTx/>
                <a:latin typeface="Calibri"/>
                <a:ea typeface="DejaVu Sans"/>
              </a:rPr>
              <a:t>βγαίνει τρίτο.</a:t>
            </a:r>
            <a:endParaRPr lang="en-US" sz="115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Το Ηνωμένο Βασίλειο </a:t>
            </a:r>
            <a:r>
              <a:rPr lang="en-US" sz="1150" b="0" u="none" strike="noStrike">
                <a:solidFill>
                  <a:srgbClr val="241F1B"/>
                </a:solidFill>
                <a:effectLst/>
                <a:uFillTx/>
                <a:latin typeface="Calibri"/>
                <a:ea typeface="DejaVu Sans"/>
              </a:rPr>
              <a:t>κάνει περίπου το 86% των </a:t>
            </a:r>
            <a:r>
              <a:rPr lang="en-US" sz="1150" b="0" u="none" strike="noStrike">
                <a:solidFill>
                  <a:srgbClr val="241F1B"/>
                </a:solidFill>
                <a:effectLst/>
                <a:uFillTx/>
                <a:latin typeface="Calibri"/>
                <a:ea typeface="DejaVu Sans"/>
              </a:rPr>
              <a:t>εσόδων. Στην Ιρλανδία </a:t>
            </a:r>
            <a:r>
              <a:rPr lang="en-US" sz="1150" b="0" u="none" strike="noStrike">
                <a:solidFill>
                  <a:srgbClr val="241F1B"/>
                </a:solidFill>
                <a:effectLst/>
                <a:uFillTx/>
                <a:latin typeface="Calibri"/>
                <a:ea typeface="DejaVu Sans"/>
              </a:rPr>
              <a:t>τρεις πελάτες φέρνουν </a:t>
            </a:r>
            <a:r>
              <a:rPr lang="en-US" sz="1150" b="0" u="none" strike="noStrike">
                <a:solidFill>
                  <a:srgbClr val="241F1B"/>
                </a:solidFill>
                <a:effectLst/>
                <a:uFillTx/>
                <a:latin typeface="Calibri"/>
                <a:ea typeface="DejaVu Sans"/>
              </a:rPr>
              <a:t>περισσότερα από τους </a:t>
            </a:r>
            <a:r>
              <a:rPr lang="en-US" sz="1150" b="0" u="none" strike="noStrike">
                <a:solidFill>
                  <a:srgbClr val="241F1B"/>
                </a:solidFill>
                <a:effectLst/>
                <a:uFillTx/>
                <a:latin typeface="Calibri"/>
                <a:ea typeface="DejaVu Sans"/>
              </a:rPr>
              <a:t>εκατόν επτά της Γερμανίας.</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ΠΕΡΙΓΡΑΦΙΚΗ ΑΝΑΛΥΣΗ</a:t>
            </a:r>
            <a:endParaRPr lang="en-US" sz="1200" b="0" u="none" strike="noStrike">
              <a:solidFill>
                <a:srgbClr val="000000"/>
              </a:solidFill>
              <a:effectLst/>
              <a:uFillTx/>
              <a:latin typeface="Arial"/>
            </a:endParaRPr>
          </a:p>
        </p:txBody>
      </p:sp>
      <p:sp>
        <p:nvSpPr>
          <p:cNvPr id="24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Πότε </a:t>
            </a:r>
            <a:r>
              <a:rPr lang="en-US" sz="3000" b="1" u="none" strike="noStrike">
                <a:solidFill>
                  <a:srgbClr val="2C5530"/>
                </a:solidFill>
                <a:effectLst/>
                <a:uFillTx/>
                <a:latin typeface="Cambria"/>
                <a:ea typeface="DejaVu Sans"/>
              </a:rPr>
              <a:t>πουλ</a:t>
            </a:r>
            <a:r>
              <a:rPr lang="en-US" sz="3000" b="1" u="none" strike="noStrike">
                <a:solidFill>
                  <a:srgbClr val="2C5530"/>
                </a:solidFill>
                <a:effectLst/>
                <a:uFillTx/>
                <a:latin typeface="Cambria"/>
                <a:ea typeface="DejaVu Sans"/>
              </a:rPr>
              <a:t>άει </a:t>
            </a:r>
            <a:r>
              <a:rPr lang="en-US" sz="3000" b="1" u="none" strike="noStrike">
                <a:solidFill>
                  <a:srgbClr val="2C5530"/>
                </a:solidFill>
                <a:effectLst/>
                <a:uFillTx/>
                <a:latin typeface="Cambria"/>
                <a:ea typeface="DejaVu Sans"/>
              </a:rPr>
              <a:t>και </a:t>
            </a:r>
            <a:r>
              <a:rPr lang="en-US" sz="3000" b="1" u="none" strike="noStrike">
                <a:solidFill>
                  <a:srgbClr val="2C5530"/>
                </a:solidFill>
                <a:effectLst/>
                <a:uFillTx/>
                <a:latin typeface="Cambria"/>
                <a:ea typeface="DejaVu Sans"/>
              </a:rPr>
              <a:t>σε τι </a:t>
            </a:r>
            <a:r>
              <a:rPr lang="en-US" sz="3000" b="1" u="none" strike="noStrike">
                <a:solidFill>
                  <a:srgbClr val="2C5530"/>
                </a:solidFill>
                <a:effectLst/>
                <a:uFillTx/>
                <a:latin typeface="Cambria"/>
                <a:ea typeface="DejaVu Sans"/>
              </a:rPr>
              <a:t>τιμή</a:t>
            </a:r>
            <a:endParaRPr lang="en-US" sz="3000" b="0" u="none" strike="noStrike">
              <a:solidFill>
                <a:srgbClr val="000000"/>
              </a:solidFill>
              <a:effectLst/>
              <a:uFillTx/>
              <a:latin typeface="Arial"/>
            </a:endParaRPr>
          </a:p>
        </p:txBody>
      </p:sp>
      <p:sp>
        <p:nvSpPr>
          <p:cNvPr id="24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15</a:t>
            </a:r>
            <a:endParaRPr lang="en-US" sz="900" b="0" u="none" strike="noStrike">
              <a:solidFill>
                <a:srgbClr val="000000"/>
              </a:solidFill>
              <a:effectLst/>
              <a:uFillTx/>
              <a:latin typeface="Arial"/>
            </a:endParaRPr>
          </a:p>
        </p:txBody>
      </p:sp>
      <p:pic>
        <p:nvPicPr>
          <p:cNvPr id="243" name="Picture 5" descr="sales-monthly.png"/>
          <p:cNvPicPr/>
          <p:nvPr/>
        </p:nvPicPr>
        <p:blipFill>
          <a:blip r:embed="rId1"/>
          <a:stretch/>
        </p:blipFill>
        <p:spPr>
          <a:xfrm>
            <a:off x="548640" y="2102760"/>
            <a:ext cx="5348520" cy="2139120"/>
          </a:xfrm>
          <a:prstGeom prst="rect">
            <a:avLst/>
          </a:prstGeom>
          <a:noFill/>
          <a:ln w="0">
            <a:noFill/>
          </a:ln>
        </p:spPr>
      </p:pic>
      <p:sp>
        <p:nvSpPr>
          <p:cNvPr id="244" name="Rectangle 6"/>
          <p:cNvSpPr/>
          <p:nvPr/>
        </p:nvSpPr>
        <p:spPr>
          <a:xfrm>
            <a:off x="548640" y="2102760"/>
            <a:ext cx="5348520" cy="213912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5" name="TextBox 7"/>
          <p:cNvSpPr/>
          <p:nvPr/>
        </p:nvSpPr>
        <p:spPr>
          <a:xfrm>
            <a:off x="548640" y="459900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Μηνιαία κατανομή εσόδων</a:t>
            </a:r>
            <a:endParaRPr lang="en-US" sz="1100" b="0" u="none" strike="noStrike">
              <a:solidFill>
                <a:srgbClr val="000000"/>
              </a:solidFill>
              <a:effectLst/>
              <a:uFillTx/>
              <a:latin typeface="Arial"/>
            </a:endParaRPr>
          </a:p>
        </p:txBody>
      </p:sp>
      <p:pic>
        <p:nvPicPr>
          <p:cNvPr id="246" name="Picture 8" descr="price-bands.png"/>
          <p:cNvPicPr/>
          <p:nvPr/>
        </p:nvPicPr>
        <p:blipFill>
          <a:blip r:embed="rId2"/>
          <a:stretch/>
        </p:blipFill>
        <p:spPr>
          <a:xfrm>
            <a:off x="6291000" y="1837440"/>
            <a:ext cx="5348520" cy="2674080"/>
          </a:xfrm>
          <a:prstGeom prst="rect">
            <a:avLst/>
          </a:prstGeom>
          <a:noFill/>
          <a:ln w="0">
            <a:noFill/>
          </a:ln>
        </p:spPr>
      </p:pic>
      <p:sp>
        <p:nvSpPr>
          <p:cNvPr id="247" name="Rectangle 9"/>
          <p:cNvSpPr/>
          <p:nvPr/>
        </p:nvSpPr>
        <p:spPr>
          <a:xfrm>
            <a:off x="6291000" y="183744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8" name="TextBox 10"/>
          <p:cNvSpPr/>
          <p:nvPr/>
        </p:nvSpPr>
        <p:spPr>
          <a:xfrm>
            <a:off x="6291000" y="46036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Έσοδα ανά εύρος τιμής μονάδας</a:t>
            </a:r>
            <a:endParaRPr lang="en-US" sz="1100" b="0" u="none" strike="noStrike">
              <a:solidFill>
                <a:srgbClr val="000000"/>
              </a:solidFill>
              <a:effectLst/>
              <a:uFillTx/>
              <a:latin typeface="Arial"/>
            </a:endParaRPr>
          </a:p>
        </p:txBody>
      </p:sp>
      <p:sp>
        <p:nvSpPr>
          <p:cNvPr id="249" name="TextBox 11"/>
          <p:cNvSpPr/>
          <p:nvPr/>
        </p:nvSpPr>
        <p:spPr>
          <a:xfrm>
            <a:off x="567720" y="5301360"/>
            <a:ext cx="11090880" cy="11862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Ο Νοέμβριος είναι ο πιο δυνατός μήνας και τις δύο χρονιές, </a:t>
            </a:r>
            <a:r>
              <a:rPr lang="en-US" sz="1150" b="0" u="none" strike="noStrike">
                <a:solidFill>
                  <a:srgbClr val="241F1B"/>
                </a:solidFill>
                <a:effectLst/>
                <a:uFillTx/>
                <a:latin typeface="Calibri"/>
                <a:ea typeface="DejaVu Sans"/>
              </a:rPr>
              <a:t>λόγω της προετοιμασίας για τα Χριστούγεννα. </a:t>
            </a:r>
            <a:endParaRPr lang="en-US" sz="115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Τα φθηνά προϊόντα, από μία ως πέντε λίρες τη μονάδα, </a:t>
            </a:r>
            <a:r>
              <a:rPr lang="en-US" sz="1150" b="0" u="none" strike="noStrike">
                <a:solidFill>
                  <a:srgbClr val="241F1B"/>
                </a:solidFill>
                <a:effectLst/>
                <a:uFillTx/>
                <a:latin typeface="Calibri"/>
                <a:ea typeface="DejaVu Sans"/>
              </a:rPr>
              <a:t>φέρνουν το 62% των εσόδων.</a:t>
            </a:r>
            <a:endParaRPr lang="en-US" sz="1150" b="0" u="none" strike="noStrike">
              <a:solidFill>
                <a:srgbClr val="000000"/>
              </a:solidFill>
              <a:effectLst/>
              <a:uFillTx/>
              <a:latin typeface="Arial"/>
            </a:endParaRPr>
          </a:p>
          <a:p>
            <a:pPr defTabSz="457200">
              <a:lnSpc>
                <a:spcPct val="122000"/>
              </a:lnSpc>
              <a:spcAft>
                <a:spcPts val="901"/>
              </a:spcAft>
            </a:pP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Η ΤΕΧΝΙΚΗ</a:t>
            </a:r>
            <a:endParaRPr lang="en-US" sz="1200" b="0" u="none" strike="noStrike">
              <a:solidFill>
                <a:srgbClr val="000000"/>
              </a:solidFill>
              <a:effectLst/>
              <a:uFillTx/>
              <a:latin typeface="Arial"/>
            </a:endParaRPr>
          </a:p>
        </p:txBody>
      </p:sp>
      <p:sp>
        <p:nvSpPr>
          <p:cNvPr id="25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Ποια </a:t>
            </a:r>
            <a:r>
              <a:rPr lang="en-US" sz="3000" b="1" u="none" strike="noStrike">
                <a:solidFill>
                  <a:srgbClr val="2C5530"/>
                </a:solidFill>
                <a:effectLst/>
                <a:uFillTx/>
                <a:latin typeface="Cambria"/>
                <a:ea typeface="DejaVu Sans"/>
              </a:rPr>
              <a:t>προϊ</a:t>
            </a:r>
            <a:r>
              <a:rPr lang="en-US" sz="3000" b="1" u="none" strike="noStrike">
                <a:solidFill>
                  <a:srgbClr val="2C5530"/>
                </a:solidFill>
                <a:effectLst/>
                <a:uFillTx/>
                <a:latin typeface="Cambria"/>
                <a:ea typeface="DejaVu Sans"/>
              </a:rPr>
              <a:t>όντα </a:t>
            </a:r>
            <a:r>
              <a:rPr lang="en-US" sz="3000" b="1" u="none" strike="noStrike">
                <a:solidFill>
                  <a:srgbClr val="2C5530"/>
                </a:solidFill>
                <a:effectLst/>
                <a:uFillTx/>
                <a:latin typeface="Cambria"/>
                <a:ea typeface="DejaVu Sans"/>
              </a:rPr>
              <a:t>αγορ</a:t>
            </a:r>
            <a:r>
              <a:rPr lang="en-US" sz="3000" b="1" u="none" strike="noStrike">
                <a:solidFill>
                  <a:srgbClr val="2C5530"/>
                </a:solidFill>
                <a:effectLst/>
                <a:uFillTx/>
                <a:latin typeface="Cambria"/>
                <a:ea typeface="DejaVu Sans"/>
              </a:rPr>
              <a:t>άζον</a:t>
            </a:r>
            <a:r>
              <a:rPr lang="en-US" sz="3000" b="1" u="none" strike="noStrike">
                <a:solidFill>
                  <a:srgbClr val="2C5530"/>
                </a:solidFill>
                <a:effectLst/>
                <a:uFillTx/>
                <a:latin typeface="Cambria"/>
                <a:ea typeface="DejaVu Sans"/>
              </a:rPr>
              <a:t>ται </a:t>
            </a:r>
            <a:r>
              <a:rPr lang="en-US" sz="3000" b="1" u="none" strike="noStrike">
                <a:solidFill>
                  <a:srgbClr val="2C5530"/>
                </a:solidFill>
                <a:effectLst/>
                <a:uFillTx/>
                <a:latin typeface="Cambria"/>
                <a:ea typeface="DejaVu Sans"/>
              </a:rPr>
              <a:t>μαζί</a:t>
            </a:r>
            <a:endParaRPr lang="en-US" sz="3000" b="0" u="none" strike="noStrike">
              <a:solidFill>
                <a:srgbClr val="000000"/>
              </a:solidFill>
              <a:effectLst/>
              <a:uFillTx/>
              <a:latin typeface="Arial"/>
            </a:endParaRPr>
          </a:p>
        </p:txBody>
      </p:sp>
      <p:sp>
        <p:nvSpPr>
          <p:cNvPr id="25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16</a:t>
            </a:r>
            <a:endParaRPr lang="en-US" sz="900" b="0" u="none" strike="noStrike">
              <a:solidFill>
                <a:srgbClr val="000000"/>
              </a:solidFill>
              <a:effectLst/>
              <a:uFillTx/>
              <a:latin typeface="Arial"/>
            </a:endParaRPr>
          </a:p>
        </p:txBody>
      </p:sp>
      <p:sp>
        <p:nvSpPr>
          <p:cNvPr id="253" name="TextBox 5"/>
          <p:cNvSpPr/>
          <p:nvPr/>
        </p:nvSpPr>
        <p:spPr>
          <a:xfrm>
            <a:off x="548640" y="2435040"/>
            <a:ext cx="5348520" cy="198252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Σε σύνολο 10 </a:t>
            </a:r>
            <a:r>
              <a:rPr lang="en-US" sz="1500" b="0" u="none" strike="noStrike">
                <a:solidFill>
                  <a:srgbClr val="241F1B"/>
                </a:solidFill>
                <a:effectLst/>
                <a:uFillTx/>
                <a:latin typeface="Calibri"/>
                <a:ea typeface="DejaVu Sans"/>
              </a:rPr>
              <a:t>καλαθιών, αν τα 3 </a:t>
            </a:r>
            <a:r>
              <a:rPr lang="en-US" sz="1500" b="0" u="none" strike="noStrike">
                <a:solidFill>
                  <a:srgbClr val="241F1B"/>
                </a:solidFill>
                <a:effectLst/>
                <a:uFillTx/>
                <a:latin typeface="Calibri"/>
                <a:ea typeface="DejaVu Sans"/>
              </a:rPr>
              <a:t>περιέχουν κινητό και </a:t>
            </a:r>
            <a:r>
              <a:rPr lang="en-US" sz="1500" b="0" u="none" strike="noStrike">
                <a:solidFill>
                  <a:srgbClr val="241F1B"/>
                </a:solidFill>
                <a:effectLst/>
                <a:uFillTx/>
                <a:latin typeface="Calibri"/>
                <a:ea typeface="DejaVu Sans"/>
              </a:rPr>
              <a:t>φορτιστή μαζί, το </a:t>
            </a:r>
            <a:r>
              <a:rPr lang="en-US" sz="1500" b="0" u="none" strike="noStrike">
                <a:solidFill>
                  <a:srgbClr val="241F1B"/>
                </a:solidFill>
                <a:effectLst/>
                <a:uFillTx/>
                <a:latin typeface="Calibri"/>
                <a:ea typeface="DejaVu Sans"/>
              </a:rPr>
              <a:t>Support είναι 0,3.</a:t>
            </a:r>
            <a:endParaRPr lang="en-US" sz="1500" b="0" u="none" strike="noStrike">
              <a:solidFill>
                <a:srgbClr val="000000"/>
              </a:solidFill>
              <a:effectLst/>
              <a:uFillTx/>
              <a:latin typeface="Arial"/>
            </a:endParaRPr>
          </a:p>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Αν ο φορτιστής </a:t>
            </a:r>
            <a:r>
              <a:rPr lang="en-US" sz="1500" b="0" u="none" strike="noStrike">
                <a:solidFill>
                  <a:srgbClr val="241F1B"/>
                </a:solidFill>
                <a:effectLst/>
                <a:uFillTx/>
                <a:latin typeface="Calibri"/>
                <a:ea typeface="DejaVu Sans"/>
              </a:rPr>
              <a:t>είναι σπάνιο προϊόν, </a:t>
            </a:r>
            <a:r>
              <a:rPr lang="en-US" sz="1500" b="0" u="none" strike="noStrike">
                <a:solidFill>
                  <a:srgbClr val="241F1B"/>
                </a:solidFill>
                <a:effectLst/>
                <a:uFillTx/>
                <a:latin typeface="Calibri"/>
                <a:ea typeface="DejaVu Sans"/>
              </a:rPr>
              <a:t>το Lift εκτοξεύεται </a:t>
            </a:r>
            <a:r>
              <a:rPr lang="en-US" sz="1500" b="0" u="none" strike="noStrike">
                <a:solidFill>
                  <a:srgbClr val="241F1B"/>
                </a:solidFill>
                <a:effectLst/>
                <a:uFillTx/>
                <a:latin typeface="Calibri"/>
                <a:ea typeface="DejaVu Sans"/>
              </a:rPr>
              <a:t>στο 3, δηλαδή </a:t>
            </a:r>
            <a:r>
              <a:rPr lang="en-US" sz="1500" b="0" u="none" strike="noStrike">
                <a:solidFill>
                  <a:srgbClr val="241F1B"/>
                </a:solidFill>
                <a:effectLst/>
                <a:uFillTx/>
                <a:latin typeface="Calibri"/>
                <a:ea typeface="DejaVu Sans"/>
              </a:rPr>
              <a:t>δείχνει τριπλάσια </a:t>
            </a:r>
            <a:r>
              <a:rPr lang="en-US" sz="1500" b="0" u="none" strike="noStrike">
                <a:solidFill>
                  <a:srgbClr val="241F1B"/>
                </a:solidFill>
                <a:effectLst/>
                <a:uFillTx/>
                <a:latin typeface="Calibri"/>
                <a:ea typeface="DejaVu Sans"/>
              </a:rPr>
              <a:t>πιθανότητα αγοράς.</a:t>
            </a:r>
            <a:endParaRPr lang="en-US" sz="1500" b="0" u="none" strike="noStrike">
              <a:solidFill>
                <a:srgbClr val="000000"/>
              </a:solidFill>
              <a:effectLst/>
              <a:uFillTx/>
              <a:latin typeface="Arial"/>
            </a:endParaRPr>
          </a:p>
          <a:p>
            <a:pPr defTabSz="457200">
              <a:lnSpc>
                <a:spcPct val="122000"/>
              </a:lnSpc>
              <a:spcAft>
                <a:spcPts val="901"/>
              </a:spcAft>
            </a:pPr>
            <a:endParaRPr lang="en-US" sz="1500" b="0" u="none" strike="noStrike">
              <a:solidFill>
                <a:srgbClr val="000000"/>
              </a:solidFill>
              <a:effectLst/>
              <a:uFillTx/>
              <a:latin typeface="Arial"/>
            </a:endParaRPr>
          </a:p>
        </p:txBody>
      </p:sp>
      <p:sp>
        <p:nvSpPr>
          <p:cNvPr id="254" name="Rounded Rectangle 6"/>
          <p:cNvSpPr/>
          <p:nvPr/>
        </p:nvSpPr>
        <p:spPr>
          <a:xfrm>
            <a:off x="6291000" y="225864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5" name="TextBox 7"/>
          <p:cNvSpPr/>
          <p:nvPr/>
        </p:nvSpPr>
        <p:spPr>
          <a:xfrm>
            <a:off x="6519600" y="242316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APRIORI, </a:t>
            </a:r>
            <a:r>
              <a:rPr lang="en-US" sz="1350" b="1" u="none" strike="noStrike">
                <a:solidFill>
                  <a:srgbClr val="2C5530"/>
                </a:solidFill>
                <a:effectLst/>
                <a:uFillTx/>
                <a:latin typeface="Cambria"/>
                <a:ea typeface="DejaVu Sans"/>
              </a:rPr>
              <a:t>1994</a:t>
            </a:r>
            <a:endParaRPr lang="en-US" sz="1350" b="0" u="none" strike="noStrike">
              <a:solidFill>
                <a:srgbClr val="000000"/>
              </a:solidFill>
              <a:effectLst/>
              <a:uFillTx/>
              <a:latin typeface="Arial"/>
            </a:endParaRPr>
          </a:p>
        </p:txBody>
      </p:sp>
      <p:sp>
        <p:nvSpPr>
          <p:cNvPr id="256" name="TextBox 8"/>
          <p:cNvSpPr/>
          <p:nvPr/>
        </p:nvSpPr>
        <p:spPr>
          <a:xfrm>
            <a:off x="6519600" y="276156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Σαρών</a:t>
            </a:r>
            <a:r>
              <a:rPr lang="en-US" sz="1400" b="0" u="none" strike="noStrike">
                <a:solidFill>
                  <a:srgbClr val="241F1B"/>
                </a:solidFill>
                <a:effectLst/>
                <a:uFillTx/>
                <a:latin typeface="Calibri"/>
                <a:ea typeface="DejaVu Sans"/>
              </a:rPr>
              <a:t>ει τη </a:t>
            </a:r>
            <a:r>
              <a:rPr lang="en-US" sz="1400" b="0" u="none" strike="noStrike">
                <a:solidFill>
                  <a:srgbClr val="241F1B"/>
                </a:solidFill>
                <a:effectLst/>
                <a:uFillTx/>
                <a:latin typeface="Calibri"/>
                <a:ea typeface="DejaVu Sans"/>
              </a:rPr>
              <a:t>βάση </a:t>
            </a:r>
            <a:r>
              <a:rPr lang="en-US" sz="1400" b="0" u="none" strike="noStrike">
                <a:solidFill>
                  <a:srgbClr val="241F1B"/>
                </a:solidFill>
                <a:effectLst/>
                <a:uFillTx/>
                <a:latin typeface="Calibri"/>
                <a:ea typeface="DejaVu Sans"/>
              </a:rPr>
              <a:t>πολλές </a:t>
            </a:r>
            <a:r>
              <a:rPr lang="en-US" sz="1400" b="0" u="none" strike="noStrike">
                <a:solidFill>
                  <a:srgbClr val="241F1B"/>
                </a:solidFill>
                <a:effectLst/>
                <a:uFillTx/>
                <a:latin typeface="Calibri"/>
                <a:ea typeface="DejaVu Sans"/>
              </a:rPr>
              <a:t>φορές, </a:t>
            </a:r>
            <a:r>
              <a:rPr lang="en-US" sz="1400" b="0" u="none" strike="noStrike">
                <a:solidFill>
                  <a:srgbClr val="241F1B"/>
                </a:solidFill>
                <a:effectLst/>
                <a:uFillTx/>
                <a:latin typeface="Calibri"/>
                <a:ea typeface="DejaVu Sans"/>
              </a:rPr>
              <a:t>ένα </a:t>
            </a:r>
            <a:r>
              <a:rPr lang="en-US" sz="1400" b="0" u="none" strike="noStrike">
                <a:solidFill>
                  <a:srgbClr val="241F1B"/>
                </a:solidFill>
                <a:effectLst/>
                <a:uFillTx/>
                <a:latin typeface="Calibri"/>
                <a:ea typeface="DejaVu Sans"/>
              </a:rPr>
              <a:t>επίπεδ</a:t>
            </a:r>
            <a:r>
              <a:rPr lang="en-US" sz="1400" b="0" u="none" strike="noStrike">
                <a:solidFill>
                  <a:srgbClr val="241F1B"/>
                </a:solidFill>
                <a:effectLst/>
                <a:uFillTx/>
                <a:latin typeface="Calibri"/>
                <a:ea typeface="DejaVu Sans"/>
              </a:rPr>
              <a:t>ο τη </a:t>
            </a:r>
            <a:r>
              <a:rPr lang="en-US" sz="1400" b="0" u="none" strike="noStrike">
                <a:solidFill>
                  <a:srgbClr val="241F1B"/>
                </a:solidFill>
                <a:effectLst/>
                <a:uFillTx/>
                <a:latin typeface="Calibri"/>
                <a:ea typeface="DejaVu Sans"/>
              </a:rPr>
              <a:t>φορά</a:t>
            </a:r>
            <a:endParaRPr lang="en-US" sz="1400" b="0" u="none" strike="noStrike">
              <a:solidFill>
                <a:srgbClr val="000000"/>
              </a:solidFill>
              <a:effectLst/>
              <a:uFillTx/>
              <a:latin typeface="Arial"/>
            </a:endParaRPr>
          </a:p>
        </p:txBody>
      </p:sp>
      <p:sp>
        <p:nvSpPr>
          <p:cNvPr id="257" name="Rounded Rectangle 9"/>
          <p:cNvSpPr/>
          <p:nvPr/>
        </p:nvSpPr>
        <p:spPr>
          <a:xfrm>
            <a:off x="6291000" y="3493080"/>
            <a:ext cx="5348520" cy="10508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8" name="TextBox 10"/>
          <p:cNvSpPr/>
          <p:nvPr/>
        </p:nvSpPr>
        <p:spPr>
          <a:xfrm>
            <a:off x="6519600" y="365760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FP-GROWTH, 2000</a:t>
            </a:r>
            <a:endParaRPr lang="en-US" sz="1350" b="0" u="none" strike="noStrike">
              <a:solidFill>
                <a:srgbClr val="000000"/>
              </a:solidFill>
              <a:effectLst/>
              <a:uFillTx/>
              <a:latin typeface="Arial"/>
            </a:endParaRPr>
          </a:p>
        </p:txBody>
      </p:sp>
      <p:sp>
        <p:nvSpPr>
          <p:cNvPr id="259" name="TextBox 11"/>
          <p:cNvSpPr/>
          <p:nvPr/>
        </p:nvSpPr>
        <p:spPr>
          <a:xfrm>
            <a:off x="6519600" y="3996000"/>
            <a:ext cx="4891320" cy="260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Χτίζει ένα συμπιεσμένο δέντρο και αναζητά σε αυτό</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ΕΞΟΡΥΞΗ ΣΥΧΝΩΝ ΣΥΝΟΛΩΝ</a:t>
            </a:r>
            <a:endParaRPr lang="en-US" sz="1200" b="0" u="none" strike="noStrike">
              <a:solidFill>
                <a:srgbClr val="000000"/>
              </a:solidFill>
              <a:effectLst/>
              <a:uFillTx/>
              <a:latin typeface="Arial"/>
            </a:endParaRPr>
          </a:p>
        </p:txBody>
      </p:sp>
      <p:sp>
        <p:nvSpPr>
          <p:cNvPr id="26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Apriori vs FP-Growth</a:t>
            </a:r>
            <a:endParaRPr lang="en-US" sz="3000" b="0" u="none" strike="noStrike">
              <a:solidFill>
                <a:srgbClr val="000000"/>
              </a:solidFill>
              <a:effectLst/>
              <a:uFillTx/>
              <a:latin typeface="Arial"/>
            </a:endParaRPr>
          </a:p>
        </p:txBody>
      </p:sp>
      <p:sp>
        <p:nvSpPr>
          <p:cNvPr id="262" name="TextBox 3"/>
          <p:cNvSpPr/>
          <p:nvPr/>
        </p:nvSpPr>
        <p:spPr>
          <a:xfrm>
            <a:off x="548640" y="6473880"/>
            <a:ext cx="36568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endParaRPr lang="en-US" sz="1800" b="0" u="none" strike="noStrike">
              <a:solidFill>
                <a:srgbClr val="000000"/>
              </a:solidFill>
              <a:effectLst/>
              <a:uFillTx/>
              <a:latin typeface="Arial"/>
            </a:endParaRPr>
          </a:p>
        </p:txBody>
      </p:sp>
      <p:sp>
        <p:nvSpPr>
          <p:cNvPr id="263"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17</a:t>
            </a:r>
            <a:endParaRPr lang="en-US" sz="900" b="0" u="none" strike="noStrike">
              <a:solidFill>
                <a:srgbClr val="000000"/>
              </a:solidFill>
              <a:effectLst/>
              <a:uFillTx/>
              <a:latin typeface="Arial"/>
            </a:endParaRPr>
          </a:p>
        </p:txBody>
      </p:sp>
      <p:pic>
        <p:nvPicPr>
          <p:cNvPr id="264" name="Picture 6" descr="basket-sizes.png"/>
          <p:cNvPicPr/>
          <p:nvPr/>
        </p:nvPicPr>
        <p:blipFill>
          <a:blip r:embed="rId1"/>
          <a:stretch/>
        </p:blipFill>
        <p:spPr>
          <a:xfrm>
            <a:off x="548640" y="2258640"/>
            <a:ext cx="5348520" cy="2376720"/>
          </a:xfrm>
          <a:prstGeom prst="rect">
            <a:avLst/>
          </a:prstGeom>
          <a:noFill/>
          <a:ln w="0">
            <a:noFill/>
          </a:ln>
        </p:spPr>
      </p:pic>
      <p:sp>
        <p:nvSpPr>
          <p:cNvPr id="265" name="Rectangle 7"/>
          <p:cNvSpPr/>
          <p:nvPr/>
        </p:nvSpPr>
        <p:spPr>
          <a:xfrm>
            <a:off x="548640" y="2258640"/>
            <a:ext cx="5348520" cy="237672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6" name="TextBox 8"/>
          <p:cNvSpPr/>
          <p:nvPr/>
        </p:nvSpPr>
        <p:spPr>
          <a:xfrm>
            <a:off x="548640" y="472752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Κατανομή μεγέθους καλαθιού, λογαριθμική κλίμακα</a:t>
            </a:r>
            <a:endParaRPr lang="en-US" sz="1100" b="0" u="none" strike="noStrike">
              <a:solidFill>
                <a:srgbClr val="000000"/>
              </a:solidFill>
              <a:effectLst/>
              <a:uFillTx/>
              <a:latin typeface="Arial"/>
            </a:endParaRPr>
          </a:p>
        </p:txBody>
      </p:sp>
      <p:sp>
        <p:nvSpPr>
          <p:cNvPr id="267" name="Rounded Rectangle 9"/>
          <p:cNvSpPr/>
          <p:nvPr/>
        </p:nvSpPr>
        <p:spPr>
          <a:xfrm>
            <a:off x="6248520" y="2419560"/>
            <a:ext cx="26006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8" name="TextBox 10"/>
          <p:cNvSpPr/>
          <p:nvPr/>
        </p:nvSpPr>
        <p:spPr>
          <a:xfrm>
            <a:off x="6248520" y="2511000"/>
            <a:ext cx="26006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36.269</a:t>
            </a:r>
            <a:endParaRPr lang="en-US" sz="2400" b="0" u="none" strike="noStrike">
              <a:solidFill>
                <a:srgbClr val="000000"/>
              </a:solidFill>
              <a:effectLst/>
              <a:uFillTx/>
              <a:latin typeface="Arial"/>
            </a:endParaRPr>
          </a:p>
        </p:txBody>
      </p:sp>
      <p:sp>
        <p:nvSpPr>
          <p:cNvPr id="269" name="TextBox 11"/>
          <p:cNvSpPr/>
          <p:nvPr/>
        </p:nvSpPr>
        <p:spPr>
          <a:xfrm>
            <a:off x="6303600" y="2968200"/>
            <a:ext cx="249084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Καλάθια με 2+ προϊόντα</a:t>
            </a:r>
            <a:endParaRPr lang="en-US" sz="1100" b="0" u="none" strike="noStrike">
              <a:solidFill>
                <a:srgbClr val="000000"/>
              </a:solidFill>
              <a:effectLst/>
              <a:uFillTx/>
              <a:latin typeface="Arial"/>
            </a:endParaRPr>
          </a:p>
        </p:txBody>
      </p:sp>
      <p:sp>
        <p:nvSpPr>
          <p:cNvPr id="270" name="Rounded Rectangle 12"/>
          <p:cNvSpPr/>
          <p:nvPr/>
        </p:nvSpPr>
        <p:spPr>
          <a:xfrm>
            <a:off x="8996400" y="2419560"/>
            <a:ext cx="260064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1" name="TextBox 13"/>
          <p:cNvSpPr/>
          <p:nvPr/>
        </p:nvSpPr>
        <p:spPr>
          <a:xfrm>
            <a:off x="8996400" y="2511000"/>
            <a:ext cx="260064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17</a:t>
            </a:r>
            <a:endParaRPr lang="en-US" sz="2400" b="0" u="none" strike="noStrike">
              <a:solidFill>
                <a:srgbClr val="000000"/>
              </a:solidFill>
              <a:effectLst/>
              <a:uFillTx/>
              <a:latin typeface="Arial"/>
            </a:endParaRPr>
          </a:p>
        </p:txBody>
      </p:sp>
      <p:sp>
        <p:nvSpPr>
          <p:cNvPr id="272" name="TextBox 14"/>
          <p:cNvSpPr/>
          <p:nvPr/>
        </p:nvSpPr>
        <p:spPr>
          <a:xfrm>
            <a:off x="9051120" y="2968200"/>
            <a:ext cx="249084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Προϊόντα στο καλάθι</a:t>
            </a:r>
            <a:endParaRPr lang="en-US" sz="1100" b="0" u="none" strike="noStrike">
              <a:solidFill>
                <a:srgbClr val="000000"/>
              </a:solidFill>
              <a:effectLst/>
              <a:uFillTx/>
              <a:latin typeface="Arial"/>
            </a:endParaRPr>
          </a:p>
        </p:txBody>
      </p:sp>
      <p:sp>
        <p:nvSpPr>
          <p:cNvPr id="273" name="Rectangle 15"/>
          <p:cNvSpPr/>
          <p:nvPr/>
        </p:nvSpPr>
        <p:spPr>
          <a:xfrm>
            <a:off x="6248520" y="353520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4" name="TextBox 16"/>
          <p:cNvSpPr/>
          <p:nvPr/>
        </p:nvSpPr>
        <p:spPr>
          <a:xfrm>
            <a:off x="6339960" y="3617280"/>
            <a:ext cx="16351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Αλγόριθμος</a:t>
            </a:r>
            <a:endParaRPr lang="en-US" sz="1200" b="0" u="none" strike="noStrike">
              <a:solidFill>
                <a:srgbClr val="000000"/>
              </a:solidFill>
              <a:effectLst/>
              <a:uFillTx/>
              <a:latin typeface="Arial"/>
            </a:endParaRPr>
          </a:p>
        </p:txBody>
      </p:sp>
      <p:sp>
        <p:nvSpPr>
          <p:cNvPr id="275" name="TextBox 17"/>
          <p:cNvSpPr/>
          <p:nvPr/>
        </p:nvSpPr>
        <p:spPr>
          <a:xfrm>
            <a:off x="8158680" y="361728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Χρόνος</a:t>
            </a:r>
            <a:endParaRPr lang="en-US" sz="1200" b="0" u="none" strike="noStrike">
              <a:solidFill>
                <a:srgbClr val="000000"/>
              </a:solidFill>
              <a:effectLst/>
              <a:uFillTx/>
              <a:latin typeface="Arial"/>
            </a:endParaRPr>
          </a:p>
        </p:txBody>
      </p:sp>
      <p:sp>
        <p:nvSpPr>
          <p:cNvPr id="276" name="TextBox 18"/>
          <p:cNvSpPr/>
          <p:nvPr/>
        </p:nvSpPr>
        <p:spPr>
          <a:xfrm>
            <a:off x="9335520" y="361728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Σύνολα</a:t>
            </a:r>
            <a:endParaRPr lang="en-US" sz="1200" b="0" u="none" strike="noStrike">
              <a:solidFill>
                <a:srgbClr val="000000"/>
              </a:solidFill>
              <a:effectLst/>
              <a:uFillTx/>
              <a:latin typeface="Arial"/>
            </a:endParaRPr>
          </a:p>
        </p:txBody>
      </p:sp>
      <p:sp>
        <p:nvSpPr>
          <p:cNvPr id="277" name="TextBox 19"/>
          <p:cNvSpPr/>
          <p:nvPr/>
        </p:nvSpPr>
        <p:spPr>
          <a:xfrm>
            <a:off x="10512360" y="361728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Κανόνες</a:t>
            </a:r>
            <a:endParaRPr lang="en-US" sz="1200" b="0" u="none" strike="noStrike">
              <a:solidFill>
                <a:srgbClr val="000000"/>
              </a:solidFill>
              <a:effectLst/>
              <a:uFillTx/>
              <a:latin typeface="Arial"/>
            </a:endParaRPr>
          </a:p>
        </p:txBody>
      </p:sp>
      <p:sp>
        <p:nvSpPr>
          <p:cNvPr id="278" name="TextBox 20"/>
          <p:cNvSpPr/>
          <p:nvPr/>
        </p:nvSpPr>
        <p:spPr>
          <a:xfrm>
            <a:off x="6339960" y="397404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Apriori</a:t>
            </a:r>
            <a:endParaRPr lang="en-US" sz="1250" b="0" u="none" strike="noStrike">
              <a:solidFill>
                <a:srgbClr val="000000"/>
              </a:solidFill>
              <a:effectLst/>
              <a:uFillTx/>
              <a:latin typeface="Arial"/>
            </a:endParaRPr>
          </a:p>
        </p:txBody>
      </p:sp>
      <p:sp>
        <p:nvSpPr>
          <p:cNvPr id="279" name="TextBox 21"/>
          <p:cNvSpPr/>
          <p:nvPr/>
        </p:nvSpPr>
        <p:spPr>
          <a:xfrm>
            <a:off x="8158680" y="39740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5,14 s</a:t>
            </a:r>
            <a:endParaRPr lang="en-US" sz="1250" b="0" u="none" strike="noStrike">
              <a:solidFill>
                <a:srgbClr val="000000"/>
              </a:solidFill>
              <a:effectLst/>
              <a:uFillTx/>
              <a:latin typeface="Arial"/>
            </a:endParaRPr>
          </a:p>
        </p:txBody>
      </p:sp>
      <p:sp>
        <p:nvSpPr>
          <p:cNvPr id="280" name="TextBox 22"/>
          <p:cNvSpPr/>
          <p:nvPr/>
        </p:nvSpPr>
        <p:spPr>
          <a:xfrm>
            <a:off x="9335520" y="39740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385</a:t>
            </a:r>
            <a:endParaRPr lang="en-US" sz="1250" b="0" u="none" strike="noStrike">
              <a:solidFill>
                <a:srgbClr val="000000"/>
              </a:solidFill>
              <a:effectLst/>
              <a:uFillTx/>
              <a:latin typeface="Arial"/>
            </a:endParaRPr>
          </a:p>
        </p:txBody>
      </p:sp>
      <p:sp>
        <p:nvSpPr>
          <p:cNvPr id="281" name="TextBox 23"/>
          <p:cNvSpPr/>
          <p:nvPr/>
        </p:nvSpPr>
        <p:spPr>
          <a:xfrm>
            <a:off x="10512360" y="39740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134</a:t>
            </a:r>
            <a:endParaRPr lang="en-US" sz="1250" b="0" u="none" strike="noStrike">
              <a:solidFill>
                <a:srgbClr val="000000"/>
              </a:solidFill>
              <a:effectLst/>
              <a:uFillTx/>
              <a:latin typeface="Arial"/>
            </a:endParaRPr>
          </a:p>
        </p:txBody>
      </p:sp>
      <p:sp>
        <p:nvSpPr>
          <p:cNvPr id="282" name="TextBox 25"/>
          <p:cNvSpPr/>
          <p:nvPr/>
        </p:nvSpPr>
        <p:spPr>
          <a:xfrm>
            <a:off x="6339960" y="433980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FP-Growth</a:t>
            </a:r>
            <a:endParaRPr lang="en-US" sz="1250" b="0" u="none" strike="noStrike">
              <a:solidFill>
                <a:srgbClr val="000000"/>
              </a:solidFill>
              <a:effectLst/>
              <a:uFillTx/>
              <a:latin typeface="Arial"/>
            </a:endParaRPr>
          </a:p>
        </p:txBody>
      </p:sp>
      <p:sp>
        <p:nvSpPr>
          <p:cNvPr id="283" name="TextBox 26"/>
          <p:cNvSpPr/>
          <p:nvPr/>
        </p:nvSpPr>
        <p:spPr>
          <a:xfrm>
            <a:off x="8158680" y="43398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1,96 s</a:t>
            </a:r>
            <a:endParaRPr lang="en-US" sz="1250" b="0" u="none" strike="noStrike">
              <a:solidFill>
                <a:srgbClr val="000000"/>
              </a:solidFill>
              <a:effectLst/>
              <a:uFillTx/>
              <a:latin typeface="Arial"/>
            </a:endParaRPr>
          </a:p>
        </p:txBody>
      </p:sp>
      <p:sp>
        <p:nvSpPr>
          <p:cNvPr id="284" name="TextBox 27"/>
          <p:cNvSpPr/>
          <p:nvPr/>
        </p:nvSpPr>
        <p:spPr>
          <a:xfrm>
            <a:off x="9335520" y="43398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385</a:t>
            </a:r>
            <a:endParaRPr lang="en-US" sz="1250" b="0" u="none" strike="noStrike">
              <a:solidFill>
                <a:srgbClr val="000000"/>
              </a:solidFill>
              <a:effectLst/>
              <a:uFillTx/>
              <a:latin typeface="Arial"/>
            </a:endParaRPr>
          </a:p>
        </p:txBody>
      </p:sp>
      <p:sp>
        <p:nvSpPr>
          <p:cNvPr id="285" name="TextBox 28"/>
          <p:cNvSpPr/>
          <p:nvPr/>
        </p:nvSpPr>
        <p:spPr>
          <a:xfrm>
            <a:off x="10512360" y="43398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134</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ΚΑΝΟΝ</a:t>
            </a:r>
            <a:r>
              <a:rPr lang="en-US" sz="1200" b="1" u="none" strike="noStrike">
                <a:solidFill>
                  <a:srgbClr val="E8A33D"/>
                </a:solidFill>
                <a:effectLst/>
                <a:uFillTx/>
                <a:latin typeface="Calibri"/>
                <a:ea typeface="DejaVu Sans"/>
              </a:rPr>
              <a:t>ΕΣ </a:t>
            </a:r>
            <a:r>
              <a:rPr lang="en-US" sz="1200" b="1" u="none" strike="noStrike">
                <a:solidFill>
                  <a:srgbClr val="E8A33D"/>
                </a:solidFill>
                <a:effectLst/>
                <a:uFillTx/>
                <a:latin typeface="Calibri"/>
                <a:ea typeface="DejaVu Sans"/>
              </a:rPr>
              <a:t>ΣΥΣΧΕΤΙ</a:t>
            </a:r>
            <a:r>
              <a:rPr lang="en-US" sz="1200" b="1" u="none" strike="noStrike">
                <a:solidFill>
                  <a:srgbClr val="E8A33D"/>
                </a:solidFill>
                <a:effectLst/>
                <a:uFillTx/>
                <a:latin typeface="Calibri"/>
                <a:ea typeface="DejaVu Sans"/>
              </a:rPr>
              <a:t>ΣΗΣ</a:t>
            </a:r>
            <a:endParaRPr lang="en-US" sz="1200" b="0" u="none" strike="noStrike">
              <a:solidFill>
                <a:srgbClr val="000000"/>
              </a:solidFill>
              <a:effectLst/>
              <a:uFillTx/>
              <a:latin typeface="Arial"/>
            </a:endParaRPr>
          </a:p>
        </p:txBody>
      </p:sp>
      <p:sp>
        <p:nvSpPr>
          <p:cNvPr id="287"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Lift</a:t>
            </a:r>
            <a:endParaRPr lang="en-US" sz="3000" b="0" u="none" strike="noStrike">
              <a:solidFill>
                <a:srgbClr val="000000"/>
              </a:solidFill>
              <a:effectLst/>
              <a:uFillTx/>
              <a:latin typeface="Arial"/>
            </a:endParaRPr>
          </a:p>
        </p:txBody>
      </p:sp>
      <p:sp>
        <p:nvSpPr>
          <p:cNvPr id="28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18</a:t>
            </a:r>
            <a:endParaRPr lang="en-US" sz="900" b="0" u="none" strike="noStrike">
              <a:solidFill>
                <a:srgbClr val="000000"/>
              </a:solidFill>
              <a:effectLst/>
              <a:uFillTx/>
              <a:latin typeface="Arial"/>
            </a:endParaRPr>
          </a:p>
        </p:txBody>
      </p:sp>
      <p:pic>
        <p:nvPicPr>
          <p:cNvPr id="289" name="Picture 5" descr="association-rules.png"/>
          <p:cNvPicPr/>
          <p:nvPr/>
        </p:nvPicPr>
        <p:blipFill>
          <a:blip r:embed="rId1"/>
          <a:stretch/>
        </p:blipFill>
        <p:spPr>
          <a:xfrm>
            <a:off x="809280" y="1755360"/>
            <a:ext cx="4827240" cy="3016800"/>
          </a:xfrm>
          <a:prstGeom prst="rect">
            <a:avLst/>
          </a:prstGeom>
          <a:noFill/>
          <a:ln w="0">
            <a:noFill/>
          </a:ln>
        </p:spPr>
      </p:pic>
      <p:sp>
        <p:nvSpPr>
          <p:cNvPr id="290" name="Rectangle 6"/>
          <p:cNvSpPr/>
          <p:nvPr/>
        </p:nvSpPr>
        <p:spPr>
          <a:xfrm>
            <a:off x="809280" y="1755360"/>
            <a:ext cx="4827240" cy="301680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1" name="TextBox 7"/>
          <p:cNvSpPr/>
          <p:nvPr/>
        </p:nvSpPr>
        <p:spPr>
          <a:xfrm>
            <a:off x="548640" y="486432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Οι 134 κανόνες: support έναντι confidence, χρώμα το lift</a:t>
            </a:r>
            <a:endParaRPr lang="en-US" sz="1100" b="0" u="none" strike="noStrike">
              <a:solidFill>
                <a:srgbClr val="000000"/>
              </a:solidFill>
              <a:effectLst/>
              <a:uFillTx/>
              <a:latin typeface="Arial"/>
            </a:endParaRPr>
          </a:p>
        </p:txBody>
      </p:sp>
      <p:pic>
        <p:nvPicPr>
          <p:cNvPr id="292" name="Picture 8" descr="support-sensitivity.png"/>
          <p:cNvPicPr/>
          <p:nvPr/>
        </p:nvPicPr>
        <p:blipFill>
          <a:blip r:embed="rId2"/>
          <a:stretch/>
        </p:blipFill>
        <p:spPr>
          <a:xfrm>
            <a:off x="6291000" y="1926720"/>
            <a:ext cx="5348520" cy="2674080"/>
          </a:xfrm>
          <a:prstGeom prst="rect">
            <a:avLst/>
          </a:prstGeom>
          <a:noFill/>
          <a:ln w="0">
            <a:noFill/>
          </a:ln>
        </p:spPr>
      </p:pic>
      <p:sp>
        <p:nvSpPr>
          <p:cNvPr id="293" name="Rectangle 9"/>
          <p:cNvSpPr/>
          <p:nvPr/>
        </p:nvSpPr>
        <p:spPr>
          <a:xfrm>
            <a:off x="6291000" y="1926720"/>
            <a:ext cx="5348520" cy="26740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4" name="TextBox 10"/>
          <p:cNvSpPr/>
          <p:nvPr/>
        </p:nvSpPr>
        <p:spPr>
          <a:xfrm>
            <a:off x="6291000" y="486432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Πλήθος </a:t>
            </a:r>
            <a:r>
              <a:rPr lang="en-US" sz="1100" b="0" u="none" strike="noStrike">
                <a:solidFill>
                  <a:srgbClr val="6B6259"/>
                </a:solidFill>
                <a:effectLst/>
                <a:uFillTx/>
                <a:latin typeface="Calibri"/>
                <a:ea typeface="DejaVu Sans"/>
              </a:rPr>
              <a:t>συχνών </a:t>
            </a:r>
            <a:r>
              <a:rPr lang="en-US" sz="1100" b="0" u="none" strike="noStrike">
                <a:solidFill>
                  <a:srgbClr val="6B6259"/>
                </a:solidFill>
                <a:effectLst/>
                <a:uFillTx/>
                <a:latin typeface="Calibri"/>
                <a:ea typeface="DejaVu Sans"/>
              </a:rPr>
              <a:t>συνόλων </a:t>
            </a:r>
            <a:r>
              <a:rPr lang="en-US" sz="1100" b="0" u="none" strike="noStrike">
                <a:solidFill>
                  <a:srgbClr val="6B6259"/>
                </a:solidFill>
                <a:effectLst/>
                <a:uFillTx/>
                <a:latin typeface="Calibri"/>
                <a:ea typeface="DejaVu Sans"/>
              </a:rPr>
              <a:t>ανά </a:t>
            </a:r>
            <a:r>
              <a:rPr lang="en-US" sz="1100" b="0" u="none" strike="noStrike">
                <a:solidFill>
                  <a:srgbClr val="6B6259"/>
                </a:solidFill>
                <a:effectLst/>
                <a:uFillTx/>
                <a:latin typeface="Calibri"/>
                <a:ea typeface="DejaVu Sans"/>
              </a:rPr>
              <a:t>κατώφλι </a:t>
            </a:r>
            <a:r>
              <a:rPr lang="en-US" sz="1100" b="0" u="none" strike="noStrike">
                <a:solidFill>
                  <a:srgbClr val="6B6259"/>
                </a:solidFill>
                <a:effectLst/>
                <a:uFillTx/>
                <a:latin typeface="Calibri"/>
                <a:ea typeface="DejaVu Sans"/>
              </a:rPr>
              <a:t>support</a:t>
            </a:r>
            <a:endParaRPr lang="en-US" sz="1100" b="0" u="none" strike="noStrike">
              <a:solidFill>
                <a:srgbClr val="000000"/>
              </a:solidFill>
              <a:effectLst/>
              <a:uFillTx/>
              <a:latin typeface="Arial"/>
            </a:endParaRPr>
          </a:p>
        </p:txBody>
      </p:sp>
      <p:sp>
        <p:nvSpPr>
          <p:cNvPr id="295" name="TextBox 11"/>
          <p:cNvSpPr/>
          <p:nvPr/>
        </p:nvSpPr>
        <p:spPr>
          <a:xfrm>
            <a:off x="548640" y="5389200"/>
            <a:ext cx="11090880" cy="8586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300" b="0" u="none" strike="noStrike">
                <a:solidFill>
                  <a:srgbClr val="241F1B"/>
                </a:solidFill>
                <a:effectLst/>
                <a:uFillTx/>
                <a:latin typeface="Calibri"/>
                <a:ea typeface="DejaVu Sans"/>
              </a:rPr>
              <a:t>Ο Lift αφορά τις </a:t>
            </a:r>
            <a:r>
              <a:rPr lang="en-US" sz="1300" b="0" u="none" strike="noStrike">
                <a:solidFill>
                  <a:srgbClr val="241F1B"/>
                </a:solidFill>
                <a:effectLst/>
                <a:uFillTx/>
                <a:latin typeface="Calibri"/>
                <a:ea typeface="DejaVu Sans"/>
              </a:rPr>
              <a:t>χρωματικές </a:t>
            </a:r>
            <a:r>
              <a:rPr lang="en-US" sz="1300" b="0" u="none" strike="noStrike">
                <a:solidFill>
                  <a:srgbClr val="241F1B"/>
                </a:solidFill>
                <a:effectLst/>
                <a:uFillTx/>
                <a:latin typeface="Calibri"/>
                <a:ea typeface="DejaVu Sans"/>
              </a:rPr>
              <a:t>παραλλαγές του </a:t>
            </a:r>
            <a:r>
              <a:rPr lang="en-US" sz="1300" b="0" u="none" strike="noStrike">
                <a:solidFill>
                  <a:srgbClr val="241F1B"/>
                </a:solidFill>
                <a:effectLst/>
                <a:uFillTx/>
                <a:latin typeface="Calibri"/>
                <a:ea typeface="DejaVu Sans"/>
              </a:rPr>
              <a:t>REGENCY TEACUP </a:t>
            </a:r>
            <a:r>
              <a:rPr lang="en-US" sz="1300" b="0" u="none" strike="noStrike">
                <a:solidFill>
                  <a:srgbClr val="241F1B"/>
                </a:solidFill>
                <a:effectLst/>
                <a:uFillTx/>
                <a:latin typeface="Calibri"/>
                <a:ea typeface="DejaVu Sans"/>
              </a:rPr>
              <a:t>AND SAUCER. </a:t>
            </a:r>
            <a:r>
              <a:rPr lang="en-US" sz="1300" b="0" u="none" strike="noStrike">
                <a:solidFill>
                  <a:srgbClr val="241F1B"/>
                </a:solidFill>
                <a:effectLst/>
                <a:uFillTx/>
                <a:latin typeface="Calibri"/>
                <a:ea typeface="DejaVu Sans"/>
              </a:rPr>
              <a:t>Αγοράζονται μαζί </a:t>
            </a:r>
            <a:r>
              <a:rPr lang="en-US" sz="1300" b="0" u="none" strike="noStrike">
                <a:solidFill>
                  <a:srgbClr val="241F1B"/>
                </a:solidFill>
                <a:effectLst/>
                <a:uFillTx/>
                <a:latin typeface="Calibri"/>
                <a:ea typeface="DejaVu Sans"/>
              </a:rPr>
              <a:t>εικοσιπέντε φορές </a:t>
            </a:r>
            <a:r>
              <a:rPr lang="en-US" sz="1300" b="0" u="none" strike="noStrike">
                <a:solidFill>
                  <a:srgbClr val="241F1B"/>
                </a:solidFill>
                <a:effectLst/>
                <a:uFillTx/>
                <a:latin typeface="Calibri"/>
                <a:ea typeface="DejaVu Sans"/>
              </a:rPr>
              <a:t>πιο συχνά απ' ό,τι </a:t>
            </a:r>
            <a:r>
              <a:rPr lang="en-US" sz="1300" b="0" u="none" strike="noStrike">
                <a:solidFill>
                  <a:srgbClr val="241F1B"/>
                </a:solidFill>
                <a:effectLst/>
                <a:uFillTx/>
                <a:latin typeface="Calibri"/>
                <a:ea typeface="DejaVu Sans"/>
              </a:rPr>
              <a:t>αν ήταν άσχετα </a:t>
            </a:r>
            <a:r>
              <a:rPr lang="en-US" sz="1300" b="0" u="none" strike="noStrike">
                <a:solidFill>
                  <a:srgbClr val="241F1B"/>
                </a:solidFill>
                <a:effectLst/>
                <a:uFillTx/>
                <a:latin typeface="Calibri"/>
                <a:ea typeface="DejaVu Sans"/>
              </a:rPr>
              <a:t>μεταξύ τους.</a:t>
            </a:r>
            <a:endParaRPr lang="en-US" sz="13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a:t>
            </a:r>
            <a:r>
              <a:rPr lang="en-US" sz="1300" b="0" u="none" strike="noStrike">
                <a:solidFill>
                  <a:srgbClr val="224B12"/>
                </a:solidFill>
                <a:effectLst/>
                <a:uFillTx/>
                <a:latin typeface="Calibri"/>
                <a:ea typeface="DejaVu Sans"/>
              </a:rPr>
              <a:t> </a:t>
            </a:r>
            <a:r>
              <a:rPr lang="en-US" sz="1300" b="0" u="none" strike="noStrike">
                <a:solidFill>
                  <a:srgbClr val="241F1B"/>
                </a:solidFill>
                <a:effectLst/>
                <a:uFillTx/>
                <a:latin typeface="Calibri"/>
                <a:ea typeface="DejaVu Sans"/>
              </a:rPr>
              <a:t>Όσο ανεβαίνει το </a:t>
            </a:r>
            <a:r>
              <a:rPr lang="en-US" sz="1300" b="0" u="none" strike="noStrike">
                <a:solidFill>
                  <a:srgbClr val="241F1B"/>
                </a:solidFill>
                <a:effectLst/>
                <a:uFillTx/>
                <a:latin typeface="Calibri"/>
                <a:ea typeface="DejaVu Sans"/>
              </a:rPr>
              <a:t>κατώφλι, τόσο </a:t>
            </a:r>
            <a:r>
              <a:rPr lang="en-US" sz="1300" b="0" u="none" strike="noStrike">
                <a:solidFill>
                  <a:srgbClr val="241F1B"/>
                </a:solidFill>
                <a:effectLst/>
                <a:uFillTx/>
                <a:latin typeface="Calibri"/>
                <a:ea typeface="DejaVu Sans"/>
              </a:rPr>
              <a:t>λιγότεροι αλλά πιο </a:t>
            </a:r>
            <a:r>
              <a:rPr lang="en-US" sz="1300" b="0" u="none" strike="noStrike">
                <a:solidFill>
                  <a:srgbClr val="241F1B"/>
                </a:solidFill>
                <a:effectLst/>
                <a:uFillTx/>
                <a:latin typeface="Calibri"/>
                <a:ea typeface="DejaVu Sans"/>
              </a:rPr>
              <a:t>σίγουροι κανόνες. </a:t>
            </a:r>
            <a:r>
              <a:rPr lang="en-US" sz="1300" b="0" u="none" strike="noStrike">
                <a:solidFill>
                  <a:srgbClr val="241F1B"/>
                </a:solidFill>
                <a:effectLst/>
                <a:uFillTx/>
                <a:latin typeface="Calibri"/>
                <a:ea typeface="DejaVu Sans"/>
              </a:rPr>
              <a:t>Στο 5% δεν </a:t>
            </a:r>
            <a:r>
              <a:rPr lang="en-US" sz="1300" b="0" u="none" strike="noStrike">
                <a:solidFill>
                  <a:srgbClr val="241F1B"/>
                </a:solidFill>
                <a:effectLst/>
                <a:uFillTx/>
                <a:latin typeface="Calibri"/>
                <a:ea typeface="DejaVu Sans"/>
              </a:rPr>
              <a:t>επιβιώνει κανένας, </a:t>
            </a:r>
            <a:r>
              <a:rPr lang="en-US" sz="1300" b="0" u="none" strike="noStrike">
                <a:solidFill>
                  <a:srgbClr val="241F1B"/>
                </a:solidFill>
                <a:effectLst/>
                <a:uFillTx/>
                <a:latin typeface="Calibri"/>
                <a:ea typeface="DejaVu Sans"/>
              </a:rPr>
              <a:t>σε κατάλογο 4.900 </a:t>
            </a:r>
            <a:r>
              <a:rPr lang="en-US" sz="1300" b="0" u="none" strike="noStrike">
                <a:solidFill>
                  <a:srgbClr val="241F1B"/>
                </a:solidFill>
                <a:effectLst/>
                <a:uFillTx/>
                <a:latin typeface="Calibri"/>
                <a:ea typeface="DejaVu Sans"/>
              </a:rPr>
              <a:t>προϊόντων.</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Η ΤΕΧΝΙΚΗ</a:t>
            </a:r>
            <a:endParaRPr lang="en-US" sz="1200" b="0" u="none" strike="noStrike">
              <a:solidFill>
                <a:srgbClr val="000000"/>
              </a:solidFill>
              <a:effectLst/>
              <a:uFillTx/>
              <a:latin typeface="Arial"/>
            </a:endParaRPr>
          </a:p>
        </p:txBody>
      </p:sp>
      <p:sp>
        <p:nvSpPr>
          <p:cNvPr id="297"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Ομαδοποίηση σε δύο επίπεδα</a:t>
            </a:r>
            <a:endParaRPr lang="en-US" sz="3000" b="0" u="none" strike="noStrike">
              <a:solidFill>
                <a:srgbClr val="000000"/>
              </a:solidFill>
              <a:effectLst/>
              <a:uFillTx/>
              <a:latin typeface="Arial"/>
            </a:endParaRPr>
          </a:p>
        </p:txBody>
      </p:sp>
      <p:sp>
        <p:nvSpPr>
          <p:cNvPr id="29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19</a:t>
            </a:r>
            <a:endParaRPr lang="en-US" sz="900" b="0" u="none" strike="noStrike">
              <a:solidFill>
                <a:srgbClr val="000000"/>
              </a:solidFill>
              <a:effectLst/>
              <a:uFillTx/>
              <a:latin typeface="Arial"/>
            </a:endParaRPr>
          </a:p>
        </p:txBody>
      </p:sp>
      <p:sp>
        <p:nvSpPr>
          <p:cNvPr id="299" name="TextBox 6"/>
          <p:cNvSpPr/>
          <p:nvPr/>
        </p:nvSpPr>
        <p:spPr>
          <a:xfrm>
            <a:off x="497880" y="2286000"/>
            <a:ext cx="5348520" cy="269244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Ο αλγόριθμος k-means ομαδοποιεί τα στοιχεία ανάλογα με τις ομοιότητές τους, τοποθετώντας τα στο πλησιέστερο κέντρο και επαναλαμβάνοντας τη διαδικασία μέχρι να σταθεροποιηθούν τα κέντρα.</a:t>
            </a:r>
            <a:endParaRPr lang="en-US" sz="1500" b="0" u="none" strike="noStrike">
              <a:solidFill>
                <a:srgbClr val="000000"/>
              </a:solidFill>
              <a:effectLst/>
              <a:uFillTx/>
              <a:latin typeface="Arial"/>
            </a:endParaRPr>
          </a:p>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Για τον καθορισμό του αριθμού των ομάδων, δοκιμάζουμε πολλές τιμές και επιλέγουμε εκείνη που πετυχαίνει το καλύτερο silhouette score, το οποίο μετρά πόσο καθαρά έχουν διαχωριστεί οι ομάδες μεταξύ τους.</a:t>
            </a:r>
            <a:endParaRPr lang="en-US" sz="1500" b="0" u="none" strike="noStrike">
              <a:solidFill>
                <a:srgbClr val="000000"/>
              </a:solidFill>
              <a:effectLst/>
              <a:uFillTx/>
              <a:latin typeface="Arial"/>
            </a:endParaRPr>
          </a:p>
        </p:txBody>
      </p:sp>
      <p:sp>
        <p:nvSpPr>
          <p:cNvPr id="300" name="Rounded Rectangle 7"/>
          <p:cNvSpPr/>
          <p:nvPr/>
        </p:nvSpPr>
        <p:spPr>
          <a:xfrm>
            <a:off x="6291000" y="1828800"/>
            <a:ext cx="5348520" cy="16858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1" name="TextBox 8"/>
          <p:cNvSpPr/>
          <p:nvPr/>
        </p:nvSpPr>
        <p:spPr>
          <a:xfrm>
            <a:off x="6538680" y="182880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ΠΡΩΤΟ ΕΠΙΠΕΔΟ</a:t>
            </a:r>
            <a:endParaRPr lang="en-US" sz="1350" b="0" u="none" strike="noStrike">
              <a:solidFill>
                <a:srgbClr val="000000"/>
              </a:solidFill>
              <a:effectLst/>
              <a:uFillTx/>
              <a:latin typeface="Arial"/>
            </a:endParaRPr>
          </a:p>
        </p:txBody>
      </p:sp>
      <p:sp>
        <p:nvSpPr>
          <p:cNvPr id="302" name="TextBox 9"/>
          <p:cNvSpPr/>
          <p:nvPr/>
        </p:nvSpPr>
        <p:spPr>
          <a:xfrm>
            <a:off x="6519600" y="2286000"/>
            <a:ext cx="4891320" cy="1041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Ομαδοποίη</a:t>
            </a:r>
            <a:r>
              <a:rPr lang="en-US" sz="1400" b="0" u="none" strike="noStrike">
                <a:solidFill>
                  <a:srgbClr val="241F1B"/>
                </a:solidFill>
                <a:effectLst/>
                <a:uFillTx/>
                <a:latin typeface="Calibri"/>
                <a:ea typeface="DejaVu Sans"/>
              </a:rPr>
              <a:t>ση των </a:t>
            </a:r>
            <a:r>
              <a:rPr lang="en-US" sz="1400" b="0" u="none" strike="noStrike">
                <a:solidFill>
                  <a:srgbClr val="241F1B"/>
                </a:solidFill>
                <a:effectLst/>
                <a:uFillTx/>
                <a:latin typeface="Calibri"/>
                <a:ea typeface="DejaVu Sans"/>
              </a:rPr>
              <a:t>περιοχών </a:t>
            </a:r>
            <a:r>
              <a:rPr lang="en-US" sz="1400" b="0" u="none" strike="noStrike">
                <a:solidFill>
                  <a:srgbClr val="241F1B"/>
                </a:solidFill>
                <a:effectLst/>
                <a:uFillTx/>
                <a:latin typeface="Calibri"/>
                <a:ea typeface="DejaVu Sans"/>
              </a:rPr>
              <a:t>με βάση:</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έσοδα</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a:t>
            </a:r>
            <a:r>
              <a:rPr lang="en-US" sz="1400" b="0" u="none" strike="noStrike">
                <a:solidFill>
                  <a:srgbClr val="241F1B"/>
                </a:solidFill>
                <a:effectLst/>
                <a:uFillTx/>
                <a:latin typeface="Calibri"/>
                <a:ea typeface="DejaVu Sans"/>
              </a:rPr>
              <a:t>παραγγελίε</a:t>
            </a:r>
            <a:r>
              <a:rPr lang="en-US" sz="1400" b="0" u="none" strike="noStrike">
                <a:solidFill>
                  <a:srgbClr val="241F1B"/>
                </a:solidFill>
                <a:effectLst/>
                <a:uFillTx/>
                <a:latin typeface="Calibri"/>
                <a:ea typeface="DejaVu Sans"/>
              </a:rPr>
              <a:t>ς </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σε </a:t>
            </a:r>
            <a:r>
              <a:rPr lang="en-US" sz="1400" b="0" u="none" strike="noStrike">
                <a:solidFill>
                  <a:srgbClr val="241F1B"/>
                </a:solidFill>
                <a:effectLst/>
                <a:uFillTx/>
                <a:latin typeface="Calibri"/>
                <a:ea typeface="DejaVu Sans"/>
              </a:rPr>
              <a:t>πόσους </a:t>
            </a:r>
            <a:r>
              <a:rPr lang="en-US" sz="1400" b="0" u="none" strike="noStrike">
                <a:solidFill>
                  <a:srgbClr val="241F1B"/>
                </a:solidFill>
                <a:effectLst/>
                <a:uFillTx/>
                <a:latin typeface="Calibri"/>
                <a:ea typeface="DejaVu Sans"/>
              </a:rPr>
              <a:t>μήνες ήταν </a:t>
            </a:r>
            <a:r>
              <a:rPr lang="en-US" sz="1400" b="0" u="none" strike="noStrike">
                <a:solidFill>
                  <a:srgbClr val="241F1B"/>
                </a:solidFill>
                <a:effectLst/>
                <a:uFillTx/>
                <a:latin typeface="Calibri"/>
                <a:ea typeface="DejaVu Sans"/>
              </a:rPr>
              <a:t>ενεργές</a:t>
            </a:r>
            <a:endParaRPr lang="en-US" sz="1400" b="0" u="none" strike="noStrike">
              <a:solidFill>
                <a:srgbClr val="000000"/>
              </a:solidFill>
              <a:effectLst/>
              <a:uFillTx/>
              <a:latin typeface="Arial"/>
            </a:endParaRPr>
          </a:p>
        </p:txBody>
      </p:sp>
      <p:sp>
        <p:nvSpPr>
          <p:cNvPr id="303" name="Rounded Rectangle 10"/>
          <p:cNvSpPr/>
          <p:nvPr/>
        </p:nvSpPr>
        <p:spPr>
          <a:xfrm>
            <a:off x="6310080" y="3657600"/>
            <a:ext cx="5348520" cy="1828800"/>
          </a:xfrm>
          <a:prstGeom prst="roundRect">
            <a:avLst>
              <a:gd name="adj" fmla="val 16667"/>
            </a:avLst>
          </a:prstGeom>
          <a:solidFill>
            <a:srgbClr val="224B12"/>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4" name="TextBox 11"/>
          <p:cNvSpPr/>
          <p:nvPr/>
        </p:nvSpPr>
        <p:spPr>
          <a:xfrm>
            <a:off x="6519600" y="3862800"/>
            <a:ext cx="4891320" cy="250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FFFFFF"/>
                </a:solidFill>
                <a:effectLst/>
                <a:uFillTx/>
                <a:latin typeface="Cambria"/>
                <a:ea typeface="DejaVu Sans"/>
              </a:rPr>
              <a:t>ΔΕΥΤΕΡΟ ΕΠΙΠΕΔΟ</a:t>
            </a:r>
            <a:endParaRPr lang="en-US" sz="1350" b="0" u="none" strike="noStrike">
              <a:solidFill>
                <a:srgbClr val="000000"/>
              </a:solidFill>
              <a:effectLst/>
              <a:uFillTx/>
              <a:latin typeface="Arial"/>
            </a:endParaRPr>
          </a:p>
        </p:txBody>
      </p:sp>
      <p:sp>
        <p:nvSpPr>
          <p:cNvPr id="305" name="TextBox 12"/>
          <p:cNvSpPr/>
          <p:nvPr/>
        </p:nvSpPr>
        <p:spPr>
          <a:xfrm>
            <a:off x="6519600" y="4343400"/>
            <a:ext cx="4891320" cy="1040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D7E5D2"/>
                </a:solidFill>
                <a:effectLst/>
                <a:uFillTx/>
                <a:latin typeface="Calibri"/>
                <a:ea typeface="DejaVu Sans"/>
              </a:rPr>
              <a:t>Μέσα σε </a:t>
            </a:r>
            <a:r>
              <a:rPr lang="en-US" sz="1400" b="0" u="none" strike="noStrike">
                <a:solidFill>
                  <a:srgbClr val="D7E5D2"/>
                </a:solidFill>
                <a:effectLst/>
                <a:uFillTx/>
                <a:latin typeface="Calibri"/>
                <a:ea typeface="DejaVu Sans"/>
              </a:rPr>
              <a:t>κάθε </a:t>
            </a:r>
            <a:r>
              <a:rPr lang="en-US" sz="1400" b="0" u="none" strike="noStrike">
                <a:solidFill>
                  <a:srgbClr val="D7E5D2"/>
                </a:solidFill>
                <a:effectLst/>
                <a:uFillTx/>
                <a:latin typeface="Calibri"/>
                <a:ea typeface="DejaVu Sans"/>
              </a:rPr>
              <a:t>ομάδα, νέα </a:t>
            </a:r>
            <a:r>
              <a:rPr lang="en-US" sz="1400" b="0" u="none" strike="noStrike">
                <a:solidFill>
                  <a:srgbClr val="D7E5D2"/>
                </a:solidFill>
                <a:effectLst/>
                <a:uFillTx/>
                <a:latin typeface="Calibri"/>
                <a:ea typeface="DejaVu Sans"/>
              </a:rPr>
              <a:t>ομαδοποίη</a:t>
            </a:r>
            <a:r>
              <a:rPr lang="en-US" sz="1400" b="0" u="none" strike="noStrike">
                <a:solidFill>
                  <a:srgbClr val="D7E5D2"/>
                </a:solidFill>
                <a:effectLst/>
                <a:uFillTx/>
                <a:latin typeface="Calibri"/>
                <a:ea typeface="DejaVu Sans"/>
              </a:rPr>
              <a:t>ση των </a:t>
            </a:r>
            <a:r>
              <a:rPr lang="en-US" sz="1400" b="0" u="none" strike="noStrike">
                <a:solidFill>
                  <a:srgbClr val="D7E5D2"/>
                </a:solidFill>
                <a:effectLst/>
                <a:uFillTx/>
                <a:latin typeface="Calibri"/>
                <a:ea typeface="DejaVu Sans"/>
              </a:rPr>
              <a:t>πελατών με </a:t>
            </a:r>
            <a:r>
              <a:rPr lang="en-US" sz="1400" b="0" u="none" strike="noStrike">
                <a:solidFill>
                  <a:srgbClr val="D7E5D2"/>
                </a:solidFill>
                <a:effectLst/>
                <a:uFillTx/>
                <a:latin typeface="Calibri"/>
                <a:ea typeface="DejaVu Sans"/>
              </a:rPr>
              <a:t>RFM:  </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a:t>
            </a:r>
            <a:r>
              <a:rPr lang="en-US" sz="1400" b="0" u="none" strike="noStrike">
                <a:solidFill>
                  <a:srgbClr val="D7E5D2"/>
                </a:solidFill>
                <a:effectLst/>
                <a:uFillTx/>
                <a:latin typeface="Calibri"/>
                <a:ea typeface="DejaVu Sans"/>
              </a:rPr>
              <a:t>πόσο </a:t>
            </a:r>
            <a:r>
              <a:rPr lang="en-US" sz="1400" b="0" u="none" strike="noStrike">
                <a:solidFill>
                  <a:srgbClr val="D7E5D2"/>
                </a:solidFill>
                <a:effectLst/>
                <a:uFillTx/>
                <a:latin typeface="Calibri"/>
                <a:ea typeface="DejaVu Sans"/>
              </a:rPr>
              <a:t>πρόσφατα</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πόσο </a:t>
            </a:r>
            <a:r>
              <a:rPr lang="en-US" sz="1400" b="0" u="none" strike="noStrike">
                <a:solidFill>
                  <a:srgbClr val="D7E5D2"/>
                </a:solidFill>
                <a:effectLst/>
                <a:uFillTx/>
                <a:latin typeface="Calibri"/>
                <a:ea typeface="DejaVu Sans"/>
              </a:rPr>
              <a:t>συχνά</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πόσα </a:t>
            </a:r>
            <a:r>
              <a:rPr lang="en-US" sz="1400" b="0" u="none" strike="noStrike">
                <a:solidFill>
                  <a:srgbClr val="D7E5D2"/>
                </a:solidFill>
                <a:effectLst/>
                <a:uFillTx/>
                <a:latin typeface="Calibri"/>
                <a:ea typeface="DejaVu Sans"/>
              </a:rPr>
              <a:t>ξοδεύει</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ΟΜΑΔΟ</a:t>
            </a:r>
            <a:r>
              <a:rPr lang="en-US" sz="1200" b="1" u="none" strike="noStrike">
                <a:solidFill>
                  <a:srgbClr val="E8A33D"/>
                </a:solidFill>
                <a:effectLst/>
                <a:uFillTx/>
                <a:latin typeface="Calibri"/>
                <a:ea typeface="DejaVu Sans"/>
              </a:rPr>
              <a:t>ΠΟΙΗΣΗ</a:t>
            </a:r>
            <a:endParaRPr lang="en-US" sz="1200" b="0" u="none" strike="noStrike">
              <a:solidFill>
                <a:srgbClr val="000000"/>
              </a:solidFill>
              <a:effectLst/>
              <a:uFillTx/>
              <a:latin typeface="Arial"/>
            </a:endParaRPr>
          </a:p>
        </p:txBody>
      </p:sp>
      <p:sp>
        <p:nvSpPr>
          <p:cNvPr id="307" name="TextBox 2"/>
          <p:cNvSpPr/>
          <p:nvPr/>
        </p:nvSpPr>
        <p:spPr>
          <a:xfrm>
            <a:off x="548640" y="749880"/>
            <a:ext cx="11090880" cy="5580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Ομαδοποίηση περιοχών και πελατών</a:t>
            </a:r>
            <a:endParaRPr lang="en-US" sz="3000" b="0" u="none" strike="noStrike">
              <a:solidFill>
                <a:srgbClr val="000000"/>
              </a:solidFill>
              <a:effectLst/>
              <a:uFillTx/>
              <a:latin typeface="Arial"/>
            </a:endParaRPr>
          </a:p>
        </p:txBody>
      </p:sp>
      <p:sp>
        <p:nvSpPr>
          <p:cNvPr id="308"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20</a:t>
            </a:r>
            <a:endParaRPr lang="en-US" sz="900" b="0" u="none" strike="noStrike">
              <a:solidFill>
                <a:srgbClr val="000000"/>
              </a:solidFill>
              <a:effectLst/>
              <a:uFillTx/>
              <a:latin typeface="Arial"/>
            </a:endParaRPr>
          </a:p>
        </p:txBody>
      </p:sp>
      <p:pic>
        <p:nvPicPr>
          <p:cNvPr id="309" name="Picture 6" descr="silhouette-level-one.png"/>
          <p:cNvPicPr/>
          <p:nvPr/>
        </p:nvPicPr>
        <p:blipFill>
          <a:blip r:embed="rId1"/>
          <a:stretch/>
        </p:blipFill>
        <p:spPr>
          <a:xfrm>
            <a:off x="708480" y="1908000"/>
            <a:ext cx="5028480" cy="2513880"/>
          </a:xfrm>
          <a:prstGeom prst="rect">
            <a:avLst/>
          </a:prstGeom>
          <a:noFill/>
          <a:ln w="0">
            <a:noFill/>
          </a:ln>
        </p:spPr>
      </p:pic>
      <p:sp>
        <p:nvSpPr>
          <p:cNvPr id="310" name="Rectangle 7"/>
          <p:cNvSpPr/>
          <p:nvPr/>
        </p:nvSpPr>
        <p:spPr>
          <a:xfrm>
            <a:off x="708480" y="1908000"/>
            <a:ext cx="5028480" cy="25138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1" name="TextBox 8"/>
          <p:cNvSpPr/>
          <p:nvPr/>
        </p:nvSpPr>
        <p:spPr>
          <a:xfrm>
            <a:off x="548640" y="451404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Το silhouette διαλέγει k ίσον 2, με σκορ 0,8793</a:t>
            </a:r>
            <a:endParaRPr lang="en-US" sz="1100" b="0" u="none" strike="noStrike">
              <a:solidFill>
                <a:srgbClr val="000000"/>
              </a:solidFill>
              <a:effectLst/>
              <a:uFillTx/>
              <a:latin typeface="Arial"/>
            </a:endParaRPr>
          </a:p>
        </p:txBody>
      </p:sp>
      <p:sp>
        <p:nvSpPr>
          <p:cNvPr id="312" name="TextBox 9"/>
          <p:cNvSpPr/>
          <p:nvPr/>
        </p:nvSpPr>
        <p:spPr>
          <a:xfrm>
            <a:off x="6291000" y="190800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alibri"/>
                <a:ea typeface="DejaVu Sans"/>
              </a:rPr>
              <a:t>ΠΡΩΤΟ ΕΠΙΠΕΔΟ: ΠΕΡΙΟΧΕΣ</a:t>
            </a:r>
            <a:endParaRPr lang="en-US" sz="1150" b="0" u="none" strike="noStrike">
              <a:solidFill>
                <a:srgbClr val="000000"/>
              </a:solidFill>
              <a:effectLst/>
              <a:uFillTx/>
              <a:latin typeface="Arial"/>
            </a:endParaRPr>
          </a:p>
        </p:txBody>
      </p:sp>
      <p:sp>
        <p:nvSpPr>
          <p:cNvPr id="313" name="Rectangle 10"/>
          <p:cNvSpPr/>
          <p:nvPr/>
        </p:nvSpPr>
        <p:spPr>
          <a:xfrm>
            <a:off x="6291000" y="223740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4" name="TextBox 11"/>
          <p:cNvSpPr/>
          <p:nvPr/>
        </p:nvSpPr>
        <p:spPr>
          <a:xfrm>
            <a:off x="6382440" y="2319480"/>
            <a:ext cx="2170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Ομάδα</a:t>
            </a:r>
            <a:endParaRPr lang="en-US" sz="1200" b="0" u="none" strike="noStrike">
              <a:solidFill>
                <a:srgbClr val="000000"/>
              </a:solidFill>
              <a:effectLst/>
              <a:uFillTx/>
              <a:latin typeface="Arial"/>
            </a:endParaRPr>
          </a:p>
        </p:txBody>
      </p:sp>
      <p:sp>
        <p:nvSpPr>
          <p:cNvPr id="315" name="TextBox 12"/>
          <p:cNvSpPr/>
          <p:nvPr/>
        </p:nvSpPr>
        <p:spPr>
          <a:xfrm>
            <a:off x="8736120" y="2319480"/>
            <a:ext cx="1207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Μέλη</a:t>
            </a:r>
            <a:endParaRPr lang="en-US" sz="1200" b="0" u="none" strike="noStrike">
              <a:solidFill>
                <a:srgbClr val="000000"/>
              </a:solidFill>
              <a:effectLst/>
              <a:uFillTx/>
              <a:latin typeface="Arial"/>
            </a:endParaRPr>
          </a:p>
        </p:txBody>
      </p:sp>
      <p:sp>
        <p:nvSpPr>
          <p:cNvPr id="316" name="TextBox 13"/>
          <p:cNvSpPr/>
          <p:nvPr/>
        </p:nvSpPr>
        <p:spPr>
          <a:xfrm>
            <a:off x="10127160" y="2319480"/>
            <a:ext cx="14212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Ενεργοί μήνες</a:t>
            </a:r>
            <a:endParaRPr lang="en-US" sz="1200" b="0" u="none" strike="noStrike">
              <a:solidFill>
                <a:srgbClr val="000000"/>
              </a:solidFill>
              <a:effectLst/>
              <a:uFillTx/>
              <a:latin typeface="Arial"/>
            </a:endParaRPr>
          </a:p>
        </p:txBody>
      </p:sp>
      <p:sp>
        <p:nvSpPr>
          <p:cNvPr id="317" name="TextBox 14"/>
          <p:cNvSpPr/>
          <p:nvPr/>
        </p:nvSpPr>
        <p:spPr>
          <a:xfrm>
            <a:off x="6382440" y="267624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Εξαγωγές</a:t>
            </a:r>
            <a:endParaRPr lang="en-US" sz="1250" b="0" u="none" strike="noStrike">
              <a:solidFill>
                <a:srgbClr val="000000"/>
              </a:solidFill>
              <a:effectLst/>
              <a:uFillTx/>
              <a:latin typeface="Arial"/>
            </a:endParaRPr>
          </a:p>
        </p:txBody>
      </p:sp>
      <p:sp>
        <p:nvSpPr>
          <p:cNvPr id="318" name="TextBox 15"/>
          <p:cNvSpPr/>
          <p:nvPr/>
        </p:nvSpPr>
        <p:spPr>
          <a:xfrm>
            <a:off x="8736120" y="267624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42</a:t>
            </a:r>
            <a:endParaRPr lang="en-US" sz="1250" b="0" u="none" strike="noStrike">
              <a:solidFill>
                <a:srgbClr val="000000"/>
              </a:solidFill>
              <a:effectLst/>
              <a:uFillTx/>
              <a:latin typeface="Arial"/>
            </a:endParaRPr>
          </a:p>
        </p:txBody>
      </p:sp>
      <p:sp>
        <p:nvSpPr>
          <p:cNvPr id="319" name="TextBox 16"/>
          <p:cNvSpPr/>
          <p:nvPr/>
        </p:nvSpPr>
        <p:spPr>
          <a:xfrm>
            <a:off x="10127160" y="267624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12,8</a:t>
            </a:r>
            <a:endParaRPr lang="en-US" sz="1250" b="0" u="none" strike="noStrike">
              <a:solidFill>
                <a:srgbClr val="000000"/>
              </a:solidFill>
              <a:effectLst/>
              <a:uFillTx/>
              <a:latin typeface="Arial"/>
            </a:endParaRPr>
          </a:p>
        </p:txBody>
      </p:sp>
      <p:sp>
        <p:nvSpPr>
          <p:cNvPr id="320" name="TextBox 18"/>
          <p:cNvSpPr/>
          <p:nvPr/>
        </p:nvSpPr>
        <p:spPr>
          <a:xfrm>
            <a:off x="6382440" y="304200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Ηνωμένο Βασίλειο</a:t>
            </a:r>
            <a:endParaRPr lang="en-US" sz="1250" b="0" u="none" strike="noStrike">
              <a:solidFill>
                <a:srgbClr val="000000"/>
              </a:solidFill>
              <a:effectLst/>
              <a:uFillTx/>
              <a:latin typeface="Arial"/>
            </a:endParaRPr>
          </a:p>
        </p:txBody>
      </p:sp>
      <p:sp>
        <p:nvSpPr>
          <p:cNvPr id="321" name="TextBox 19"/>
          <p:cNvSpPr/>
          <p:nvPr/>
        </p:nvSpPr>
        <p:spPr>
          <a:xfrm>
            <a:off x="8736120" y="304200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a:t>
            </a:r>
            <a:endParaRPr lang="en-US" sz="1250" b="0" u="none" strike="noStrike">
              <a:solidFill>
                <a:srgbClr val="000000"/>
              </a:solidFill>
              <a:effectLst/>
              <a:uFillTx/>
              <a:latin typeface="Arial"/>
            </a:endParaRPr>
          </a:p>
        </p:txBody>
      </p:sp>
      <p:sp>
        <p:nvSpPr>
          <p:cNvPr id="322" name="TextBox 20"/>
          <p:cNvSpPr/>
          <p:nvPr/>
        </p:nvSpPr>
        <p:spPr>
          <a:xfrm>
            <a:off x="10127160" y="304200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25,0</a:t>
            </a:r>
            <a:endParaRPr lang="en-US" sz="1250" b="0" u="none" strike="noStrike">
              <a:solidFill>
                <a:srgbClr val="000000"/>
              </a:solidFill>
              <a:effectLst/>
              <a:uFillTx/>
              <a:latin typeface="Arial"/>
            </a:endParaRPr>
          </a:p>
        </p:txBody>
      </p:sp>
      <p:sp>
        <p:nvSpPr>
          <p:cNvPr id="323" name="TextBox 21"/>
          <p:cNvSpPr/>
          <p:nvPr/>
        </p:nvSpPr>
        <p:spPr>
          <a:xfrm>
            <a:off x="6291000" y="3462480"/>
            <a:ext cx="5348520" cy="213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alibri"/>
                <a:ea typeface="DejaVu Sans"/>
              </a:rPr>
              <a:t>ΔΕΥΤΕΡΟ ΕΠΙΠΕΔΟ: ΠΕΛΑΤΕΣ</a:t>
            </a:r>
            <a:endParaRPr lang="en-US" sz="1150" b="0" u="none" strike="noStrike">
              <a:solidFill>
                <a:srgbClr val="000000"/>
              </a:solidFill>
              <a:effectLst/>
              <a:uFillTx/>
              <a:latin typeface="Arial"/>
            </a:endParaRPr>
          </a:p>
        </p:txBody>
      </p:sp>
      <p:sp>
        <p:nvSpPr>
          <p:cNvPr id="324" name="Rectangle 22"/>
          <p:cNvSpPr/>
          <p:nvPr/>
        </p:nvSpPr>
        <p:spPr>
          <a:xfrm>
            <a:off x="6291000" y="379188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5" name="TextBox 23"/>
          <p:cNvSpPr/>
          <p:nvPr/>
        </p:nvSpPr>
        <p:spPr>
          <a:xfrm>
            <a:off x="6382440" y="3873960"/>
            <a:ext cx="16351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Υποομάδα</a:t>
            </a:r>
            <a:endParaRPr lang="en-US" sz="1200" b="0" u="none" strike="noStrike">
              <a:solidFill>
                <a:srgbClr val="000000"/>
              </a:solidFill>
              <a:effectLst/>
              <a:uFillTx/>
              <a:latin typeface="Arial"/>
            </a:endParaRPr>
          </a:p>
        </p:txBody>
      </p:sp>
      <p:sp>
        <p:nvSpPr>
          <p:cNvPr id="326" name="TextBox 24"/>
          <p:cNvSpPr/>
          <p:nvPr/>
        </p:nvSpPr>
        <p:spPr>
          <a:xfrm>
            <a:off x="8201160" y="3873960"/>
            <a:ext cx="99324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Πελάτες</a:t>
            </a:r>
            <a:endParaRPr lang="en-US" sz="1200" b="0" u="none" strike="noStrike">
              <a:solidFill>
                <a:srgbClr val="000000"/>
              </a:solidFill>
              <a:effectLst/>
              <a:uFillTx/>
              <a:latin typeface="Arial"/>
            </a:endParaRPr>
          </a:p>
        </p:txBody>
      </p:sp>
      <p:sp>
        <p:nvSpPr>
          <p:cNvPr id="327" name="TextBox 25"/>
          <p:cNvSpPr/>
          <p:nvPr/>
        </p:nvSpPr>
        <p:spPr>
          <a:xfrm>
            <a:off x="9378000" y="3873960"/>
            <a:ext cx="110016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Παραγγελίες</a:t>
            </a:r>
            <a:endParaRPr lang="en-US" sz="1200" b="0" u="none" strike="noStrike">
              <a:solidFill>
                <a:srgbClr val="000000"/>
              </a:solidFill>
              <a:effectLst/>
              <a:uFillTx/>
              <a:latin typeface="Arial"/>
            </a:endParaRPr>
          </a:p>
        </p:txBody>
      </p:sp>
      <p:sp>
        <p:nvSpPr>
          <p:cNvPr id="328" name="TextBox 26"/>
          <p:cNvSpPr/>
          <p:nvPr/>
        </p:nvSpPr>
        <p:spPr>
          <a:xfrm>
            <a:off x="10661760" y="3873960"/>
            <a:ext cx="8863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Αξία</a:t>
            </a:r>
            <a:endParaRPr lang="en-US" sz="1200" b="0" u="none" strike="noStrike">
              <a:solidFill>
                <a:srgbClr val="000000"/>
              </a:solidFill>
              <a:effectLst/>
              <a:uFillTx/>
              <a:latin typeface="Arial"/>
            </a:endParaRPr>
          </a:p>
        </p:txBody>
      </p:sp>
      <p:sp>
        <p:nvSpPr>
          <p:cNvPr id="329" name="TextBox 27"/>
          <p:cNvSpPr/>
          <p:nvPr/>
        </p:nvSpPr>
        <p:spPr>
          <a:xfrm>
            <a:off x="6382440" y="423072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Τακτικοί, εξαγωγές</a:t>
            </a:r>
            <a:endParaRPr lang="en-US" sz="1250" b="0" u="none" strike="noStrike">
              <a:solidFill>
                <a:srgbClr val="000000"/>
              </a:solidFill>
              <a:effectLst/>
              <a:uFillTx/>
              <a:latin typeface="Arial"/>
            </a:endParaRPr>
          </a:p>
        </p:txBody>
      </p:sp>
      <p:sp>
        <p:nvSpPr>
          <p:cNvPr id="330" name="TextBox 28"/>
          <p:cNvSpPr/>
          <p:nvPr/>
        </p:nvSpPr>
        <p:spPr>
          <a:xfrm>
            <a:off x="8201160" y="423072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527</a:t>
            </a:r>
            <a:endParaRPr lang="en-US" sz="1250" b="0" u="none" strike="noStrike">
              <a:solidFill>
                <a:srgbClr val="000000"/>
              </a:solidFill>
              <a:effectLst/>
              <a:uFillTx/>
              <a:latin typeface="Arial"/>
            </a:endParaRPr>
          </a:p>
        </p:txBody>
      </p:sp>
      <p:sp>
        <p:nvSpPr>
          <p:cNvPr id="331" name="TextBox 29"/>
          <p:cNvSpPr/>
          <p:nvPr/>
        </p:nvSpPr>
        <p:spPr>
          <a:xfrm>
            <a:off x="9378000" y="423072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4,88</a:t>
            </a:r>
            <a:endParaRPr lang="en-US" sz="1250" b="0" u="none" strike="noStrike">
              <a:solidFill>
                <a:srgbClr val="000000"/>
              </a:solidFill>
              <a:effectLst/>
              <a:uFillTx/>
              <a:latin typeface="Arial"/>
            </a:endParaRPr>
          </a:p>
        </p:txBody>
      </p:sp>
      <p:sp>
        <p:nvSpPr>
          <p:cNvPr id="332" name="TextBox 30"/>
          <p:cNvSpPr/>
          <p:nvPr/>
        </p:nvSpPr>
        <p:spPr>
          <a:xfrm>
            <a:off x="10661760" y="423072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3.161</a:t>
            </a:r>
            <a:endParaRPr lang="en-US" sz="1250" b="0" u="none" strike="noStrike">
              <a:solidFill>
                <a:srgbClr val="000000"/>
              </a:solidFill>
              <a:effectLst/>
              <a:uFillTx/>
              <a:latin typeface="Arial"/>
            </a:endParaRPr>
          </a:p>
        </p:txBody>
      </p:sp>
      <p:sp>
        <p:nvSpPr>
          <p:cNvPr id="333" name="TextBox 32"/>
          <p:cNvSpPr/>
          <p:nvPr/>
        </p:nvSpPr>
        <p:spPr>
          <a:xfrm>
            <a:off x="6382440" y="459648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Whales, </a:t>
            </a:r>
            <a:r>
              <a:rPr lang="en-US" sz="1250" b="0" u="none" strike="noStrike">
                <a:solidFill>
                  <a:srgbClr val="241F1B"/>
                </a:solidFill>
                <a:effectLst/>
                <a:uFillTx/>
                <a:latin typeface="Calibri"/>
                <a:ea typeface="DejaVu Sans"/>
              </a:rPr>
              <a:t>εξαγωγές</a:t>
            </a:r>
            <a:endParaRPr lang="en-US" sz="1250" b="0" u="none" strike="noStrike">
              <a:solidFill>
                <a:srgbClr val="000000"/>
              </a:solidFill>
              <a:effectLst/>
              <a:uFillTx/>
              <a:latin typeface="Arial"/>
            </a:endParaRPr>
          </a:p>
        </p:txBody>
      </p:sp>
      <p:sp>
        <p:nvSpPr>
          <p:cNvPr id="334" name="TextBox 33"/>
          <p:cNvSpPr/>
          <p:nvPr/>
        </p:nvSpPr>
        <p:spPr>
          <a:xfrm>
            <a:off x="8201160" y="459648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a:t>
            </a:r>
            <a:endParaRPr lang="en-US" sz="1250" b="0" u="none" strike="noStrike">
              <a:solidFill>
                <a:srgbClr val="000000"/>
              </a:solidFill>
              <a:effectLst/>
              <a:uFillTx/>
              <a:latin typeface="Arial"/>
            </a:endParaRPr>
          </a:p>
        </p:txBody>
      </p:sp>
      <p:sp>
        <p:nvSpPr>
          <p:cNvPr id="335" name="TextBox 34"/>
          <p:cNvSpPr/>
          <p:nvPr/>
        </p:nvSpPr>
        <p:spPr>
          <a:xfrm>
            <a:off x="9378000" y="459648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220,7</a:t>
            </a:r>
            <a:endParaRPr lang="en-US" sz="1250" b="0" u="none" strike="noStrike">
              <a:solidFill>
                <a:srgbClr val="000000"/>
              </a:solidFill>
              <a:effectLst/>
              <a:uFillTx/>
              <a:latin typeface="Arial"/>
            </a:endParaRPr>
          </a:p>
        </p:txBody>
      </p:sp>
      <p:sp>
        <p:nvSpPr>
          <p:cNvPr id="336" name="TextBox 35"/>
          <p:cNvSpPr/>
          <p:nvPr/>
        </p:nvSpPr>
        <p:spPr>
          <a:xfrm>
            <a:off x="10661760" y="459648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365.705</a:t>
            </a:r>
            <a:endParaRPr lang="en-US" sz="1250" b="0" u="none" strike="noStrike">
              <a:solidFill>
                <a:srgbClr val="000000"/>
              </a:solidFill>
              <a:effectLst/>
              <a:uFillTx/>
              <a:latin typeface="Arial"/>
            </a:endParaRPr>
          </a:p>
        </p:txBody>
      </p:sp>
      <p:sp>
        <p:nvSpPr>
          <p:cNvPr id="337" name="TextBox 36"/>
          <p:cNvSpPr/>
          <p:nvPr/>
        </p:nvSpPr>
        <p:spPr>
          <a:xfrm>
            <a:off x="6382440" y="496224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Τακτικοί, ΗΒ</a:t>
            </a:r>
            <a:endParaRPr lang="en-US" sz="1250" b="0" u="none" strike="noStrike">
              <a:solidFill>
                <a:srgbClr val="000000"/>
              </a:solidFill>
              <a:effectLst/>
              <a:uFillTx/>
              <a:latin typeface="Arial"/>
            </a:endParaRPr>
          </a:p>
        </p:txBody>
      </p:sp>
      <p:sp>
        <p:nvSpPr>
          <p:cNvPr id="338" name="TextBox 37"/>
          <p:cNvSpPr/>
          <p:nvPr/>
        </p:nvSpPr>
        <p:spPr>
          <a:xfrm>
            <a:off x="8201160" y="496224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5.309</a:t>
            </a:r>
            <a:endParaRPr lang="en-US" sz="1250" b="0" u="none" strike="noStrike">
              <a:solidFill>
                <a:srgbClr val="000000"/>
              </a:solidFill>
              <a:effectLst/>
              <a:uFillTx/>
              <a:latin typeface="Arial"/>
            </a:endParaRPr>
          </a:p>
        </p:txBody>
      </p:sp>
      <p:sp>
        <p:nvSpPr>
          <p:cNvPr id="339" name="TextBox 38"/>
          <p:cNvSpPr/>
          <p:nvPr/>
        </p:nvSpPr>
        <p:spPr>
          <a:xfrm>
            <a:off x="9378000" y="496224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5,72</a:t>
            </a:r>
            <a:endParaRPr lang="en-US" sz="1250" b="0" u="none" strike="noStrike">
              <a:solidFill>
                <a:srgbClr val="000000"/>
              </a:solidFill>
              <a:effectLst/>
              <a:uFillTx/>
              <a:latin typeface="Arial"/>
            </a:endParaRPr>
          </a:p>
        </p:txBody>
      </p:sp>
      <p:sp>
        <p:nvSpPr>
          <p:cNvPr id="340" name="TextBox 39"/>
          <p:cNvSpPr/>
          <p:nvPr/>
        </p:nvSpPr>
        <p:spPr>
          <a:xfrm>
            <a:off x="10661760" y="496224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2.138</a:t>
            </a:r>
            <a:endParaRPr lang="en-US" sz="1250" b="0" u="none" strike="noStrike">
              <a:solidFill>
                <a:srgbClr val="000000"/>
              </a:solidFill>
              <a:effectLst/>
              <a:uFillTx/>
              <a:latin typeface="Arial"/>
            </a:endParaRPr>
          </a:p>
        </p:txBody>
      </p:sp>
      <p:sp>
        <p:nvSpPr>
          <p:cNvPr id="341" name="TextBox 41"/>
          <p:cNvSpPr/>
          <p:nvPr/>
        </p:nvSpPr>
        <p:spPr>
          <a:xfrm>
            <a:off x="6382440" y="5328000"/>
            <a:ext cx="16351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Whales, ΗΒ</a:t>
            </a:r>
            <a:endParaRPr lang="en-US" sz="1250" b="0" u="none" strike="noStrike">
              <a:solidFill>
                <a:srgbClr val="000000"/>
              </a:solidFill>
              <a:effectLst/>
              <a:uFillTx/>
              <a:latin typeface="Arial"/>
            </a:endParaRPr>
          </a:p>
        </p:txBody>
      </p:sp>
      <p:sp>
        <p:nvSpPr>
          <p:cNvPr id="342" name="TextBox 42"/>
          <p:cNvSpPr/>
          <p:nvPr/>
        </p:nvSpPr>
        <p:spPr>
          <a:xfrm>
            <a:off x="8201160" y="5328000"/>
            <a:ext cx="99324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25</a:t>
            </a:r>
            <a:endParaRPr lang="en-US" sz="1250" b="0" u="none" strike="noStrike">
              <a:solidFill>
                <a:srgbClr val="000000"/>
              </a:solidFill>
              <a:effectLst/>
              <a:uFillTx/>
              <a:latin typeface="Arial"/>
            </a:endParaRPr>
          </a:p>
        </p:txBody>
      </p:sp>
      <p:sp>
        <p:nvSpPr>
          <p:cNvPr id="343" name="TextBox 43"/>
          <p:cNvSpPr/>
          <p:nvPr/>
        </p:nvSpPr>
        <p:spPr>
          <a:xfrm>
            <a:off x="9378000" y="5328000"/>
            <a:ext cx="110016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120,4</a:t>
            </a:r>
            <a:endParaRPr lang="en-US" sz="1250" b="0" u="none" strike="noStrike">
              <a:solidFill>
                <a:srgbClr val="000000"/>
              </a:solidFill>
              <a:effectLst/>
              <a:uFillTx/>
              <a:latin typeface="Arial"/>
            </a:endParaRPr>
          </a:p>
        </p:txBody>
      </p:sp>
      <p:sp>
        <p:nvSpPr>
          <p:cNvPr id="344" name="TextBox 44"/>
          <p:cNvSpPr/>
          <p:nvPr/>
        </p:nvSpPr>
        <p:spPr>
          <a:xfrm>
            <a:off x="10661760" y="5328000"/>
            <a:ext cx="88632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114.404</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ΠΡΟΒΛΕΨΗ</a:t>
            </a:r>
            <a:endParaRPr lang="en-US" sz="1200" b="0" u="none" strike="noStrike">
              <a:solidFill>
                <a:srgbClr val="000000"/>
              </a:solidFill>
              <a:effectLst/>
              <a:uFillTx/>
              <a:latin typeface="Arial"/>
            </a:endParaRPr>
          </a:p>
        </p:txBody>
      </p:sp>
      <p:sp>
        <p:nvSpPr>
          <p:cNvPr id="346"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Skill score και περίοδος προβλέψεων</a:t>
            </a:r>
            <a:endParaRPr lang="en-US" sz="3000" b="0" u="none" strike="noStrike">
              <a:solidFill>
                <a:srgbClr val="000000"/>
              </a:solidFill>
              <a:effectLst/>
              <a:uFillTx/>
              <a:latin typeface="Arial"/>
            </a:endParaRPr>
          </a:p>
        </p:txBody>
      </p:sp>
      <p:sp>
        <p:nvSpPr>
          <p:cNvPr id="347"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21</a:t>
            </a:r>
            <a:endParaRPr lang="en-US" sz="900" b="0" u="none" strike="noStrike">
              <a:solidFill>
                <a:srgbClr val="000000"/>
              </a:solidFill>
              <a:effectLst/>
              <a:uFillTx/>
              <a:latin typeface="Arial"/>
            </a:endParaRPr>
          </a:p>
        </p:txBody>
      </p:sp>
      <p:pic>
        <p:nvPicPr>
          <p:cNvPr id="348" name="Picture 5" descr="revenue-forecast.png"/>
          <p:cNvPicPr/>
          <p:nvPr/>
        </p:nvPicPr>
        <p:blipFill>
          <a:blip r:embed="rId1"/>
          <a:stretch/>
        </p:blipFill>
        <p:spPr>
          <a:xfrm>
            <a:off x="548640" y="2160720"/>
            <a:ext cx="5348520" cy="1944360"/>
          </a:xfrm>
          <a:prstGeom prst="rect">
            <a:avLst/>
          </a:prstGeom>
          <a:noFill/>
          <a:ln w="0">
            <a:noFill/>
          </a:ln>
        </p:spPr>
      </p:pic>
      <p:sp>
        <p:nvSpPr>
          <p:cNvPr id="349" name="Rectangle 6"/>
          <p:cNvSpPr/>
          <p:nvPr/>
        </p:nvSpPr>
        <p:spPr>
          <a:xfrm>
            <a:off x="548640" y="2160720"/>
            <a:ext cx="5348520" cy="194436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0" name="TextBox 7"/>
          <p:cNvSpPr/>
          <p:nvPr/>
        </p:nvSpPr>
        <p:spPr>
          <a:xfrm>
            <a:off x="548640" y="419760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Καθαρές </a:t>
            </a:r>
            <a:r>
              <a:rPr lang="en-US" sz="1100" b="0" u="none" strike="noStrike">
                <a:solidFill>
                  <a:srgbClr val="6B6259"/>
                </a:solidFill>
                <a:effectLst/>
                <a:uFillTx/>
                <a:latin typeface="Calibri"/>
                <a:ea typeface="DejaVu Sans"/>
              </a:rPr>
              <a:t>πωλήσεις ανά </a:t>
            </a:r>
            <a:r>
              <a:rPr lang="en-US" sz="1100" b="0" u="none" strike="noStrike">
                <a:solidFill>
                  <a:srgbClr val="6B6259"/>
                </a:solidFill>
                <a:effectLst/>
                <a:uFillTx/>
                <a:latin typeface="Calibri"/>
                <a:ea typeface="DejaVu Sans"/>
              </a:rPr>
              <a:t>μήνα και </a:t>
            </a:r>
            <a:r>
              <a:rPr lang="en-US" sz="1100" b="0" u="none" strike="noStrike">
                <a:solidFill>
                  <a:srgbClr val="6B6259"/>
                </a:solidFill>
                <a:effectLst/>
                <a:uFillTx/>
                <a:latin typeface="Calibri"/>
                <a:ea typeface="DejaVu Sans"/>
              </a:rPr>
              <a:t>πρόβλεψη </a:t>
            </a:r>
            <a:r>
              <a:rPr lang="en-US" sz="1100" b="0" u="none" strike="noStrike">
                <a:solidFill>
                  <a:srgbClr val="6B6259"/>
                </a:solidFill>
                <a:effectLst/>
                <a:uFillTx/>
                <a:latin typeface="Calibri"/>
                <a:ea typeface="DejaVu Sans"/>
              </a:rPr>
              <a:t>τριμήνου</a:t>
            </a:r>
            <a:endParaRPr lang="en-US" sz="1100" b="0" u="none" strike="noStrike">
              <a:solidFill>
                <a:srgbClr val="000000"/>
              </a:solidFill>
              <a:effectLst/>
              <a:uFillTx/>
              <a:latin typeface="Arial"/>
            </a:endParaRPr>
          </a:p>
        </p:txBody>
      </p:sp>
      <p:sp>
        <p:nvSpPr>
          <p:cNvPr id="351" name="Rectangle 8"/>
          <p:cNvSpPr/>
          <p:nvPr/>
        </p:nvSpPr>
        <p:spPr>
          <a:xfrm>
            <a:off x="548640" y="4514400"/>
            <a:ext cx="5348520" cy="34668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2" name="TextBox 9"/>
          <p:cNvSpPr/>
          <p:nvPr/>
        </p:nvSpPr>
        <p:spPr>
          <a:xfrm>
            <a:off x="640080" y="4596480"/>
            <a:ext cx="2170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Μέθοδος</a:t>
            </a:r>
            <a:endParaRPr lang="en-US" sz="1200" b="0" u="none" strike="noStrike">
              <a:solidFill>
                <a:srgbClr val="000000"/>
              </a:solidFill>
              <a:effectLst/>
              <a:uFillTx/>
              <a:latin typeface="Arial"/>
            </a:endParaRPr>
          </a:p>
        </p:txBody>
      </p:sp>
      <p:sp>
        <p:nvSpPr>
          <p:cNvPr id="353" name="TextBox 10"/>
          <p:cNvSpPr/>
          <p:nvPr/>
        </p:nvSpPr>
        <p:spPr>
          <a:xfrm>
            <a:off x="2993760" y="4596480"/>
            <a:ext cx="12070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MAPE %</a:t>
            </a:r>
            <a:endParaRPr lang="en-US" sz="1200" b="0" u="none" strike="noStrike">
              <a:solidFill>
                <a:srgbClr val="000000"/>
              </a:solidFill>
              <a:effectLst/>
              <a:uFillTx/>
              <a:latin typeface="Arial"/>
            </a:endParaRPr>
          </a:p>
        </p:txBody>
      </p:sp>
      <p:sp>
        <p:nvSpPr>
          <p:cNvPr id="354" name="TextBox 11"/>
          <p:cNvSpPr/>
          <p:nvPr/>
        </p:nvSpPr>
        <p:spPr>
          <a:xfrm>
            <a:off x="4384440" y="4596480"/>
            <a:ext cx="14212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Skill score</a:t>
            </a:r>
            <a:endParaRPr lang="en-US" sz="1200" b="0" u="none" strike="noStrike">
              <a:solidFill>
                <a:srgbClr val="000000"/>
              </a:solidFill>
              <a:effectLst/>
              <a:uFillTx/>
              <a:latin typeface="Arial"/>
            </a:endParaRPr>
          </a:p>
        </p:txBody>
      </p:sp>
      <p:sp>
        <p:nvSpPr>
          <p:cNvPr id="355" name="TextBox 12"/>
          <p:cNvSpPr/>
          <p:nvPr/>
        </p:nvSpPr>
        <p:spPr>
          <a:xfrm>
            <a:off x="640080" y="495324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Απλοϊκή εκτίμηση</a:t>
            </a:r>
            <a:endParaRPr lang="en-US" sz="1250" b="0" u="none" strike="noStrike">
              <a:solidFill>
                <a:srgbClr val="000000"/>
              </a:solidFill>
              <a:effectLst/>
              <a:uFillTx/>
              <a:latin typeface="Arial"/>
            </a:endParaRPr>
          </a:p>
        </p:txBody>
      </p:sp>
      <p:sp>
        <p:nvSpPr>
          <p:cNvPr id="356" name="TextBox 13"/>
          <p:cNvSpPr/>
          <p:nvPr/>
        </p:nvSpPr>
        <p:spPr>
          <a:xfrm>
            <a:off x="2993760" y="495324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38,48</a:t>
            </a:r>
            <a:endParaRPr lang="en-US" sz="1250" b="0" u="none" strike="noStrike">
              <a:solidFill>
                <a:srgbClr val="000000"/>
              </a:solidFill>
              <a:effectLst/>
              <a:uFillTx/>
              <a:latin typeface="Arial"/>
            </a:endParaRPr>
          </a:p>
        </p:txBody>
      </p:sp>
      <p:sp>
        <p:nvSpPr>
          <p:cNvPr id="357" name="TextBox 14"/>
          <p:cNvSpPr/>
          <p:nvPr/>
        </p:nvSpPr>
        <p:spPr>
          <a:xfrm>
            <a:off x="4384440" y="495324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0,0000</a:t>
            </a:r>
            <a:endParaRPr lang="en-US" sz="1250" b="0" u="none" strike="noStrike">
              <a:solidFill>
                <a:srgbClr val="000000"/>
              </a:solidFill>
              <a:effectLst/>
              <a:uFillTx/>
              <a:latin typeface="Arial"/>
            </a:endParaRPr>
          </a:p>
        </p:txBody>
      </p:sp>
      <p:sp>
        <p:nvSpPr>
          <p:cNvPr id="358" name="TextBox 16"/>
          <p:cNvSpPr/>
          <p:nvPr/>
        </p:nvSpPr>
        <p:spPr>
          <a:xfrm>
            <a:off x="640080" y="5319000"/>
            <a:ext cx="2170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Holt-Winters</a:t>
            </a:r>
            <a:endParaRPr lang="en-US" sz="1250" b="0" u="none" strike="noStrike">
              <a:solidFill>
                <a:srgbClr val="000000"/>
              </a:solidFill>
              <a:effectLst/>
              <a:uFillTx/>
              <a:latin typeface="Arial"/>
            </a:endParaRPr>
          </a:p>
        </p:txBody>
      </p:sp>
      <p:sp>
        <p:nvSpPr>
          <p:cNvPr id="359" name="TextBox 17"/>
          <p:cNvSpPr/>
          <p:nvPr/>
        </p:nvSpPr>
        <p:spPr>
          <a:xfrm>
            <a:off x="2993760" y="5319000"/>
            <a:ext cx="12070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32,74</a:t>
            </a:r>
            <a:endParaRPr lang="en-US" sz="1250" b="0" u="none" strike="noStrike">
              <a:solidFill>
                <a:srgbClr val="000000"/>
              </a:solidFill>
              <a:effectLst/>
              <a:uFillTx/>
              <a:latin typeface="Arial"/>
            </a:endParaRPr>
          </a:p>
        </p:txBody>
      </p:sp>
      <p:sp>
        <p:nvSpPr>
          <p:cNvPr id="360" name="TextBox 18"/>
          <p:cNvSpPr/>
          <p:nvPr/>
        </p:nvSpPr>
        <p:spPr>
          <a:xfrm>
            <a:off x="4384440" y="5319000"/>
            <a:ext cx="1421280" cy="232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+0,1421</a:t>
            </a:r>
            <a:endParaRPr lang="en-US" sz="1250" b="0" u="none" strike="noStrike">
              <a:solidFill>
                <a:srgbClr val="000000"/>
              </a:solidFill>
              <a:effectLst/>
              <a:uFillTx/>
              <a:latin typeface="Arial"/>
            </a:endParaRPr>
          </a:p>
        </p:txBody>
      </p:sp>
      <p:sp>
        <p:nvSpPr>
          <p:cNvPr id="361" name="TextBox 19"/>
          <p:cNvSpPr/>
          <p:nvPr/>
        </p:nvSpPr>
        <p:spPr>
          <a:xfrm>
            <a:off x="6291000" y="2743200"/>
            <a:ext cx="5348520" cy="245952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Η πρώτη εκτέλεση έβγαλε skill score -0,21. Δηλαδή η πρόβλεψη </a:t>
            </a:r>
            <a:r>
              <a:rPr lang="en-US" sz="1500" b="0" u="none" strike="noStrike">
                <a:solidFill>
                  <a:srgbClr val="241F1B"/>
                </a:solidFill>
                <a:effectLst/>
                <a:uFillTx/>
                <a:latin typeface="Calibri"/>
                <a:ea typeface="DejaVu Sans"/>
              </a:rPr>
              <a:t>έχανε από την πιο απλοϊκή εκτίμηση, τύπου το “ίδιο με τον </a:t>
            </a:r>
            <a:r>
              <a:rPr lang="en-US" sz="1500" b="0" u="none" strike="noStrike">
                <a:solidFill>
                  <a:srgbClr val="241F1B"/>
                </a:solidFill>
                <a:effectLst/>
                <a:uFillTx/>
                <a:latin typeface="Calibri"/>
                <a:ea typeface="DejaVu Sans"/>
              </a:rPr>
              <a:t>προηγούμενο μήνα”.</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Ο λόγος ήταν πως τα δεδομένα σταματούν στις 9 Δεκεμβρίου 2011, </a:t>
            </a:r>
            <a:r>
              <a:rPr lang="en-US" sz="1500" b="0" u="none" strike="noStrike">
                <a:solidFill>
                  <a:srgbClr val="241F1B"/>
                </a:solidFill>
                <a:effectLst/>
                <a:uFillTx/>
                <a:latin typeface="Calibri"/>
                <a:ea typeface="DejaVu Sans"/>
              </a:rPr>
              <a:t>οπότε ο τελευταίος μήνας έχει 9 ημέρες.</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Βγάζοντάς τον έξω, το skill score γίνεται  +0,1421. Ίδιο μοντέλο, </a:t>
            </a:r>
            <a:r>
              <a:rPr lang="en-US" sz="1500" b="1" u="none" strike="noStrike">
                <a:solidFill>
                  <a:srgbClr val="241F1B"/>
                </a:solidFill>
                <a:effectLst/>
                <a:uFillTx/>
                <a:latin typeface="Calibri"/>
                <a:ea typeface="DejaVu Sans"/>
              </a:rPr>
              <a:t>ίδια δεδομένα, αντίθετο συμπέρασμα.</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ΟΙΚΟΝΟΜΙΚΟ</a:t>
            </a:r>
            <a:r>
              <a:rPr lang="en-US" sz="1200" b="1" u="none" strike="noStrike">
                <a:solidFill>
                  <a:srgbClr val="E8A33D"/>
                </a:solidFill>
                <a:effectLst/>
                <a:uFillTx/>
                <a:latin typeface="Calibri"/>
                <a:ea typeface="DejaVu Sans"/>
              </a:rPr>
              <a:t>Ι ΔΕΙΚΤΕΣ</a:t>
            </a:r>
            <a:endParaRPr lang="en-US" sz="1200" b="0" u="none" strike="noStrike">
              <a:solidFill>
                <a:srgbClr val="000000"/>
              </a:solidFill>
              <a:effectLst/>
              <a:uFillTx/>
              <a:latin typeface="Arial"/>
            </a:endParaRPr>
          </a:p>
        </p:txBody>
      </p:sp>
      <p:sp>
        <p:nvSpPr>
          <p:cNvPr id="363"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Πού πάνε τα </a:t>
            </a:r>
            <a:r>
              <a:rPr lang="en-US" sz="3000" b="1" u="none" strike="noStrike">
                <a:solidFill>
                  <a:srgbClr val="2C5530"/>
                </a:solidFill>
                <a:effectLst/>
                <a:uFillTx/>
                <a:latin typeface="Cambria"/>
                <a:ea typeface="DejaVu Sans"/>
              </a:rPr>
              <a:t>έσοδα κάθε </a:t>
            </a:r>
            <a:r>
              <a:rPr lang="en-US" sz="3000" b="1" u="none" strike="noStrike">
                <a:solidFill>
                  <a:srgbClr val="2C5530"/>
                </a:solidFill>
                <a:effectLst/>
                <a:uFillTx/>
                <a:latin typeface="Cambria"/>
                <a:ea typeface="DejaVu Sans"/>
              </a:rPr>
              <a:t>μήνα</a:t>
            </a:r>
            <a:endParaRPr lang="en-US" sz="3000" b="0" u="none" strike="noStrike">
              <a:solidFill>
                <a:srgbClr val="000000"/>
              </a:solidFill>
              <a:effectLst/>
              <a:uFillTx/>
              <a:latin typeface="Arial"/>
            </a:endParaRPr>
          </a:p>
        </p:txBody>
      </p:sp>
      <p:sp>
        <p:nvSpPr>
          <p:cNvPr id="364"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22</a:t>
            </a:r>
            <a:endParaRPr lang="en-US" sz="900" b="0" u="none" strike="noStrike">
              <a:solidFill>
                <a:srgbClr val="000000"/>
              </a:solidFill>
              <a:effectLst/>
              <a:uFillTx/>
              <a:latin typeface="Arial"/>
            </a:endParaRPr>
          </a:p>
        </p:txBody>
      </p:sp>
      <p:pic>
        <p:nvPicPr>
          <p:cNvPr id="365" name="Picture 6" descr="growth-accounting.png"/>
          <p:cNvPicPr/>
          <p:nvPr/>
        </p:nvPicPr>
        <p:blipFill>
          <a:blip r:embed="rId1"/>
          <a:stretch/>
        </p:blipFill>
        <p:spPr>
          <a:xfrm>
            <a:off x="548640" y="1839600"/>
            <a:ext cx="5348520" cy="2228040"/>
          </a:xfrm>
          <a:prstGeom prst="rect">
            <a:avLst/>
          </a:prstGeom>
          <a:noFill/>
          <a:ln w="0">
            <a:noFill/>
          </a:ln>
        </p:spPr>
      </p:pic>
      <p:sp>
        <p:nvSpPr>
          <p:cNvPr id="366" name="Rectangle 7"/>
          <p:cNvSpPr/>
          <p:nvPr/>
        </p:nvSpPr>
        <p:spPr>
          <a:xfrm>
            <a:off x="548640" y="1839600"/>
            <a:ext cx="5348520" cy="222804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67" name="TextBox 8"/>
          <p:cNvSpPr/>
          <p:nvPr/>
        </p:nvSpPr>
        <p:spPr>
          <a:xfrm>
            <a:off x="548640" y="41608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Η μεταβολή εσόδων σπασμένη σε έξι ροές</a:t>
            </a:r>
            <a:endParaRPr lang="en-US" sz="1100" b="0" u="none" strike="noStrike">
              <a:solidFill>
                <a:srgbClr val="000000"/>
              </a:solidFill>
              <a:effectLst/>
              <a:uFillTx/>
              <a:latin typeface="Arial"/>
            </a:endParaRPr>
          </a:p>
        </p:txBody>
      </p:sp>
      <p:pic>
        <p:nvPicPr>
          <p:cNvPr id="368" name="Picture 9" descr="quick-ratio.png"/>
          <p:cNvPicPr/>
          <p:nvPr/>
        </p:nvPicPr>
        <p:blipFill>
          <a:blip r:embed="rId2"/>
          <a:stretch/>
        </p:blipFill>
        <p:spPr>
          <a:xfrm>
            <a:off x="6291000" y="2102760"/>
            <a:ext cx="5348520" cy="1701360"/>
          </a:xfrm>
          <a:prstGeom prst="rect">
            <a:avLst/>
          </a:prstGeom>
          <a:noFill/>
          <a:ln w="0">
            <a:noFill/>
          </a:ln>
        </p:spPr>
      </p:pic>
      <p:sp>
        <p:nvSpPr>
          <p:cNvPr id="369" name="Rectangle 10"/>
          <p:cNvSpPr/>
          <p:nvPr/>
        </p:nvSpPr>
        <p:spPr>
          <a:xfrm>
            <a:off x="6291000" y="2102760"/>
            <a:ext cx="5348520" cy="170136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0" name="TextBox 11"/>
          <p:cNvSpPr/>
          <p:nvPr/>
        </p:nvSpPr>
        <p:spPr>
          <a:xfrm>
            <a:off x="6291000" y="4160880"/>
            <a:ext cx="5348520" cy="204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Quick ratio ανά μήνα. Κάτω από τη μονάδα, τα έσοδα συρρικνώνονται</a:t>
            </a:r>
            <a:endParaRPr lang="en-US" sz="1100" b="0" u="none" strike="noStrike">
              <a:solidFill>
                <a:srgbClr val="000000"/>
              </a:solidFill>
              <a:effectLst/>
              <a:uFillTx/>
              <a:latin typeface="Arial"/>
            </a:endParaRPr>
          </a:p>
        </p:txBody>
      </p:sp>
      <p:sp>
        <p:nvSpPr>
          <p:cNvPr id="371" name="Rounded Rectangle 12"/>
          <p:cNvSpPr/>
          <p:nvPr/>
        </p:nvSpPr>
        <p:spPr>
          <a:xfrm>
            <a:off x="548640" y="4532400"/>
            <a:ext cx="359892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2" name="TextBox 13"/>
          <p:cNvSpPr/>
          <p:nvPr/>
        </p:nvSpPr>
        <p:spPr>
          <a:xfrm>
            <a:off x="548640" y="4623840"/>
            <a:ext cx="359892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72,4%</a:t>
            </a:r>
            <a:endParaRPr lang="en-US" sz="2400" b="0" u="none" strike="noStrike">
              <a:solidFill>
                <a:srgbClr val="000000"/>
              </a:solidFill>
              <a:effectLst/>
              <a:uFillTx/>
              <a:latin typeface="Arial"/>
            </a:endParaRPr>
          </a:p>
        </p:txBody>
      </p:sp>
      <p:sp>
        <p:nvSpPr>
          <p:cNvPr id="373" name="TextBox 14"/>
          <p:cNvSpPr/>
          <p:nvPr/>
        </p:nvSpPr>
        <p:spPr>
          <a:xfrm>
            <a:off x="603360" y="5081040"/>
            <a:ext cx="348912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Πελάτες που </a:t>
            </a:r>
            <a:r>
              <a:rPr lang="en-US" sz="1100" b="0" u="none" strike="noStrike">
                <a:solidFill>
                  <a:srgbClr val="6B6259"/>
                </a:solidFill>
                <a:effectLst/>
                <a:uFillTx/>
                <a:latin typeface="Calibri"/>
                <a:ea typeface="DejaVu Sans"/>
              </a:rPr>
              <a:t>ξαναγόρασαν</a:t>
            </a:r>
            <a:endParaRPr lang="en-US" sz="1100" b="0" u="none" strike="noStrike">
              <a:solidFill>
                <a:srgbClr val="000000"/>
              </a:solidFill>
              <a:effectLst/>
              <a:uFillTx/>
              <a:latin typeface="Arial"/>
            </a:endParaRPr>
          </a:p>
        </p:txBody>
      </p:sp>
      <p:sp>
        <p:nvSpPr>
          <p:cNvPr id="374" name="Rounded Rectangle 15"/>
          <p:cNvSpPr/>
          <p:nvPr/>
        </p:nvSpPr>
        <p:spPr>
          <a:xfrm>
            <a:off x="4294800" y="4532400"/>
            <a:ext cx="359892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5" name="TextBox 16"/>
          <p:cNvSpPr/>
          <p:nvPr/>
        </p:nvSpPr>
        <p:spPr>
          <a:xfrm>
            <a:off x="4294800" y="4623840"/>
            <a:ext cx="359892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0,740</a:t>
            </a:r>
            <a:endParaRPr lang="en-US" sz="2400" b="0" u="none" strike="noStrike">
              <a:solidFill>
                <a:srgbClr val="000000"/>
              </a:solidFill>
              <a:effectLst/>
              <a:uFillTx/>
              <a:latin typeface="Arial"/>
            </a:endParaRPr>
          </a:p>
        </p:txBody>
      </p:sp>
      <p:sp>
        <p:nvSpPr>
          <p:cNvPr id="376" name="TextBox 17"/>
          <p:cNvSpPr/>
          <p:nvPr/>
        </p:nvSpPr>
        <p:spPr>
          <a:xfrm>
            <a:off x="4349520" y="5081040"/>
            <a:ext cx="348912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Συντελεστής Gini</a:t>
            </a:r>
            <a:endParaRPr lang="en-US" sz="1100" b="0" u="none" strike="noStrike">
              <a:solidFill>
                <a:srgbClr val="000000"/>
              </a:solidFill>
              <a:effectLst/>
              <a:uFillTx/>
              <a:latin typeface="Arial"/>
            </a:endParaRPr>
          </a:p>
        </p:txBody>
      </p:sp>
      <p:sp>
        <p:nvSpPr>
          <p:cNvPr id="377" name="Rounded Rectangle 18"/>
          <p:cNvSpPr/>
          <p:nvPr/>
        </p:nvSpPr>
        <p:spPr>
          <a:xfrm>
            <a:off x="8040600" y="4532400"/>
            <a:ext cx="3598920" cy="9684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8" name="TextBox 19"/>
          <p:cNvSpPr/>
          <p:nvPr/>
        </p:nvSpPr>
        <p:spPr>
          <a:xfrm>
            <a:off x="8040600" y="4623840"/>
            <a:ext cx="3598920" cy="446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3,3%</a:t>
            </a:r>
            <a:endParaRPr lang="en-US" sz="2400" b="0" u="none" strike="noStrike">
              <a:solidFill>
                <a:srgbClr val="000000"/>
              </a:solidFill>
              <a:effectLst/>
              <a:uFillTx/>
              <a:latin typeface="Arial"/>
            </a:endParaRPr>
          </a:p>
        </p:txBody>
      </p:sp>
      <p:sp>
        <p:nvSpPr>
          <p:cNvPr id="379" name="TextBox 20"/>
          <p:cNvSpPr/>
          <p:nvPr/>
        </p:nvSpPr>
        <p:spPr>
          <a:xfrm>
            <a:off x="8095320" y="5081040"/>
            <a:ext cx="3489120" cy="204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Ο μεγαλύτερος πελάτης</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ΟΙΚΟΝΟ</a:t>
            </a:r>
            <a:r>
              <a:rPr lang="en-US" sz="1200" b="1" u="none" strike="noStrike">
                <a:solidFill>
                  <a:srgbClr val="E8A33D"/>
                </a:solidFill>
                <a:effectLst/>
                <a:uFillTx/>
                <a:latin typeface="Calibri"/>
                <a:ea typeface="DejaVu Sans"/>
              </a:rPr>
              <a:t>ΜΙΚΟΙ </a:t>
            </a:r>
            <a:r>
              <a:rPr lang="en-US" sz="1200" b="1" u="none" strike="noStrike">
                <a:solidFill>
                  <a:srgbClr val="E8A33D"/>
                </a:solidFill>
                <a:effectLst/>
                <a:uFillTx/>
                <a:latin typeface="Calibri"/>
                <a:ea typeface="DejaVu Sans"/>
              </a:rPr>
              <a:t>ΔΕΙΚΤΕΣ</a:t>
            </a:r>
            <a:endParaRPr lang="en-US" sz="1200" b="0" u="none" strike="noStrike">
              <a:solidFill>
                <a:srgbClr val="000000"/>
              </a:solidFill>
              <a:effectLst/>
              <a:uFillTx/>
              <a:latin typeface="Arial"/>
            </a:endParaRPr>
          </a:p>
        </p:txBody>
      </p:sp>
      <p:sp>
        <p:nvSpPr>
          <p:cNvPr id="381"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Κερδοφορία</a:t>
            </a:r>
            <a:endParaRPr lang="en-US" sz="3000" b="0" u="none" strike="noStrike">
              <a:solidFill>
                <a:srgbClr val="000000"/>
              </a:solidFill>
              <a:effectLst/>
              <a:uFillTx/>
              <a:latin typeface="Arial"/>
            </a:endParaRPr>
          </a:p>
        </p:txBody>
      </p:sp>
      <p:sp>
        <p:nvSpPr>
          <p:cNvPr id="382"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23</a:t>
            </a:r>
            <a:endParaRPr lang="en-US" sz="900" b="0" u="none" strike="noStrike">
              <a:solidFill>
                <a:srgbClr val="000000"/>
              </a:solidFill>
              <a:effectLst/>
              <a:uFillTx/>
              <a:latin typeface="Arial"/>
            </a:endParaRPr>
          </a:p>
        </p:txBody>
      </p:sp>
      <p:pic>
        <p:nvPicPr>
          <p:cNvPr id="383" name="Picture 5" descr="profitability-sensitivity.png"/>
          <p:cNvPicPr/>
          <p:nvPr/>
        </p:nvPicPr>
        <p:blipFill>
          <a:blip r:embed="rId1"/>
          <a:stretch/>
        </p:blipFill>
        <p:spPr>
          <a:xfrm>
            <a:off x="1023120" y="2258640"/>
            <a:ext cx="4399920" cy="2513880"/>
          </a:xfrm>
          <a:prstGeom prst="rect">
            <a:avLst/>
          </a:prstGeom>
          <a:noFill/>
          <a:ln w="0">
            <a:noFill/>
          </a:ln>
        </p:spPr>
      </p:pic>
      <p:sp>
        <p:nvSpPr>
          <p:cNvPr id="384" name="Rectangle 6"/>
          <p:cNvSpPr/>
          <p:nvPr/>
        </p:nvSpPr>
        <p:spPr>
          <a:xfrm>
            <a:off x="1023120" y="2258640"/>
            <a:ext cx="4399920" cy="2513880"/>
          </a:xfrm>
          <a:prstGeom prst="rect">
            <a:avLst/>
          </a:prstGeom>
          <a:noFill/>
          <a:ln w="9360">
            <a:solidFill>
              <a:srgbClr val="4F81BD">
                <a:lumMod val="75000"/>
                <a:lumOff val="0"/>
              </a:srgbClr>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5" name="TextBox 7"/>
          <p:cNvSpPr/>
          <p:nvPr/>
        </p:nvSpPr>
        <p:spPr>
          <a:xfrm>
            <a:off x="548640" y="4864680"/>
            <a:ext cx="5348520" cy="2044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100" b="0" u="none" strike="noStrike">
                <a:solidFill>
                  <a:srgbClr val="6B6259"/>
                </a:solidFill>
                <a:effectLst/>
                <a:uFillTx/>
                <a:latin typeface="Calibri"/>
                <a:ea typeface="DejaVu Sans"/>
              </a:rPr>
              <a:t>LTV προς CAC για κάθε συνδυασμό </a:t>
            </a:r>
            <a:r>
              <a:rPr lang="en-US" sz="1100" b="0" u="none" strike="noStrike">
                <a:solidFill>
                  <a:srgbClr val="6B6259"/>
                </a:solidFill>
                <a:effectLst/>
                <a:uFillTx/>
                <a:latin typeface="Calibri"/>
                <a:ea typeface="DejaVu Sans"/>
              </a:rPr>
              <a:t>παραδοχών</a:t>
            </a:r>
            <a:endParaRPr lang="en-US" sz="1100" b="0" u="none" strike="noStrike">
              <a:solidFill>
                <a:srgbClr val="000000"/>
              </a:solidFill>
              <a:effectLst/>
              <a:uFillTx/>
              <a:latin typeface="Arial"/>
            </a:endParaRPr>
          </a:p>
        </p:txBody>
      </p:sp>
      <p:sp>
        <p:nvSpPr>
          <p:cNvPr id="386" name="TextBox 8"/>
          <p:cNvSpPr/>
          <p:nvPr/>
        </p:nvSpPr>
        <p:spPr>
          <a:xfrm>
            <a:off x="6291000" y="2514600"/>
            <a:ext cx="5348520" cy="197244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Από τα δεκαέξι κελιά του </a:t>
            </a:r>
            <a:r>
              <a:rPr lang="en-US" sz="1500" b="0" u="none" strike="noStrike">
                <a:solidFill>
                  <a:srgbClr val="241F1B"/>
                </a:solidFill>
                <a:effectLst/>
                <a:uFillTx/>
                <a:latin typeface="Calibri"/>
                <a:ea typeface="DejaVu Sans"/>
              </a:rPr>
              <a:t>πλέγματος, τα 8 περνάνε το όριο </a:t>
            </a:r>
            <a:r>
              <a:rPr lang="en-US" sz="1500" b="0" u="none" strike="noStrike">
                <a:solidFill>
                  <a:srgbClr val="241F1B"/>
                </a:solidFill>
                <a:effectLst/>
                <a:uFillTx/>
                <a:latin typeface="Calibri"/>
                <a:ea typeface="DejaVu Sans"/>
              </a:rPr>
              <a:t>3:1 και τα 8 όχι. Ίδια δεδομένα, </a:t>
            </a:r>
            <a:r>
              <a:rPr lang="en-US" sz="1500" b="0" u="none" strike="noStrike">
                <a:solidFill>
                  <a:srgbClr val="241F1B"/>
                </a:solidFill>
                <a:effectLst/>
                <a:uFillTx/>
                <a:latin typeface="Calibri"/>
                <a:ea typeface="DejaVu Sans"/>
              </a:rPr>
              <a:t>αντίθετα συμπεράσματα, μόνο </a:t>
            </a:r>
            <a:r>
              <a:rPr lang="en-US" sz="1500" b="0" u="none" strike="noStrike">
                <a:solidFill>
                  <a:srgbClr val="241F1B"/>
                </a:solidFill>
                <a:effectLst/>
                <a:uFillTx/>
                <a:latin typeface="Calibri"/>
                <a:ea typeface="DejaVu Sans"/>
              </a:rPr>
              <a:t>και μόνο επειδή αλλάζει η </a:t>
            </a:r>
            <a:r>
              <a:rPr lang="en-US" sz="1500" b="0" u="none" strike="noStrike">
                <a:solidFill>
                  <a:srgbClr val="241F1B"/>
                </a:solidFill>
                <a:effectLst/>
                <a:uFillTx/>
                <a:latin typeface="Calibri"/>
                <a:ea typeface="DejaVu Sans"/>
              </a:rPr>
              <a:t>υπόθεση για το περιθώριο </a:t>
            </a:r>
            <a:r>
              <a:rPr lang="en-US" sz="1500" b="0" u="none" strike="noStrike">
                <a:solidFill>
                  <a:srgbClr val="241F1B"/>
                </a:solidFill>
                <a:effectLst/>
                <a:uFillTx/>
                <a:latin typeface="Calibri"/>
                <a:ea typeface="DejaVu Sans"/>
              </a:rPr>
              <a:t>κέρδους.</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Αυτή η εξάρτηση είναι το </a:t>
            </a:r>
            <a:r>
              <a:rPr lang="en-US" sz="1500" b="1" u="none" strike="noStrike">
                <a:solidFill>
                  <a:srgbClr val="241F1B"/>
                </a:solidFill>
                <a:effectLst/>
                <a:uFillTx/>
                <a:latin typeface="Calibri"/>
                <a:ea typeface="DejaVu Sans"/>
              </a:rPr>
              <a:t>εύρημα. Δεν διαλέγουμε ένα </a:t>
            </a:r>
            <a:r>
              <a:rPr lang="en-US" sz="1500" b="1" u="none" strike="noStrike">
                <a:solidFill>
                  <a:srgbClr val="241F1B"/>
                </a:solidFill>
                <a:effectLst/>
                <a:uFillTx/>
                <a:latin typeface="Calibri"/>
                <a:ea typeface="DejaVu Sans"/>
              </a:rPr>
              <a:t>“λογικό” περιθώριο για να </a:t>
            </a:r>
            <a:r>
              <a:rPr lang="en-US" sz="1500" b="1" u="none" strike="noStrike">
                <a:solidFill>
                  <a:srgbClr val="241F1B"/>
                </a:solidFill>
                <a:effectLst/>
                <a:uFillTx/>
                <a:latin typeface="Calibri"/>
                <a:ea typeface="DejaVu Sans"/>
              </a:rPr>
              <a:t>δώσουμε μία καθαρή </a:t>
            </a:r>
            <a:r>
              <a:rPr lang="en-US" sz="1500" b="1" u="none" strike="noStrike">
                <a:solidFill>
                  <a:srgbClr val="241F1B"/>
                </a:solidFill>
                <a:effectLst/>
                <a:uFillTx/>
                <a:latin typeface="Calibri"/>
                <a:ea typeface="DejaVu Sans"/>
              </a:rPr>
              <a:t>απάντηση, γιατί θα ήταν </a:t>
            </a:r>
            <a:r>
              <a:rPr lang="en-US" sz="1500" b="1" u="none" strike="noStrike">
                <a:solidFill>
                  <a:srgbClr val="241F1B"/>
                </a:solidFill>
                <a:effectLst/>
                <a:uFillTx/>
                <a:latin typeface="Calibri"/>
                <a:ea typeface="DejaVu Sans"/>
              </a:rPr>
              <a:t>υπόθεση ντυμένη σαν μέτρηση.</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Rectangle 1"/>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8" name="TextBox 2"/>
          <p:cNvSpPr/>
          <p:nvPr/>
        </p:nvSpPr>
        <p:spPr>
          <a:xfrm>
            <a:off x="548640" y="1600200"/>
            <a:ext cx="11090880" cy="17848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600" b="1" u="none" strike="noStrike">
                <a:solidFill>
                  <a:srgbClr val="3E6E43"/>
                </a:solidFill>
                <a:effectLst/>
                <a:uFillTx/>
                <a:latin typeface="Cambria"/>
                <a:ea typeface="DejaVu Sans"/>
              </a:rPr>
              <a:t>0</a:t>
            </a:r>
            <a:r>
              <a:rPr lang="en-US" sz="9600" b="1" u="none" strike="noStrike">
                <a:solidFill>
                  <a:srgbClr val="3E6E43"/>
                </a:solidFill>
                <a:effectLst/>
                <a:uFillTx/>
                <a:latin typeface="Cambria"/>
                <a:ea typeface="DejaVu Sans"/>
              </a:rPr>
              <a:t>4</a:t>
            </a:r>
            <a:endParaRPr lang="en-US" sz="9600" b="0" u="none" strike="noStrike">
              <a:solidFill>
                <a:srgbClr val="000000"/>
              </a:solidFill>
              <a:effectLst/>
              <a:uFillTx/>
              <a:latin typeface="Arial"/>
            </a:endParaRPr>
          </a:p>
        </p:txBody>
      </p:sp>
      <p:sp>
        <p:nvSpPr>
          <p:cNvPr id="389" name="TextBox 3"/>
          <p:cNvSpPr/>
          <p:nvPr/>
        </p:nvSpPr>
        <p:spPr>
          <a:xfrm>
            <a:off x="548640" y="3474720"/>
            <a:ext cx="110908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E8A33D"/>
                </a:solidFill>
                <a:effectLst/>
                <a:uFillTx/>
                <a:latin typeface="Calibri"/>
                <a:ea typeface="DejaVu Sans"/>
              </a:rPr>
              <a:t>ΕΝΟΤΗΤΑ</a:t>
            </a:r>
            <a:endParaRPr lang="en-US" sz="1300" b="0" u="none" strike="noStrike">
              <a:solidFill>
                <a:srgbClr val="000000"/>
              </a:solidFill>
              <a:effectLst/>
              <a:uFillTx/>
              <a:latin typeface="Arial"/>
            </a:endParaRPr>
          </a:p>
        </p:txBody>
      </p:sp>
      <p:sp>
        <p:nvSpPr>
          <p:cNvPr id="390"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Συμπ</a:t>
            </a:r>
            <a:r>
              <a:rPr lang="en-US" sz="4400" b="1" u="none" strike="noStrike">
                <a:solidFill>
                  <a:srgbClr val="FFFFFF"/>
                </a:solidFill>
                <a:effectLst/>
                <a:uFillTx/>
                <a:latin typeface="Cambria"/>
                <a:ea typeface="DejaVu Sans"/>
              </a:rPr>
              <a:t>εράσ</a:t>
            </a:r>
            <a:r>
              <a:rPr lang="en-US" sz="4400" b="1" u="none" strike="noStrike">
                <a:solidFill>
                  <a:srgbClr val="FFFFFF"/>
                </a:solidFill>
                <a:effectLst/>
                <a:uFillTx/>
                <a:latin typeface="Cambria"/>
                <a:ea typeface="DejaVu Sans"/>
              </a:rPr>
              <a:t>ματα</a:t>
            </a:r>
            <a:endParaRPr lang="en-US" sz="4400" b="0" u="none" strike="noStrike">
              <a:solidFill>
                <a:srgbClr val="000000"/>
              </a:solidFill>
              <a:effectLst/>
              <a:uFillTx/>
              <a:latin typeface="Arial"/>
            </a:endParaRPr>
          </a:p>
        </p:txBody>
      </p:sp>
      <p:sp>
        <p:nvSpPr>
          <p:cNvPr id="391"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500" b="0" u="none" strike="noStrike">
                <a:solidFill>
                  <a:srgbClr val="D7E5D2"/>
                </a:solidFill>
                <a:effectLst/>
                <a:uFillTx/>
                <a:latin typeface="Calibri"/>
                <a:ea typeface="DejaVu Sans"/>
              </a:rPr>
              <a:t>Τι κερδίζει η </a:t>
            </a:r>
            <a:r>
              <a:rPr lang="en-US" sz="1500" b="0" u="none" strike="noStrike">
                <a:solidFill>
                  <a:srgbClr val="D7E5D2"/>
                </a:solidFill>
                <a:effectLst/>
                <a:uFillTx/>
                <a:latin typeface="Calibri"/>
                <a:ea typeface="DejaVu Sans"/>
              </a:rPr>
              <a:t>επιχείρηση </a:t>
            </a:r>
            <a:r>
              <a:rPr lang="en-US" sz="1500" b="0" u="none" strike="noStrike">
                <a:solidFill>
                  <a:srgbClr val="D7E5D2"/>
                </a:solidFill>
                <a:effectLst/>
                <a:uFillTx/>
                <a:latin typeface="Calibri"/>
                <a:ea typeface="DejaVu Sans"/>
              </a:rPr>
              <a:t>και πού </a:t>
            </a:r>
            <a:r>
              <a:rPr lang="en-US" sz="1500" b="0" u="none" strike="noStrike">
                <a:solidFill>
                  <a:srgbClr val="D7E5D2"/>
                </a:solidFill>
                <a:effectLst/>
                <a:uFillTx/>
                <a:latin typeface="Calibri"/>
                <a:ea typeface="DejaVu Sans"/>
              </a:rPr>
              <a:t>σταματάμε</a:t>
            </a:r>
            <a:endParaRPr lang="en-US" sz="1500" b="0" u="none" strike="noStrike">
              <a:solidFill>
                <a:srgbClr val="000000"/>
              </a:solidFill>
              <a:effectLst/>
              <a:uFillTx/>
              <a:latin typeface="Arial"/>
            </a:endParaRPr>
          </a:p>
        </p:txBody>
      </p:sp>
      <p:sp>
        <p:nvSpPr>
          <p:cNvPr id="392"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00" b="0" u="none" strike="noStrike">
                <a:solidFill>
                  <a:srgbClr val="D7E5D2"/>
                </a:solidFill>
                <a:effectLst/>
                <a:uFillTx/>
                <a:latin typeface="Calibri"/>
                <a:ea typeface="DejaVu Sans"/>
              </a:rPr>
              <a:t>ENSIGHTS · Διπλωματική εργασία</a:t>
            </a:r>
            <a:endParaRPr lang="en-US" sz="900" b="0" u="none" strike="noStrike">
              <a:solidFill>
                <a:srgbClr val="000000"/>
              </a:solidFill>
              <a:effectLst/>
              <a:uFillTx/>
              <a:latin typeface="Arial"/>
            </a:endParaRPr>
          </a:p>
        </p:txBody>
      </p:sp>
      <p:sp>
        <p:nvSpPr>
          <p:cNvPr id="393"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24</a:t>
            </a:r>
            <a:endParaRPr lang="en-US" sz="900" b="0" u="none" strike="noStrike">
              <a:solidFill>
                <a:srgbClr val="000000"/>
              </a:solidFill>
              <a:effectLst/>
              <a:uFillTx/>
              <a:latin typeface="Arial"/>
            </a:endParaRPr>
          </a:p>
        </p:txBody>
      </p:sp>
      <p:sp>
        <p:nvSpPr>
          <p:cNvPr id="394" name="Rectangle 12"/>
          <p:cNvSpPr/>
          <p:nvPr/>
        </p:nvSpPr>
        <p:spPr>
          <a:xfrm>
            <a:off x="0" y="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95" name="TextBox 2"/>
          <p:cNvSpPr/>
          <p:nvPr/>
        </p:nvSpPr>
        <p:spPr>
          <a:xfrm>
            <a:off x="548640" y="1600200"/>
            <a:ext cx="11090880" cy="17848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600" b="1" u="none" strike="noStrike">
                <a:solidFill>
                  <a:srgbClr val="3E6E43"/>
                </a:solidFill>
                <a:effectLst/>
                <a:uFillTx/>
                <a:latin typeface="Cambria"/>
                <a:ea typeface="DejaVu Sans"/>
              </a:rPr>
              <a:t>03</a:t>
            </a:r>
            <a:endParaRPr lang="en-US" sz="9600" b="0" u="none" strike="noStrike">
              <a:solidFill>
                <a:srgbClr val="000000"/>
              </a:solidFill>
              <a:effectLst/>
              <a:uFillTx/>
              <a:latin typeface="Arial"/>
            </a:endParaRPr>
          </a:p>
        </p:txBody>
      </p:sp>
      <p:sp>
        <p:nvSpPr>
          <p:cNvPr id="396" name="TextBox 3"/>
          <p:cNvSpPr/>
          <p:nvPr/>
        </p:nvSpPr>
        <p:spPr>
          <a:xfrm>
            <a:off x="548640" y="3474720"/>
            <a:ext cx="11090880" cy="241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E8A33D"/>
                </a:solidFill>
                <a:effectLst/>
                <a:uFillTx/>
                <a:latin typeface="Calibri"/>
                <a:ea typeface="DejaVu Sans"/>
              </a:rPr>
              <a:t>ΕΝΟΤΗΤΑ</a:t>
            </a:r>
            <a:endParaRPr lang="en-US" sz="1300" b="0" u="none" strike="noStrike">
              <a:solidFill>
                <a:srgbClr val="000000"/>
              </a:solidFill>
              <a:effectLst/>
              <a:uFillTx/>
              <a:latin typeface="Arial"/>
            </a:endParaRPr>
          </a:p>
        </p:txBody>
      </p:sp>
      <p:sp>
        <p:nvSpPr>
          <p:cNvPr id="397" name="TextBox 4"/>
          <p:cNvSpPr/>
          <p:nvPr/>
        </p:nvSpPr>
        <p:spPr>
          <a:xfrm>
            <a:off x="548640" y="380376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Τα ευρήματα</a:t>
            </a:r>
            <a:endParaRPr lang="en-US" sz="4400" b="0" u="none" strike="noStrike">
              <a:solidFill>
                <a:srgbClr val="000000"/>
              </a:solidFill>
              <a:effectLst/>
              <a:uFillTx/>
              <a:latin typeface="Arial"/>
            </a:endParaRPr>
          </a:p>
        </p:txBody>
      </p:sp>
      <p:sp>
        <p:nvSpPr>
          <p:cNvPr id="398" name="TextBox 5"/>
          <p:cNvSpPr/>
          <p:nvPr/>
        </p:nvSpPr>
        <p:spPr>
          <a:xfrm>
            <a:off x="548640" y="4645080"/>
            <a:ext cx="11090880" cy="278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500" b="0" u="none" strike="noStrike">
                <a:solidFill>
                  <a:srgbClr val="D7E5D2"/>
                </a:solidFill>
                <a:effectLst/>
                <a:uFillTx/>
                <a:latin typeface="Calibri"/>
                <a:ea typeface="DejaVu Sans"/>
              </a:rPr>
              <a:t>Τι βγήκε από ένα εκατομμύριο γραμμές πωλήσεων</a:t>
            </a:r>
            <a:endParaRPr lang="en-US" sz="1500" b="0" u="none" strike="noStrike">
              <a:solidFill>
                <a:srgbClr val="000000"/>
              </a:solidFill>
              <a:effectLst/>
              <a:uFillTx/>
              <a:latin typeface="Arial"/>
            </a:endParaRPr>
          </a:p>
        </p:txBody>
      </p:sp>
      <p:sp>
        <p:nvSpPr>
          <p:cNvPr id="399" name="TextBox 6"/>
          <p:cNvSpPr/>
          <p:nvPr/>
        </p:nvSpPr>
        <p:spPr>
          <a:xfrm>
            <a:off x="548640" y="6473880"/>
            <a:ext cx="5485680" cy="167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900" b="0" u="none" strike="noStrike">
                <a:solidFill>
                  <a:srgbClr val="D7E5D2"/>
                </a:solidFill>
                <a:effectLst/>
                <a:uFillTx/>
                <a:latin typeface="Calibri"/>
                <a:ea typeface="DejaVu Sans"/>
              </a:rPr>
              <a:t>ENSIGHTS · Διπλωματική εργασία</a:t>
            </a:r>
            <a:endParaRPr lang="en-US" sz="900" b="0" u="none" strike="noStrike">
              <a:solidFill>
                <a:srgbClr val="000000"/>
              </a:solidFill>
              <a:effectLst/>
              <a:uFillTx/>
              <a:latin typeface="Arial"/>
            </a:endParaRPr>
          </a:p>
        </p:txBody>
      </p:sp>
      <p:sp>
        <p:nvSpPr>
          <p:cNvPr id="400"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12</a:t>
            </a:r>
            <a:endParaRPr lang="en-US" sz="900" b="0" u="none" strike="noStrike">
              <a:solidFill>
                <a:srgbClr val="000000"/>
              </a:solidFill>
              <a:effectLst/>
              <a:uFillTx/>
              <a:latin typeface="Arial"/>
            </a:endParaRPr>
          </a:p>
        </p:txBody>
      </p:sp>
      <p:sp>
        <p:nvSpPr>
          <p:cNvPr id="401" name="Rectangle 13"/>
          <p:cNvSpPr/>
          <p:nvPr/>
        </p:nvSpPr>
        <p:spPr>
          <a:xfrm>
            <a:off x="360" y="360"/>
            <a:ext cx="12191040" cy="6857280"/>
          </a:xfrm>
          <a:prstGeom prst="rect">
            <a:avLst/>
          </a:prstGeom>
          <a:solidFill>
            <a:schemeClr val="accent1"/>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02" name="TextBox 1"/>
          <p:cNvSpPr/>
          <p:nvPr/>
        </p:nvSpPr>
        <p:spPr>
          <a:xfrm>
            <a:off x="549000" y="1600560"/>
            <a:ext cx="11090880" cy="16452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403" name="TextBox 8"/>
          <p:cNvSpPr/>
          <p:nvPr/>
        </p:nvSpPr>
        <p:spPr>
          <a:xfrm>
            <a:off x="549000" y="297216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2η ΕΝΟΤΗΤΑ</a:t>
            </a:r>
            <a:endParaRPr lang="en-US" sz="4000" b="0" u="none" strike="noStrike">
              <a:solidFill>
                <a:srgbClr val="000000"/>
              </a:solidFill>
              <a:effectLst/>
              <a:uFillTx/>
              <a:latin typeface="Arial"/>
            </a:endParaRPr>
          </a:p>
        </p:txBody>
      </p:sp>
      <p:sp>
        <p:nvSpPr>
          <p:cNvPr id="404" name="TextBox 9"/>
          <p:cNvSpPr/>
          <p:nvPr/>
        </p:nvSpPr>
        <p:spPr>
          <a:xfrm>
            <a:off x="549000" y="380412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a:t>
            </a:r>
            <a:r>
              <a:rPr lang="en-US" sz="4400" b="1" u="none" strike="noStrike">
                <a:solidFill>
                  <a:srgbClr val="FFFFFF"/>
                </a:solidFill>
                <a:effectLst/>
                <a:uFillTx/>
                <a:latin typeface="Cambria"/>
                <a:ea typeface="DejaVu Sans"/>
              </a:rPr>
              <a:t>σύστ</a:t>
            </a:r>
            <a:r>
              <a:rPr lang="en-US" sz="4400" b="1" u="none" strike="noStrike">
                <a:solidFill>
                  <a:srgbClr val="FFFFFF"/>
                </a:solidFill>
                <a:effectLst/>
                <a:uFillTx/>
                <a:latin typeface="Cambria"/>
                <a:ea typeface="DejaVu Sans"/>
              </a:rPr>
              <a:t>ημα</a:t>
            </a:r>
            <a:endParaRPr lang="en-US" sz="4400" b="0" u="none" strike="noStrike">
              <a:solidFill>
                <a:srgbClr val="000000"/>
              </a:solidFill>
              <a:effectLst/>
              <a:uFillTx/>
              <a:latin typeface="Arial"/>
            </a:endParaRPr>
          </a:p>
        </p:txBody>
      </p:sp>
      <p:sp>
        <p:nvSpPr>
          <p:cNvPr id="405" name="TextBox 10"/>
          <p:cNvSpPr/>
          <p:nvPr/>
        </p:nvSpPr>
        <p:spPr>
          <a:xfrm>
            <a:off x="549000" y="4645440"/>
            <a:ext cx="11090880" cy="365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406" name="TextBox 11"/>
          <p:cNvSpPr/>
          <p:nvPr/>
        </p:nvSpPr>
        <p:spPr>
          <a:xfrm>
            <a:off x="549000" y="6474240"/>
            <a:ext cx="5485680" cy="273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407" name="TextBox 12"/>
          <p:cNvSpPr/>
          <p:nvPr/>
        </p:nvSpPr>
        <p:spPr>
          <a:xfrm>
            <a:off x="11094840" y="647424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7</a:t>
            </a:r>
            <a:endParaRPr lang="en-US" sz="900" b="0" u="none" strike="noStrike">
              <a:solidFill>
                <a:srgbClr val="000000"/>
              </a:solidFill>
              <a:effectLst/>
              <a:uFillTx/>
              <a:latin typeface="Arial"/>
            </a:endParaRPr>
          </a:p>
        </p:txBody>
      </p:sp>
      <p:sp>
        <p:nvSpPr>
          <p:cNvPr id="408" name="Rectangle 14"/>
          <p:cNvSpPr/>
          <p:nvPr/>
        </p:nvSpPr>
        <p:spPr>
          <a:xfrm>
            <a:off x="720" y="72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09" name="TextBox 13"/>
          <p:cNvSpPr/>
          <p:nvPr/>
        </p:nvSpPr>
        <p:spPr>
          <a:xfrm>
            <a:off x="549360" y="1600920"/>
            <a:ext cx="11090880" cy="17841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410" name="TextBox 14"/>
          <p:cNvSpPr/>
          <p:nvPr/>
        </p:nvSpPr>
        <p:spPr>
          <a:xfrm>
            <a:off x="549360" y="2972520"/>
            <a:ext cx="11090880" cy="7434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4η ΕΝΟΤΗΤΑ</a:t>
            </a:r>
            <a:endParaRPr lang="en-US" sz="4000" b="0" u="none" strike="noStrike">
              <a:solidFill>
                <a:srgbClr val="000000"/>
              </a:solidFill>
              <a:effectLst/>
              <a:uFillTx/>
              <a:latin typeface="Arial"/>
            </a:endParaRPr>
          </a:p>
        </p:txBody>
      </p:sp>
      <p:sp>
        <p:nvSpPr>
          <p:cNvPr id="411" name="TextBox 15"/>
          <p:cNvSpPr/>
          <p:nvPr/>
        </p:nvSpPr>
        <p:spPr>
          <a:xfrm>
            <a:off x="549360" y="3804480"/>
            <a:ext cx="11090880" cy="817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Σ</a:t>
            </a:r>
            <a:r>
              <a:rPr lang="en-US" sz="4400" b="1" u="none" strike="noStrike">
                <a:solidFill>
                  <a:srgbClr val="FFFFFF"/>
                </a:solidFill>
                <a:effectLst/>
                <a:uFillTx/>
                <a:latin typeface="Cambria"/>
                <a:ea typeface="DejaVu Sans"/>
              </a:rPr>
              <a:t>υ</a:t>
            </a:r>
            <a:r>
              <a:rPr lang="en-US" sz="4400" b="1" u="none" strike="noStrike">
                <a:solidFill>
                  <a:srgbClr val="FFFFFF"/>
                </a:solidFill>
                <a:effectLst/>
                <a:uFillTx/>
                <a:latin typeface="Cambria"/>
                <a:ea typeface="DejaVu Sans"/>
              </a:rPr>
              <a:t>μ</a:t>
            </a:r>
            <a:r>
              <a:rPr lang="en-US" sz="4400" b="1" u="none" strike="noStrike">
                <a:solidFill>
                  <a:srgbClr val="FFFFFF"/>
                </a:solidFill>
                <a:effectLst/>
                <a:uFillTx/>
                <a:latin typeface="Cambria"/>
                <a:ea typeface="DejaVu Sans"/>
              </a:rPr>
              <a:t>π</a:t>
            </a:r>
            <a:r>
              <a:rPr lang="en-US" sz="4400" b="1" u="none" strike="noStrike">
                <a:solidFill>
                  <a:srgbClr val="FFFFFF"/>
                </a:solidFill>
                <a:effectLst/>
                <a:uFillTx/>
                <a:latin typeface="Cambria"/>
                <a:ea typeface="DejaVu Sans"/>
              </a:rPr>
              <a:t>ε</a:t>
            </a:r>
            <a:r>
              <a:rPr lang="en-US" sz="4400" b="1" u="none" strike="noStrike">
                <a:solidFill>
                  <a:srgbClr val="FFFFFF"/>
                </a:solidFill>
                <a:effectLst/>
                <a:uFillTx/>
                <a:latin typeface="Cambria"/>
                <a:ea typeface="DejaVu Sans"/>
              </a:rPr>
              <a:t>ρ</a:t>
            </a:r>
            <a:r>
              <a:rPr lang="en-US" sz="4400" b="1" u="none" strike="noStrike">
                <a:solidFill>
                  <a:srgbClr val="FFFFFF"/>
                </a:solidFill>
                <a:effectLst/>
                <a:uFillTx/>
                <a:latin typeface="Cambria"/>
                <a:ea typeface="DejaVu Sans"/>
              </a:rPr>
              <a:t>ά</a:t>
            </a:r>
            <a:r>
              <a:rPr lang="en-US" sz="4400" b="1" u="none" strike="noStrike">
                <a:solidFill>
                  <a:srgbClr val="FFFFFF"/>
                </a:solidFill>
                <a:effectLst/>
                <a:uFillTx/>
                <a:latin typeface="Cambria"/>
                <a:ea typeface="DejaVu Sans"/>
              </a:rPr>
              <a:t>σ</a:t>
            </a:r>
            <a:r>
              <a:rPr lang="en-US" sz="4400" b="1" u="none" strike="noStrike">
                <a:solidFill>
                  <a:srgbClr val="FFFFFF"/>
                </a:solidFill>
                <a:effectLst/>
                <a:uFillTx/>
                <a:latin typeface="Cambria"/>
                <a:ea typeface="DejaVu Sans"/>
              </a:rPr>
              <a:t>μ</a:t>
            </a:r>
            <a:r>
              <a:rPr lang="en-US" sz="4400" b="1" u="none" strike="noStrike">
                <a:solidFill>
                  <a:srgbClr val="FFFFFF"/>
                </a:solidFill>
                <a:effectLst/>
                <a:uFillTx/>
                <a:latin typeface="Cambria"/>
                <a:ea typeface="DejaVu Sans"/>
              </a:rPr>
              <a:t>α</a:t>
            </a:r>
            <a:r>
              <a:rPr lang="en-US" sz="4400" b="1" u="none" strike="noStrike">
                <a:solidFill>
                  <a:srgbClr val="FFFFFF"/>
                </a:solidFill>
                <a:effectLst/>
                <a:uFillTx/>
                <a:latin typeface="Cambria"/>
                <a:ea typeface="DejaVu Sans"/>
              </a:rPr>
              <a:t>τ</a:t>
            </a:r>
            <a:r>
              <a:rPr lang="en-US" sz="4400" b="1" u="none" strike="noStrike">
                <a:solidFill>
                  <a:srgbClr val="FFFFFF"/>
                </a:solidFill>
                <a:effectLst/>
                <a:uFillTx/>
                <a:latin typeface="Cambria"/>
                <a:ea typeface="DejaVu Sans"/>
              </a:rPr>
              <a:t>α</a:t>
            </a:r>
            <a:endParaRPr lang="en-US" sz="4400" b="0" u="none" strike="noStrike">
              <a:solidFill>
                <a:srgbClr val="000000"/>
              </a:solidFill>
              <a:effectLst/>
              <a:uFillTx/>
              <a:latin typeface="Arial"/>
            </a:endParaRPr>
          </a:p>
        </p:txBody>
      </p:sp>
      <p:sp>
        <p:nvSpPr>
          <p:cNvPr id="412" name="TextBox 16"/>
          <p:cNvSpPr/>
          <p:nvPr/>
        </p:nvSpPr>
        <p:spPr>
          <a:xfrm>
            <a:off x="549360" y="4645800"/>
            <a:ext cx="11090880" cy="2786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413" name="TextBox 17"/>
          <p:cNvSpPr/>
          <p:nvPr/>
        </p:nvSpPr>
        <p:spPr>
          <a:xfrm>
            <a:off x="549360" y="6474600"/>
            <a:ext cx="5485680" cy="16776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414" name="TextBox 18"/>
          <p:cNvSpPr/>
          <p:nvPr/>
        </p:nvSpPr>
        <p:spPr>
          <a:xfrm>
            <a:off x="11095200" y="647460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TextBox 1"/>
          <p:cNvSpPr/>
          <p:nvPr/>
        </p:nvSpPr>
        <p:spPr>
          <a:xfrm>
            <a:off x="548640" y="457200"/>
            <a:ext cx="1109088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ΣΥΜΠΕΡΑΣΜΑΤΑ</a:t>
            </a:r>
            <a:endParaRPr lang="en-US" sz="1200" b="0" u="none" strike="noStrike">
              <a:solidFill>
                <a:srgbClr val="000000"/>
              </a:solidFill>
              <a:effectLst/>
              <a:uFillTx/>
              <a:latin typeface="Arial"/>
            </a:endParaRPr>
          </a:p>
        </p:txBody>
      </p:sp>
      <p:sp>
        <p:nvSpPr>
          <p:cNvPr id="416" name="TextBox 2"/>
          <p:cNvSpPr/>
          <p:nvPr/>
        </p:nvSpPr>
        <p:spPr>
          <a:xfrm>
            <a:off x="548640" y="749880"/>
            <a:ext cx="11090880" cy="557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Τι απαντήθηκε και τι προσφέρει στην επιχείρηση</a:t>
            </a:r>
            <a:endParaRPr lang="en-US" sz="3000" b="0" u="none" strike="noStrike">
              <a:solidFill>
                <a:srgbClr val="000000"/>
              </a:solidFill>
              <a:effectLst/>
              <a:uFillTx/>
              <a:latin typeface="Arial"/>
            </a:endParaRPr>
          </a:p>
        </p:txBody>
      </p:sp>
      <p:sp>
        <p:nvSpPr>
          <p:cNvPr id="417" name="TextBox 4"/>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25</a:t>
            </a:r>
            <a:endParaRPr lang="en-US" sz="900" b="0" u="none" strike="noStrike">
              <a:solidFill>
                <a:srgbClr val="000000"/>
              </a:solidFill>
              <a:effectLst/>
              <a:uFillTx/>
              <a:latin typeface="Arial"/>
            </a:endParaRPr>
          </a:p>
        </p:txBody>
      </p:sp>
      <p:sp>
        <p:nvSpPr>
          <p:cNvPr id="418" name="TextBox 5"/>
          <p:cNvSpPr/>
          <p:nvPr/>
        </p:nvSpPr>
        <p:spPr>
          <a:xfrm>
            <a:off x="548640" y="2255040"/>
            <a:ext cx="53485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ΤΙ ΑΠΑΝΤΗΘΗΚΕ</a:t>
            </a:r>
            <a:endParaRPr lang="en-US" sz="1200" b="0" u="none" strike="noStrike">
              <a:solidFill>
                <a:srgbClr val="000000"/>
              </a:solidFill>
              <a:effectLst/>
              <a:uFillTx/>
              <a:latin typeface="Arial"/>
            </a:endParaRPr>
          </a:p>
        </p:txBody>
      </p:sp>
      <p:sp>
        <p:nvSpPr>
          <p:cNvPr id="419" name="TextBox 6"/>
          <p:cNvSpPr/>
          <p:nvPr/>
        </p:nvSpPr>
        <p:spPr>
          <a:xfrm>
            <a:off x="548640" y="2620800"/>
            <a:ext cx="5348520" cy="231660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Και τα 7 βασικά ερωτήματα που έχει μία επιχείρηση.</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Ο αλγόριθμος Apriori και ο FP-Growth δίνουν ταυτόσημα αποτελέσματα. Η επιλογή είναι θέμα χρόνου, όχι ευρήματος.</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Κάθε πρόβλεψη συγκρίνεται με μια απλοϊκή εκτίμηση, ώστε μια τετριμμένη πρόβλεψη να μη μοιάζει με επιτυχία.</a:t>
            </a:r>
            <a:endParaRPr lang="en-US" sz="1700" b="0" u="none" strike="noStrike">
              <a:solidFill>
                <a:srgbClr val="000000"/>
              </a:solidFill>
              <a:effectLst/>
              <a:uFillTx/>
              <a:latin typeface="Arial"/>
            </a:endParaRPr>
          </a:p>
        </p:txBody>
      </p:sp>
      <p:sp>
        <p:nvSpPr>
          <p:cNvPr id="420" name="TextBox 7"/>
          <p:cNvSpPr/>
          <p:nvPr/>
        </p:nvSpPr>
        <p:spPr>
          <a:xfrm>
            <a:off x="6291000" y="2255040"/>
            <a:ext cx="5348520" cy="222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ΤΙ ΠΡΕΠΕΙ ΝΑ ΚΑΝΕΙ Η ΕΠΙΧΕΙΡΗΣΗ</a:t>
            </a:r>
            <a:endParaRPr lang="en-US" sz="1200" b="0" u="none" strike="noStrike">
              <a:solidFill>
                <a:srgbClr val="000000"/>
              </a:solidFill>
              <a:effectLst/>
              <a:uFillTx/>
              <a:latin typeface="Arial"/>
            </a:endParaRPr>
          </a:p>
        </p:txBody>
      </p:sp>
      <p:sp>
        <p:nvSpPr>
          <p:cNvPr id="421" name="TextBox 8"/>
          <p:cNvSpPr/>
          <p:nvPr/>
        </p:nvSpPr>
        <p:spPr>
          <a:xfrm>
            <a:off x="6291000" y="2570400"/>
            <a:ext cx="5348520" cy="20016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Προωθεί </a:t>
            </a:r>
            <a:r>
              <a:rPr lang="en-US" sz="1700" b="0" u="none" strike="noStrike">
                <a:solidFill>
                  <a:srgbClr val="241F1B"/>
                </a:solidFill>
                <a:effectLst/>
                <a:uFillTx/>
                <a:latin typeface="Calibri"/>
                <a:ea typeface="DejaVu Sans"/>
              </a:rPr>
              <a:t>μαζί τα </a:t>
            </a:r>
            <a:r>
              <a:rPr lang="en-US" sz="1700" b="0" u="none" strike="noStrike">
                <a:solidFill>
                  <a:srgbClr val="241F1B"/>
                </a:solidFill>
                <a:effectLst/>
                <a:uFillTx/>
                <a:latin typeface="Calibri"/>
                <a:ea typeface="DejaVu Sans"/>
              </a:rPr>
              <a:t>προϊόντα </a:t>
            </a:r>
            <a:r>
              <a:rPr lang="en-US" sz="1700" b="0" u="none" strike="noStrike">
                <a:solidFill>
                  <a:srgbClr val="241F1B"/>
                </a:solidFill>
                <a:effectLst/>
                <a:uFillTx/>
                <a:latin typeface="Calibri"/>
                <a:ea typeface="DejaVu Sans"/>
              </a:rPr>
              <a:t>με lift </a:t>
            </a:r>
            <a:r>
              <a:rPr lang="en-US" sz="1700" b="0" u="none" strike="noStrike">
                <a:solidFill>
                  <a:srgbClr val="241F1B"/>
                </a:solidFill>
                <a:effectLst/>
                <a:uFillTx/>
                <a:latin typeface="Calibri"/>
                <a:ea typeface="DejaVu Sans"/>
              </a:rPr>
              <a:t>πάνω από </a:t>
            </a:r>
            <a:r>
              <a:rPr lang="en-US" sz="1700" b="0" u="none" strike="noStrike">
                <a:solidFill>
                  <a:srgbClr val="241F1B"/>
                </a:solidFill>
                <a:effectLst/>
                <a:uFillTx/>
                <a:latin typeface="Calibri"/>
                <a:ea typeface="DejaVu Sans"/>
              </a:rPr>
              <a:t>1.</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Μιλάει </a:t>
            </a:r>
            <a:r>
              <a:rPr lang="en-US" sz="1700" b="0" u="none" strike="noStrike">
                <a:solidFill>
                  <a:srgbClr val="241F1B"/>
                </a:solidFill>
                <a:effectLst/>
                <a:uFillTx/>
                <a:latin typeface="Calibri"/>
                <a:ea typeface="DejaVu Sans"/>
              </a:rPr>
              <a:t>διαφορετι</a:t>
            </a:r>
            <a:r>
              <a:rPr lang="en-US" sz="1700" b="0" u="none" strike="noStrike">
                <a:solidFill>
                  <a:srgbClr val="241F1B"/>
                </a:solidFill>
                <a:effectLst/>
                <a:uFillTx/>
                <a:latin typeface="Calibri"/>
                <a:ea typeface="DejaVu Sans"/>
              </a:rPr>
              <a:t>κά στους </a:t>
            </a:r>
            <a:r>
              <a:rPr lang="en-US" sz="1700" b="0" u="none" strike="noStrike">
                <a:solidFill>
                  <a:srgbClr val="241F1B"/>
                </a:solidFill>
                <a:effectLst/>
                <a:uFillTx/>
                <a:latin typeface="Calibri"/>
                <a:ea typeface="DejaVu Sans"/>
              </a:rPr>
              <a:t>τακτικούς </a:t>
            </a:r>
            <a:r>
              <a:rPr lang="en-US" sz="1700" b="0" u="none" strike="noStrike">
                <a:solidFill>
                  <a:srgbClr val="241F1B"/>
                </a:solidFill>
                <a:effectLst/>
                <a:uFillTx/>
                <a:latin typeface="Calibri"/>
                <a:ea typeface="DejaVu Sans"/>
              </a:rPr>
              <a:t>και στους </a:t>
            </a:r>
            <a:r>
              <a:rPr lang="en-US" sz="1700" b="0" u="none" strike="noStrike">
                <a:solidFill>
                  <a:srgbClr val="241F1B"/>
                </a:solidFill>
                <a:effectLst/>
                <a:uFillTx/>
                <a:latin typeface="Calibri"/>
                <a:ea typeface="DejaVu Sans"/>
              </a:rPr>
              <a:t>μεγάλους </a:t>
            </a:r>
            <a:r>
              <a:rPr lang="en-US" sz="1700" b="0" u="none" strike="noStrike">
                <a:solidFill>
                  <a:srgbClr val="241F1B"/>
                </a:solidFill>
                <a:effectLst/>
                <a:uFillTx/>
                <a:latin typeface="Calibri"/>
                <a:ea typeface="DejaVu Sans"/>
              </a:rPr>
              <a:t>πελάτες.</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Προγραμμ</a:t>
            </a:r>
            <a:r>
              <a:rPr lang="en-US" sz="1700" b="0" u="none" strike="noStrike">
                <a:solidFill>
                  <a:srgbClr val="241F1B"/>
                </a:solidFill>
                <a:effectLst/>
                <a:uFillTx/>
                <a:latin typeface="Calibri"/>
                <a:ea typeface="DejaVu Sans"/>
              </a:rPr>
              <a:t>ατίζει το </a:t>
            </a:r>
            <a:r>
              <a:rPr lang="en-US" sz="1700" b="0" u="none" strike="noStrike">
                <a:solidFill>
                  <a:srgbClr val="241F1B"/>
                </a:solidFill>
                <a:effectLst/>
                <a:uFillTx/>
                <a:latin typeface="Calibri"/>
                <a:ea typeface="DejaVu Sans"/>
              </a:rPr>
              <a:t>απόθεμα </a:t>
            </a:r>
            <a:r>
              <a:rPr lang="en-US" sz="1700" b="0" u="none" strike="noStrike">
                <a:solidFill>
                  <a:srgbClr val="241F1B"/>
                </a:solidFill>
                <a:effectLst/>
                <a:uFillTx/>
                <a:latin typeface="Calibri"/>
                <a:ea typeface="DejaVu Sans"/>
              </a:rPr>
              <a:t>με βάση </a:t>
            </a:r>
            <a:r>
              <a:rPr lang="en-US" sz="1700" b="0" u="none" strike="noStrike">
                <a:solidFill>
                  <a:srgbClr val="241F1B"/>
                </a:solidFill>
                <a:effectLst/>
                <a:uFillTx/>
                <a:latin typeface="Calibri"/>
                <a:ea typeface="DejaVu Sans"/>
              </a:rPr>
              <a:t>τη χρονική </a:t>
            </a:r>
            <a:r>
              <a:rPr lang="en-US" sz="1700" b="0" u="none" strike="noStrike">
                <a:solidFill>
                  <a:srgbClr val="241F1B"/>
                </a:solidFill>
                <a:effectLst/>
                <a:uFillTx/>
                <a:latin typeface="Calibri"/>
                <a:ea typeface="DejaVu Sans"/>
              </a:rPr>
              <a:t>κατανομή </a:t>
            </a:r>
            <a:r>
              <a:rPr lang="en-US" sz="1700" b="0" u="none" strike="noStrike">
                <a:solidFill>
                  <a:srgbClr val="241F1B"/>
                </a:solidFill>
                <a:effectLst/>
                <a:uFillTx/>
                <a:latin typeface="Calibri"/>
                <a:ea typeface="DejaVu Sans"/>
              </a:rPr>
              <a:t>και την </a:t>
            </a:r>
            <a:r>
              <a:rPr lang="en-US" sz="1700" b="0" u="none" strike="noStrike">
                <a:solidFill>
                  <a:srgbClr val="241F1B"/>
                </a:solidFill>
                <a:effectLst/>
                <a:uFillTx/>
                <a:latin typeface="Calibri"/>
                <a:ea typeface="DejaVu Sans"/>
              </a:rPr>
              <a:t>πρόβλεψη</a:t>
            </a:r>
            <a:r>
              <a:rPr lang="en-US" sz="1700" b="0" u="none" strike="noStrike">
                <a:solidFill>
                  <a:srgbClr val="241F1B"/>
                </a:solidFill>
                <a:effectLst/>
                <a:uFillTx/>
                <a:latin typeface="Calibri"/>
                <a:ea typeface="DejaVu Sans"/>
              </a:rPr>
              <a:t>.</a:t>
            </a:r>
            <a:endParaRPr lang="en-US"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Rectangle 1"/>
          <p:cNvSpPr/>
          <p:nvPr/>
        </p:nvSpPr>
        <p:spPr>
          <a:xfrm>
            <a:off x="0" y="0"/>
            <a:ext cx="12191040" cy="685728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23" name="Rectangle 2"/>
          <p:cNvSpPr/>
          <p:nvPr/>
        </p:nvSpPr>
        <p:spPr>
          <a:xfrm>
            <a:off x="548640" y="2011680"/>
            <a:ext cx="90720" cy="1462320"/>
          </a:xfrm>
          <a:prstGeom prst="rect">
            <a:avLst/>
          </a:prstGeom>
          <a:solidFill>
            <a:srgbClr val="E8A202"/>
          </a:solidFill>
          <a:ln w="9360">
            <a:noFill/>
          </a:ln>
          <a:effectLst>
            <a:outerShdw blurRad="39960" dir="5400000" dist="23040" rotWithShape="0">
              <a:srgbClr val="000000">
                <a:alpha val="35000"/>
              </a:srgbClr>
            </a:outerShdw>
          </a:effectLst>
        </p:spPr>
        <p:style>
          <a:lnRef idx="0"/>
          <a:fillRef idx="0"/>
          <a:effectRef idx="0"/>
          <a:fontRef idx="minor"/>
        </p:style>
        <p:txBody>
          <a:bodyPr lIns="45360" tIns="45000" rIns="45360" bIns="45000" anchor="ctr">
            <a:noAutofit/>
          </a:bodyPr>
          <a:p>
            <a:pPr/>
            <a:endParaRPr lang="en-US" sz="1800" b="0" u="none" strike="noStrike">
              <a:solidFill>
                <a:schemeClr val="lt1"/>
              </a:solidFill>
              <a:effectLst/>
              <a:uFillTx/>
              <a:latin typeface="Calibri"/>
            </a:endParaRPr>
          </a:p>
        </p:txBody>
      </p:sp>
      <p:sp>
        <p:nvSpPr>
          <p:cNvPr id="424" name="TextBox 3"/>
          <p:cNvSpPr/>
          <p:nvPr/>
        </p:nvSpPr>
        <p:spPr>
          <a:xfrm>
            <a:off x="960120" y="2057400"/>
            <a:ext cx="10679400" cy="113076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700" b="0" u="none" strike="noStrike">
                <a:solidFill>
                  <a:srgbClr val="FFFFFF"/>
                </a:solidFill>
                <a:effectLst/>
                <a:uFillTx/>
                <a:latin typeface="Cambria"/>
                <a:ea typeface="DejaVu Sans"/>
              </a:rPr>
              <a:t>Να </a:t>
            </a:r>
            <a:r>
              <a:rPr lang="en-US" sz="2700" b="0" u="none" strike="noStrike">
                <a:solidFill>
                  <a:srgbClr val="FFFFFF"/>
                </a:solidFill>
                <a:effectLst/>
                <a:uFillTx/>
                <a:latin typeface="Cambria"/>
                <a:ea typeface="DejaVu Sans"/>
              </a:rPr>
              <a:t>απαν</a:t>
            </a:r>
            <a:r>
              <a:rPr lang="en-US" sz="2700" b="0" u="none" strike="noStrike">
                <a:solidFill>
                  <a:srgbClr val="FFFFFF"/>
                </a:solidFill>
                <a:effectLst/>
                <a:uFillTx/>
                <a:latin typeface="Cambria"/>
                <a:ea typeface="DejaVu Sans"/>
              </a:rPr>
              <a:t>τηθε</a:t>
            </a:r>
            <a:r>
              <a:rPr lang="en-US" sz="2700" b="0" u="none" strike="noStrike">
                <a:solidFill>
                  <a:srgbClr val="FFFFFF"/>
                </a:solidFill>
                <a:effectLst/>
                <a:uFillTx/>
                <a:latin typeface="Cambria"/>
                <a:ea typeface="DejaVu Sans"/>
              </a:rPr>
              <a:t>ί ό,τι </a:t>
            </a:r>
            <a:r>
              <a:rPr lang="en-US" sz="2700" b="0" u="none" strike="noStrike">
                <a:solidFill>
                  <a:srgbClr val="FFFFFF"/>
                </a:solidFill>
                <a:effectLst/>
                <a:uFillTx/>
                <a:latin typeface="Cambria"/>
                <a:ea typeface="DejaVu Sans"/>
              </a:rPr>
              <a:t>ζητά</a:t>
            </a:r>
            <a:r>
              <a:rPr lang="en-US" sz="2700" b="0" u="none" strike="noStrike">
                <a:solidFill>
                  <a:srgbClr val="FFFFFF"/>
                </a:solidFill>
                <a:effectLst/>
                <a:uFillTx/>
                <a:latin typeface="Cambria"/>
                <a:ea typeface="DejaVu Sans"/>
              </a:rPr>
              <a:t>ει μια </a:t>
            </a:r>
            <a:r>
              <a:rPr lang="en-US" sz="2700" b="0" u="none" strike="noStrike">
                <a:solidFill>
                  <a:srgbClr val="FFFFFF"/>
                </a:solidFill>
                <a:effectLst/>
                <a:uFillTx/>
                <a:latin typeface="Cambria"/>
                <a:ea typeface="DejaVu Sans"/>
              </a:rPr>
              <a:t>επιχε</a:t>
            </a:r>
            <a:r>
              <a:rPr lang="en-US" sz="2700" b="0" u="none" strike="noStrike">
                <a:solidFill>
                  <a:srgbClr val="FFFFFF"/>
                </a:solidFill>
                <a:effectLst/>
                <a:uFillTx/>
                <a:latin typeface="Cambria"/>
                <a:ea typeface="DejaVu Sans"/>
              </a:rPr>
              <a:t>ίρησ</a:t>
            </a:r>
            <a:r>
              <a:rPr lang="en-US" sz="2700" b="0" u="none" strike="noStrike">
                <a:solidFill>
                  <a:srgbClr val="FFFFFF"/>
                </a:solidFill>
                <a:effectLst/>
                <a:uFillTx/>
                <a:latin typeface="Cambria"/>
                <a:ea typeface="DejaVu Sans"/>
              </a:rPr>
              <a:t>η,</a:t>
            </a:r>
            <a:endParaRPr lang="en-US" sz="2700" b="0" u="none" strike="noStrike">
              <a:solidFill>
                <a:srgbClr val="000000"/>
              </a:solidFill>
              <a:effectLst/>
              <a:uFillTx/>
              <a:latin typeface="Arial"/>
            </a:endParaRPr>
          </a:p>
          <a:p>
            <a:pPr defTabSz="457200">
              <a:lnSpc>
                <a:spcPct val="122000"/>
              </a:lnSpc>
              <a:spcAft>
                <a:spcPts val="601"/>
              </a:spcAft>
            </a:pPr>
            <a:r>
              <a:rPr lang="en-US" sz="2700" b="0" u="none" strike="noStrike">
                <a:solidFill>
                  <a:srgbClr val="FFFFFF"/>
                </a:solidFill>
                <a:effectLst/>
                <a:uFillTx/>
                <a:latin typeface="Cambria"/>
                <a:ea typeface="DejaVu Sans"/>
              </a:rPr>
              <a:t>και </a:t>
            </a:r>
            <a:r>
              <a:rPr lang="en-US" sz="2700" b="0" u="none" strike="noStrike">
                <a:solidFill>
                  <a:srgbClr val="FFFFFF"/>
                </a:solidFill>
                <a:effectLst/>
                <a:uFillTx/>
                <a:latin typeface="Cambria"/>
                <a:ea typeface="DejaVu Sans"/>
              </a:rPr>
              <a:t>να </a:t>
            </a:r>
            <a:r>
              <a:rPr lang="en-US" sz="2700" b="0" u="none" strike="noStrike">
                <a:solidFill>
                  <a:srgbClr val="FFFFFF"/>
                </a:solidFill>
                <a:effectLst/>
                <a:uFillTx/>
                <a:latin typeface="Cambria"/>
                <a:ea typeface="DejaVu Sans"/>
              </a:rPr>
              <a:t>μην </a:t>
            </a:r>
            <a:r>
              <a:rPr lang="en-US" sz="2700" b="0" u="none" strike="noStrike">
                <a:solidFill>
                  <a:srgbClr val="FFFFFF"/>
                </a:solidFill>
                <a:effectLst/>
                <a:uFillTx/>
                <a:latin typeface="Cambria"/>
                <a:ea typeface="DejaVu Sans"/>
              </a:rPr>
              <a:t>απαν</a:t>
            </a:r>
            <a:r>
              <a:rPr lang="en-US" sz="2700" b="0" u="none" strike="noStrike">
                <a:solidFill>
                  <a:srgbClr val="FFFFFF"/>
                </a:solidFill>
                <a:effectLst/>
                <a:uFillTx/>
                <a:latin typeface="Cambria"/>
                <a:ea typeface="DejaVu Sans"/>
              </a:rPr>
              <a:t>τηθε</a:t>
            </a:r>
            <a:r>
              <a:rPr lang="en-US" sz="2700" b="0" u="none" strike="noStrike">
                <a:solidFill>
                  <a:srgbClr val="FFFFFF"/>
                </a:solidFill>
                <a:effectLst/>
                <a:uFillTx/>
                <a:latin typeface="Cambria"/>
                <a:ea typeface="DejaVu Sans"/>
              </a:rPr>
              <a:t>ί ό,τι </a:t>
            </a:r>
            <a:r>
              <a:rPr lang="en-US" sz="2700" b="0" u="none" strike="noStrike">
                <a:solidFill>
                  <a:srgbClr val="FFFFFF"/>
                </a:solidFill>
                <a:effectLst/>
                <a:uFillTx/>
                <a:latin typeface="Cambria"/>
                <a:ea typeface="DejaVu Sans"/>
              </a:rPr>
              <a:t>τα </a:t>
            </a:r>
            <a:r>
              <a:rPr lang="en-US" sz="2700" b="0" u="none" strike="noStrike">
                <a:solidFill>
                  <a:srgbClr val="FFFFFF"/>
                </a:solidFill>
                <a:effectLst/>
                <a:uFillTx/>
                <a:latin typeface="Cambria"/>
                <a:ea typeface="DejaVu Sans"/>
              </a:rPr>
              <a:t>δεδο</a:t>
            </a:r>
            <a:r>
              <a:rPr lang="en-US" sz="2700" b="0" u="none" strike="noStrike">
                <a:solidFill>
                  <a:srgbClr val="FFFFFF"/>
                </a:solidFill>
                <a:effectLst/>
                <a:uFillTx/>
                <a:latin typeface="Cambria"/>
                <a:ea typeface="DejaVu Sans"/>
              </a:rPr>
              <a:t>μένα </a:t>
            </a:r>
            <a:r>
              <a:rPr lang="en-US" sz="2700" b="0" u="none" strike="noStrike">
                <a:solidFill>
                  <a:srgbClr val="FFFFFF"/>
                </a:solidFill>
                <a:effectLst/>
                <a:uFillTx/>
                <a:latin typeface="Cambria"/>
                <a:ea typeface="DejaVu Sans"/>
              </a:rPr>
              <a:t>δεν </a:t>
            </a:r>
            <a:r>
              <a:rPr lang="en-US" sz="2700" b="0" u="none" strike="noStrike">
                <a:solidFill>
                  <a:srgbClr val="FFFFFF"/>
                </a:solidFill>
                <a:effectLst/>
                <a:uFillTx/>
                <a:latin typeface="Cambria"/>
                <a:ea typeface="DejaVu Sans"/>
              </a:rPr>
              <a:t>επιτρ</a:t>
            </a:r>
            <a:r>
              <a:rPr lang="en-US" sz="2700" b="0" u="none" strike="noStrike">
                <a:solidFill>
                  <a:srgbClr val="FFFFFF"/>
                </a:solidFill>
                <a:effectLst/>
                <a:uFillTx/>
                <a:latin typeface="Cambria"/>
                <a:ea typeface="DejaVu Sans"/>
              </a:rPr>
              <a:t>έπου</a:t>
            </a:r>
            <a:r>
              <a:rPr lang="en-US" sz="2700" b="0" u="none" strike="noStrike">
                <a:solidFill>
                  <a:srgbClr val="FFFFFF"/>
                </a:solidFill>
                <a:effectLst/>
                <a:uFillTx/>
                <a:latin typeface="Cambria"/>
                <a:ea typeface="DejaVu Sans"/>
              </a:rPr>
              <a:t>ν.</a:t>
            </a:r>
            <a:endParaRPr lang="en-US" sz="2700" b="0" u="none" strike="noStrike">
              <a:solidFill>
                <a:srgbClr val="000000"/>
              </a:solidFill>
              <a:effectLst/>
              <a:uFillTx/>
              <a:latin typeface="Arial"/>
            </a:endParaRPr>
          </a:p>
        </p:txBody>
      </p:sp>
      <p:sp>
        <p:nvSpPr>
          <p:cNvPr id="425" name="TextBox 4"/>
          <p:cNvSpPr/>
          <p:nvPr/>
        </p:nvSpPr>
        <p:spPr>
          <a:xfrm>
            <a:off x="960120" y="4709160"/>
            <a:ext cx="11090880" cy="743400"/>
          </a:xfrm>
          <a:prstGeom prst="rect">
            <a:avLst/>
          </a:prstGeom>
          <a:noFill/>
          <a:ln w="0">
            <a:noFill/>
          </a:ln>
        </p:spPr>
        <p:style>
          <a:lnRef idx="0"/>
          <a:fillRef idx="0"/>
          <a:effectRef idx="0"/>
          <a:fontRef idx="minor"/>
        </p:style>
        <p:txBody>
          <a:bodyPr lIns="0" tIns="0" rIns="0" bIns="0" anchor="t" anchorCtr="1">
            <a:spAutoFit/>
          </a:bodyPr>
          <a:p>
            <a:pPr algn="r" defTabSz="457200">
              <a:lnSpc>
                <a:spcPct val="122000"/>
              </a:lnSpc>
            </a:pPr>
            <a:r>
              <a:rPr lang="en-US" sz="2000" b="0" u="none" strike="noStrike">
                <a:solidFill>
                  <a:srgbClr val="D7E5D2"/>
                </a:solidFill>
                <a:effectLst/>
                <a:uFillTx/>
                <a:latin typeface="Calibri"/>
                <a:ea typeface="DejaVu Sans"/>
              </a:rPr>
              <a:t>Σας ευχαριστώ πολύ για τον χρόνο σας και την </a:t>
            </a:r>
            <a:r>
              <a:rPr lang="en-US" sz="2000" b="0" u="none" strike="noStrike">
                <a:solidFill>
                  <a:srgbClr val="D7E5D2"/>
                </a:solidFill>
                <a:effectLst/>
                <a:uFillTx/>
                <a:latin typeface="Calibri"/>
                <a:ea typeface="DejaVu Sans"/>
              </a:rPr>
              <a:t>προσοχή σας.</a:t>
            </a:r>
            <a:endParaRPr lang="en-US" sz="2000" b="0" u="none" strike="noStrike">
              <a:solidFill>
                <a:srgbClr val="000000"/>
              </a:solidFill>
              <a:effectLst/>
              <a:uFillTx/>
              <a:latin typeface="Arial"/>
            </a:endParaRPr>
          </a:p>
          <a:p>
            <a:pPr algn="r" defTabSz="457200">
              <a:lnSpc>
                <a:spcPct val="122000"/>
              </a:lnSpc>
            </a:pPr>
            <a:r>
              <a:rPr lang="en-US" sz="2000" b="0" u="none" strike="noStrike">
                <a:solidFill>
                  <a:srgbClr val="D7E5D2"/>
                </a:solidFill>
                <a:effectLst/>
                <a:uFillTx/>
                <a:latin typeface="Calibri"/>
                <a:ea typeface="DejaVu Sans"/>
              </a:rPr>
              <a:t>Μουρτογιάννης Χρήστος</a:t>
            </a:r>
            <a:endParaRPr lang="en-US" sz="2000" b="0" u="none" strike="noStrike">
              <a:solidFill>
                <a:srgbClr val="000000"/>
              </a:solidFill>
              <a:effectLst/>
              <a:uFillTx/>
              <a:latin typeface="Arial"/>
            </a:endParaRPr>
          </a:p>
        </p:txBody>
      </p:sp>
      <p:sp>
        <p:nvSpPr>
          <p:cNvPr id="426" name="TextBox 5"/>
          <p:cNvSpPr/>
          <p:nvPr/>
        </p:nvSpPr>
        <p:spPr>
          <a:xfrm>
            <a:off x="960120" y="4709160"/>
            <a:ext cx="11090880" cy="6318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endParaRPr lang="en-US" sz="1800" b="0" u="none" strike="noStrike">
              <a:solidFill>
                <a:srgbClr val="000000"/>
              </a:solidFill>
              <a:effectLst/>
              <a:uFillTx/>
              <a:latin typeface="Arial"/>
            </a:endParaRPr>
          </a:p>
        </p:txBody>
      </p:sp>
      <p:sp>
        <p:nvSpPr>
          <p:cNvPr id="427" name="TextBox 7"/>
          <p:cNvSpPr/>
          <p:nvPr/>
        </p:nvSpPr>
        <p:spPr>
          <a:xfrm>
            <a:off x="11094480" y="6473880"/>
            <a:ext cx="547920" cy="16776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27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263</TotalTime>
  <Application>LibreOffice/26.8.0.3$MacOSX_AARCH64 LibreOffice_project/bce0998afefdbc355585ca324285661a2170ba77</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2026-09-23T00:44:11Z</dcterms:modified>
  <cp:revision>57</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