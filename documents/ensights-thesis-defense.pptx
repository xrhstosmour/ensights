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presProps.xml" ContentType="application/vnd.openxmlformats-officedocument.presentationml.presProps+xml"/>
  <Override PartName="/ppt/theme/theme1.xml" ContentType="application/vnd.openxmlformats-officedocument.theme+xml"/>
  <Override PartName="/ppt/theme/theme3.xml" ContentType="application/vnd.openxmlformats-officedocument.theme+xml"/>
  <Override PartName="/ppt/notesMasters/notesMaster1.xml" ContentType="application/vnd.openxmlformats-officedocument.presentationml.notesMaster+xml"/>
  <Override PartName="/ppt/slides/slide16.xml" ContentType="application/vnd.openxmlformats-officedocument.presentationml.slide+xml"/>
  <Override PartName="/ppt/slides/slide2.xml" ContentType="application/vnd.openxmlformats-officedocument.presentationml.slide+xml"/>
  <Override PartName="/ppt/slides/slide10.xml" ContentType="application/vnd.openxmlformats-officedocument.presentationml.slide+xml"/>
  <Override PartName="/ppt/slides/slide17.xml" ContentType="application/vnd.openxmlformats-officedocument.presentationml.slide+xml"/>
  <Override PartName="/ppt/slides/slide12.xml" ContentType="application/vnd.openxmlformats-officedocument.presentationml.slide+xml"/>
  <Override PartName="/ppt/slides/slide19.xml" ContentType="application/vnd.openxmlformats-officedocument.presentationml.slide+xml"/>
  <Override PartName="/ppt/slides/slide11.xml" ContentType="application/vnd.openxmlformats-officedocument.presentationml.slide+xml"/>
  <Override PartName="/ppt/slides/slide22.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3.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13.xml" ContentType="application/vnd.openxmlformats-officedocument.presentationml.slide+xml"/>
  <Override PartName="/ppt/slides/slide1.xml" ContentType="application/vnd.openxmlformats-officedocument.presentationml.slide+xml"/>
  <Override PartName="/ppt/slides/slide18.xml" ContentType="application/vnd.openxmlformats-officedocument.presentationml.slide+xml"/>
  <Override PartName="/ppt/slides/slide14.xml" ContentType="application/vnd.openxmlformats-officedocument.presentationml.slide+xml"/>
  <Override PartName="/ppt/slides/slide7.xml" ContentType="application/vnd.openxmlformats-officedocument.presentationml.slide+xml"/>
  <Override PartName="/ppt/slides/slide23.xml" ContentType="application/vnd.openxmlformats-officedocument.presentationml.slide+xml"/>
  <Override PartName="/ppt/slides/slide5.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15.xml" ContentType="application/vnd.openxmlformats-officedocument.presentationml.slide+xml"/>
  <Override PartName="/ppt/slides/slide26.xml" ContentType="application/vnd.openxmlformats-officedocument.presentationml.slide+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1.xml" ContentType="application/vnd.openxmlformats-officedocument.presentationml.notesSlide+xml"/>
  <Override PartName="/ppt/notesSlides/notesSlide8.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18.xml" ContentType="application/vnd.openxmlformats-officedocument.presentationml.notesSlide+xml"/>
  <Override PartName="/ppt/notesSlides/notesSlide22.xml" ContentType="application/vnd.openxmlformats-officedocument.presentationml.notesSlide+xml"/>
  <Override PartName="/ppt/notesSlides/notesSlide15.xml" ContentType="application/vnd.openxmlformats-officedocument.presentationml.notesSlide+xml"/>
  <Override PartName="/ppt/notesSlides/notesSlide9.xml" ContentType="application/vnd.openxmlformats-officedocument.presentationml.notesSlide+xml"/>
  <Override PartName="/ppt/notesSlides/notesSlide19.xml" ContentType="application/vnd.openxmlformats-officedocument.presentationml.notesSlide+xml"/>
  <Override PartName="/ppt/notesSlides/notesSlide23.xml" ContentType="application/vnd.openxmlformats-officedocument.presentationml.notesSlide+xml"/>
  <Override PartName="/ppt/notesSlides/notesSlide25.xml" ContentType="application/vnd.openxmlformats-officedocument.presentationml.notesSlide+xml"/>
  <Override PartName="/ppt/notesSlides/notesSlide13.xml" ContentType="application/vnd.openxmlformats-officedocument.presentationml.notesSlide+xml"/>
  <Override PartName="/ppt/notesSlides/notesSlide12.xml" ContentType="application/vnd.openxmlformats-officedocument.presentationml.notesSlide+xml"/>
  <Override PartName="/ppt/notesSlides/notesSlide5.xml" ContentType="application/vnd.openxmlformats-officedocument.presentationml.notesSlide+xml"/>
  <Override PartName="/ppt/notesSlides/notesSlide24.xml" ContentType="application/vnd.openxmlformats-officedocument.presentationml.notesSlide+xml"/>
  <Override PartName="/ppt/notesSlides/notesSlide20.xml" ContentType="application/vnd.openxmlformats-officedocument.presentationml.notesSlide+xml"/>
  <Override PartName="/ppt/notesSlides/notesSlide4.xml" ContentType="application/vnd.openxmlformats-officedocument.presentationml.notesSlide+xml"/>
  <Override PartName="/ppt/notesSlides/notesSlide14.xml" ContentType="application/vnd.openxmlformats-officedocument.presentationml.notesSlide+xml"/>
  <Override PartName="/ppt/notesSlides/notesSlide17.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10.xml" ContentType="application/vnd.openxmlformats-officedocument.presentationml.notesSlide+xml"/>
  <Override PartName="/ppt/notesSlides/notesSlide16.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3.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 name="PlaceHolder 1"/>
          <p:cNvSpPr>
            <a:spLocks noGrp="1"/>
          </p:cNvSpPr>
          <p:nvPr>
            <p:ph type="sldImg"/>
          </p:nvPr>
        </p:nvSpPr>
        <p:spPr>
          <a:xfrm>
            <a:off x="0" y="812520"/>
            <a:ext cx="0" cy="0"/>
          </a:xfrm>
          <a:prstGeom prst="rect">
            <a:avLst/>
          </a:prstGeom>
          <a:noFill/>
          <a:ln w="0">
            <a:noFill/>
          </a:ln>
        </p:spPr>
        <p:txBody>
          <a:bodyPr lIns="0" tIns="0" rIns="0" bIns="0" anchor="ctr">
            <a:noAutofit/>
          </a:bodyPr>
          <a:p>
            <a:r>
              <a:rPr lang="en-US" sz="4400" b="0" u="none" strike="noStrike">
                <a:solidFill>
                  <a:schemeClr val="dk1"/>
                </a:solidFill>
                <a:effectLst/>
                <a:uFillTx/>
                <a:latin typeface="Calibri"/>
              </a:rPr>
              <a:t>Click </a:t>
            </a:r>
            <a:r>
              <a:rPr lang="en-US" sz="4400" b="0" u="none" strike="noStrike">
                <a:solidFill>
                  <a:schemeClr val="dk1"/>
                </a:solidFill>
                <a:effectLst/>
                <a:uFillTx/>
                <a:latin typeface="Calibri"/>
              </a:rPr>
              <a:t>to </a:t>
            </a:r>
            <a:r>
              <a:rPr lang="en-US" sz="4400" b="0" u="none" strike="noStrike">
                <a:solidFill>
                  <a:schemeClr val="dk1"/>
                </a:solidFill>
                <a:effectLst/>
                <a:uFillTx/>
                <a:latin typeface="Calibri"/>
              </a:rPr>
              <a:t>move </a:t>
            </a:r>
            <a:r>
              <a:rPr lang="en-US" sz="4400" b="0" u="none" strike="noStrike">
                <a:solidFill>
                  <a:schemeClr val="dk1"/>
                </a:solidFill>
                <a:effectLst/>
                <a:uFillTx/>
                <a:latin typeface="Calibri"/>
              </a:rPr>
              <a:t>the </a:t>
            </a:r>
            <a:r>
              <a:rPr lang="en-US" sz="4400" b="0" u="none" strike="noStrike">
                <a:solidFill>
                  <a:schemeClr val="dk1"/>
                </a:solidFill>
                <a:effectLst/>
                <a:uFillTx/>
                <a:latin typeface="Calibri"/>
              </a:rPr>
              <a:t>slide</a:t>
            </a:r>
            <a:endParaRPr lang="en-US" sz="4400" b="0" u="none" strike="noStrike">
              <a:solidFill>
                <a:schemeClr val="dk1"/>
              </a:solidFill>
              <a:effectLst/>
              <a:uFillTx/>
              <a:latin typeface="Calibri"/>
            </a:endParaRPr>
          </a:p>
        </p:txBody>
      </p:sp>
      <p:sp>
        <p:nvSpPr>
          <p:cNvPr id="13"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a:t>
            </a:r>
            <a:r>
              <a:rPr lang="en-US" sz="2000" b="0" u="none" strike="noStrike">
                <a:solidFill>
                  <a:srgbClr val="000000"/>
                </a:solidFill>
                <a:effectLst/>
                <a:uFillTx/>
                <a:latin typeface="Arial"/>
              </a:rPr>
              <a:t>format</a:t>
            </a:r>
            <a:endParaRPr lang="en-US" sz="2000" b="0" u="none" strike="noStrike">
              <a:solidFill>
                <a:srgbClr val="000000"/>
              </a:solidFill>
              <a:effectLst/>
              <a:uFillTx/>
              <a:latin typeface="Arial"/>
            </a:endParaRPr>
          </a:p>
        </p:txBody>
      </p:sp>
      <p:sp>
        <p:nvSpPr>
          <p:cNvPr id="14"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15" name="PlaceHolder 4"/>
          <p:cNvSpPr>
            <a:spLocks noGrp="1"/>
          </p:cNvSpPr>
          <p:nvPr>
            <p:ph type="dt" idx="7"/>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16" name="PlaceHolder 5"/>
          <p:cNvSpPr>
            <a:spLocks noGrp="1"/>
          </p:cNvSpPr>
          <p:nvPr>
            <p:ph type="ftr" idx="8"/>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7" name="PlaceHolder 6"/>
          <p:cNvSpPr>
            <a:spLocks noGrp="1"/>
          </p:cNvSpPr>
          <p:nvPr>
            <p:ph type="sldNum" idx="9"/>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E427ED44-511F-4FB2-A594-7DDA7E9DE75A}"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0" name="PlaceHolder 1"/>
          <p:cNvSpPr>
            <a:spLocks noGrp="1"/>
          </p:cNvSpPr>
          <p:nvPr>
            <p:ph type="sldImg"/>
          </p:nvPr>
        </p:nvSpPr>
        <p:spPr>
          <a:xfrm>
            <a:off x="1143000" y="685800"/>
            <a:ext cx="4569120" cy="3426120"/>
          </a:xfrm>
          <a:prstGeom prst="rect">
            <a:avLst/>
          </a:prstGeom>
          <a:ln w="0">
            <a:noFill/>
          </a:ln>
        </p:spPr>
      </p:sp>
      <p:sp>
        <p:nvSpPr>
          <p:cNvPr id="391" name="PlaceHolder 2"/>
          <p:cNvSpPr>
            <a:spLocks noGrp="1"/>
          </p:cNvSpPr>
          <p:nvPr>
            <p:ph type="body"/>
          </p:nvPr>
        </p:nvSpPr>
        <p:spPr>
          <a:xfrm>
            <a:off x="685800" y="4343400"/>
            <a:ext cx="5483520" cy="4111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Καλησπέρα σας. Ονομάζομαι Μουρτογιάννης Χρήστος και θα σας παρουσιάσω τη διπλωματική μου εργασία, με θέμα: Εξαγωγή Ευφυών Αναλύσεων από Δεδομένα Ηλεκτρονικού Εμπορίου.</a:t>
            </a:r>
            <a:endParaRPr lang="en-US" sz="2000" b="0" u="none" strike="noStrike">
              <a:solidFill>
                <a:srgbClr val="000000"/>
              </a:solidFill>
              <a:effectLst/>
              <a:uFillTx/>
              <a:latin typeface="Arial"/>
            </a:endParaRPr>
          </a:p>
        </p:txBody>
      </p:sp>
      <p:sp>
        <p:nvSpPr>
          <p:cNvPr id="392" name="PlaceHolder 3"/>
          <p:cNvSpPr>
            <a:spLocks noGrp="1"/>
          </p:cNvSpPr>
          <p:nvPr>
            <p:ph type="sldNum" idx="10"/>
          </p:nvPr>
        </p:nvSpPr>
        <p:spPr>
          <a:xfrm>
            <a:off x="3884760" y="8685360"/>
            <a:ext cx="2968920" cy="4543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3AF05C7C-B56E-47B5-9BFA-CBB0A364530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3" name="PlaceHolder 1"/>
          <p:cNvSpPr>
            <a:spLocks noGrp="1"/>
          </p:cNvSpPr>
          <p:nvPr>
            <p:ph type="sldImg"/>
          </p:nvPr>
        </p:nvSpPr>
        <p:spPr>
          <a:xfrm>
            <a:off x="1143000" y="685800"/>
            <a:ext cx="4569120" cy="3426120"/>
          </a:xfrm>
          <a:prstGeom prst="rect">
            <a:avLst/>
          </a:prstGeom>
          <a:ln w="0">
            <a:noFill/>
          </a:ln>
        </p:spPr>
      </p:sp>
      <p:sp>
        <p:nvSpPr>
          <p:cNvPr id="394" name="PlaceHolder 2"/>
          <p:cNvSpPr>
            <a:spLocks noGrp="1"/>
          </p:cNvSpPr>
          <p:nvPr>
            <p:ph type="body"/>
          </p:nvPr>
        </p:nvSpPr>
        <p:spPr>
          <a:xfrm>
            <a:off x="685800" y="4343400"/>
            <a:ext cx="5483520" cy="4111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Η παρουσίαση έχει τέσσερα μέρη. Πρώτα το πρόβλημα και οι στόχοι. Μετά το σύστημα που έφτιαξα, πώς είναι δομημένο και πώς φαίνεται όταν τρέχει. Μετά τα ευρήματα πάνω σε πραγματικά δεδομένα. Και στο τέλος τα συμπεράσματα, μαζί με το τι δεν μπορεί να απαντήσει η δουλειά.</a:t>
            </a:r>
            <a:endParaRPr lang="en-US" sz="2000" b="0" u="none" strike="noStrike">
              <a:solidFill>
                <a:srgbClr val="000000"/>
              </a:solidFill>
              <a:effectLst/>
              <a:uFillTx/>
              <a:latin typeface="Arial"/>
            </a:endParaRPr>
          </a:p>
        </p:txBody>
      </p:sp>
      <p:sp>
        <p:nvSpPr>
          <p:cNvPr id="395" name="PlaceHolder 3"/>
          <p:cNvSpPr>
            <a:spLocks noGrp="1"/>
          </p:cNvSpPr>
          <p:nvPr>
            <p:ph type="sldNum" idx="11"/>
          </p:nvPr>
        </p:nvSpPr>
        <p:spPr>
          <a:xfrm>
            <a:off x="3884760" y="8685360"/>
            <a:ext cx="2968920" cy="4543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CCE8F99B-FDF9-4B1B-B434-C1C05D955BE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6" name="PlaceHolder 1"/>
          <p:cNvSpPr>
            <a:spLocks noGrp="1"/>
          </p:cNvSpPr>
          <p:nvPr>
            <p:ph type="sldImg"/>
          </p:nvPr>
        </p:nvSpPr>
        <p:spPr>
          <a:xfrm>
            <a:off x="1143000" y="685800"/>
            <a:ext cx="4569120" cy="3426120"/>
          </a:xfrm>
          <a:prstGeom prst="rect">
            <a:avLst/>
          </a:prstGeom>
          <a:ln w="0">
            <a:noFill/>
          </a:ln>
        </p:spPr>
      </p:sp>
      <p:sp>
        <p:nvSpPr>
          <p:cNvPr id="397" name="PlaceHolder 2"/>
          <p:cNvSpPr>
            <a:spLocks noGrp="1"/>
          </p:cNvSpPr>
          <p:nvPr>
            <p:ph type="body"/>
          </p:nvPr>
        </p:nvSpPr>
        <p:spPr>
          <a:xfrm>
            <a:off x="685800" y="4343400"/>
            <a:ext cx="5483520" cy="4111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Πρώτο μέρος: Το πρόβλημα.</a:t>
            </a:r>
            <a:endParaRPr lang="en-US" sz="2000" b="0" u="none" strike="noStrike">
              <a:solidFill>
                <a:srgbClr val="000000"/>
              </a:solidFill>
              <a:effectLst/>
              <a:uFillTx/>
              <a:latin typeface="Arial"/>
            </a:endParaRPr>
          </a:p>
        </p:txBody>
      </p:sp>
      <p:sp>
        <p:nvSpPr>
          <p:cNvPr id="398" name="PlaceHolder 3"/>
          <p:cNvSpPr>
            <a:spLocks noGrp="1"/>
          </p:cNvSpPr>
          <p:nvPr>
            <p:ph type="sldNum" idx="12"/>
          </p:nvPr>
        </p:nvSpPr>
        <p:spPr>
          <a:xfrm>
            <a:off x="3884760" y="8685360"/>
            <a:ext cx="2968920" cy="4543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540E19BB-47EB-4305-8B2F-C976DB693D6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9" name="PlaceHolder 1"/>
          <p:cNvSpPr>
            <a:spLocks noGrp="1"/>
          </p:cNvSpPr>
          <p:nvPr>
            <p:ph type="sldImg"/>
          </p:nvPr>
        </p:nvSpPr>
        <p:spPr>
          <a:xfrm>
            <a:off x="1143000" y="685800"/>
            <a:ext cx="4569120" cy="3426120"/>
          </a:xfrm>
          <a:prstGeom prst="rect">
            <a:avLst/>
          </a:prstGeom>
          <a:ln w="0">
            <a:noFill/>
          </a:ln>
        </p:spPr>
      </p:sp>
      <p:sp>
        <p:nvSpPr>
          <p:cNvPr id="400" name="PlaceHolder 2"/>
          <p:cNvSpPr>
            <a:spLocks noGrp="1"/>
          </p:cNvSpPr>
          <p:nvPr>
            <p:ph type="body"/>
          </p:nvPr>
        </p:nvSpPr>
        <p:spPr>
          <a:xfrm>
            <a:off x="685800" y="4343400"/>
            <a:ext cx="5483520" cy="4111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Φανταστείτε ένα μαγαζί που έχει καταγράψει κάθε πώληση εδώ και τρία χρόνια, αλλά ο ιδιοκτήτης αποφασίζει τι θα παραγγείλει με το μάτι. Τα δεδομένα είναι εκεί, απλώς κανείς δεν τα διαβάζει. Αυτό είναι το κενό που κλείνει η εργασία.</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ΠΙΘΑΝΗ ΕΡΩΤΗΣΗ: «Γιατί δεν το κάνει μόνη της η επιχείρηση;» Γιατί χρειάζεται γνώση εξόρυξης δεδομένων και μηχανικής μάθησης. Με ένα Excel δεν βγαίνει.</a:t>
            </a:r>
            <a:endParaRPr lang="en-US" sz="2000" b="0" u="none" strike="noStrike">
              <a:solidFill>
                <a:srgbClr val="000000"/>
              </a:solidFill>
              <a:effectLst/>
              <a:uFillTx/>
              <a:latin typeface="Arial"/>
            </a:endParaRPr>
          </a:p>
        </p:txBody>
      </p:sp>
      <p:sp>
        <p:nvSpPr>
          <p:cNvPr id="401" name="PlaceHolder 3"/>
          <p:cNvSpPr>
            <a:spLocks noGrp="1"/>
          </p:cNvSpPr>
          <p:nvPr>
            <p:ph type="sldNum" idx="13"/>
          </p:nvPr>
        </p:nvSpPr>
        <p:spPr>
          <a:xfrm>
            <a:off x="3884760" y="8685360"/>
            <a:ext cx="2968920" cy="4543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E4A0035B-7FA3-4694-BA08-B904CCFE3DB2}"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2" name="PlaceHolder 1"/>
          <p:cNvSpPr>
            <a:spLocks noGrp="1"/>
          </p:cNvSpPr>
          <p:nvPr>
            <p:ph type="sldImg"/>
          </p:nvPr>
        </p:nvSpPr>
        <p:spPr>
          <a:xfrm>
            <a:off x="1143000" y="685800"/>
            <a:ext cx="4569120" cy="3426120"/>
          </a:xfrm>
          <a:prstGeom prst="rect">
            <a:avLst/>
          </a:prstGeom>
          <a:ln w="0">
            <a:noFill/>
          </a:ln>
        </p:spPr>
      </p:sp>
      <p:sp>
        <p:nvSpPr>
          <p:cNvPr id="403" name="PlaceHolder 2"/>
          <p:cNvSpPr>
            <a:spLocks noGrp="1"/>
          </p:cNvSpPr>
          <p:nvPr>
            <p:ph type="body"/>
          </p:nvPr>
        </p:nvSpPr>
        <p:spPr>
          <a:xfrm>
            <a:off x="685800" y="4343400"/>
            <a:ext cx="5483520" cy="4111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Αυτά τα επτά ερωτήματα θα τα έκανε οποιοσδήποτε έχει μαγαζί. Ποιο προϊόν πουλάει καλύτερα, ποιος πελάτης αγοράζει πιο πολύ, πότε πέφτει η δουλειά. Η εργασία ξεκίνησε απαντώντας ακριβώς σε αυτά.</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Από πάνω μπήκαν τρεις τεχνικές: εξόρυξη συχνών συνόλων, ομαδοποίηση σε δύο επίπεδα και πρόβλεψη πωλήσεων. Και οι οικονομικοί δείκτες: συνολικά έσοδα, ποσοστό πελατών που ξαναγοράζουν, Growth Accounting και κερδοφορία.</a:t>
            </a:r>
            <a:endParaRPr lang="en-US" sz="2000" b="0" u="none" strike="noStrike">
              <a:solidFill>
                <a:srgbClr val="000000"/>
              </a:solidFill>
              <a:effectLst/>
              <a:uFillTx/>
              <a:latin typeface="Arial"/>
            </a:endParaRPr>
          </a:p>
        </p:txBody>
      </p:sp>
      <p:sp>
        <p:nvSpPr>
          <p:cNvPr id="404" name="PlaceHolder 3"/>
          <p:cNvSpPr>
            <a:spLocks noGrp="1"/>
          </p:cNvSpPr>
          <p:nvPr>
            <p:ph type="sldNum" idx="14"/>
          </p:nvPr>
        </p:nvSpPr>
        <p:spPr>
          <a:xfrm>
            <a:off x="3884760" y="8685360"/>
            <a:ext cx="2968920" cy="4543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BD4F7E5D-8FCD-4833-B562-16EE5232062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5" name="PlaceHolder 1"/>
          <p:cNvSpPr>
            <a:spLocks noGrp="1"/>
          </p:cNvSpPr>
          <p:nvPr>
            <p:ph type="sldImg"/>
          </p:nvPr>
        </p:nvSpPr>
        <p:spPr>
          <a:xfrm>
            <a:off x="1143000" y="685800"/>
            <a:ext cx="4569120" cy="3426120"/>
          </a:xfrm>
          <a:prstGeom prst="rect">
            <a:avLst/>
          </a:prstGeom>
          <a:ln w="0">
            <a:noFill/>
          </a:ln>
        </p:spPr>
      </p:sp>
      <p:sp>
        <p:nvSpPr>
          <p:cNvPr id="406" name="PlaceHolder 2"/>
          <p:cNvSpPr>
            <a:spLocks noGrp="1"/>
          </p:cNvSpPr>
          <p:nvPr>
            <p:ph type="body"/>
          </p:nvPr>
        </p:nvSpPr>
        <p:spPr>
          <a:xfrm>
            <a:off x="685800" y="4343400"/>
            <a:ext cx="5483520" cy="4111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Δύο κανόνες διατρέχουν όλη τη δουλειά. Ο πρώτος: δουλεύει παντού. Το σύστημα δεν είναι φτιαγμένο για το συγκεκριμένο μαγαζί. Ο δεύτερος: δεν λέει ψέματα. Αν κάτι δεν μπορεί να μετρηθεί, δεν προσποιούμαστε ότι το ξέρουμε.</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Το κέρδος είναι το χαρακτηριστικό παράδειγμα. Για να πεις πόσο κερδίζει ένα μαγαζί χρειάζεσαι το κόστος των προϊόντων και τα έξοδα marketing. Τα δεδομένα συναλλαγών δεν έχουν τίποτα από τα δύο. Άρα η απάντηση δίνεται ως σενάριο: αν το περιθώριο είναι τόσο, τότε βγαίνει αυτό.</a:t>
            </a:r>
            <a:endParaRPr lang="en-US" sz="2000" b="0" u="none" strike="noStrike">
              <a:solidFill>
                <a:srgbClr val="000000"/>
              </a:solidFill>
              <a:effectLst/>
              <a:uFillTx/>
              <a:latin typeface="Arial"/>
            </a:endParaRPr>
          </a:p>
        </p:txBody>
      </p:sp>
      <p:sp>
        <p:nvSpPr>
          <p:cNvPr id="407" name="PlaceHolder 3"/>
          <p:cNvSpPr>
            <a:spLocks noGrp="1"/>
          </p:cNvSpPr>
          <p:nvPr>
            <p:ph type="sldNum" idx="15"/>
          </p:nvPr>
        </p:nvSpPr>
        <p:spPr>
          <a:xfrm>
            <a:off x="3884760" y="8685360"/>
            <a:ext cx="2968920" cy="4543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B9DFF873-7753-41B7-8B3A-FBE87FA232CD}"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8" name="PlaceHolder 1"/>
          <p:cNvSpPr>
            <a:spLocks noGrp="1"/>
          </p:cNvSpPr>
          <p:nvPr>
            <p:ph type="sldImg"/>
          </p:nvPr>
        </p:nvSpPr>
        <p:spPr>
          <a:xfrm>
            <a:off x="1143000" y="685800"/>
            <a:ext cx="4569120" cy="3426120"/>
          </a:xfrm>
          <a:prstGeom prst="rect">
            <a:avLst/>
          </a:prstGeom>
          <a:ln w="0">
            <a:noFill/>
          </a:ln>
        </p:spPr>
      </p:sp>
      <p:sp>
        <p:nvSpPr>
          <p:cNvPr id="409" name="PlaceHolder 2"/>
          <p:cNvSpPr>
            <a:spLocks noGrp="1"/>
          </p:cNvSpPr>
          <p:nvPr>
            <p:ph type="body"/>
          </p:nvPr>
        </p:nvSpPr>
        <p:spPr>
          <a:xfrm>
            <a:off x="685800" y="4343400"/>
            <a:ext cx="5483520" cy="4111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Δεύτερο μέρος: Το σύστημα.</a:t>
            </a:r>
            <a:endParaRPr lang="en-US" sz="2000" b="0" u="none" strike="noStrike">
              <a:solidFill>
                <a:srgbClr val="000000"/>
              </a:solidFill>
              <a:effectLst/>
              <a:uFillTx/>
              <a:latin typeface="Arial"/>
            </a:endParaRPr>
          </a:p>
        </p:txBody>
      </p:sp>
      <p:sp>
        <p:nvSpPr>
          <p:cNvPr id="410" name="PlaceHolder 3"/>
          <p:cNvSpPr>
            <a:spLocks noGrp="1"/>
          </p:cNvSpPr>
          <p:nvPr>
            <p:ph type="sldNum" idx="16"/>
          </p:nvPr>
        </p:nvSpPr>
        <p:spPr>
          <a:xfrm>
            <a:off x="3884760" y="8685360"/>
            <a:ext cx="2968920" cy="4543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0072ABC5-8D42-473A-AF04-0C6B6BC4D11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1" name="PlaceHolder 1"/>
          <p:cNvSpPr>
            <a:spLocks noGrp="1"/>
          </p:cNvSpPr>
          <p:nvPr>
            <p:ph type="sldImg"/>
          </p:nvPr>
        </p:nvSpPr>
        <p:spPr>
          <a:xfrm>
            <a:off x="1143000" y="685800"/>
            <a:ext cx="4569120" cy="3426120"/>
          </a:xfrm>
          <a:prstGeom prst="rect">
            <a:avLst/>
          </a:prstGeom>
          <a:ln w="0">
            <a:noFill/>
          </a:ln>
        </p:spPr>
      </p:sp>
      <p:sp>
        <p:nvSpPr>
          <p:cNvPr id="412" name="PlaceHolder 2"/>
          <p:cNvSpPr>
            <a:spLocks noGrp="1"/>
          </p:cNvSpPr>
          <p:nvPr>
            <p:ph type="body"/>
          </p:nvPr>
        </p:nvSpPr>
        <p:spPr>
          <a:xfrm>
            <a:off x="685800" y="4343400"/>
            <a:ext cx="5483520" cy="4111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Το σύστημα είναι FastAPI, PostgreSQL και Celery. Σκεφτείτε το σαν κτίριο με τέσσερις ορόφους. Πάνω το API που δέχεται τα ερωτήματα, από κάτω τα services με τη λογική, μετά τα repositories που φέρνουν τα δεδομένα, και κάτω η βάση. Κάθε όροφος μιλάει μόνο με τον διπλανό του.</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ΠΙΘΑΝΗ ΕΡΩΤΗΣΗ: «Γιατί τρεις διαφορετικές έξοδοι;» Γιατί απευθύνονται σε τρία κοινά: προγράμματα, ανθρώπους χωρίς τεχνικές γνώσεις, και τη διατριβή. Δεν είναι τρεις υλοποιήσεις, είναι τρεις όψεις της ίδιας.</a:t>
            </a:r>
            <a:endParaRPr lang="en-US" sz="2000" b="0" u="none" strike="noStrike">
              <a:solidFill>
                <a:srgbClr val="000000"/>
              </a:solidFill>
              <a:effectLst/>
              <a:uFillTx/>
              <a:latin typeface="Arial"/>
            </a:endParaRPr>
          </a:p>
        </p:txBody>
      </p:sp>
      <p:sp>
        <p:nvSpPr>
          <p:cNvPr id="413" name="PlaceHolder 3"/>
          <p:cNvSpPr>
            <a:spLocks noGrp="1"/>
          </p:cNvSpPr>
          <p:nvPr>
            <p:ph type="sldNum" idx="17"/>
          </p:nvPr>
        </p:nvSpPr>
        <p:spPr>
          <a:xfrm>
            <a:off x="3884760" y="8685360"/>
            <a:ext cx="2968920" cy="4543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57E3B791-EEEF-47A4-B1FA-1E4E9152223E}"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4" name="PlaceHolder 1"/>
          <p:cNvSpPr>
            <a:spLocks noGrp="1"/>
          </p:cNvSpPr>
          <p:nvPr>
            <p:ph type="sldImg"/>
          </p:nvPr>
        </p:nvSpPr>
        <p:spPr>
          <a:xfrm>
            <a:off x="1143000" y="685800"/>
            <a:ext cx="4569120" cy="3426120"/>
          </a:xfrm>
          <a:prstGeom prst="rect">
            <a:avLst/>
          </a:prstGeom>
          <a:ln w="0">
            <a:noFill/>
          </a:ln>
        </p:spPr>
      </p:sp>
      <p:sp>
        <p:nvSpPr>
          <p:cNvPr id="415" name="PlaceHolder 2"/>
          <p:cNvSpPr>
            <a:spLocks noGrp="1"/>
          </p:cNvSpPr>
          <p:nvPr>
            <p:ph type="body"/>
          </p:nvPr>
        </p:nvSpPr>
        <p:spPr>
          <a:xfrm>
            <a:off x="685800" y="4343400"/>
            <a:ext cx="5483520" cy="4111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Κάθε μαγαζί έχει δικά του ονόματα και δικό του σχήμα. Όλα μεταφράζονται στις ίδιες έξι έννοιες. Υπάρχουν τρεις τρόποι να μπουν τα δεδομένα και μόνο ο ένας χρειάζεται καινούριο κώδικα, ένας μικρός adapter ανά μορφή αρχείου.</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Η πιο σημαντική απόφαση εδώ είναι οι επιστροφές. Τις κρατάμε ξεχωριστά, με θετικό πρόσημο. Αν κάποιος μας στείλει έσοδα από τα οποία έχει ήδη αφαιρέσει τις επιστροφές, δεν μπορούμε ποτέ να τις ξαναχωρίσουμε, και το ερώτημα των επιστροφών μένει αναπάντητο.</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ΠΙΘΑΝΗ ΕΡΩΤΗΣΗ: «Πώς ξέρουμε ότι είναι πραγματικά γενικό;» Δοκιμάστηκε σε δεύτερη πηγή, μια βάση SQLite με εντελώς διαφορετικό σχήμα και διαφορετικά ονόματα στηλών. Ο αναλυτικός κώδικας δεν άλλαξε καθόλου.</a:t>
            </a:r>
            <a:endParaRPr lang="en-US" sz="2000" b="0" u="none" strike="noStrike">
              <a:solidFill>
                <a:srgbClr val="000000"/>
              </a:solidFill>
              <a:effectLst/>
              <a:uFillTx/>
              <a:latin typeface="Arial"/>
            </a:endParaRPr>
          </a:p>
        </p:txBody>
      </p:sp>
      <p:sp>
        <p:nvSpPr>
          <p:cNvPr id="416" name="PlaceHolder 3"/>
          <p:cNvSpPr>
            <a:spLocks noGrp="1"/>
          </p:cNvSpPr>
          <p:nvPr>
            <p:ph type="sldNum" idx="18"/>
          </p:nvPr>
        </p:nvSpPr>
        <p:spPr>
          <a:xfrm>
            <a:off x="3884760" y="8685360"/>
            <a:ext cx="2968920" cy="4543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66D84D0C-3E82-42A9-B1C5-797577890ABD}"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7" name="PlaceHolder 1"/>
          <p:cNvSpPr>
            <a:spLocks noGrp="1"/>
          </p:cNvSpPr>
          <p:nvPr>
            <p:ph type="sldImg"/>
          </p:nvPr>
        </p:nvSpPr>
        <p:spPr>
          <a:xfrm>
            <a:off x="1143000" y="685800"/>
            <a:ext cx="4569120" cy="3426120"/>
          </a:xfrm>
          <a:prstGeom prst="rect">
            <a:avLst/>
          </a:prstGeom>
          <a:ln w="0">
            <a:noFill/>
          </a:ln>
        </p:spPr>
      </p:sp>
      <p:sp>
        <p:nvSpPr>
          <p:cNvPr id="418" name="PlaceHolder 2"/>
          <p:cNvSpPr>
            <a:spLocks noGrp="1"/>
          </p:cNvSpPr>
          <p:nvPr>
            <p:ph type="body"/>
          </p:nvPr>
        </p:nvSpPr>
        <p:spPr>
          <a:xfrm>
            <a:off x="685800" y="4343400"/>
            <a:ext cx="5483520" cy="4111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Αυτά δεν είναι εικόνες φτιαγμένες για την παρουσίαση. Είναι ακριβώς αυτό που γυρίζει το σύστημα όταν του ζητήσεις πρόβλεψη πωλήσεων ή ανάλυση κερδοφορίας. Το JSON είναι απλώς ένας τρόπος να γράφεις δεδομένα ώστε να τα διαβάζουν εύκολα τα προγράμματα.</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Προσέξτε δύο πράγματα. Αριστερά, το skill score είναι αρνητικό: το σύστημα αναφέρει μόνο του ότι η πρόβλεψη έχασε από το απλοϊκό μοντέλο, αντί να το κρύψει. Δεξιά, η προειδοποίηση ταξιδεύει μαζί με το νούμερο, μέσα στην ίδια απάντηση, οπότε δεν μπορεί να αφαιρεθεί κατά λάθος.</a:t>
            </a:r>
            <a:endParaRPr lang="en-US" sz="2000" b="0" u="none" strike="noStrike">
              <a:solidFill>
                <a:srgbClr val="000000"/>
              </a:solidFill>
              <a:effectLst/>
              <a:uFillTx/>
              <a:latin typeface="Arial"/>
            </a:endParaRPr>
          </a:p>
        </p:txBody>
      </p:sp>
      <p:sp>
        <p:nvSpPr>
          <p:cNvPr id="419" name="PlaceHolder 3"/>
          <p:cNvSpPr>
            <a:spLocks noGrp="1"/>
          </p:cNvSpPr>
          <p:nvPr>
            <p:ph type="sldNum" idx="19"/>
          </p:nvPr>
        </p:nvSpPr>
        <p:spPr>
          <a:xfrm>
            <a:off x="3884760" y="8685360"/>
            <a:ext cx="2968920" cy="4543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C6A45D0F-2A0E-4D48-BB55-EFED49BDC31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0" name="PlaceHolder 1"/>
          <p:cNvSpPr>
            <a:spLocks noGrp="1"/>
          </p:cNvSpPr>
          <p:nvPr>
            <p:ph type="sldImg"/>
          </p:nvPr>
        </p:nvSpPr>
        <p:spPr>
          <a:xfrm>
            <a:off x="1143000" y="685800"/>
            <a:ext cx="4569120" cy="3426120"/>
          </a:xfrm>
          <a:prstGeom prst="rect">
            <a:avLst/>
          </a:prstGeom>
          <a:ln w="0">
            <a:noFill/>
          </a:ln>
        </p:spPr>
      </p:sp>
      <p:sp>
        <p:nvSpPr>
          <p:cNvPr id="421" name="PlaceHolder 2"/>
          <p:cNvSpPr>
            <a:spLocks noGrp="1"/>
          </p:cNvSpPr>
          <p:nvPr>
            <p:ph type="body"/>
          </p:nvPr>
        </p:nvSpPr>
        <p:spPr>
          <a:xfrm>
            <a:off x="685800" y="4343400"/>
            <a:ext cx="5483520" cy="4111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Εδώ βλέπει ο ιδιοκτήτης του μαγαζιού τα ίδια νούμερα χωρίς να ξέρει προγραμματισμό. Δώδεκα κάρτες σε τρία dashboards, και καθεμιά αντιστοιχεί ένα προς ένα σε ένα endpoint.</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Δύο σκόπιμες αποφάσεις. Πρώτον, η σύνδεση είναι μόνο για ανάγνωση, ένα dashboard δεν μπορεί να πειράξει δεδομένα. Δεύτερον, δεν υπάρχει κάρτα για την κερδοφορία, γιατί μια κάρτα δείχνει έναν αριθμό χωρίς τις παραδοχές του. Αυτό θα ήταν ακριβώς το λάθος που όλη η σχεδίαση προσπαθεί να αποτρέψει.</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ΠΙΘΑΝΗ ΕΡΩΤΗΣΗ: «Γιατί δεν υπάρχει κάρτα για την πρόβλεψη ή το clustering;» Μια κάρτα είναι ένα ερώτημα SQL, οπότε δείχνει μόνο ό,τι υπάρχει ήδη στη βάση. Η πρόβλεψη και οι ομάδες υπολογίζονται τη στιγμή του αιτήματος. Αν τα ξαναγράφαμε σε SQL, θα είχαμε δεύτερη υλοποίηση που με τον καιρό θα ξέφευγε από την πρώτη.</a:t>
            </a:r>
            <a:endParaRPr lang="en-US" sz="2000" b="0" u="none" strike="noStrike">
              <a:solidFill>
                <a:srgbClr val="000000"/>
              </a:solidFill>
              <a:effectLst/>
              <a:uFillTx/>
              <a:latin typeface="Arial"/>
            </a:endParaRPr>
          </a:p>
        </p:txBody>
      </p:sp>
      <p:sp>
        <p:nvSpPr>
          <p:cNvPr id="422" name="PlaceHolder 3"/>
          <p:cNvSpPr>
            <a:spLocks noGrp="1"/>
          </p:cNvSpPr>
          <p:nvPr>
            <p:ph type="sldNum" idx="20"/>
          </p:nvPr>
        </p:nvSpPr>
        <p:spPr>
          <a:xfrm>
            <a:off x="3884760" y="8685360"/>
            <a:ext cx="2968920" cy="4543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BD60EC08-04BF-4517-B501-D341E8208CCA}"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3" name="PlaceHolder 1"/>
          <p:cNvSpPr>
            <a:spLocks noGrp="1"/>
          </p:cNvSpPr>
          <p:nvPr>
            <p:ph type="sldImg"/>
          </p:nvPr>
        </p:nvSpPr>
        <p:spPr>
          <a:xfrm>
            <a:off x="1143000" y="685800"/>
            <a:ext cx="4569120" cy="3426120"/>
          </a:xfrm>
          <a:prstGeom prst="rect">
            <a:avLst/>
          </a:prstGeom>
          <a:ln w="0">
            <a:noFill/>
          </a:ln>
        </p:spPr>
      </p:sp>
      <p:sp>
        <p:nvSpPr>
          <p:cNvPr id="424" name="PlaceHolder 2"/>
          <p:cNvSpPr>
            <a:spLocks noGrp="1"/>
          </p:cNvSpPr>
          <p:nvPr>
            <p:ph type="body"/>
          </p:nvPr>
        </p:nvSpPr>
        <p:spPr>
          <a:xfrm>
            <a:off x="685800" y="4343400"/>
            <a:ext cx="5483520" cy="4111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Τρίτο μέρος: Τα ευρήματα.</a:t>
            </a:r>
            <a:endParaRPr lang="en-US" sz="2000" b="0" u="none" strike="noStrike">
              <a:solidFill>
                <a:srgbClr val="000000"/>
              </a:solidFill>
              <a:effectLst/>
              <a:uFillTx/>
              <a:latin typeface="Arial"/>
            </a:endParaRPr>
          </a:p>
        </p:txBody>
      </p:sp>
      <p:sp>
        <p:nvSpPr>
          <p:cNvPr id="425" name="PlaceHolder 3"/>
          <p:cNvSpPr>
            <a:spLocks noGrp="1"/>
          </p:cNvSpPr>
          <p:nvPr>
            <p:ph type="sldNum" idx="21"/>
          </p:nvPr>
        </p:nvSpPr>
        <p:spPr>
          <a:xfrm>
            <a:off x="3884760" y="8685360"/>
            <a:ext cx="2968920" cy="4543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6A6C05A4-3925-477C-AAAD-9E6B2A2E3EC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6" name="PlaceHolder 1"/>
          <p:cNvSpPr>
            <a:spLocks noGrp="1"/>
          </p:cNvSpPr>
          <p:nvPr>
            <p:ph type="sldImg"/>
          </p:nvPr>
        </p:nvSpPr>
        <p:spPr>
          <a:xfrm>
            <a:off x="1143000" y="685800"/>
            <a:ext cx="4569120" cy="3426120"/>
          </a:xfrm>
          <a:prstGeom prst="rect">
            <a:avLst/>
          </a:prstGeom>
          <a:ln w="0">
            <a:noFill/>
          </a:ln>
        </p:spPr>
      </p:sp>
      <p:sp>
        <p:nvSpPr>
          <p:cNvPr id="427" name="PlaceHolder 2"/>
          <p:cNvSpPr>
            <a:spLocks noGrp="1"/>
          </p:cNvSpPr>
          <p:nvPr>
            <p:ph type="body"/>
          </p:nvPr>
        </p:nvSpPr>
        <p:spPr>
          <a:xfrm>
            <a:off x="685800" y="4343400"/>
            <a:ext cx="5483520" cy="4111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Αυτό είναι το πείραμα πάνω στο οποίο δοκιμάστηκε όλο το σύστημα. Πραγματικές πωλήσεις ενός βρετανικού καταστήματος χονδρικής, από το 2009 ως το 2011, πάνω από ένα εκατομμύριο γραμμές.</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ΠΙΘΑΝΗ ΕΡΩΤΗΣΗ: «Γιατί αυτό το σύνολο δεδομένων;» Είναι δημόσιο, το έχει χρησιμοποιήσει ήδη άλλη επιστημονική εργασία, και έχει επιστροφές. Χωρίς επιστροφές, το πέμπτο από τα επτά ερωτήματα δεν απαντιέται.</a:t>
            </a:r>
            <a:endParaRPr lang="en-US" sz="2000" b="0" u="none" strike="noStrike">
              <a:solidFill>
                <a:srgbClr val="000000"/>
              </a:solidFill>
              <a:effectLst/>
              <a:uFillTx/>
              <a:latin typeface="Arial"/>
            </a:endParaRPr>
          </a:p>
        </p:txBody>
      </p:sp>
      <p:sp>
        <p:nvSpPr>
          <p:cNvPr id="428" name="PlaceHolder 3"/>
          <p:cNvSpPr>
            <a:spLocks noGrp="1"/>
          </p:cNvSpPr>
          <p:nvPr>
            <p:ph type="sldNum" idx="22"/>
          </p:nvPr>
        </p:nvSpPr>
        <p:spPr>
          <a:xfrm>
            <a:off x="3884760" y="8685360"/>
            <a:ext cx="2968920" cy="4543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934066F8-5497-4561-A63C-BECBBFFC998B}"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9" name="PlaceHolder 1"/>
          <p:cNvSpPr>
            <a:spLocks noGrp="1"/>
          </p:cNvSpPr>
          <p:nvPr>
            <p:ph type="sldImg"/>
          </p:nvPr>
        </p:nvSpPr>
        <p:spPr>
          <a:xfrm>
            <a:off x="1143000" y="685800"/>
            <a:ext cx="4569120" cy="3426120"/>
          </a:xfrm>
          <a:prstGeom prst="rect">
            <a:avLst/>
          </a:prstGeom>
          <a:ln w="0">
            <a:noFill/>
          </a:ln>
        </p:spPr>
      </p:sp>
      <p:sp>
        <p:nvSpPr>
          <p:cNvPr id="430" name="PlaceHolder 2"/>
          <p:cNvSpPr>
            <a:spLocks noGrp="1"/>
          </p:cNvSpPr>
          <p:nvPr>
            <p:ph type="body"/>
          </p:nvPr>
        </p:nvSpPr>
        <p:spPr>
          <a:xfrm>
            <a:off x="685800" y="4343400"/>
            <a:ext cx="5483520" cy="4111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Δύο απλά γραφήματα: ποια προϊόντα έφεραν τα περισσότερα έσοδα και ποιες χώρες αγόρασαν τα περισσότερα. Η έκπληξη είναι ότι το προϊόν με τα περισσότερα κομμάτια δεν είναι αυτό με τα περισσότερα έσοδα. Ένα ακριβότερο προϊόν μπορεί να πουλάει λιγότερα κομμάτια και να φέρνει περισσότερα χρήματα.</a:t>
            </a:r>
            <a:endParaRPr lang="en-US" sz="2000" b="0" u="none" strike="noStrike">
              <a:solidFill>
                <a:srgbClr val="000000"/>
              </a:solidFill>
              <a:effectLst/>
              <a:uFillTx/>
              <a:latin typeface="Arial"/>
            </a:endParaRPr>
          </a:p>
        </p:txBody>
      </p:sp>
      <p:sp>
        <p:nvSpPr>
          <p:cNvPr id="431" name="PlaceHolder 3"/>
          <p:cNvSpPr>
            <a:spLocks noGrp="1"/>
          </p:cNvSpPr>
          <p:nvPr>
            <p:ph type="sldNum" idx="23"/>
          </p:nvPr>
        </p:nvSpPr>
        <p:spPr>
          <a:xfrm>
            <a:off x="3884760" y="8685360"/>
            <a:ext cx="2968920" cy="4543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E4173E76-6DC9-4470-9094-821BD75B1A4C}"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2" name="PlaceHolder 1"/>
          <p:cNvSpPr>
            <a:spLocks noGrp="1"/>
          </p:cNvSpPr>
          <p:nvPr>
            <p:ph type="sldImg"/>
          </p:nvPr>
        </p:nvSpPr>
        <p:spPr>
          <a:xfrm>
            <a:off x="1143000" y="685800"/>
            <a:ext cx="4569120" cy="3426120"/>
          </a:xfrm>
          <a:prstGeom prst="rect">
            <a:avLst/>
          </a:prstGeom>
          <a:ln w="0">
            <a:noFill/>
          </a:ln>
        </p:spPr>
      </p:sp>
      <p:sp>
        <p:nvSpPr>
          <p:cNvPr id="433" name="PlaceHolder 2"/>
          <p:cNvSpPr>
            <a:spLocks noGrp="1"/>
          </p:cNvSpPr>
          <p:nvPr>
            <p:ph type="body"/>
          </p:nvPr>
        </p:nvSpPr>
        <p:spPr>
          <a:xfrm>
            <a:off x="685800" y="4343400"/>
            <a:ext cx="5483520" cy="4111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Πότε μέσα στον χρόνο γίνονται οι πωλήσεις και σε τι τιμές. Ο Νοέμβριος κορυφώνει και τις δύο χρονιές. Τα φθηνά προϊόντα κάνουν τα δύο τρίτα των εσόδων.</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Το τίμιο σημείο εδώ είναι το 38,9%. Δεν μπορέσαμε να κατηγοριοποιήσουμε τόσα έσοδα, γιατί στα δεδομένα δεν υπάρχει κατηγορία προϊόντος, μόνο η περιγραφή σε ελεύθερο κείμενο. Το ποσοστό που μένει αταξινόμητο είναι το πραγματικό μέτρο ακρίβειας της μεθόδου, οπότε δηλώνεται ανοιχτά.</a:t>
            </a:r>
            <a:endParaRPr lang="en-US" sz="2000" b="0" u="none" strike="noStrike">
              <a:solidFill>
                <a:srgbClr val="000000"/>
              </a:solidFill>
              <a:effectLst/>
              <a:uFillTx/>
              <a:latin typeface="Arial"/>
            </a:endParaRPr>
          </a:p>
        </p:txBody>
      </p:sp>
      <p:sp>
        <p:nvSpPr>
          <p:cNvPr id="434" name="PlaceHolder 3"/>
          <p:cNvSpPr>
            <a:spLocks noGrp="1"/>
          </p:cNvSpPr>
          <p:nvPr>
            <p:ph type="sldNum" idx="24"/>
          </p:nvPr>
        </p:nvSpPr>
        <p:spPr>
          <a:xfrm>
            <a:off x="3884760" y="8685360"/>
            <a:ext cx="2968920" cy="4543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BD918AD6-1092-4F5F-A2EE-7FD7FF296056}"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5" name="PlaceHolder 1"/>
          <p:cNvSpPr>
            <a:spLocks noGrp="1"/>
          </p:cNvSpPr>
          <p:nvPr>
            <p:ph type="sldImg"/>
          </p:nvPr>
        </p:nvSpPr>
        <p:spPr>
          <a:xfrm>
            <a:off x="1143000" y="685800"/>
            <a:ext cx="4569120" cy="3426120"/>
          </a:xfrm>
          <a:prstGeom prst="rect">
            <a:avLst/>
          </a:prstGeom>
          <a:ln w="0">
            <a:noFill/>
          </a:ln>
        </p:spPr>
      </p:sp>
      <p:sp>
        <p:nvSpPr>
          <p:cNvPr id="436" name="PlaceHolder 2"/>
          <p:cNvSpPr>
            <a:spLocks noGrp="1"/>
          </p:cNvSpPr>
          <p:nvPr>
            <p:ph type="body"/>
          </p:nvPr>
        </p:nvSpPr>
        <p:spPr>
          <a:xfrm>
            <a:off x="685800" y="4343400"/>
            <a:ext cx="5483520" cy="4111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Φανταστείτε χιλιάδες αποδείξεις από ένα μαγαζί. Θέλουμε να βρούμε ποια προϊόντα αγοράζονται μαζί πιο συχνά απ' ό,τι θα περιμέναμε στην τύχη.</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Παράδειγμα με δέκα αποδείξεις, όπου οι τρεις έχουν ψωμί και βούτυρο μαζί. Support ίσον τρία δέκατα, δηλαδή 0,3. Αν το ψωμί υπάρχει σε πέντε αποδείξεις, το confidence είναι τρία πέμπτα, δηλαδή 0,6. Τώρα το κρίσιμο. Αν το βούτυρο είναι ούτως ή άλλως δημοφιλές, με support 0,8, τότε το lift είναι 0,6 διά 0,8, ίσον 0,75, κάτω από ένα, καμία πραγματική σχέση. Αν το βούτυρο είναι σπάνιο, με support 0,2, τότε το lift είναι 3, τριπλάσια πιθανότητα από την τύχη. Οι τύποι είναι στις εφεδρικές διαφάνειες.</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ΠΙΘΑΝΗ ΕΡΩΤΗΣΗ: «Γιατί δύο αλγόριθμοι για το ίδιο πράγμα;» Το ζήτησε η επίβλεψη, και επέτρεψε να δείξουμε πειραματικά ότι δίνουν ταυτόσημο αποτέλεσμα. Η επιλογή ανάμεσά τους είναι θέμα χρόνου εκτέλεσης, όχι ευρήματος.</a:t>
            </a:r>
            <a:endParaRPr lang="en-US" sz="2000" b="0" u="none" strike="noStrike">
              <a:solidFill>
                <a:srgbClr val="000000"/>
              </a:solidFill>
              <a:effectLst/>
              <a:uFillTx/>
              <a:latin typeface="Arial"/>
            </a:endParaRPr>
          </a:p>
        </p:txBody>
      </p:sp>
      <p:sp>
        <p:nvSpPr>
          <p:cNvPr id="437" name="PlaceHolder 3"/>
          <p:cNvSpPr>
            <a:spLocks noGrp="1"/>
          </p:cNvSpPr>
          <p:nvPr>
            <p:ph type="sldNum" idx="25"/>
          </p:nvPr>
        </p:nvSpPr>
        <p:spPr>
          <a:xfrm>
            <a:off x="3884760" y="8685360"/>
            <a:ext cx="2968920" cy="4543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B5BB35FF-6481-40CF-96AC-74E2B06DC714}"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8" name="PlaceHolder 1"/>
          <p:cNvSpPr>
            <a:spLocks noGrp="1"/>
          </p:cNvSpPr>
          <p:nvPr>
            <p:ph type="sldImg"/>
          </p:nvPr>
        </p:nvSpPr>
        <p:spPr>
          <a:xfrm>
            <a:off x="1143000" y="685800"/>
            <a:ext cx="4569120" cy="3426120"/>
          </a:xfrm>
          <a:prstGeom prst="rect">
            <a:avLst/>
          </a:prstGeom>
          <a:ln w="0">
            <a:noFill/>
          </a:ln>
        </p:spPr>
      </p:sp>
      <p:sp>
        <p:nvSpPr>
          <p:cNvPr id="439" name="PlaceHolder 2"/>
          <p:cNvSpPr>
            <a:spLocks noGrp="1"/>
          </p:cNvSpPr>
          <p:nvPr>
            <p:ph type="body"/>
          </p:nvPr>
        </p:nvSpPr>
        <p:spPr>
          <a:xfrm>
            <a:off x="685800" y="4343400"/>
            <a:ext cx="5483520" cy="4111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Καλάθι σημαίνει όλα τα προϊόντα μιας παραγγελίας μαζί. Ο πελάτης στη μέση έβαζε δεκαεπτά διαφορετικά προϊόντα σε ένα καλάθι. Σε λιανική θα περιμέναμε δύο ή τρία.</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Το πείραμα: ίδιο κατώφλι support 0,02, ίδια δεδομένα, δύο αλγόριθμοι. Και οι δύο βγάζουν 385 συχνά σύνολα και 134 κανόνες, ταυτόσημα. Η μόνη διαφορά είναι ο χρόνος, 5,14 δευτερόλεπτα ο Apriori έναντι 1,96 του FP-Growth.</a:t>
            </a:r>
            <a:endParaRPr lang="en-US" sz="2000" b="0" u="none" strike="noStrike">
              <a:solidFill>
                <a:srgbClr val="000000"/>
              </a:solidFill>
              <a:effectLst/>
              <a:uFillTx/>
              <a:latin typeface="Arial"/>
            </a:endParaRPr>
          </a:p>
        </p:txBody>
      </p:sp>
      <p:sp>
        <p:nvSpPr>
          <p:cNvPr id="440" name="PlaceHolder 3"/>
          <p:cNvSpPr>
            <a:spLocks noGrp="1"/>
          </p:cNvSpPr>
          <p:nvPr>
            <p:ph type="sldNum" idx="26"/>
          </p:nvPr>
        </p:nvSpPr>
        <p:spPr>
          <a:xfrm>
            <a:off x="3884760" y="8685360"/>
            <a:ext cx="2968920" cy="4543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F5ACA927-BD28-4397-A4C3-190B19DBB1C8}"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1" name="PlaceHolder 1"/>
          <p:cNvSpPr>
            <a:spLocks noGrp="1"/>
          </p:cNvSpPr>
          <p:nvPr>
            <p:ph type="sldImg"/>
          </p:nvPr>
        </p:nvSpPr>
        <p:spPr>
          <a:xfrm>
            <a:off x="1143000" y="685800"/>
            <a:ext cx="4569120" cy="3426120"/>
          </a:xfrm>
          <a:prstGeom prst="rect">
            <a:avLst/>
          </a:prstGeom>
          <a:ln w="0">
            <a:noFill/>
          </a:ln>
        </p:spPr>
      </p:sp>
      <p:sp>
        <p:nvSpPr>
          <p:cNvPr id="442" name="PlaceHolder 2"/>
          <p:cNvSpPr>
            <a:spLocks noGrp="1"/>
          </p:cNvSpPr>
          <p:nvPr>
            <p:ph type="body"/>
          </p:nvPr>
        </p:nvSpPr>
        <p:spPr>
          <a:xfrm>
            <a:off x="685800" y="4343400"/>
            <a:ext cx="5483520" cy="4111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Κάθε τελίτσα στο αριστερό γράφημα είναι ένας κανόνας. Ο πιο δυνατός λέει ότι τρία χρώματα του ίδιου σετ τσαγιού αγοράζονται μαζί εικοσιπέντε φορές πιο συχνά απ' ό,τι τυχαία.</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Το δεξιό γράφημα δείχνει τι γίνεται αν αλλάξεις το κατώφλι, δηλαδή πόσο σπάνιο επιτρέπεις να είναι ένα σύνολο για να το μετρήσουμε. Στο 1% βγαίνουν 1.556 σύνολα, στο 2% βγαίνουν 385, στο 5% μένουν 35 σύνολα και κανένας κανόνας.</a:t>
            </a:r>
            <a:endParaRPr lang="en-US" sz="2000" b="0" u="none" strike="noStrike">
              <a:solidFill>
                <a:srgbClr val="000000"/>
              </a:solidFill>
              <a:effectLst/>
              <a:uFillTx/>
              <a:latin typeface="Arial"/>
            </a:endParaRPr>
          </a:p>
        </p:txBody>
      </p:sp>
      <p:sp>
        <p:nvSpPr>
          <p:cNvPr id="443" name="PlaceHolder 3"/>
          <p:cNvSpPr>
            <a:spLocks noGrp="1"/>
          </p:cNvSpPr>
          <p:nvPr>
            <p:ph type="sldNum" idx="27"/>
          </p:nvPr>
        </p:nvSpPr>
        <p:spPr>
          <a:xfrm>
            <a:off x="3884760" y="8685360"/>
            <a:ext cx="2968920" cy="4543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33EE7BF4-5259-43E0-B15D-FD0D9239667D}"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4" name="PlaceHolder 1"/>
          <p:cNvSpPr>
            <a:spLocks noGrp="1"/>
          </p:cNvSpPr>
          <p:nvPr>
            <p:ph type="sldImg"/>
          </p:nvPr>
        </p:nvSpPr>
        <p:spPr>
          <a:xfrm>
            <a:off x="1143000" y="685800"/>
            <a:ext cx="4569120" cy="3426120"/>
          </a:xfrm>
          <a:prstGeom prst="rect">
            <a:avLst/>
          </a:prstGeom>
          <a:ln w="0">
            <a:noFill/>
          </a:ln>
        </p:spPr>
      </p:sp>
      <p:sp>
        <p:nvSpPr>
          <p:cNvPr id="445" name="PlaceHolder 2"/>
          <p:cNvSpPr>
            <a:spLocks noGrp="1"/>
          </p:cNvSpPr>
          <p:nvPr>
            <p:ph type="body"/>
          </p:nvPr>
        </p:nvSpPr>
        <p:spPr>
          <a:xfrm>
            <a:off x="685800" y="4343400"/>
            <a:ext cx="5483520" cy="4111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Έχουμε έναν σωρό στοιχεία, χώρες ή πελάτες, και θέλουμε να τα χωρίσουμε σε ομάδες όπου τα μέλη μοιάζουν μεταξύ τους. Το RFM είναι τρία απλά νούμερα για κάθε πελάτη: πόσο πρόσφατα αγόρασε, πόσο συχνά αγοράζει, πόσα έχει ξοδέψει.</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Το silhouette συγκρίνει πόσο κοντά είναι κάθε σημείο στη δική του ομάδα σε σχέση με την πιο κοντινή άλλη. Κοντά στο συν ένα είναι καλό, στο μηδέν μπερδεμένο, στο μείον ένα λάθος ομάδα. Δοκιμάζουμε πολλά k και κρατάμε το καλύτερο μέσο σκορ. Οι τύποι είναι στις εφεδρικές διαφάνειες.</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ΠΙΘΑΝΗ ΕΡΩΤΗΣΗ: «Γιατί δύο επίπεδα;» Το ζήτησε η επίβλεψη: πρώτα ομαδοποίηση στις πιο σημαντικές παραμέτρους, περιοχή και χρόνο, και μετά μέσα σε κάθε ομάδα ξανά με RFM. Παίρνουμε πληροφορία σε δύο επίπεδα αντί για ένα. Επίσης, η τυποποίηση των μεταβλητών πριν το clustering δεν είναι βελτίωση, είναι προϋπόθεση, αλλιώς η μεταβλητή με τη μεγαλύτερη κλίμακα κυριαρχεί.</a:t>
            </a:r>
            <a:endParaRPr lang="en-US" sz="2000" b="0" u="none" strike="noStrike">
              <a:solidFill>
                <a:srgbClr val="000000"/>
              </a:solidFill>
              <a:effectLst/>
              <a:uFillTx/>
              <a:latin typeface="Arial"/>
            </a:endParaRPr>
          </a:p>
        </p:txBody>
      </p:sp>
      <p:sp>
        <p:nvSpPr>
          <p:cNvPr id="446" name="PlaceHolder 3"/>
          <p:cNvSpPr>
            <a:spLocks noGrp="1"/>
          </p:cNvSpPr>
          <p:nvPr>
            <p:ph type="sldNum" idx="28"/>
          </p:nvPr>
        </p:nvSpPr>
        <p:spPr>
          <a:xfrm>
            <a:off x="3884760" y="8685360"/>
            <a:ext cx="2968920" cy="4543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7AD2BD54-D9B0-4AB5-AB45-319B9D3F5075}"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7" name="PlaceHolder 1"/>
          <p:cNvSpPr>
            <a:spLocks noGrp="1"/>
          </p:cNvSpPr>
          <p:nvPr>
            <p:ph type="sldImg"/>
          </p:nvPr>
        </p:nvSpPr>
        <p:spPr>
          <a:xfrm>
            <a:off x="1143000" y="685800"/>
            <a:ext cx="4569120" cy="3426120"/>
          </a:xfrm>
          <a:prstGeom prst="rect">
            <a:avLst/>
          </a:prstGeom>
          <a:ln w="0">
            <a:noFill/>
          </a:ln>
        </p:spPr>
      </p:sp>
      <p:sp>
        <p:nvSpPr>
          <p:cNvPr id="448" name="PlaceHolder 2"/>
          <p:cNvSpPr>
            <a:spLocks noGrp="1"/>
          </p:cNvSpPr>
          <p:nvPr>
            <p:ph type="body"/>
          </p:nvPr>
        </p:nvSpPr>
        <p:spPr>
          <a:xfrm>
            <a:off x="685800" y="4343400"/>
            <a:ext cx="5483520" cy="4111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Το πρώτο επίπεδο χωρίζει τις χώρες. Βγαίνουν μόνο δύο ομάδες. Το Ηνωμένο Βασίλειο μόνο του, γιατί αγοράζει και τους εικοσιπέντε μήνες, και οι υπόλοιπες σαράντα δύο χώρες μαζί, γιατί αγοράζουν σποραδικά, κατά μέσο όρο σε δώδεκα μήνες.</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Το δεύτερο επίπεδο μπαίνει μέσα σε κάθε ομάδα χωρών και χωρίζει τους πελάτες. Και στις δύο αγορές βγαίνει το ίδιο μοτίβο: μια πολυπληθής ομάδα τακτικών που αγοράζουν πέντε φορές, και μια μικρή ομάδα, οι λεγόμενοι whales, που αγοράζουν εκατόν είκοσι ως διακόσιες είκοσι φορές και ξοδεύουν εκατονταπλάσια ποσά.</a:t>
            </a:r>
            <a:endParaRPr lang="en-US" sz="2000" b="0" u="none" strike="noStrike">
              <a:solidFill>
                <a:srgbClr val="000000"/>
              </a:solidFill>
              <a:effectLst/>
              <a:uFillTx/>
              <a:latin typeface="Arial"/>
            </a:endParaRPr>
          </a:p>
        </p:txBody>
      </p:sp>
      <p:sp>
        <p:nvSpPr>
          <p:cNvPr id="449" name="PlaceHolder 3"/>
          <p:cNvSpPr>
            <a:spLocks noGrp="1"/>
          </p:cNvSpPr>
          <p:nvPr>
            <p:ph type="sldNum" idx="29"/>
          </p:nvPr>
        </p:nvSpPr>
        <p:spPr>
          <a:xfrm>
            <a:off x="3884760" y="8685360"/>
            <a:ext cx="2968920" cy="4543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4A22DBF1-C953-4894-97A9-B4CF58FE95DD}"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0" name="PlaceHolder 1"/>
          <p:cNvSpPr>
            <a:spLocks noGrp="1"/>
          </p:cNvSpPr>
          <p:nvPr>
            <p:ph type="sldImg"/>
          </p:nvPr>
        </p:nvSpPr>
        <p:spPr>
          <a:xfrm>
            <a:off x="1143000" y="685800"/>
            <a:ext cx="4569120" cy="3426120"/>
          </a:xfrm>
          <a:prstGeom prst="rect">
            <a:avLst/>
          </a:prstGeom>
          <a:ln w="0">
            <a:noFill/>
          </a:ln>
        </p:spPr>
      </p:sp>
      <p:sp>
        <p:nvSpPr>
          <p:cNvPr id="451" name="PlaceHolder 2"/>
          <p:cNvSpPr>
            <a:spLocks noGrp="1"/>
          </p:cNvSpPr>
          <p:nvPr>
            <p:ph type="body"/>
          </p:nvPr>
        </p:nvSpPr>
        <p:spPr>
          <a:xfrm>
            <a:off x="685800" y="4343400"/>
            <a:ext cx="5483520" cy="4111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Η πρόβλεψη μαντεύει τις πωλήσεις των επόμενων μηνών από το ιστορικό. Εδώ όμως το ενδιαφέρον δεν είναι το νούμερο, είναι η ιστορία. Το πρώτο αποτέλεσμα φαινόταν χειρότερο από το χαζό μάντεμα.</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Skill score ίσον ένα μείον το δικό μας σφάλμα διά το σφάλμα της απλοϊκής εκτίμησης. Θετικό σημαίνει ότι νικάμε την απλοϊκή εκτίμηση, αρνητικό ότι χάνουμε. Ο τελευταίος μήνας είχε εννιά μέρες αντί για τριάντα, οπότε έμοιαζε με κατάρρευση ενώ ήταν απλώς κομμένος. Μόλις εξαιρέθηκε, το πρόσημο άλλαξε. Το μεθοδολογικό σημείο είναι πιο σημαντικό από τα νούμερα: μια κομμένη περίοδος δεν χαλάει απλώς την ακρίβεια, αντιστρέφει το συμπέρασμα.</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ΠΙΘΑΝΗ ΕΡΩΤΗΣΗ: «Γιατί Holt-Winters και όχι ARIMA ή νευρωνικά δίκτυα;» Είναι διαφανές, έχει λίγες παραμέτρους και δουλεύει με λίγο ιστορικό. Έχουμε μόλις εικοσιπέντε μήνες. Δηλώνουμε ρητά ότι δεν είναι η ακριβέστερη μέθοδος, και το skill score δείχνει ακριβώς πού είναι το όριο.</a:t>
            </a:r>
            <a:endParaRPr lang="en-US" sz="2000" b="0" u="none" strike="noStrike">
              <a:solidFill>
                <a:srgbClr val="000000"/>
              </a:solidFill>
              <a:effectLst/>
              <a:uFillTx/>
              <a:latin typeface="Arial"/>
            </a:endParaRPr>
          </a:p>
        </p:txBody>
      </p:sp>
      <p:sp>
        <p:nvSpPr>
          <p:cNvPr id="452" name="PlaceHolder 3"/>
          <p:cNvSpPr>
            <a:spLocks noGrp="1"/>
          </p:cNvSpPr>
          <p:nvPr>
            <p:ph type="sldNum" idx="30"/>
          </p:nvPr>
        </p:nvSpPr>
        <p:spPr>
          <a:xfrm>
            <a:off x="3884760" y="8685360"/>
            <a:ext cx="2968920" cy="4543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A0CB6803-5384-4E02-802F-9E0C5B33D850}"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3" name="PlaceHolder 1"/>
          <p:cNvSpPr>
            <a:spLocks noGrp="1"/>
          </p:cNvSpPr>
          <p:nvPr>
            <p:ph type="sldImg"/>
          </p:nvPr>
        </p:nvSpPr>
        <p:spPr>
          <a:xfrm>
            <a:off x="1143000" y="685800"/>
            <a:ext cx="4569120" cy="3426120"/>
          </a:xfrm>
          <a:prstGeom prst="rect">
            <a:avLst/>
          </a:prstGeom>
          <a:ln w="0">
            <a:noFill/>
          </a:ln>
        </p:spPr>
      </p:sp>
      <p:sp>
        <p:nvSpPr>
          <p:cNvPr id="454" name="PlaceHolder 2"/>
          <p:cNvSpPr>
            <a:spLocks noGrp="1"/>
          </p:cNvSpPr>
          <p:nvPr>
            <p:ph type="body"/>
          </p:nvPr>
        </p:nvSpPr>
        <p:spPr>
          <a:xfrm>
            <a:off x="685800" y="4343400"/>
            <a:ext cx="5483520" cy="4111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Το Growth Accounting σπάει τη μεταβολή των εσόδων κάθε μήνα σε έξι κουβάδες: πόσα έφεραν νέοι πελάτες, πόσα παλιοί που ξαναγύρισαν, πόσα έμειναν ίδια, πόσα κέρδισαν από πελάτες που ξόδεψαν παραπάνω, πόσα χάθηκαν από πελάτες που ξόδεψαν λιγότερα, και πόσα χάθηκαν εντελώς.</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Quick ratio ίσον τα καλά διά τα κακά, δηλαδή νέα συν αναβιωμένα συν επέκταση, διά συρρίκνωση συν απώλεια. Πάνω από ένα η επιχείρηση μεγαλώνει, κάτω από ένα μικραίνει. Ο συντελεστής Gini: φανταστείτε εκατό ανθρώπους. Αν έχουν ακριβώς τα ίδια, Gini μηδέν. Αν ένας τα έχει όλα, Gini ένα. Το 0,740 είναι κοντά στο άνισο άκρο. Το κρίσιμο όμως είναι το 3,3%: αν έφευγε ο μεγαλύτερος πελάτης, η επιχείρηση δεν θα κατέρρεε.</a:t>
            </a:r>
            <a:endParaRPr lang="en-US" sz="2000" b="0" u="none" strike="noStrike">
              <a:solidFill>
                <a:srgbClr val="000000"/>
              </a:solidFill>
              <a:effectLst/>
              <a:uFillTx/>
              <a:latin typeface="Arial"/>
            </a:endParaRPr>
          </a:p>
        </p:txBody>
      </p:sp>
      <p:sp>
        <p:nvSpPr>
          <p:cNvPr id="455" name="PlaceHolder 3"/>
          <p:cNvSpPr>
            <a:spLocks noGrp="1"/>
          </p:cNvSpPr>
          <p:nvPr>
            <p:ph type="sldNum" idx="31"/>
          </p:nvPr>
        </p:nvSpPr>
        <p:spPr>
          <a:xfrm>
            <a:off x="3884760" y="8685360"/>
            <a:ext cx="2968920" cy="4543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59D88D43-B476-44D9-903E-F6CACE362827}"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6" name="PlaceHolder 1"/>
          <p:cNvSpPr>
            <a:spLocks noGrp="1"/>
          </p:cNvSpPr>
          <p:nvPr>
            <p:ph type="sldImg"/>
          </p:nvPr>
        </p:nvSpPr>
        <p:spPr>
          <a:xfrm>
            <a:off x="1143000" y="685800"/>
            <a:ext cx="4569120" cy="3426120"/>
          </a:xfrm>
          <a:prstGeom prst="rect">
            <a:avLst/>
          </a:prstGeom>
          <a:ln w="0">
            <a:noFill/>
          </a:ln>
        </p:spPr>
      </p:sp>
      <p:sp>
        <p:nvSpPr>
          <p:cNvPr id="457" name="PlaceHolder 2"/>
          <p:cNvSpPr>
            <a:spLocks noGrp="1"/>
          </p:cNvSpPr>
          <p:nvPr>
            <p:ph type="body"/>
          </p:nvPr>
        </p:nvSpPr>
        <p:spPr>
          <a:xfrm>
            <a:off x="685800" y="4343400"/>
            <a:ext cx="5483520" cy="4111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Αυτή είναι ίσως η πιο σημαντική διαφάνεια για την ειλικρίνεια της δουλειάς. Δεν ξέρουμε το πραγματικό κόστος του μαγαζιού, οπότε δεν λέμε «κερδίζει τόσα». Λέμε: αν το περιθώριο είναι τόσο και το κόστος απόκτησης πελάτη τόσο, τότε βγαίνει αυτό. Και δείχνουμε όλους τους συνδυασμούς.</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LTV προς CAC ίσον πόσα φέρνει συνολικά ένας πελάτης διά πόσο κόστισε να τον αποκτήσεις. Πληρώνεις εκατό και σου φέρνει τριακόσια: τρία προς ένα, καλή επένδυση. Σου φέρνει ενενήντα: έχασες. Το πλέγμα δοκιμάζει περιθώρια από 15% ως 60% και κόστος απόκτησης από 100 ως 900.</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ΠΙΘΑΝΗ ΕΡΩΤΗΣΗ: «Γιατί δεν υποθέτετε ένα λογικό περιθώριο για μια τελική απάντηση;» Γιατί θα ήταν υπόθεση ντυμένη σαν εύρημα. Δηλώνουμε τις παραδοχές και δείχνουμε πώς αλλάζει το συμπέρασμα όταν αλλάζουν.</a:t>
            </a:r>
            <a:endParaRPr lang="en-US" sz="2000" b="0" u="none" strike="noStrike">
              <a:solidFill>
                <a:srgbClr val="000000"/>
              </a:solidFill>
              <a:effectLst/>
              <a:uFillTx/>
              <a:latin typeface="Arial"/>
            </a:endParaRPr>
          </a:p>
        </p:txBody>
      </p:sp>
      <p:sp>
        <p:nvSpPr>
          <p:cNvPr id="458" name="PlaceHolder 3"/>
          <p:cNvSpPr>
            <a:spLocks noGrp="1"/>
          </p:cNvSpPr>
          <p:nvPr>
            <p:ph type="sldNum" idx="32"/>
          </p:nvPr>
        </p:nvSpPr>
        <p:spPr>
          <a:xfrm>
            <a:off x="3884760" y="8685360"/>
            <a:ext cx="2968920" cy="4543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96D52056-6D33-42C3-8A79-4B3DFCCE895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9" name="PlaceHolder 1"/>
          <p:cNvSpPr>
            <a:spLocks noGrp="1"/>
          </p:cNvSpPr>
          <p:nvPr>
            <p:ph type="sldImg"/>
          </p:nvPr>
        </p:nvSpPr>
        <p:spPr>
          <a:xfrm>
            <a:off x="1143000" y="685800"/>
            <a:ext cx="4569120" cy="3426120"/>
          </a:xfrm>
          <a:prstGeom prst="rect">
            <a:avLst/>
          </a:prstGeom>
          <a:ln w="0">
            <a:noFill/>
          </a:ln>
        </p:spPr>
      </p:sp>
      <p:sp>
        <p:nvSpPr>
          <p:cNvPr id="460" name="PlaceHolder 2"/>
          <p:cNvSpPr>
            <a:spLocks noGrp="1"/>
          </p:cNvSpPr>
          <p:nvPr>
            <p:ph type="body"/>
          </p:nvPr>
        </p:nvSpPr>
        <p:spPr>
          <a:xfrm>
            <a:off x="685800" y="4343400"/>
            <a:ext cx="5483520" cy="4111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Τέταρτο μέρος: Συμπεράσματα.</a:t>
            </a:r>
            <a:endParaRPr lang="en-US" sz="2000" b="0" u="none" strike="noStrike">
              <a:solidFill>
                <a:srgbClr val="000000"/>
              </a:solidFill>
              <a:effectLst/>
              <a:uFillTx/>
              <a:latin typeface="Arial"/>
            </a:endParaRPr>
          </a:p>
        </p:txBody>
      </p:sp>
      <p:sp>
        <p:nvSpPr>
          <p:cNvPr id="461" name="PlaceHolder 3"/>
          <p:cNvSpPr>
            <a:spLocks noGrp="1"/>
          </p:cNvSpPr>
          <p:nvPr>
            <p:ph type="sldNum" idx="33"/>
          </p:nvPr>
        </p:nvSpPr>
        <p:spPr>
          <a:xfrm>
            <a:off x="3884760" y="8685360"/>
            <a:ext cx="2968920" cy="4543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5514CE8B-38BF-4E9C-A518-F428937D69B9}"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2" name="PlaceHolder 1"/>
          <p:cNvSpPr>
            <a:spLocks noGrp="1"/>
          </p:cNvSpPr>
          <p:nvPr>
            <p:ph type="sldImg"/>
          </p:nvPr>
        </p:nvSpPr>
        <p:spPr>
          <a:xfrm>
            <a:off x="1143000" y="685800"/>
            <a:ext cx="4569120" cy="3426120"/>
          </a:xfrm>
          <a:prstGeom prst="rect">
            <a:avLst/>
          </a:prstGeom>
          <a:ln w="0">
            <a:noFill/>
          </a:ln>
        </p:spPr>
      </p:sp>
      <p:sp>
        <p:nvSpPr>
          <p:cNvPr id="463" name="PlaceHolder 2"/>
          <p:cNvSpPr>
            <a:spLocks noGrp="1"/>
          </p:cNvSpPr>
          <p:nvPr>
            <p:ph type="body"/>
          </p:nvPr>
        </p:nvSpPr>
        <p:spPr>
          <a:xfrm>
            <a:off x="685800" y="4343400"/>
            <a:ext cx="5483520" cy="4111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Αν κρατήσετε μία διαφάνεια από όλη την παρουσίαση, ας είναι αυτή. Αριστερά τι απαντήθηκε, δεξιά τι κάνει ο ιδιοκτήτης του μαγαζιού με τις απαντήσεις.</a:t>
            </a:r>
            <a:endParaRPr lang="en-US" sz="2000" b="0" u="none" strike="noStrike">
              <a:solidFill>
                <a:srgbClr val="000000"/>
              </a:solidFill>
              <a:effectLst/>
              <a:uFillTx/>
              <a:latin typeface="Arial"/>
            </a:endParaRPr>
          </a:p>
          <a:p>
            <a:pPr indent="0" algn="l">
              <a:lnSpc>
                <a:spcPct val="100000"/>
              </a:lnSpc>
              <a:buNone/>
              <a:tabLst>
                <a:tab pos="0" algn="l"/>
              </a:tabLst>
            </a:pPr>
            <a:endParaRPr lang="en-US" sz="2000" b="0" u="none" strike="noStrike">
              <a:solidFill>
                <a:srgbClr val="000000"/>
              </a:solidFill>
              <a:effectLst/>
              <a:uFillTx/>
              <a:latin typeface="Arial"/>
            </a:endParaRPr>
          </a:p>
          <a:p>
            <a:pPr indent="0" algn="l">
              <a:lnSpc>
                <a:spcPct val="100000"/>
              </a:lnSpc>
              <a:buNone/>
              <a:tabLst>
                <a:tab pos="0" algn="l"/>
              </a:tabLst>
            </a:pPr>
            <a:r>
              <a:rPr lang="en-US" sz="2000" b="0" u="none" strike="noStrike">
                <a:solidFill>
                  <a:srgbClr val="000000"/>
                </a:solidFill>
                <a:effectLst/>
                <a:uFillTx/>
                <a:latin typeface="Arial"/>
              </a:rPr>
              <a:t>ΜΑΘΗΜΑΤΙΚΑ: Δύο ακόμα σημεία που αξίζουν αναφορά. Οι κατηγοριοποιήσεις ανά εύρος τιμής και ανά είδος μοιράζουν όλα τα έσοδα, χωρίς διπλομέτρηση και χωρίς απώλεια, και αυτό ελέγχεται αυτόματα με τεστ. Και το Growth Accounting είναι η πιο ισχυρή μετρήσιμη ένδειξη για την υγεία μιας επιχείρησης, χωρίς καμία παραδοχή στη μέση.</a:t>
            </a:r>
            <a:endParaRPr lang="en-US" sz="2000" b="0" u="none" strike="noStrike">
              <a:solidFill>
                <a:srgbClr val="000000"/>
              </a:solidFill>
              <a:effectLst/>
              <a:uFillTx/>
              <a:latin typeface="Arial"/>
            </a:endParaRPr>
          </a:p>
        </p:txBody>
      </p:sp>
      <p:sp>
        <p:nvSpPr>
          <p:cNvPr id="464" name="PlaceHolder 3"/>
          <p:cNvSpPr>
            <a:spLocks noGrp="1"/>
          </p:cNvSpPr>
          <p:nvPr>
            <p:ph type="sldNum" idx="34"/>
          </p:nvPr>
        </p:nvSpPr>
        <p:spPr>
          <a:xfrm>
            <a:off x="3884760" y="8685360"/>
            <a:ext cx="2968920" cy="4543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4C3A8561-33A4-4DC9-AE18-5A537F3CD53F}"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5" name="PlaceHolder 1"/>
          <p:cNvSpPr>
            <a:spLocks noGrp="1"/>
          </p:cNvSpPr>
          <p:nvPr>
            <p:ph type="sldImg"/>
          </p:nvPr>
        </p:nvSpPr>
        <p:spPr>
          <a:xfrm>
            <a:off x="1143000" y="685800"/>
            <a:ext cx="4569120" cy="3426120"/>
          </a:xfrm>
          <a:prstGeom prst="rect">
            <a:avLst/>
          </a:prstGeom>
          <a:ln w="0">
            <a:noFill/>
          </a:ln>
        </p:spPr>
      </p:sp>
      <p:sp>
        <p:nvSpPr>
          <p:cNvPr id="466" name="PlaceHolder 2"/>
          <p:cNvSpPr>
            <a:spLocks noGrp="1"/>
          </p:cNvSpPr>
          <p:nvPr>
            <p:ph type="body"/>
          </p:nvPr>
        </p:nvSpPr>
        <p:spPr>
          <a:xfrm>
            <a:off x="685800" y="4343400"/>
            <a:ext cx="5483520" cy="411192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Το μήνυμα όλης της δουλειάς σε μία πρόταση: να απαντηθεί ό,τι ζήτησε η επιχείρηση, και να μην προσποιηθούμε ότι απαντάμε σε πράγματα που τα δεδομένα δεν επιτρέπουν. Ευχαριστώ πολύ.</a:t>
            </a:r>
            <a:endParaRPr lang="en-US" sz="2000" b="0" u="none" strike="noStrike">
              <a:solidFill>
                <a:srgbClr val="000000"/>
              </a:solidFill>
              <a:effectLst/>
              <a:uFillTx/>
              <a:latin typeface="Arial"/>
            </a:endParaRPr>
          </a:p>
        </p:txBody>
      </p:sp>
      <p:sp>
        <p:nvSpPr>
          <p:cNvPr id="467" name="PlaceHolder 3"/>
          <p:cNvSpPr>
            <a:spLocks noGrp="1"/>
          </p:cNvSpPr>
          <p:nvPr>
            <p:ph type="sldNum" idx="35"/>
          </p:nvPr>
        </p:nvSpPr>
        <p:spPr>
          <a:xfrm>
            <a:off x="3884760" y="8685360"/>
            <a:ext cx="2968920" cy="454320"/>
          </a:xfrm>
          <a:prstGeom prst="rect">
            <a:avLst/>
          </a:prstGeom>
          <a:noFill/>
          <a:ln w="0">
            <a:noFill/>
          </a:ln>
        </p:spPr>
        <p:txBody>
          <a:bodyPr lIns="91440" tIns="45720" rIns="91440" bIns="45720" anchor="b">
            <a:noAutofit/>
          </a:bodyPr>
          <a:lstStyle>
            <a:lvl1pPr indent="0" algn="r">
              <a:lnSpc>
                <a:spcPct val="100000"/>
              </a:lnSpc>
              <a:buNone/>
              <a:tabLst>
                <a:tab pos="0" algn="l"/>
              </a:tabLst>
              <a:defRPr lang="en-US" sz="1200" b="0" u="none" strike="noStrike">
                <a:solidFill>
                  <a:srgbClr val="000000"/>
                </a:solidFill>
                <a:effectLst/>
                <a:uFillTx/>
                <a:latin typeface="Times New Roman"/>
              </a:defRPr>
            </a:lvl1pPr>
          </a:lstStyle>
          <a:p>
            <a:pPr indent="0" algn="r">
              <a:lnSpc>
                <a:spcPct val="100000"/>
              </a:lnSpc>
              <a:buNone/>
              <a:tabLst>
                <a:tab pos="0" algn="l"/>
              </a:tabLst>
            </a:pPr>
            <a:fld id="{E9533CB4-8135-4D87-A38E-134889D2EDB3}" type="slidenum">
              <a:rPr lang="en-US"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ftr" idx="1"/>
          </p:nvPr>
        </p:nvSpPr>
        <p:spPr>
          <a:xfrm>
            <a:off x="3124080" y="6356520"/>
            <a:ext cx="2892600" cy="36216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 name="PlaceHolder 2"/>
          <p:cNvSpPr>
            <a:spLocks noGrp="1"/>
          </p:cNvSpPr>
          <p:nvPr>
            <p:ph type="sldNum" idx="2"/>
          </p:nvPr>
        </p:nvSpPr>
        <p:spPr>
          <a:xfrm>
            <a:off x="6553080" y="6356520"/>
            <a:ext cx="2130840" cy="36216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33EEF7DB-CFA4-47F1-8A39-2D1FE5B154A7}"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4" name="PlaceHolder 3"/>
          <p:cNvSpPr>
            <a:spLocks noGrp="1"/>
          </p:cNvSpPr>
          <p:nvPr>
            <p:ph type="dt" idx="3"/>
          </p:nvPr>
        </p:nvSpPr>
        <p:spPr>
          <a:xfrm>
            <a:off x="457200" y="6356520"/>
            <a:ext cx="2130840" cy="36216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n-US" sz="1400" b="0" u="none" strike="noStrike">
                <a:solidFill>
                  <a:srgbClr val="000000"/>
                </a:solidFill>
                <a:effectLst/>
                <a:uFillTx/>
                <a:latin typeface="Times New Roman"/>
              </a:defRPr>
            </a:lvl1pPr>
          </a:lstStyle>
          <a:p>
            <a:pPr indent="0" algn="l">
              <a:lnSpc>
                <a:spcPct val="100000"/>
              </a:lnSpc>
              <a:buNone/>
              <a:tabLst>
                <a:tab pos="0" algn="l"/>
              </a:tabLst>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5" name="PlaceHolder 4"/>
          <p:cNvSpPr>
            <a:spLocks noGrp="1"/>
          </p:cNvSpPr>
          <p:nvPr>
            <p:ph type="title"/>
          </p:nvPr>
        </p:nvSpPr>
        <p:spPr>
          <a:xfrm>
            <a:off x="609480" y="273600"/>
            <a:ext cx="10970280" cy="1142640"/>
          </a:xfrm>
          <a:prstGeom prst="rect">
            <a:avLst/>
          </a:prstGeom>
          <a:noFill/>
          <a:ln w="0">
            <a:noFill/>
          </a:ln>
        </p:spPr>
        <p:txBody>
          <a:bodyPr lIns="0" tIns="0" rIns="0" bIns="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6" name="PlaceHolder 5"/>
          <p:cNvSpPr>
            <a:spLocks noGrp="1"/>
          </p:cNvSpPr>
          <p:nvPr>
            <p:ph type="body"/>
          </p:nvPr>
        </p:nvSpPr>
        <p:spPr>
          <a:xfrm>
            <a:off x="609480" y="1604520"/>
            <a:ext cx="10970280" cy="3975120"/>
          </a:xfrm>
          <a:prstGeom prst="rect">
            <a:avLst/>
          </a:prstGeom>
          <a:noFill/>
          <a:ln w="0">
            <a:noFill/>
          </a:ln>
        </p:spPr>
        <p:txBody>
          <a:bodyPr lIns="0" tIns="0" rIns="0" bIns="0" anchor="t">
            <a:norm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24000" indent="-32400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lnSpc>
                <a:spcPct val="100000"/>
              </a:lnSpc>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lnSpc>
                <a:spcPct val="100000"/>
              </a:lnSpc>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lnSpc>
                <a:spcPct val="100000"/>
              </a:lnSpc>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lnSpc>
                <a:spcPct val="100000"/>
              </a:lnSpc>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609480" y="510480"/>
            <a:ext cx="10969560" cy="670680"/>
          </a:xfrm>
          <a:prstGeom prst="rect">
            <a:avLst/>
          </a:prstGeom>
          <a:noFill/>
          <a:ln w="0">
            <a:noFill/>
          </a:ln>
        </p:spPr>
        <p:txBody>
          <a:bodyPr lIns="0" tIns="0" rIns="0" bIns="0" anchor="ctr">
            <a:spAutoFit/>
          </a:bodyPr>
          <a:lstStyle>
            <a:lvl1pPr indent="0" algn="l" defTabSz="457200">
              <a:lnSpc>
                <a:spcPct val="100000"/>
              </a:lnSpc>
              <a:buNone/>
              <a:tabLst>
                <a:tab pos="0" algn="l"/>
              </a:tabLst>
              <a:defRPr lang="en-US" sz="4400" b="0" u="none" strike="noStrike">
                <a:solidFill>
                  <a:schemeClr val="dk1"/>
                </a:solidFill>
                <a:effectLst/>
                <a:uFillTx/>
                <a:latin typeface="Calibri"/>
              </a:defRPr>
            </a:lvl1pPr>
          </a:lstStyle>
          <a:p>
            <a:pPr indent="0" algn="l" defTabSz="457200">
              <a:lnSpc>
                <a:spcPct val="100000"/>
              </a:lnSpc>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8" name="PlaceHolder 2"/>
          <p:cNvSpPr>
            <a:spLocks noGrp="1"/>
          </p:cNvSpPr>
          <p:nvPr>
            <p:ph type="ftr" idx="4"/>
          </p:nvPr>
        </p:nvSpPr>
        <p:spPr>
          <a:xfrm>
            <a:off x="3124080" y="6356520"/>
            <a:ext cx="2892600" cy="36216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9" name="PlaceHolder 3"/>
          <p:cNvSpPr>
            <a:spLocks noGrp="1"/>
          </p:cNvSpPr>
          <p:nvPr>
            <p:ph type="sldNum" idx="5"/>
          </p:nvPr>
        </p:nvSpPr>
        <p:spPr>
          <a:xfrm>
            <a:off x="6553080" y="6356520"/>
            <a:ext cx="2130840" cy="36216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08858334-BEEE-4CE7-ABED-319862B0CB81}"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10" name="PlaceHolder 4"/>
          <p:cNvSpPr>
            <a:spLocks noGrp="1"/>
          </p:cNvSpPr>
          <p:nvPr>
            <p:ph type="dt" idx="6"/>
          </p:nvPr>
        </p:nvSpPr>
        <p:spPr>
          <a:xfrm>
            <a:off x="457200" y="6356520"/>
            <a:ext cx="2130840" cy="362160"/>
          </a:xfrm>
          <a:prstGeom prst="rect">
            <a:avLst/>
          </a:prstGeom>
          <a:noFill/>
          <a:ln w="0">
            <a:noFill/>
          </a:ln>
        </p:spPr>
        <p:txBody>
          <a:bodyPr lIns="91440" tIns="45720" rIns="91440" bIns="45720" anchor="ctr">
            <a:noAutofit/>
          </a:bodyPr>
          <a:lstStyle>
            <a:lvl1pPr indent="0" algn="l">
              <a:lnSpc>
                <a:spcPct val="100000"/>
              </a:lnSpc>
              <a:buNone/>
              <a:tabLst>
                <a:tab pos="0" algn="l"/>
              </a:tabLst>
              <a:defRPr lang="en-US" sz="1400" b="0" u="none" strike="noStrike">
                <a:solidFill>
                  <a:srgbClr val="000000"/>
                </a:solidFill>
                <a:effectLst/>
                <a:uFillTx/>
                <a:latin typeface="Times New Roman"/>
              </a:defRPr>
            </a:lvl1pPr>
          </a:lstStyle>
          <a:p>
            <a:pPr indent="0" algn="l">
              <a:lnSpc>
                <a:spcPct val="100000"/>
              </a:lnSpc>
              <a:buNone/>
              <a:tabLst>
                <a:tab pos="0" algn="l"/>
              </a:tabLst>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11" name="PlaceHolder 5"/>
          <p:cNvSpPr>
            <a:spLocks noGrp="1"/>
          </p:cNvSpPr>
          <p:nvPr>
            <p:ph type="body"/>
          </p:nvPr>
        </p:nvSpPr>
        <p:spPr>
          <a:xfrm>
            <a:off x="609480" y="1604520"/>
            <a:ext cx="10970280" cy="3975120"/>
          </a:xfrm>
          <a:prstGeom prst="rect">
            <a:avLst/>
          </a:prstGeom>
          <a:noFill/>
          <a:ln w="0">
            <a:noFill/>
          </a:ln>
        </p:spPr>
        <p:txBody>
          <a:bodyPr lIns="0" tIns="0" rIns="0" bIns="0" anchor="t">
            <a:norm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24000" indent="-32400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lnSpc>
                <a:spcPct val="100000"/>
              </a:lnSpc>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lnSpc>
                <a:spcPct val="100000"/>
              </a:lnSpc>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lnSpc>
                <a:spcPct val="100000"/>
              </a:lnSpc>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lnSpc>
                <a:spcPct val="100000"/>
              </a:lnSpc>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clrMapOvr>
    <a:masterClrMapping/>
  </p:clrMapOvr>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jpeg"/><Relationship Id="rId3" Type="http://schemas.openxmlformats.org/officeDocument/2006/relationships/slideLayout" Target="../slideLayouts/slideLayout1.xml"/><Relationship Id="rId4"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slideLayout" Target="../slideLayouts/slideLayout1.xml"/><Relationship Id="rId4"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xml"/><Relationship Id="rId4"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9.png"/><Relationship Id="rId3" Type="http://schemas.openxmlformats.org/officeDocument/2006/relationships/slideLayout" Target="../slideLayouts/slideLayout1.xml"/><Relationship Id="rId4"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png"/><Relationship Id="rId3" Type="http://schemas.openxmlformats.org/officeDocument/2006/relationships/slideLayout" Target="../slideLayouts/slideLayout1.xml"/><Relationship Id="rId4"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 name="Rectangle 1"/>
          <p:cNvSpPr/>
          <p:nvPr/>
        </p:nvSpPr>
        <p:spPr>
          <a:xfrm>
            <a:off x="0" y="0"/>
            <a:ext cx="12188880" cy="249840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9" name="TextBox 2"/>
          <p:cNvSpPr/>
          <p:nvPr/>
        </p:nvSpPr>
        <p:spPr>
          <a:xfrm>
            <a:off x="548640" y="502920"/>
            <a:ext cx="1108872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ΔΙΠΛΩΜΑΤΙΚΗ ΕΡΓΑΣΙΑ</a:t>
            </a:r>
            <a:endParaRPr lang="en-US" sz="1200" b="0" u="none" strike="noStrike">
              <a:solidFill>
                <a:srgbClr val="000000"/>
              </a:solidFill>
              <a:effectLst/>
              <a:uFillTx/>
              <a:latin typeface="Arial"/>
            </a:endParaRPr>
          </a:p>
        </p:txBody>
      </p:sp>
      <p:sp>
        <p:nvSpPr>
          <p:cNvPr id="20" name="TextBox 3"/>
          <p:cNvSpPr/>
          <p:nvPr/>
        </p:nvSpPr>
        <p:spPr>
          <a:xfrm>
            <a:off x="548640" y="868680"/>
            <a:ext cx="11088720" cy="11523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100" b="1" u="none" strike="noStrike">
                <a:solidFill>
                  <a:srgbClr val="FFFFFF"/>
                </a:solidFill>
                <a:effectLst/>
                <a:uFillTx/>
                <a:latin typeface="Cambria"/>
                <a:ea typeface="DejaVu Sans"/>
              </a:rPr>
              <a:t>Εξαγωγή Ευφυών Αναλύσεων </a:t>
            </a:r>
            <a:endParaRPr lang="en-US" sz="3100" b="0" u="none" strike="noStrike">
              <a:solidFill>
                <a:srgbClr val="000000"/>
              </a:solidFill>
              <a:effectLst/>
              <a:uFillTx/>
              <a:latin typeface="Arial"/>
            </a:endParaRPr>
          </a:p>
          <a:p>
            <a:pPr defTabSz="457200">
              <a:lnSpc>
                <a:spcPct val="122000"/>
              </a:lnSpc>
            </a:pPr>
            <a:r>
              <a:rPr lang="en-US" sz="3100" b="1" u="none" strike="noStrike">
                <a:solidFill>
                  <a:srgbClr val="FFFFFF"/>
                </a:solidFill>
                <a:effectLst/>
                <a:uFillTx/>
                <a:latin typeface="Cambria"/>
                <a:ea typeface="DejaVu Sans"/>
              </a:rPr>
              <a:t>από Δεδομένα Ηλεκτρονικού Εμπορίου</a:t>
            </a:r>
            <a:endParaRPr lang="en-US" sz="3100" b="0" u="none" strike="noStrike">
              <a:solidFill>
                <a:srgbClr val="000000"/>
              </a:solidFill>
              <a:effectLst/>
              <a:uFillTx/>
              <a:latin typeface="Arial"/>
            </a:endParaRPr>
          </a:p>
        </p:txBody>
      </p:sp>
      <p:sp>
        <p:nvSpPr>
          <p:cNvPr id="21" name="TextBox 4"/>
          <p:cNvSpPr/>
          <p:nvPr/>
        </p:nvSpPr>
        <p:spPr>
          <a:xfrm>
            <a:off x="548640" y="2240280"/>
            <a:ext cx="11088720" cy="25812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22" name="TextBox 5"/>
          <p:cNvSpPr/>
          <p:nvPr/>
        </p:nvSpPr>
        <p:spPr>
          <a:xfrm>
            <a:off x="548640" y="3063240"/>
            <a:ext cx="11088720" cy="4082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2200" b="1" u="none" strike="noStrike">
                <a:solidFill>
                  <a:srgbClr val="2C5530"/>
                </a:solidFill>
                <a:effectLst/>
                <a:uFillTx/>
                <a:latin typeface="Cambria"/>
                <a:ea typeface="DejaVu Sans"/>
              </a:rPr>
              <a:t>Μουρτογιάννης Χρήστος</a:t>
            </a:r>
            <a:endParaRPr lang="en-US" sz="2200" b="0" u="none" strike="noStrike">
              <a:solidFill>
                <a:srgbClr val="000000"/>
              </a:solidFill>
              <a:effectLst/>
              <a:uFillTx/>
              <a:latin typeface="Arial"/>
            </a:endParaRPr>
          </a:p>
        </p:txBody>
      </p:sp>
      <p:sp>
        <p:nvSpPr>
          <p:cNvPr id="23" name="TextBox 6"/>
          <p:cNvSpPr/>
          <p:nvPr/>
        </p:nvSpPr>
        <p:spPr>
          <a:xfrm>
            <a:off x="548640" y="3736440"/>
            <a:ext cx="11088720" cy="496080"/>
          </a:xfrm>
          <a:prstGeom prst="rect">
            <a:avLst/>
          </a:prstGeom>
          <a:noFill/>
          <a:ln w="0">
            <a:noFill/>
          </a:ln>
        </p:spPr>
        <p:style>
          <a:lnRef idx="0"/>
          <a:fillRef idx="0"/>
          <a:effectRef idx="0"/>
          <a:fontRef idx="minor"/>
        </p:style>
        <p:txBody>
          <a:bodyPr lIns="0" tIns="0" rIns="0" bIns="0" anchor="t">
            <a:spAutoFit/>
          </a:bodyPr>
          <a:p>
            <a:pPr defTabSz="457200">
              <a:lnSpc>
                <a:spcPct val="122000"/>
              </a:lnSpc>
              <a:spcAft>
                <a:spcPts val="400"/>
              </a:spcAft>
            </a:pPr>
            <a:r>
              <a:rPr lang="en-US" sz="1200" b="0" u="none" strike="noStrike">
                <a:solidFill>
                  <a:srgbClr val="6B6259"/>
                </a:solidFill>
                <a:effectLst/>
                <a:uFillTx/>
                <a:latin typeface="Calibri"/>
                <a:ea typeface="DejaVu Sans"/>
              </a:rPr>
              <a:t>Διατμηματικό ΠΜΣ «Διοίκηση και Οικονομική Τηλεπικοινωνιακών Δικτύων και Πληροφοριακών Συστημάτων»</a:t>
            </a:r>
            <a:endParaRPr lang="en-US" sz="1200" b="0" u="none" strike="noStrike">
              <a:solidFill>
                <a:srgbClr val="000000"/>
              </a:solidFill>
              <a:effectLst/>
              <a:uFillTx/>
              <a:latin typeface="Arial"/>
            </a:endParaRPr>
          </a:p>
          <a:p>
            <a:pPr defTabSz="457200">
              <a:lnSpc>
                <a:spcPct val="122000"/>
              </a:lnSpc>
              <a:spcAft>
                <a:spcPts val="400"/>
              </a:spcAft>
            </a:pPr>
            <a:r>
              <a:rPr lang="en-US" sz="1200" b="0" u="none" strike="noStrike">
                <a:solidFill>
                  <a:srgbClr val="6B6259"/>
                </a:solidFill>
                <a:effectLst/>
                <a:uFillTx/>
                <a:latin typeface="Calibri"/>
                <a:ea typeface="DejaVu Sans"/>
              </a:rPr>
              <a:t>Εθνικό και Καποδιστριακό Πανεπιστήμιο Αθηνών, Τμήμα Πληροφορικής και Τηλεπικοινωνιών</a:t>
            </a:r>
            <a:endParaRPr lang="en-US" sz="1200" b="0" u="none" strike="noStrike">
              <a:solidFill>
                <a:srgbClr val="000000"/>
              </a:solidFill>
              <a:effectLst/>
              <a:uFillTx/>
              <a:latin typeface="Arial"/>
            </a:endParaRPr>
          </a:p>
        </p:txBody>
      </p:sp>
      <p:sp>
        <p:nvSpPr>
          <p:cNvPr id="24" name="Rounded Rectangle 7"/>
          <p:cNvSpPr/>
          <p:nvPr/>
        </p:nvSpPr>
        <p:spPr>
          <a:xfrm>
            <a:off x="4389840" y="4480560"/>
            <a:ext cx="6580800" cy="155160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5" name="TextBox 8"/>
          <p:cNvSpPr/>
          <p:nvPr/>
        </p:nvSpPr>
        <p:spPr>
          <a:xfrm>
            <a:off x="4664160" y="4645080"/>
            <a:ext cx="6032160" cy="2041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1" u="none" strike="noStrike">
                <a:solidFill>
                  <a:srgbClr val="E8A33D"/>
                </a:solidFill>
                <a:effectLst/>
                <a:uFillTx/>
                <a:latin typeface="Calibri"/>
                <a:ea typeface="DejaVu Sans"/>
              </a:rPr>
              <a:t>ΤΡΙΜΕΛΗΣ ΕΞΕΤΑΣΤΙΚΗ ΕΠΙΤΡΟΠΗ</a:t>
            </a:r>
            <a:endParaRPr lang="en-US" sz="1100" b="0" u="none" strike="noStrike">
              <a:solidFill>
                <a:srgbClr val="000000"/>
              </a:solidFill>
              <a:effectLst/>
              <a:uFillTx/>
              <a:latin typeface="Arial"/>
            </a:endParaRPr>
          </a:p>
        </p:txBody>
      </p:sp>
      <p:sp>
        <p:nvSpPr>
          <p:cNvPr id="26" name="TextBox 9"/>
          <p:cNvSpPr/>
          <p:nvPr/>
        </p:nvSpPr>
        <p:spPr>
          <a:xfrm>
            <a:off x="4664160" y="4992480"/>
            <a:ext cx="109440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Επιβλέπων:</a:t>
            </a:r>
            <a:endParaRPr lang="en-US" sz="1200" b="0" u="none" strike="noStrike">
              <a:solidFill>
                <a:srgbClr val="000000"/>
              </a:solidFill>
              <a:effectLst/>
              <a:uFillTx/>
              <a:latin typeface="Arial"/>
            </a:endParaRPr>
          </a:p>
        </p:txBody>
      </p:sp>
      <p:sp>
        <p:nvSpPr>
          <p:cNvPr id="27" name="TextBox 10"/>
          <p:cNvSpPr/>
          <p:nvPr/>
        </p:nvSpPr>
        <p:spPr>
          <a:xfrm>
            <a:off x="5807160" y="4992480"/>
            <a:ext cx="484344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0" u="none" strike="noStrike">
                <a:solidFill>
                  <a:srgbClr val="241F1B"/>
                </a:solidFill>
                <a:effectLst/>
                <a:uFillTx/>
                <a:latin typeface="Calibri"/>
                <a:ea typeface="DejaVu Sans"/>
              </a:rPr>
              <a:t>Ευστάθιος Χατζηευθυμιάδης, Καθηγητής, ΕΚΠΑ</a:t>
            </a:r>
            <a:endParaRPr lang="en-US" sz="1200" b="0" u="none" strike="noStrike">
              <a:solidFill>
                <a:srgbClr val="000000"/>
              </a:solidFill>
              <a:effectLst/>
              <a:uFillTx/>
              <a:latin typeface="Arial"/>
            </a:endParaRPr>
          </a:p>
        </p:txBody>
      </p:sp>
      <p:sp>
        <p:nvSpPr>
          <p:cNvPr id="28" name="TextBox 11"/>
          <p:cNvSpPr/>
          <p:nvPr/>
        </p:nvSpPr>
        <p:spPr>
          <a:xfrm>
            <a:off x="4664160" y="5303520"/>
            <a:ext cx="109440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Εξεταστής:</a:t>
            </a:r>
            <a:endParaRPr lang="en-US" sz="1200" b="0" u="none" strike="noStrike">
              <a:solidFill>
                <a:srgbClr val="000000"/>
              </a:solidFill>
              <a:effectLst/>
              <a:uFillTx/>
              <a:latin typeface="Arial"/>
            </a:endParaRPr>
          </a:p>
        </p:txBody>
      </p:sp>
      <p:sp>
        <p:nvSpPr>
          <p:cNvPr id="29" name="TextBox 12"/>
          <p:cNvSpPr/>
          <p:nvPr/>
        </p:nvSpPr>
        <p:spPr>
          <a:xfrm>
            <a:off x="5807160" y="5303520"/>
            <a:ext cx="484344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0" u="none" strike="noStrike">
                <a:solidFill>
                  <a:srgbClr val="241F1B"/>
                </a:solidFill>
                <a:effectLst/>
                <a:uFillTx/>
                <a:latin typeface="Calibri"/>
                <a:ea typeface="DejaVu Sans"/>
              </a:rPr>
              <a:t>Κωνσταντίνος Κολομβάτσος, Πανεπιστήμιο Θεσσαλίας</a:t>
            </a:r>
            <a:endParaRPr lang="en-US" sz="1200" b="0" u="none" strike="noStrike">
              <a:solidFill>
                <a:srgbClr val="000000"/>
              </a:solidFill>
              <a:effectLst/>
              <a:uFillTx/>
              <a:latin typeface="Arial"/>
            </a:endParaRPr>
          </a:p>
        </p:txBody>
      </p:sp>
      <p:sp>
        <p:nvSpPr>
          <p:cNvPr id="30" name="TextBox 13"/>
          <p:cNvSpPr/>
          <p:nvPr/>
        </p:nvSpPr>
        <p:spPr>
          <a:xfrm>
            <a:off x="4664160" y="5614560"/>
            <a:ext cx="109440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Εξεταστής:</a:t>
            </a:r>
            <a:endParaRPr lang="en-US" sz="1200" b="0" u="none" strike="noStrike">
              <a:solidFill>
                <a:srgbClr val="000000"/>
              </a:solidFill>
              <a:effectLst/>
              <a:uFillTx/>
              <a:latin typeface="Arial"/>
            </a:endParaRPr>
          </a:p>
        </p:txBody>
      </p:sp>
      <p:sp>
        <p:nvSpPr>
          <p:cNvPr id="31" name="TextBox 14"/>
          <p:cNvSpPr/>
          <p:nvPr/>
        </p:nvSpPr>
        <p:spPr>
          <a:xfrm>
            <a:off x="5807160" y="5614560"/>
            <a:ext cx="484344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0" u="none" strike="noStrike">
                <a:solidFill>
                  <a:srgbClr val="241F1B"/>
                </a:solidFill>
                <a:effectLst/>
                <a:uFillTx/>
                <a:latin typeface="Calibri"/>
                <a:ea typeface="DejaVu Sans"/>
              </a:rPr>
              <a:t>Μιλτιάδης Κυριακάκος, ΕΔΙΠ, ΕΚΠΑ</a:t>
            </a:r>
            <a:endParaRPr lang="en-US" sz="1200" b="0" u="none" strike="noStrike">
              <a:solidFill>
                <a:srgbClr val="000000"/>
              </a:solidFill>
              <a:effectLst/>
              <a:uFillTx/>
              <a:latin typeface="Arial"/>
            </a:endParaRPr>
          </a:p>
        </p:txBody>
      </p:sp>
      <p:sp>
        <p:nvSpPr>
          <p:cNvPr id="32" name="TextBox 15"/>
          <p:cNvSpPr/>
          <p:nvPr/>
        </p:nvSpPr>
        <p:spPr>
          <a:xfrm>
            <a:off x="10287000" y="6400800"/>
            <a:ext cx="1807560" cy="222480"/>
          </a:xfrm>
          <a:prstGeom prst="rect">
            <a:avLst/>
          </a:prstGeom>
          <a:noFill/>
          <a:ln w="0">
            <a:noFill/>
          </a:ln>
        </p:spPr>
        <p:style>
          <a:lnRef idx="0"/>
          <a:fillRef idx="0"/>
          <a:effectRef idx="0"/>
          <a:fontRef idx="minor"/>
        </p:style>
        <p:txBody>
          <a:bodyPr lIns="0" tIns="0" rIns="0" bIns="0" anchor="t" anchorCtr="1">
            <a:spAutoFit/>
          </a:bodyPr>
          <a:p>
            <a:pPr algn="r" defTabSz="457200">
              <a:lnSpc>
                <a:spcPct val="122000"/>
              </a:lnSpc>
            </a:pPr>
            <a:r>
              <a:rPr lang="en-US" sz="1200" b="0" u="none" strike="noStrike">
                <a:solidFill>
                  <a:srgbClr val="6B6259"/>
                </a:solidFill>
                <a:effectLst/>
                <a:uFillTx/>
                <a:latin typeface="Calibri"/>
                <a:ea typeface="DejaVu Sans"/>
              </a:rPr>
              <a:t>Αθήνα, Σεπτέμβριος 2026</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 name="TextBox 1"/>
          <p:cNvSpPr/>
          <p:nvPr/>
        </p:nvSpPr>
        <p:spPr>
          <a:xfrm>
            <a:off x="548640" y="457200"/>
            <a:ext cx="1108872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ΠΕΡΙΕΧΟΜΕΝΑ</a:t>
            </a:r>
            <a:endParaRPr lang="en-US" sz="1200" b="0" u="none" strike="noStrike">
              <a:solidFill>
                <a:srgbClr val="000000"/>
              </a:solidFill>
              <a:effectLst/>
              <a:uFillTx/>
              <a:latin typeface="Arial"/>
            </a:endParaRPr>
          </a:p>
        </p:txBody>
      </p:sp>
      <p:sp>
        <p:nvSpPr>
          <p:cNvPr id="34" name="TextBox 2"/>
          <p:cNvSpPr/>
          <p:nvPr/>
        </p:nvSpPr>
        <p:spPr>
          <a:xfrm>
            <a:off x="548640" y="749880"/>
            <a:ext cx="11088720" cy="5572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Τέσσερα μέρη</a:t>
            </a:r>
            <a:endParaRPr lang="en-US" sz="3000" b="0" u="none" strike="noStrike">
              <a:solidFill>
                <a:srgbClr val="000000"/>
              </a:solidFill>
              <a:effectLst/>
              <a:uFillTx/>
              <a:latin typeface="Arial"/>
            </a:endParaRPr>
          </a:p>
        </p:txBody>
      </p:sp>
      <p:sp>
        <p:nvSpPr>
          <p:cNvPr id="35" name="TextBox 3"/>
          <p:cNvSpPr/>
          <p:nvPr/>
        </p:nvSpPr>
        <p:spPr>
          <a:xfrm>
            <a:off x="548640" y="6473880"/>
            <a:ext cx="3654720" cy="27144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36" name="TextBox 4"/>
          <p:cNvSpPr/>
          <p:nvPr/>
        </p:nvSpPr>
        <p:spPr>
          <a:xfrm>
            <a:off x="11094480" y="6473880"/>
            <a:ext cx="545760" cy="16740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2</a:t>
            </a:r>
            <a:endParaRPr lang="en-US" sz="900" b="0" u="none" strike="noStrike">
              <a:solidFill>
                <a:srgbClr val="000000"/>
              </a:solidFill>
              <a:effectLst/>
              <a:uFillTx/>
              <a:latin typeface="Arial"/>
            </a:endParaRPr>
          </a:p>
        </p:txBody>
      </p:sp>
      <p:sp>
        <p:nvSpPr>
          <p:cNvPr id="37" name="Rounded Rectangle 5"/>
          <p:cNvSpPr/>
          <p:nvPr/>
        </p:nvSpPr>
        <p:spPr>
          <a:xfrm>
            <a:off x="548640" y="1920240"/>
            <a:ext cx="2605320" cy="283176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8" name="Rectangle 6"/>
          <p:cNvSpPr/>
          <p:nvPr/>
        </p:nvSpPr>
        <p:spPr>
          <a:xfrm>
            <a:off x="548640" y="1920240"/>
            <a:ext cx="2605320" cy="7956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37440" rIns="90000" bIns="37440" anchor="ctr">
            <a:noAutofit/>
          </a:bodyPr>
          <a:p>
            <a:pPr/>
            <a:endParaRPr lang="en-US" sz="1800" b="0" u="none" strike="noStrike">
              <a:solidFill>
                <a:schemeClr val="lt1"/>
              </a:solidFill>
              <a:effectLst/>
              <a:uFillTx/>
              <a:latin typeface="Calibri"/>
            </a:endParaRPr>
          </a:p>
        </p:txBody>
      </p:sp>
      <p:sp>
        <p:nvSpPr>
          <p:cNvPr id="39" name="TextBox 7"/>
          <p:cNvSpPr/>
          <p:nvPr/>
        </p:nvSpPr>
        <p:spPr>
          <a:xfrm>
            <a:off x="804600" y="2240280"/>
            <a:ext cx="2093400" cy="74304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4000" b="1" u="none" strike="noStrike">
                <a:solidFill>
                  <a:srgbClr val="D7E5D2"/>
                </a:solidFill>
                <a:effectLst/>
                <a:uFillTx/>
                <a:latin typeface="Cambria"/>
                <a:ea typeface="DejaVu Sans"/>
              </a:rPr>
              <a:t>1</a:t>
            </a:r>
            <a:endParaRPr lang="en-US" sz="4000" b="0" u="none" strike="noStrike">
              <a:solidFill>
                <a:srgbClr val="000000"/>
              </a:solidFill>
              <a:effectLst/>
              <a:uFillTx/>
              <a:latin typeface="Arial"/>
            </a:endParaRPr>
          </a:p>
        </p:txBody>
      </p:sp>
      <p:sp>
        <p:nvSpPr>
          <p:cNvPr id="40" name="TextBox 8"/>
          <p:cNvSpPr/>
          <p:nvPr/>
        </p:nvSpPr>
        <p:spPr>
          <a:xfrm>
            <a:off x="804600" y="2971800"/>
            <a:ext cx="2093400" cy="31572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700" b="1" u="none" strike="noStrike">
                <a:solidFill>
                  <a:srgbClr val="2C5530"/>
                </a:solidFill>
                <a:effectLst/>
                <a:uFillTx/>
                <a:latin typeface="Cambria"/>
                <a:ea typeface="DejaVu Sans"/>
              </a:rPr>
              <a:t>Το πρόβλημα</a:t>
            </a:r>
            <a:endParaRPr lang="en-US" sz="1700" b="0" u="none" strike="noStrike">
              <a:solidFill>
                <a:srgbClr val="000000"/>
              </a:solidFill>
              <a:effectLst/>
              <a:uFillTx/>
              <a:latin typeface="Arial"/>
            </a:endParaRPr>
          </a:p>
        </p:txBody>
      </p:sp>
      <p:sp>
        <p:nvSpPr>
          <p:cNvPr id="41" name="TextBox 9"/>
          <p:cNvSpPr/>
          <p:nvPr/>
        </p:nvSpPr>
        <p:spPr>
          <a:xfrm>
            <a:off x="804600" y="3520440"/>
            <a:ext cx="2093400" cy="22248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200" b="0" u="none" strike="noStrike">
                <a:solidFill>
                  <a:srgbClr val="6B6259"/>
                </a:solidFill>
                <a:effectLst/>
                <a:uFillTx/>
                <a:latin typeface="Calibri"/>
                <a:ea typeface="DejaVu Sans"/>
              </a:rPr>
              <a:t>Δεδομένα, στρατηγική ανάπτυξη</a:t>
            </a:r>
            <a:endParaRPr lang="en-US" sz="1200" b="0" u="none" strike="noStrike">
              <a:solidFill>
                <a:srgbClr val="000000"/>
              </a:solidFill>
              <a:effectLst/>
              <a:uFillTx/>
              <a:latin typeface="Arial"/>
            </a:endParaRPr>
          </a:p>
        </p:txBody>
      </p:sp>
      <p:sp>
        <p:nvSpPr>
          <p:cNvPr id="42" name="Rounded Rectangle 10"/>
          <p:cNvSpPr/>
          <p:nvPr/>
        </p:nvSpPr>
        <p:spPr>
          <a:xfrm>
            <a:off x="3376440" y="1920240"/>
            <a:ext cx="2605320" cy="283176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43" name="Rectangle 11"/>
          <p:cNvSpPr/>
          <p:nvPr/>
        </p:nvSpPr>
        <p:spPr>
          <a:xfrm>
            <a:off x="3376440" y="1920240"/>
            <a:ext cx="2605320" cy="7956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37440" rIns="90000" bIns="37440" anchor="ctr">
            <a:noAutofit/>
          </a:bodyPr>
          <a:p>
            <a:pPr/>
            <a:endParaRPr lang="en-US" sz="1800" b="0" u="none" strike="noStrike">
              <a:solidFill>
                <a:schemeClr val="lt1"/>
              </a:solidFill>
              <a:effectLst/>
              <a:uFillTx/>
              <a:latin typeface="Calibri"/>
            </a:endParaRPr>
          </a:p>
        </p:txBody>
      </p:sp>
      <p:sp>
        <p:nvSpPr>
          <p:cNvPr id="44" name="TextBox 12"/>
          <p:cNvSpPr/>
          <p:nvPr/>
        </p:nvSpPr>
        <p:spPr>
          <a:xfrm>
            <a:off x="3632400" y="2240280"/>
            <a:ext cx="2093400" cy="74304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4000" b="1" u="none" strike="noStrike">
                <a:solidFill>
                  <a:srgbClr val="D7E5D2"/>
                </a:solidFill>
                <a:effectLst/>
                <a:uFillTx/>
                <a:latin typeface="Cambria"/>
                <a:ea typeface="DejaVu Sans"/>
              </a:rPr>
              <a:t>2</a:t>
            </a:r>
            <a:endParaRPr lang="en-US" sz="4000" b="0" u="none" strike="noStrike">
              <a:solidFill>
                <a:srgbClr val="000000"/>
              </a:solidFill>
              <a:effectLst/>
              <a:uFillTx/>
              <a:latin typeface="Arial"/>
            </a:endParaRPr>
          </a:p>
        </p:txBody>
      </p:sp>
      <p:sp>
        <p:nvSpPr>
          <p:cNvPr id="45" name="TextBox 13"/>
          <p:cNvSpPr/>
          <p:nvPr/>
        </p:nvSpPr>
        <p:spPr>
          <a:xfrm>
            <a:off x="3632400" y="2971800"/>
            <a:ext cx="2093400" cy="31572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700" b="1" u="none" strike="noStrike">
                <a:solidFill>
                  <a:srgbClr val="2C5530"/>
                </a:solidFill>
                <a:effectLst/>
                <a:uFillTx/>
                <a:latin typeface="Cambria"/>
                <a:ea typeface="DejaVu Sans"/>
              </a:rPr>
              <a:t>Το σύστημα</a:t>
            </a:r>
            <a:endParaRPr lang="en-US" sz="1700" b="0" u="none" strike="noStrike">
              <a:solidFill>
                <a:srgbClr val="000000"/>
              </a:solidFill>
              <a:effectLst/>
              <a:uFillTx/>
              <a:latin typeface="Arial"/>
            </a:endParaRPr>
          </a:p>
        </p:txBody>
      </p:sp>
      <p:sp>
        <p:nvSpPr>
          <p:cNvPr id="46" name="TextBox 14"/>
          <p:cNvSpPr/>
          <p:nvPr/>
        </p:nvSpPr>
        <p:spPr>
          <a:xfrm>
            <a:off x="3632400" y="3520440"/>
            <a:ext cx="2093400" cy="22248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200" b="0" u="none" strike="noStrike">
                <a:solidFill>
                  <a:srgbClr val="6B6259"/>
                </a:solidFill>
                <a:effectLst/>
                <a:uFillTx/>
                <a:latin typeface="Calibri"/>
                <a:ea typeface="DejaVu Sans"/>
              </a:rPr>
              <a:t>Δομή, αρχιτεκτονική, λειτουργία</a:t>
            </a:r>
            <a:endParaRPr lang="en-US" sz="1200" b="0" u="none" strike="noStrike">
              <a:solidFill>
                <a:srgbClr val="000000"/>
              </a:solidFill>
              <a:effectLst/>
              <a:uFillTx/>
              <a:latin typeface="Arial"/>
            </a:endParaRPr>
          </a:p>
        </p:txBody>
      </p:sp>
      <p:sp>
        <p:nvSpPr>
          <p:cNvPr id="47" name="Rounded Rectangle 15"/>
          <p:cNvSpPr/>
          <p:nvPr/>
        </p:nvSpPr>
        <p:spPr>
          <a:xfrm>
            <a:off x="6204240" y="1920240"/>
            <a:ext cx="2605320" cy="283176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48" name="Rectangle 16"/>
          <p:cNvSpPr/>
          <p:nvPr/>
        </p:nvSpPr>
        <p:spPr>
          <a:xfrm>
            <a:off x="6204240" y="1920240"/>
            <a:ext cx="2605320" cy="7956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37440" rIns="90000" bIns="37440" anchor="ctr">
            <a:noAutofit/>
          </a:bodyPr>
          <a:p>
            <a:pPr/>
            <a:endParaRPr lang="en-US" sz="1800" b="0" u="none" strike="noStrike">
              <a:solidFill>
                <a:schemeClr val="lt1"/>
              </a:solidFill>
              <a:effectLst/>
              <a:uFillTx/>
              <a:latin typeface="Calibri"/>
            </a:endParaRPr>
          </a:p>
        </p:txBody>
      </p:sp>
      <p:sp>
        <p:nvSpPr>
          <p:cNvPr id="49" name="TextBox 17"/>
          <p:cNvSpPr/>
          <p:nvPr/>
        </p:nvSpPr>
        <p:spPr>
          <a:xfrm>
            <a:off x="6460200" y="2240280"/>
            <a:ext cx="2093400" cy="74304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4000" b="1" u="none" strike="noStrike">
                <a:solidFill>
                  <a:srgbClr val="D7E5D2"/>
                </a:solidFill>
                <a:effectLst/>
                <a:uFillTx/>
                <a:latin typeface="Cambria"/>
                <a:ea typeface="DejaVu Sans"/>
              </a:rPr>
              <a:t>3</a:t>
            </a:r>
            <a:endParaRPr lang="en-US" sz="4000" b="0" u="none" strike="noStrike">
              <a:solidFill>
                <a:srgbClr val="000000"/>
              </a:solidFill>
              <a:effectLst/>
              <a:uFillTx/>
              <a:latin typeface="Arial"/>
            </a:endParaRPr>
          </a:p>
        </p:txBody>
      </p:sp>
      <p:sp>
        <p:nvSpPr>
          <p:cNvPr id="50" name="TextBox 18"/>
          <p:cNvSpPr/>
          <p:nvPr/>
        </p:nvSpPr>
        <p:spPr>
          <a:xfrm>
            <a:off x="6460200" y="2971800"/>
            <a:ext cx="2093400" cy="31572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700" b="1" u="none" strike="noStrike">
                <a:solidFill>
                  <a:srgbClr val="2C5530"/>
                </a:solidFill>
                <a:effectLst/>
                <a:uFillTx/>
                <a:latin typeface="Cambria"/>
                <a:ea typeface="DejaVu Sans"/>
              </a:rPr>
              <a:t>Τα ευρήματα</a:t>
            </a:r>
            <a:endParaRPr lang="en-US" sz="1700" b="0" u="none" strike="noStrike">
              <a:solidFill>
                <a:srgbClr val="000000"/>
              </a:solidFill>
              <a:effectLst/>
              <a:uFillTx/>
              <a:latin typeface="Arial"/>
            </a:endParaRPr>
          </a:p>
        </p:txBody>
      </p:sp>
      <p:sp>
        <p:nvSpPr>
          <p:cNvPr id="51" name="TextBox 19"/>
          <p:cNvSpPr/>
          <p:nvPr/>
        </p:nvSpPr>
        <p:spPr>
          <a:xfrm>
            <a:off x="6460200" y="3520440"/>
            <a:ext cx="2093400" cy="22248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200" b="0" u="none" strike="noStrike">
                <a:solidFill>
                  <a:srgbClr val="6B6259"/>
                </a:solidFill>
                <a:effectLst/>
                <a:uFillTx/>
                <a:latin typeface="Calibri"/>
                <a:ea typeface="DejaVu Sans"/>
              </a:rPr>
              <a:t>Παρουσίαση και αξιολόγηση</a:t>
            </a:r>
            <a:endParaRPr lang="en-US" sz="1200" b="0" u="none" strike="noStrike">
              <a:solidFill>
                <a:srgbClr val="000000"/>
              </a:solidFill>
              <a:effectLst/>
              <a:uFillTx/>
              <a:latin typeface="Arial"/>
            </a:endParaRPr>
          </a:p>
        </p:txBody>
      </p:sp>
      <p:sp>
        <p:nvSpPr>
          <p:cNvPr id="52" name="Rounded Rectangle 20"/>
          <p:cNvSpPr/>
          <p:nvPr/>
        </p:nvSpPr>
        <p:spPr>
          <a:xfrm>
            <a:off x="9032040" y="1920240"/>
            <a:ext cx="2605320" cy="283176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53" name="Rectangle 21"/>
          <p:cNvSpPr/>
          <p:nvPr/>
        </p:nvSpPr>
        <p:spPr>
          <a:xfrm>
            <a:off x="9032040" y="1920240"/>
            <a:ext cx="2605320" cy="7956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37440" rIns="90000" bIns="37440" anchor="ctr">
            <a:noAutofit/>
          </a:bodyPr>
          <a:p>
            <a:pPr/>
            <a:endParaRPr lang="en-US" sz="1800" b="0" u="none" strike="noStrike">
              <a:solidFill>
                <a:schemeClr val="lt1"/>
              </a:solidFill>
              <a:effectLst/>
              <a:uFillTx/>
              <a:latin typeface="Calibri"/>
            </a:endParaRPr>
          </a:p>
        </p:txBody>
      </p:sp>
      <p:sp>
        <p:nvSpPr>
          <p:cNvPr id="54" name="TextBox 22"/>
          <p:cNvSpPr/>
          <p:nvPr/>
        </p:nvSpPr>
        <p:spPr>
          <a:xfrm>
            <a:off x="9288000" y="2240280"/>
            <a:ext cx="2093400" cy="74304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4000" b="1" u="none" strike="noStrike">
                <a:solidFill>
                  <a:srgbClr val="D7E5D2"/>
                </a:solidFill>
                <a:effectLst/>
                <a:uFillTx/>
                <a:latin typeface="Cambria"/>
                <a:ea typeface="DejaVu Sans"/>
              </a:rPr>
              <a:t>4</a:t>
            </a:r>
            <a:endParaRPr lang="en-US" sz="4000" b="0" u="none" strike="noStrike">
              <a:solidFill>
                <a:srgbClr val="000000"/>
              </a:solidFill>
              <a:effectLst/>
              <a:uFillTx/>
              <a:latin typeface="Arial"/>
            </a:endParaRPr>
          </a:p>
        </p:txBody>
      </p:sp>
      <p:sp>
        <p:nvSpPr>
          <p:cNvPr id="55" name="TextBox 23"/>
          <p:cNvSpPr/>
          <p:nvPr/>
        </p:nvSpPr>
        <p:spPr>
          <a:xfrm>
            <a:off x="9288000" y="2971800"/>
            <a:ext cx="2093400" cy="31572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700" b="1" u="none" strike="noStrike">
                <a:solidFill>
                  <a:srgbClr val="2C5530"/>
                </a:solidFill>
                <a:effectLst/>
                <a:uFillTx/>
                <a:latin typeface="Cambria"/>
                <a:ea typeface="DejaVu Sans"/>
              </a:rPr>
              <a:t>Συμπεράσματα</a:t>
            </a:r>
            <a:endParaRPr lang="en-US" sz="1700" b="0" u="none" strike="noStrike">
              <a:solidFill>
                <a:srgbClr val="000000"/>
              </a:solidFill>
              <a:effectLst/>
              <a:uFillTx/>
              <a:latin typeface="Arial"/>
            </a:endParaRPr>
          </a:p>
        </p:txBody>
      </p:sp>
      <p:sp>
        <p:nvSpPr>
          <p:cNvPr id="56" name="TextBox 24"/>
          <p:cNvSpPr/>
          <p:nvPr/>
        </p:nvSpPr>
        <p:spPr>
          <a:xfrm>
            <a:off x="9288000" y="3520440"/>
            <a:ext cx="2093400" cy="22248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200" b="0" u="none" strike="noStrike">
                <a:solidFill>
                  <a:srgbClr val="6B6259"/>
                </a:solidFill>
                <a:effectLst/>
                <a:uFillTx/>
                <a:latin typeface="Calibri"/>
                <a:ea typeface="DejaVu Sans"/>
              </a:rPr>
              <a:t>Προστιθέμενη αξία</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 name="Rectangle 1"/>
          <p:cNvSpPr/>
          <p:nvPr/>
        </p:nvSpPr>
        <p:spPr>
          <a:xfrm>
            <a:off x="0" y="0"/>
            <a:ext cx="12188880" cy="685512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58" name="TextBox 2"/>
          <p:cNvSpPr/>
          <p:nvPr/>
        </p:nvSpPr>
        <p:spPr>
          <a:xfrm>
            <a:off x="548640" y="1600200"/>
            <a:ext cx="11088720" cy="178200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59" name="TextBox 3"/>
          <p:cNvSpPr/>
          <p:nvPr/>
        </p:nvSpPr>
        <p:spPr>
          <a:xfrm>
            <a:off x="548640" y="2971800"/>
            <a:ext cx="11088720" cy="7430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000" b="1" u="none" strike="noStrike">
                <a:solidFill>
                  <a:srgbClr val="E8A33D"/>
                </a:solidFill>
                <a:effectLst/>
                <a:uFillTx/>
                <a:latin typeface="Calibri"/>
                <a:ea typeface="DejaVu Sans"/>
              </a:rPr>
              <a:t>1η ΕΝΟΤΗΤΑ</a:t>
            </a:r>
            <a:endParaRPr lang="en-US" sz="4000" b="0" u="none" strike="noStrike">
              <a:solidFill>
                <a:srgbClr val="000000"/>
              </a:solidFill>
              <a:effectLst/>
              <a:uFillTx/>
              <a:latin typeface="Arial"/>
            </a:endParaRPr>
          </a:p>
        </p:txBody>
      </p:sp>
      <p:sp>
        <p:nvSpPr>
          <p:cNvPr id="60" name="TextBox 4"/>
          <p:cNvSpPr/>
          <p:nvPr/>
        </p:nvSpPr>
        <p:spPr>
          <a:xfrm>
            <a:off x="548640" y="3803760"/>
            <a:ext cx="11088720" cy="817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400" b="1" u="none" strike="noStrike">
                <a:solidFill>
                  <a:srgbClr val="FFFFFF"/>
                </a:solidFill>
                <a:effectLst/>
                <a:uFillTx/>
                <a:latin typeface="Cambria"/>
                <a:ea typeface="DejaVu Sans"/>
              </a:rPr>
              <a:t>Το πρόβλημα</a:t>
            </a:r>
            <a:endParaRPr lang="en-US" sz="4400" b="0" u="none" strike="noStrike">
              <a:solidFill>
                <a:srgbClr val="000000"/>
              </a:solidFill>
              <a:effectLst/>
              <a:uFillTx/>
              <a:latin typeface="Arial"/>
            </a:endParaRPr>
          </a:p>
        </p:txBody>
      </p:sp>
      <p:sp>
        <p:nvSpPr>
          <p:cNvPr id="61" name="TextBox 5"/>
          <p:cNvSpPr/>
          <p:nvPr/>
        </p:nvSpPr>
        <p:spPr>
          <a:xfrm>
            <a:off x="548640" y="4645080"/>
            <a:ext cx="11088720" cy="27648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62" name="TextBox 6"/>
          <p:cNvSpPr/>
          <p:nvPr/>
        </p:nvSpPr>
        <p:spPr>
          <a:xfrm>
            <a:off x="548640" y="6473880"/>
            <a:ext cx="5483520" cy="16560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63" name="TextBox 7"/>
          <p:cNvSpPr/>
          <p:nvPr/>
        </p:nvSpPr>
        <p:spPr>
          <a:xfrm>
            <a:off x="11094480" y="6473880"/>
            <a:ext cx="545760" cy="16740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D7E5D2"/>
                </a:solidFill>
                <a:effectLst/>
                <a:uFillTx/>
                <a:latin typeface="Calibri"/>
                <a:ea typeface="DejaVu Sans"/>
              </a:rPr>
              <a:t>3</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TextBox 1"/>
          <p:cNvSpPr/>
          <p:nvPr/>
        </p:nvSpPr>
        <p:spPr>
          <a:xfrm>
            <a:off x="548640" y="457200"/>
            <a:ext cx="1108872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ΤΟ ΠΡΟΒΛΗΜΑ</a:t>
            </a:r>
            <a:endParaRPr lang="en-US" sz="1200" b="0" u="none" strike="noStrike">
              <a:solidFill>
                <a:srgbClr val="000000"/>
              </a:solidFill>
              <a:effectLst/>
              <a:uFillTx/>
              <a:latin typeface="Arial"/>
            </a:endParaRPr>
          </a:p>
        </p:txBody>
      </p:sp>
      <p:sp>
        <p:nvSpPr>
          <p:cNvPr id="65" name="TextBox 2"/>
          <p:cNvSpPr/>
          <p:nvPr/>
        </p:nvSpPr>
        <p:spPr>
          <a:xfrm>
            <a:off x="548640" y="749880"/>
            <a:ext cx="11088720" cy="5572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Αξιοποίηση των δεδομένων</a:t>
            </a:r>
            <a:endParaRPr lang="en-US" sz="3000" b="0" u="none" strike="noStrike">
              <a:solidFill>
                <a:srgbClr val="000000"/>
              </a:solidFill>
              <a:effectLst/>
              <a:uFillTx/>
              <a:latin typeface="Arial"/>
            </a:endParaRPr>
          </a:p>
        </p:txBody>
      </p:sp>
      <p:sp>
        <p:nvSpPr>
          <p:cNvPr id="66" name="TextBox 3"/>
          <p:cNvSpPr/>
          <p:nvPr/>
        </p:nvSpPr>
        <p:spPr>
          <a:xfrm>
            <a:off x="548640" y="6473880"/>
            <a:ext cx="3654720" cy="27144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67" name="TextBox 4"/>
          <p:cNvSpPr/>
          <p:nvPr/>
        </p:nvSpPr>
        <p:spPr>
          <a:xfrm>
            <a:off x="11094480" y="6473880"/>
            <a:ext cx="545760" cy="16740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4</a:t>
            </a:r>
            <a:endParaRPr lang="en-US" sz="900" b="0" u="none" strike="noStrike">
              <a:solidFill>
                <a:srgbClr val="000000"/>
              </a:solidFill>
              <a:effectLst/>
              <a:uFillTx/>
              <a:latin typeface="Arial"/>
            </a:endParaRPr>
          </a:p>
        </p:txBody>
      </p:sp>
      <p:sp>
        <p:nvSpPr>
          <p:cNvPr id="68" name="TextBox 5"/>
          <p:cNvSpPr/>
          <p:nvPr/>
        </p:nvSpPr>
        <p:spPr>
          <a:xfrm>
            <a:off x="548640" y="2286000"/>
            <a:ext cx="5346360" cy="2874600"/>
          </a:xfrm>
          <a:prstGeom prst="rect">
            <a:avLst/>
          </a:prstGeom>
          <a:noFill/>
          <a:ln w="0">
            <a:noFill/>
          </a:ln>
        </p:spPr>
        <p:style>
          <a:lnRef idx="0"/>
          <a:fillRef idx="0"/>
          <a:effectRef idx="0"/>
          <a:fontRef idx="minor"/>
        </p:style>
        <p:txBody>
          <a:bodyPr lIns="0" tIns="0" rIns="0" bIns="0" anchor="t">
            <a:spAutoFit/>
          </a:bodyPr>
          <a:p>
            <a:pPr defTabSz="457200">
              <a:lnSpc>
                <a:spcPts val="2599"/>
              </a:lnSpc>
              <a:spcAft>
                <a:spcPts val="799"/>
              </a:spcAft>
            </a:pPr>
            <a:r>
              <a:rPr lang="en-US" sz="2000" b="0" u="none" strike="noStrike">
                <a:solidFill>
                  <a:srgbClr val="224B12"/>
                </a:solidFill>
                <a:effectLst/>
                <a:uFillTx/>
                <a:latin typeface="Calibri"/>
                <a:ea typeface="DejaVu Sans"/>
              </a:rPr>
              <a:t>- </a:t>
            </a:r>
            <a:r>
              <a:rPr lang="en-US" sz="2589" b="0" u="none" strike="noStrike" baseline="7000">
                <a:solidFill>
                  <a:srgbClr val="241F1B"/>
                </a:solidFill>
                <a:effectLst/>
                <a:uFillTx/>
                <a:latin typeface="Calibri"/>
                <a:ea typeface="GoogleSansFlex-Regular_opsz110000_wdth5C0000_wght1540000_GRAD_ROND_slnt"/>
              </a:rPr>
              <a:t>Τα e-shops καταγράφουν τεράστιους όγκους δεδομένων, παραγγελίες, προϊόντα, επιστροφές.</a:t>
            </a:r>
            <a:endParaRPr lang="en-US" sz="2590" b="0" u="none" strike="noStrike">
              <a:solidFill>
                <a:srgbClr val="000000"/>
              </a:solidFill>
              <a:effectLst/>
              <a:uFillTx/>
              <a:latin typeface="Arial"/>
            </a:endParaRPr>
          </a:p>
          <a:p>
            <a:pPr defTabSz="457200">
              <a:lnSpc>
                <a:spcPts val="2599"/>
              </a:lnSpc>
              <a:spcAft>
                <a:spcPts val="799"/>
              </a:spcAft>
            </a:pPr>
            <a:r>
              <a:rPr lang="en-US" sz="2000" b="0" u="none" strike="noStrike">
                <a:solidFill>
                  <a:srgbClr val="224B12"/>
                </a:solidFill>
                <a:effectLst/>
                <a:uFillTx/>
                <a:latin typeface="Calibri"/>
                <a:ea typeface="DejaVu Sans"/>
              </a:rPr>
              <a:t>- </a:t>
            </a:r>
            <a:r>
              <a:rPr lang="en-US" sz="2589" b="0" u="none" strike="noStrike" baseline="7000">
                <a:solidFill>
                  <a:srgbClr val="241F1B"/>
                </a:solidFill>
                <a:effectLst/>
                <a:uFillTx/>
                <a:latin typeface="Calibri"/>
                <a:ea typeface="GoogleSansFlex-Regular_opsz110000_wdth5C0000_wght1540000_GRAD_ROND_slnt"/>
              </a:rPr>
              <a:t>Τα τμήματα marketing και πωλήσεων συχνά δεν αξιοποιούν αυτή την πληροφορία στη λήψη αποφάσεων.</a:t>
            </a:r>
            <a:endParaRPr lang="en-US" sz="2590" b="0" u="none" strike="noStrike">
              <a:solidFill>
                <a:srgbClr val="000000"/>
              </a:solidFill>
              <a:effectLst/>
              <a:uFillTx/>
              <a:latin typeface="Arial"/>
            </a:endParaRPr>
          </a:p>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2589" b="1" u="none" strike="noStrike" baseline="7000">
                <a:solidFill>
                  <a:srgbClr val="241F1B"/>
                </a:solidFill>
                <a:effectLst/>
                <a:uFillTx/>
                <a:latin typeface="Calibri"/>
                <a:ea typeface="GoogleSansFlex-Regular_opsz110000_wdth5C0000_wght1540000_GRAD_ROND_slnt"/>
              </a:rPr>
              <a:t>Η παρούσα διπλωματική εργασία προτείνει έναν γρήγορο, αποδοτικό και προσιτό τρόπο αξιοποίησης αυτών των δεδομένων.</a:t>
            </a:r>
            <a:endParaRPr lang="en-US" sz="2590" b="0" u="none" strike="noStrike">
              <a:solidFill>
                <a:srgbClr val="000000"/>
              </a:solidFill>
              <a:effectLst/>
              <a:uFillTx/>
              <a:latin typeface="Arial"/>
            </a:endParaRPr>
          </a:p>
          <a:p>
            <a:pPr defTabSz="457200">
              <a:lnSpc>
                <a:spcPct val="122000"/>
              </a:lnSpc>
              <a:spcAft>
                <a:spcPts val="901"/>
              </a:spcAft>
            </a:pPr>
            <a:endParaRPr lang="en-US" sz="1500" b="0" u="none" strike="noStrike">
              <a:solidFill>
                <a:srgbClr val="000000"/>
              </a:solidFill>
              <a:effectLst/>
              <a:uFillTx/>
              <a:latin typeface="Arial"/>
            </a:endParaRPr>
          </a:p>
        </p:txBody>
      </p:sp>
      <p:sp>
        <p:nvSpPr>
          <p:cNvPr id="69" name="Rounded Rectangle 6"/>
          <p:cNvSpPr/>
          <p:nvPr/>
        </p:nvSpPr>
        <p:spPr>
          <a:xfrm>
            <a:off x="6291000" y="2116800"/>
            <a:ext cx="5346360" cy="104868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70" name="TextBox 7"/>
          <p:cNvSpPr/>
          <p:nvPr/>
        </p:nvSpPr>
        <p:spPr>
          <a:xfrm>
            <a:off x="6519600" y="2281320"/>
            <a:ext cx="4889160" cy="25020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350" b="1" u="none" strike="noStrike">
                <a:solidFill>
                  <a:srgbClr val="2C5530"/>
                </a:solidFill>
                <a:effectLst/>
                <a:uFillTx/>
                <a:latin typeface="Cambria"/>
                <a:ea typeface="DejaVu Sans"/>
              </a:rPr>
              <a:t>ΤΙ ΕΧΟΥΜΕ</a:t>
            </a:r>
            <a:endParaRPr lang="en-US" sz="1350" b="0" u="none" strike="noStrike">
              <a:solidFill>
                <a:srgbClr val="000000"/>
              </a:solidFill>
              <a:effectLst/>
              <a:uFillTx/>
              <a:latin typeface="Arial"/>
            </a:endParaRPr>
          </a:p>
        </p:txBody>
      </p:sp>
      <p:sp>
        <p:nvSpPr>
          <p:cNvPr id="71" name="TextBox 8"/>
          <p:cNvSpPr/>
          <p:nvPr/>
        </p:nvSpPr>
        <p:spPr>
          <a:xfrm>
            <a:off x="6519600" y="2619720"/>
            <a:ext cx="4889160" cy="25992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400" b="0" u="none" strike="noStrike">
                <a:solidFill>
                  <a:srgbClr val="241F1B"/>
                </a:solidFill>
                <a:effectLst/>
                <a:uFillTx/>
                <a:latin typeface="Calibri"/>
                <a:ea typeface="DejaVu Sans"/>
              </a:rPr>
              <a:t>Πλήρεςιστορικό και δεδομένα πωλήσεων/επιστροφών</a:t>
            </a:r>
            <a:endParaRPr lang="en-US" sz="1400" b="0" u="none" strike="noStrike">
              <a:solidFill>
                <a:srgbClr val="000000"/>
              </a:solidFill>
              <a:effectLst/>
              <a:uFillTx/>
              <a:latin typeface="Arial"/>
            </a:endParaRPr>
          </a:p>
        </p:txBody>
      </p:sp>
      <p:sp>
        <p:nvSpPr>
          <p:cNvPr id="72" name="Rounded Rectangle 9"/>
          <p:cNvSpPr/>
          <p:nvPr/>
        </p:nvSpPr>
        <p:spPr>
          <a:xfrm>
            <a:off x="6291000" y="3351240"/>
            <a:ext cx="5346360" cy="1048680"/>
          </a:xfrm>
          <a:prstGeom prst="roundRect">
            <a:avLst>
              <a:gd name="adj" fmla="val 16667"/>
            </a:avLst>
          </a:prstGeom>
          <a:solidFill>
            <a:srgbClr val="FFFFFF"/>
          </a:solidFill>
          <a:ln w="9360">
            <a:solidFill>
              <a:srgbClr val="376092"/>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73" name="TextBox 10"/>
          <p:cNvSpPr/>
          <p:nvPr/>
        </p:nvSpPr>
        <p:spPr>
          <a:xfrm>
            <a:off x="6519600" y="3515760"/>
            <a:ext cx="4889160" cy="25020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350" b="1" u="none" strike="noStrike">
                <a:solidFill>
                  <a:srgbClr val="B0413E"/>
                </a:solidFill>
                <a:effectLst/>
                <a:uFillTx/>
                <a:latin typeface="Cambria"/>
                <a:ea typeface="DejaVu Sans"/>
              </a:rPr>
              <a:t>ΤΟ ΚΕΝΟ</a:t>
            </a:r>
            <a:endParaRPr lang="en-US" sz="1350" b="0" u="none" strike="noStrike">
              <a:solidFill>
                <a:srgbClr val="000000"/>
              </a:solidFill>
              <a:effectLst/>
              <a:uFillTx/>
              <a:latin typeface="Arial"/>
            </a:endParaRPr>
          </a:p>
        </p:txBody>
      </p:sp>
      <p:sp>
        <p:nvSpPr>
          <p:cNvPr id="74" name="TextBox 11"/>
          <p:cNvSpPr/>
          <p:nvPr/>
        </p:nvSpPr>
        <p:spPr>
          <a:xfrm>
            <a:off x="6519600" y="3854160"/>
            <a:ext cx="4889160" cy="25992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400" b="0" u="none" strike="noStrike">
                <a:solidFill>
                  <a:srgbClr val="B0413E"/>
                </a:solidFill>
                <a:effectLst/>
                <a:uFillTx/>
                <a:latin typeface="Calibri"/>
                <a:ea typeface="DejaVu Sans"/>
              </a:rPr>
              <a:t>Αποφάσεις χωρίς αξιοποίηση των πληροφοριών</a:t>
            </a:r>
            <a:endParaRPr lang="en-US" sz="1400" b="0" u="none" strike="noStrike">
              <a:solidFill>
                <a:srgbClr val="000000"/>
              </a:solidFill>
              <a:effectLst/>
              <a:uFillTx/>
              <a:latin typeface="Arial"/>
            </a:endParaRPr>
          </a:p>
        </p:txBody>
      </p:sp>
      <p:sp>
        <p:nvSpPr>
          <p:cNvPr id="75" name="Rounded Rectangle 12"/>
          <p:cNvSpPr/>
          <p:nvPr/>
        </p:nvSpPr>
        <p:spPr>
          <a:xfrm>
            <a:off x="6291000" y="4585680"/>
            <a:ext cx="5346360" cy="1048680"/>
          </a:xfrm>
          <a:prstGeom prst="roundRect">
            <a:avLst>
              <a:gd name="adj" fmla="val 16667"/>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76" name="TextBox 13"/>
          <p:cNvSpPr/>
          <p:nvPr/>
        </p:nvSpPr>
        <p:spPr>
          <a:xfrm>
            <a:off x="6519600" y="4750200"/>
            <a:ext cx="4889160" cy="25020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350" b="1" u="none" strike="noStrike">
                <a:solidFill>
                  <a:srgbClr val="FFFFFF"/>
                </a:solidFill>
                <a:effectLst/>
                <a:uFillTx/>
                <a:latin typeface="Cambria"/>
                <a:ea typeface="DejaVu Sans"/>
              </a:rPr>
              <a:t>ΤΙ ΘΕΛΟΥΜΕ</a:t>
            </a:r>
            <a:endParaRPr lang="en-US" sz="1350" b="0" u="none" strike="noStrike">
              <a:solidFill>
                <a:srgbClr val="000000"/>
              </a:solidFill>
              <a:effectLst/>
              <a:uFillTx/>
              <a:latin typeface="Arial"/>
            </a:endParaRPr>
          </a:p>
        </p:txBody>
      </p:sp>
      <p:sp>
        <p:nvSpPr>
          <p:cNvPr id="77" name="TextBox 14"/>
          <p:cNvSpPr/>
          <p:nvPr/>
        </p:nvSpPr>
        <p:spPr>
          <a:xfrm>
            <a:off x="6519600" y="5088600"/>
            <a:ext cx="4889160" cy="25992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400" b="0" u="none" strike="noStrike">
                <a:solidFill>
                  <a:srgbClr val="D7E5D2"/>
                </a:solidFill>
                <a:effectLst/>
                <a:uFillTx/>
                <a:latin typeface="Calibri"/>
                <a:ea typeface="DejaVu Sans"/>
              </a:rPr>
              <a:t>Αποφάσεις που στηρίζονται στα δεδομένα</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 name="TextBox 1"/>
          <p:cNvSpPr/>
          <p:nvPr/>
        </p:nvSpPr>
        <p:spPr>
          <a:xfrm>
            <a:off x="548640" y="457200"/>
            <a:ext cx="1108872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ΟΙ ΣΤΟΧΟΙ</a:t>
            </a:r>
            <a:endParaRPr lang="en-US" sz="1200" b="0" u="none" strike="noStrike">
              <a:solidFill>
                <a:srgbClr val="000000"/>
              </a:solidFill>
              <a:effectLst/>
              <a:uFillTx/>
              <a:latin typeface="Arial"/>
            </a:endParaRPr>
          </a:p>
        </p:txBody>
      </p:sp>
      <p:sp>
        <p:nvSpPr>
          <p:cNvPr id="79" name="TextBox 2"/>
          <p:cNvSpPr/>
          <p:nvPr/>
        </p:nvSpPr>
        <p:spPr>
          <a:xfrm>
            <a:off x="548640" y="749880"/>
            <a:ext cx="11088720" cy="5572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7 ερωτήματα που καλούνται να απαντήσουν οι επιχειρήσεις</a:t>
            </a:r>
            <a:endParaRPr lang="en-US" sz="3000" b="0" u="none" strike="noStrike">
              <a:solidFill>
                <a:srgbClr val="000000"/>
              </a:solidFill>
              <a:effectLst/>
              <a:uFillTx/>
              <a:latin typeface="Arial"/>
            </a:endParaRPr>
          </a:p>
        </p:txBody>
      </p:sp>
      <p:sp>
        <p:nvSpPr>
          <p:cNvPr id="80" name="TextBox 3"/>
          <p:cNvSpPr/>
          <p:nvPr/>
        </p:nvSpPr>
        <p:spPr>
          <a:xfrm>
            <a:off x="548640" y="6473880"/>
            <a:ext cx="3654720" cy="16560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81" name="TextBox 4"/>
          <p:cNvSpPr/>
          <p:nvPr/>
        </p:nvSpPr>
        <p:spPr>
          <a:xfrm>
            <a:off x="11094480" y="6473880"/>
            <a:ext cx="545760" cy="16740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5</a:t>
            </a:r>
            <a:endParaRPr lang="en-US" sz="900" b="0" u="none" strike="noStrike">
              <a:solidFill>
                <a:srgbClr val="000000"/>
              </a:solidFill>
              <a:effectLst/>
              <a:uFillTx/>
              <a:latin typeface="Arial"/>
            </a:endParaRPr>
          </a:p>
        </p:txBody>
      </p:sp>
      <p:sp>
        <p:nvSpPr>
          <p:cNvPr id="82" name="TextBox 5"/>
          <p:cNvSpPr/>
          <p:nvPr/>
        </p:nvSpPr>
        <p:spPr>
          <a:xfrm>
            <a:off x="548640" y="6157080"/>
            <a:ext cx="11088720" cy="25884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83" name="TextBox 7"/>
          <p:cNvSpPr/>
          <p:nvPr/>
        </p:nvSpPr>
        <p:spPr>
          <a:xfrm>
            <a:off x="548640" y="2191680"/>
            <a:ext cx="491040" cy="29664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600" b="1" u="none" strike="noStrike">
                <a:solidFill>
                  <a:srgbClr val="FFFFFF"/>
                </a:solidFill>
                <a:effectLst/>
                <a:uFillTx/>
                <a:latin typeface="Cambria"/>
                <a:ea typeface="DejaVu Sans"/>
              </a:rPr>
              <a:t>1</a:t>
            </a:r>
            <a:endParaRPr lang="en-US" sz="1600" b="0" u="none" strike="noStrike">
              <a:solidFill>
                <a:srgbClr val="000000"/>
              </a:solidFill>
              <a:effectLst/>
              <a:uFillTx/>
              <a:latin typeface="Arial"/>
            </a:endParaRPr>
          </a:p>
        </p:txBody>
      </p:sp>
      <p:sp>
        <p:nvSpPr>
          <p:cNvPr id="84" name="TextBox 8"/>
          <p:cNvSpPr/>
          <p:nvPr/>
        </p:nvSpPr>
        <p:spPr>
          <a:xfrm>
            <a:off x="581040" y="1907280"/>
            <a:ext cx="7646040" cy="3643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2800" b="0" u="none" strike="noStrike">
                <a:solidFill>
                  <a:srgbClr val="224B12"/>
                </a:solidFill>
                <a:effectLst/>
                <a:uFillTx/>
                <a:latin typeface="Calibri"/>
                <a:ea typeface="DejaVu Sans"/>
              </a:rPr>
              <a:t>1.</a:t>
            </a:r>
            <a:r>
              <a:rPr lang="en-US" sz="2000" b="0" u="none" strike="noStrike">
                <a:solidFill>
                  <a:srgbClr val="241F1B"/>
                </a:solidFill>
                <a:effectLst/>
                <a:uFillTx/>
                <a:latin typeface="Calibri"/>
                <a:ea typeface="DejaVu Sans"/>
              </a:rPr>
              <a:t> Ποια προϊόντα φέρνουν τα περισσότερα έσοδα?</a:t>
            </a:r>
            <a:endParaRPr lang="en-US" sz="2000" b="0" u="none" strike="noStrike">
              <a:solidFill>
                <a:srgbClr val="000000"/>
              </a:solidFill>
              <a:effectLst/>
              <a:uFillTx/>
              <a:latin typeface="Arial"/>
            </a:endParaRPr>
          </a:p>
          <a:p>
            <a:pPr defTabSz="457200">
              <a:lnSpc>
                <a:spcPct val="122000"/>
              </a:lnSpc>
            </a:pPr>
            <a:r>
              <a:rPr lang="en-US" sz="2800" b="0" u="none" strike="noStrike">
                <a:solidFill>
                  <a:srgbClr val="224B12"/>
                </a:solidFill>
                <a:effectLst/>
                <a:uFillTx/>
                <a:latin typeface="Calibri"/>
                <a:ea typeface="DejaVu Sans"/>
              </a:rPr>
              <a:t>2.</a:t>
            </a:r>
            <a:r>
              <a:rPr lang="en-US" sz="2000" b="0" u="none" strike="noStrike">
                <a:solidFill>
                  <a:srgbClr val="241F1B"/>
                </a:solidFill>
                <a:effectLst/>
                <a:uFillTx/>
                <a:latin typeface="Calibri"/>
                <a:ea typeface="DejaVu Sans"/>
              </a:rPr>
              <a:t> Ποιοι πελάτες αγοράζουν τα περισσότερα?</a:t>
            </a:r>
            <a:endParaRPr lang="en-US" sz="2000" b="0" u="none" strike="noStrike">
              <a:solidFill>
                <a:srgbClr val="000000"/>
              </a:solidFill>
              <a:effectLst/>
              <a:uFillTx/>
              <a:latin typeface="Arial"/>
            </a:endParaRPr>
          </a:p>
          <a:p>
            <a:pPr defTabSz="457200">
              <a:lnSpc>
                <a:spcPct val="122000"/>
              </a:lnSpc>
            </a:pPr>
            <a:r>
              <a:rPr lang="en-US" sz="2800" b="0" u="none" strike="noStrike">
                <a:solidFill>
                  <a:srgbClr val="224B12"/>
                </a:solidFill>
                <a:effectLst/>
                <a:uFillTx/>
                <a:latin typeface="Calibri"/>
                <a:ea typeface="DejaVu Sans"/>
              </a:rPr>
              <a:t>3</a:t>
            </a:r>
            <a:r>
              <a:rPr lang="en-US" sz="2800" b="0" u="none" strike="noStrike">
                <a:solidFill>
                  <a:srgbClr val="241F1B"/>
                </a:solidFill>
                <a:effectLst/>
                <a:uFillTx/>
                <a:latin typeface="Calibri"/>
                <a:ea typeface="DejaVu Sans"/>
              </a:rPr>
              <a:t>.</a:t>
            </a:r>
            <a:r>
              <a:rPr lang="en-US" sz="2000" b="0" u="none" strike="noStrike">
                <a:solidFill>
                  <a:srgbClr val="241F1B"/>
                </a:solidFill>
                <a:effectLst/>
                <a:uFillTx/>
                <a:latin typeface="Calibri"/>
                <a:ea typeface="DejaVu Sans"/>
              </a:rPr>
              <a:t> Ποιες περιοχές αγοράζουν τα περισσότερα?</a:t>
            </a:r>
            <a:endParaRPr lang="en-US" sz="2000" b="0" u="none" strike="noStrike">
              <a:solidFill>
                <a:srgbClr val="000000"/>
              </a:solidFill>
              <a:effectLst/>
              <a:uFillTx/>
              <a:latin typeface="Arial"/>
            </a:endParaRPr>
          </a:p>
          <a:p>
            <a:pPr defTabSz="457200">
              <a:lnSpc>
                <a:spcPct val="122000"/>
              </a:lnSpc>
            </a:pPr>
            <a:r>
              <a:rPr lang="en-US" sz="2800" b="0" u="none" strike="noStrike">
                <a:solidFill>
                  <a:srgbClr val="224B12"/>
                </a:solidFill>
                <a:effectLst/>
                <a:uFillTx/>
                <a:latin typeface="Calibri"/>
                <a:ea typeface="DejaVu Sans"/>
              </a:rPr>
              <a:t>4.</a:t>
            </a:r>
            <a:r>
              <a:rPr lang="en-US" sz="2000" b="0" u="none" strike="noStrike">
                <a:solidFill>
                  <a:srgbClr val="241F1B"/>
                </a:solidFill>
                <a:effectLst/>
                <a:uFillTx/>
                <a:latin typeface="Calibri"/>
                <a:ea typeface="DejaVu Sans"/>
              </a:rPr>
              <a:t> Πότε μέσα στον χρόνο γίνονται οι περισσότερες πωλήσεις?</a:t>
            </a:r>
            <a:endParaRPr lang="en-US" sz="2000" b="0" u="none" strike="noStrike">
              <a:solidFill>
                <a:srgbClr val="000000"/>
              </a:solidFill>
              <a:effectLst/>
              <a:uFillTx/>
              <a:latin typeface="Arial"/>
            </a:endParaRPr>
          </a:p>
          <a:p>
            <a:pPr defTabSz="457200">
              <a:lnSpc>
                <a:spcPct val="122000"/>
              </a:lnSpc>
            </a:pPr>
            <a:r>
              <a:rPr lang="en-US" sz="2800" b="0" u="none" strike="noStrike">
                <a:solidFill>
                  <a:srgbClr val="224B12"/>
                </a:solidFill>
                <a:effectLst/>
                <a:uFillTx/>
                <a:latin typeface="Calibri"/>
                <a:ea typeface="Arial Unicode MS"/>
              </a:rPr>
              <a:t>5.</a:t>
            </a:r>
            <a:r>
              <a:rPr lang="en-US" sz="2000" b="0" u="none" strike="noStrike">
                <a:solidFill>
                  <a:srgbClr val="241F1B"/>
                </a:solidFill>
                <a:effectLst/>
                <a:uFillTx/>
                <a:latin typeface="Calibri"/>
                <a:ea typeface="Arial Unicode MS"/>
              </a:rPr>
              <a:t> Ποια προϊόντα επιστρέφονται πιο συχνά?</a:t>
            </a:r>
            <a:br>
              <a:rPr sz="2000"/>
            </a:br>
            <a:r>
              <a:rPr lang="en-US" sz="2800" b="0" u="none" strike="noStrike">
                <a:solidFill>
                  <a:srgbClr val="224B12"/>
                </a:solidFill>
                <a:effectLst/>
                <a:uFillTx/>
                <a:latin typeface="Calibri"/>
                <a:ea typeface="DejaVu Sans"/>
              </a:rPr>
              <a:t>6.</a:t>
            </a:r>
            <a:r>
              <a:rPr lang="en-US" sz="2000" b="0" u="none" strike="noStrike">
                <a:solidFill>
                  <a:srgbClr val="241F1B"/>
                </a:solidFill>
                <a:effectLst/>
                <a:uFillTx/>
                <a:latin typeface="Calibri"/>
                <a:ea typeface="DejaVu Sans"/>
              </a:rPr>
              <a:t> Πώς μοιράζονται οι πωλήσεις ανά τιμή?</a:t>
            </a:r>
            <a:endParaRPr lang="en-US" sz="2000" b="0" u="none" strike="noStrike">
              <a:solidFill>
                <a:srgbClr val="000000"/>
              </a:solidFill>
              <a:effectLst/>
              <a:uFillTx/>
              <a:latin typeface="Arial"/>
            </a:endParaRPr>
          </a:p>
          <a:p>
            <a:pPr defTabSz="457200">
              <a:lnSpc>
                <a:spcPct val="122000"/>
              </a:lnSpc>
            </a:pPr>
            <a:r>
              <a:rPr lang="en-US" sz="2800" b="0" u="none" strike="noStrike">
                <a:solidFill>
                  <a:srgbClr val="224B12"/>
                </a:solidFill>
                <a:effectLst/>
                <a:uFillTx/>
                <a:latin typeface="Calibri"/>
                <a:ea typeface="DejaVu Sans"/>
              </a:rPr>
              <a:t>7.</a:t>
            </a:r>
            <a:r>
              <a:rPr lang="en-US" sz="2000" b="0" u="none" strike="noStrike">
                <a:solidFill>
                  <a:srgbClr val="241F1B"/>
                </a:solidFill>
                <a:effectLst/>
                <a:uFillTx/>
                <a:latin typeface="Calibri"/>
                <a:ea typeface="DejaVu Sans"/>
              </a:rPr>
              <a:t> Πώς μοιράζονται οι πωλήσεις ανά είδος προϊόντος</a:t>
            </a:r>
            <a:endParaRPr lang="en-US" sz="2000" b="0" u="none" strike="noStrike">
              <a:solidFill>
                <a:srgbClr val="000000"/>
              </a:solidFill>
              <a:effectLst/>
              <a:uFillTx/>
              <a:latin typeface="Arial"/>
            </a:endParaRPr>
          </a:p>
        </p:txBody>
      </p:sp>
      <p:sp>
        <p:nvSpPr>
          <p:cNvPr id="85" name="TextBox 10"/>
          <p:cNvSpPr/>
          <p:nvPr/>
        </p:nvSpPr>
        <p:spPr>
          <a:xfrm>
            <a:off x="6231600" y="2191680"/>
            <a:ext cx="491040" cy="29664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600" b="1" u="none" strike="noStrike">
                <a:solidFill>
                  <a:srgbClr val="FFFFFF"/>
                </a:solidFill>
                <a:effectLst/>
                <a:uFillTx/>
                <a:latin typeface="Cambria"/>
                <a:ea typeface="DejaVu Sans"/>
              </a:rPr>
              <a:t>2</a:t>
            </a:r>
            <a:endParaRPr lang="en-US" sz="1600" b="0" u="none" strike="noStrike">
              <a:solidFill>
                <a:srgbClr val="000000"/>
              </a:solidFill>
              <a:effectLst/>
              <a:uFillTx/>
              <a:latin typeface="Arial"/>
            </a:endParaRPr>
          </a:p>
        </p:txBody>
      </p:sp>
      <p:sp>
        <p:nvSpPr>
          <p:cNvPr id="86" name="TextBox 13"/>
          <p:cNvSpPr/>
          <p:nvPr/>
        </p:nvSpPr>
        <p:spPr>
          <a:xfrm>
            <a:off x="548640" y="3033000"/>
            <a:ext cx="491040" cy="29412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87" name="TextBox 14"/>
          <p:cNvSpPr/>
          <p:nvPr/>
        </p:nvSpPr>
        <p:spPr>
          <a:xfrm>
            <a:off x="1225440" y="3042000"/>
            <a:ext cx="4674240" cy="29484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88" name="TextBox 16"/>
          <p:cNvSpPr/>
          <p:nvPr/>
        </p:nvSpPr>
        <p:spPr>
          <a:xfrm>
            <a:off x="6231600" y="3033000"/>
            <a:ext cx="491040" cy="29664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600" b="1" u="none" strike="noStrike">
                <a:solidFill>
                  <a:srgbClr val="FFFFFF"/>
                </a:solidFill>
                <a:effectLst/>
                <a:uFillTx/>
                <a:latin typeface="Cambria"/>
                <a:ea typeface="DejaVu Sans"/>
              </a:rPr>
              <a:t>4</a:t>
            </a:r>
            <a:endParaRPr lang="en-US" sz="1600" b="0" u="none" strike="noStrike">
              <a:solidFill>
                <a:srgbClr val="000000"/>
              </a:solidFill>
              <a:effectLst/>
              <a:uFillTx/>
              <a:latin typeface="Arial"/>
            </a:endParaRPr>
          </a:p>
        </p:txBody>
      </p:sp>
      <p:sp>
        <p:nvSpPr>
          <p:cNvPr id="89" name="TextBox 17"/>
          <p:cNvSpPr/>
          <p:nvPr/>
        </p:nvSpPr>
        <p:spPr>
          <a:xfrm>
            <a:off x="6908400" y="3042000"/>
            <a:ext cx="4674240" cy="59112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90" name="TextBox 19"/>
          <p:cNvSpPr/>
          <p:nvPr/>
        </p:nvSpPr>
        <p:spPr>
          <a:xfrm>
            <a:off x="548640" y="3873960"/>
            <a:ext cx="491040" cy="29664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600" b="1" u="none" strike="noStrike">
                <a:solidFill>
                  <a:srgbClr val="FFFFFF"/>
                </a:solidFill>
                <a:effectLst/>
                <a:uFillTx/>
                <a:latin typeface="Cambria"/>
                <a:ea typeface="DejaVu Sans"/>
              </a:rPr>
              <a:t>5</a:t>
            </a:r>
            <a:endParaRPr lang="en-US" sz="1600" b="0" u="none" strike="noStrike">
              <a:solidFill>
                <a:srgbClr val="000000"/>
              </a:solidFill>
              <a:effectLst/>
              <a:uFillTx/>
              <a:latin typeface="Arial"/>
            </a:endParaRPr>
          </a:p>
        </p:txBody>
      </p:sp>
      <p:sp>
        <p:nvSpPr>
          <p:cNvPr id="91" name="TextBox 20"/>
          <p:cNvSpPr/>
          <p:nvPr/>
        </p:nvSpPr>
        <p:spPr>
          <a:xfrm>
            <a:off x="1225440" y="3883320"/>
            <a:ext cx="4674240" cy="29484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92" name="TextBox 26"/>
          <p:cNvSpPr/>
          <p:nvPr/>
        </p:nvSpPr>
        <p:spPr>
          <a:xfrm>
            <a:off x="1225440" y="4724640"/>
            <a:ext cx="4674240" cy="29484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 name="TextBox 1"/>
          <p:cNvSpPr/>
          <p:nvPr/>
        </p:nvSpPr>
        <p:spPr>
          <a:xfrm>
            <a:off x="548640" y="457200"/>
            <a:ext cx="1108872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ΑΡΧΕΣ ΣΧΕΔΙΑΣΗΣ</a:t>
            </a:r>
            <a:endParaRPr lang="en-US" sz="1200" b="0" u="none" strike="noStrike">
              <a:solidFill>
                <a:srgbClr val="000000"/>
              </a:solidFill>
              <a:effectLst/>
              <a:uFillTx/>
              <a:latin typeface="Arial"/>
            </a:endParaRPr>
          </a:p>
        </p:txBody>
      </p:sp>
      <p:sp>
        <p:nvSpPr>
          <p:cNvPr id="94" name="TextBox 2"/>
          <p:cNvSpPr/>
          <p:nvPr/>
        </p:nvSpPr>
        <p:spPr>
          <a:xfrm>
            <a:off x="548640" y="749880"/>
            <a:ext cx="11088720" cy="5572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Δύο κανόνες</a:t>
            </a:r>
            <a:endParaRPr lang="en-US" sz="3000" b="0" u="none" strike="noStrike">
              <a:solidFill>
                <a:srgbClr val="000000"/>
              </a:solidFill>
              <a:effectLst/>
              <a:uFillTx/>
              <a:latin typeface="Arial"/>
            </a:endParaRPr>
          </a:p>
        </p:txBody>
      </p:sp>
      <p:sp>
        <p:nvSpPr>
          <p:cNvPr id="95" name="TextBox 3"/>
          <p:cNvSpPr/>
          <p:nvPr/>
        </p:nvSpPr>
        <p:spPr>
          <a:xfrm>
            <a:off x="548640" y="6473880"/>
            <a:ext cx="3654720" cy="27144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96" name="TextBox 4"/>
          <p:cNvSpPr/>
          <p:nvPr/>
        </p:nvSpPr>
        <p:spPr>
          <a:xfrm>
            <a:off x="11094480" y="6473880"/>
            <a:ext cx="545760" cy="16740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6</a:t>
            </a:r>
            <a:endParaRPr lang="en-US" sz="900" b="0" u="none" strike="noStrike">
              <a:solidFill>
                <a:srgbClr val="000000"/>
              </a:solidFill>
              <a:effectLst/>
              <a:uFillTx/>
              <a:latin typeface="Arial"/>
            </a:endParaRPr>
          </a:p>
        </p:txBody>
      </p:sp>
      <p:sp>
        <p:nvSpPr>
          <p:cNvPr id="97" name="TextBox 5"/>
          <p:cNvSpPr/>
          <p:nvPr/>
        </p:nvSpPr>
        <p:spPr>
          <a:xfrm>
            <a:off x="548640" y="6157080"/>
            <a:ext cx="11088720" cy="25884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98" name="Rounded Rectangle 6"/>
          <p:cNvSpPr/>
          <p:nvPr/>
        </p:nvSpPr>
        <p:spPr>
          <a:xfrm>
            <a:off x="548640" y="2234880"/>
            <a:ext cx="5451480" cy="210024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99" name="TextBox 7"/>
          <p:cNvSpPr/>
          <p:nvPr/>
        </p:nvSpPr>
        <p:spPr>
          <a:xfrm>
            <a:off x="777240" y="2423160"/>
            <a:ext cx="4994280" cy="3340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800" b="1" u="none" strike="noStrike">
                <a:solidFill>
                  <a:srgbClr val="2C5530"/>
                </a:solidFill>
                <a:effectLst/>
                <a:uFillTx/>
                <a:latin typeface="Cambria"/>
                <a:ea typeface="DejaVu Sans"/>
              </a:rPr>
              <a:t>ΚΑΘΟΛΙΚΟΤΗΤΑ</a:t>
            </a:r>
            <a:endParaRPr lang="en-US" sz="1800" b="0" u="none" strike="noStrike">
              <a:solidFill>
                <a:srgbClr val="000000"/>
              </a:solidFill>
              <a:effectLst/>
              <a:uFillTx/>
              <a:latin typeface="Arial"/>
            </a:endParaRPr>
          </a:p>
        </p:txBody>
      </p:sp>
      <p:sp>
        <p:nvSpPr>
          <p:cNvPr id="100" name="TextBox 8"/>
          <p:cNvSpPr/>
          <p:nvPr/>
        </p:nvSpPr>
        <p:spPr>
          <a:xfrm>
            <a:off x="718200" y="3044160"/>
            <a:ext cx="4994280" cy="7660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2000" b="0" u="none" strike="noStrike">
                <a:solidFill>
                  <a:srgbClr val="241F1B"/>
                </a:solidFill>
                <a:effectLst/>
                <a:uFillTx/>
                <a:latin typeface="Calibri"/>
                <a:ea typeface="DejaVu Sans"/>
              </a:rPr>
              <a:t>-</a:t>
            </a:r>
            <a:r>
              <a:rPr lang="en-US" sz="1600" b="0" u="none" strike="noStrike">
                <a:solidFill>
                  <a:srgbClr val="241F1B"/>
                </a:solidFill>
                <a:effectLst/>
                <a:uFillTx/>
                <a:latin typeface="Calibri"/>
                <a:ea typeface="DejaVu Sans"/>
              </a:rPr>
              <a:t> Πρόκειται για ένα σύστημα γενικής εφαρμογής.</a:t>
            </a:r>
            <a:endParaRPr lang="en-US" sz="1600" b="0" u="none" strike="noStrike">
              <a:solidFill>
                <a:srgbClr val="000000"/>
              </a:solidFill>
              <a:effectLst/>
              <a:uFillTx/>
              <a:latin typeface="Arial"/>
            </a:endParaRPr>
          </a:p>
          <a:p>
            <a:pPr defTabSz="457200">
              <a:lnSpc>
                <a:spcPct val="122000"/>
              </a:lnSpc>
            </a:pPr>
            <a:r>
              <a:rPr lang="en-US" sz="3450" b="0" u="none" strike="noStrike" baseline="8000">
                <a:solidFill>
                  <a:srgbClr val="241F1B"/>
                </a:solidFill>
                <a:effectLst/>
                <a:uFillTx/>
                <a:latin typeface="Calibri"/>
                <a:ea typeface="GoogleSansFlex-Regular_opsz110000_wdth5C0000_wght1540000_GRAD_ROND_slnt"/>
              </a:rPr>
              <a:t>-</a:t>
            </a:r>
            <a:r>
              <a:rPr lang="en-US" sz="2758" b="0" u="none" strike="noStrike" baseline="8000">
                <a:solidFill>
                  <a:srgbClr val="241F1B"/>
                </a:solidFill>
                <a:effectLst/>
                <a:uFillTx/>
                <a:latin typeface="Calibri"/>
                <a:ea typeface="GoogleSansFlex-Regular_opsz110000_wdth5C0000_wght1540000_GRAD_ROND_slnt"/>
              </a:rPr>
              <a:t> Δεν είναι περιορισμένο σε ένα μόνο κατάστημα.</a:t>
            </a:r>
            <a:endParaRPr lang="en-US" sz="2760" b="0" u="none" strike="noStrike">
              <a:solidFill>
                <a:srgbClr val="000000"/>
              </a:solidFill>
              <a:effectLst/>
              <a:uFillTx/>
              <a:latin typeface="Arial"/>
            </a:endParaRPr>
          </a:p>
        </p:txBody>
      </p:sp>
      <p:sp>
        <p:nvSpPr>
          <p:cNvPr id="101" name="Rounded Rectangle 9"/>
          <p:cNvSpPr/>
          <p:nvPr/>
        </p:nvSpPr>
        <p:spPr>
          <a:xfrm>
            <a:off x="6185880" y="2258640"/>
            <a:ext cx="5451480" cy="2100240"/>
          </a:xfrm>
          <a:prstGeom prst="roundRect">
            <a:avLst>
              <a:gd name="adj" fmla="val 16667"/>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02" name="TextBox 10"/>
          <p:cNvSpPr/>
          <p:nvPr/>
        </p:nvSpPr>
        <p:spPr>
          <a:xfrm>
            <a:off x="6414480" y="2423160"/>
            <a:ext cx="4994280" cy="3340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800" b="1" u="none" strike="noStrike">
                <a:solidFill>
                  <a:srgbClr val="FFFFFF"/>
                </a:solidFill>
                <a:effectLst/>
                <a:uFillTx/>
                <a:latin typeface="Cambria"/>
                <a:ea typeface="DejaVu Sans"/>
              </a:rPr>
              <a:t>ΕΙΛΙΚΡΙΝΕΙΑ</a:t>
            </a:r>
            <a:endParaRPr lang="en-US" sz="1800" b="0" u="none" strike="noStrike">
              <a:solidFill>
                <a:srgbClr val="000000"/>
              </a:solidFill>
              <a:effectLst/>
              <a:uFillTx/>
              <a:latin typeface="Arial"/>
            </a:endParaRPr>
          </a:p>
        </p:txBody>
      </p:sp>
      <p:sp>
        <p:nvSpPr>
          <p:cNvPr id="103" name="TextBox 11"/>
          <p:cNvSpPr/>
          <p:nvPr/>
        </p:nvSpPr>
        <p:spPr>
          <a:xfrm>
            <a:off x="6400800" y="2976120"/>
            <a:ext cx="4994280" cy="681480"/>
          </a:xfrm>
          <a:prstGeom prst="rect">
            <a:avLst/>
          </a:prstGeom>
          <a:noFill/>
          <a:ln w="0">
            <a:noFill/>
          </a:ln>
        </p:spPr>
        <p:style>
          <a:lnRef idx="0"/>
          <a:fillRef idx="0"/>
          <a:effectRef idx="0"/>
          <a:fontRef idx="minor"/>
        </p:style>
        <p:txBody>
          <a:bodyPr lIns="0" tIns="0" rIns="0" bIns="0" anchor="t">
            <a:spAutoFit/>
          </a:bodyPr>
          <a:p>
            <a:pPr defTabSz="457200">
              <a:lnSpc>
                <a:spcPct val="100000"/>
              </a:lnSpc>
              <a:spcBef>
                <a:spcPts val="283"/>
              </a:spcBef>
              <a:spcAft>
                <a:spcPts val="283"/>
              </a:spcAft>
            </a:pPr>
            <a:r>
              <a:rPr lang="en-US" sz="2000" b="0" u="none" strike="noStrike">
                <a:solidFill>
                  <a:srgbClr val="D7E5D2"/>
                </a:solidFill>
                <a:effectLst/>
                <a:uFillTx/>
                <a:latin typeface="Calibri"/>
                <a:ea typeface="GoogleSansFlex-Regular_opsz110000_wdth5C0000_wght1540000_GRAD_ROND_slnt"/>
              </a:rPr>
              <a:t>-</a:t>
            </a:r>
            <a:r>
              <a:rPr lang="en-US" sz="1800" b="0" u="none" strike="noStrike">
                <a:solidFill>
                  <a:srgbClr val="D7E5D2"/>
                </a:solidFill>
                <a:effectLst/>
                <a:uFillTx/>
                <a:latin typeface="Calibri"/>
                <a:ea typeface="GoogleSansFlex-Regular_opsz110000_wdth5C0000_wght1540000_GRAD_ROND_slnt"/>
              </a:rPr>
              <a:t> </a:t>
            </a:r>
            <a:r>
              <a:rPr lang="en-US" sz="1600" b="0" u="none" strike="noStrike">
                <a:solidFill>
                  <a:srgbClr val="D7E5D2"/>
                </a:solidFill>
                <a:effectLst/>
                <a:uFillTx/>
                <a:latin typeface="Calibri"/>
                <a:ea typeface="GoogleSansFlex-Regular_opsz110000_wdth5C0000_wght1540000_GRAD_ROND_slnt"/>
              </a:rPr>
              <a:t>Αυστηρή μέτρηση όσων δεδομένων είναι διαθέσιμα.</a:t>
            </a:r>
            <a:endParaRPr lang="en-US" sz="1600" b="0" u="none" strike="noStrike">
              <a:solidFill>
                <a:srgbClr val="000000"/>
              </a:solidFill>
              <a:effectLst/>
              <a:uFillTx/>
              <a:latin typeface="Arial"/>
            </a:endParaRPr>
          </a:p>
          <a:p>
            <a:pPr defTabSz="457200">
              <a:lnSpc>
                <a:spcPct val="100000"/>
              </a:lnSpc>
              <a:spcBef>
                <a:spcPts val="283"/>
              </a:spcBef>
              <a:spcAft>
                <a:spcPts val="283"/>
              </a:spcAft>
            </a:pPr>
            <a:r>
              <a:rPr lang="en-US" sz="2000" b="0" u="none" strike="noStrike">
                <a:solidFill>
                  <a:srgbClr val="D7E5D2"/>
                </a:solidFill>
                <a:effectLst/>
                <a:uFillTx/>
                <a:latin typeface="Calibri"/>
                <a:ea typeface="Arial Unicode MS"/>
              </a:rPr>
              <a:t>-</a:t>
            </a:r>
            <a:r>
              <a:rPr lang="en-US" sz="1600" b="0" u="none" strike="noStrike">
                <a:solidFill>
                  <a:srgbClr val="D7E5D2"/>
                </a:solidFill>
                <a:effectLst/>
                <a:uFillTx/>
                <a:latin typeface="Calibri"/>
                <a:ea typeface="Arial Unicode MS"/>
              </a:rPr>
              <a:t> Χ</a:t>
            </a:r>
            <a:r>
              <a:rPr lang="en-US" sz="1600" b="0" u="none" strike="noStrike">
                <a:solidFill>
                  <a:srgbClr val="D7E5D2"/>
                </a:solidFill>
                <a:effectLst/>
                <a:uFillTx/>
                <a:latin typeface="Calibri"/>
                <a:ea typeface="GoogleSansFlex-Regular_opsz110000_wdth5C0000_wght1540000_GRAD_ROND_slnt"/>
              </a:rPr>
              <a:t>ωρίς εικασίες.</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Rectangle 1"/>
          <p:cNvSpPr/>
          <p:nvPr/>
        </p:nvSpPr>
        <p:spPr>
          <a:xfrm>
            <a:off x="0" y="0"/>
            <a:ext cx="12188880" cy="685512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05" name="TextBox 2"/>
          <p:cNvSpPr/>
          <p:nvPr/>
        </p:nvSpPr>
        <p:spPr>
          <a:xfrm>
            <a:off x="548640" y="1600200"/>
            <a:ext cx="11088720" cy="164304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106" name="TextBox 3"/>
          <p:cNvSpPr/>
          <p:nvPr/>
        </p:nvSpPr>
        <p:spPr>
          <a:xfrm>
            <a:off x="548640" y="2971800"/>
            <a:ext cx="11088720" cy="7430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000" b="1" u="none" strike="noStrike">
                <a:solidFill>
                  <a:srgbClr val="E8A33D"/>
                </a:solidFill>
                <a:effectLst/>
                <a:uFillTx/>
                <a:latin typeface="Calibri"/>
                <a:ea typeface="DejaVu Sans"/>
              </a:rPr>
              <a:t>2η ΕΝΟΤΗΤΑ</a:t>
            </a:r>
            <a:endParaRPr lang="en-US" sz="4000" b="0" u="none" strike="noStrike">
              <a:solidFill>
                <a:srgbClr val="000000"/>
              </a:solidFill>
              <a:effectLst/>
              <a:uFillTx/>
              <a:latin typeface="Arial"/>
            </a:endParaRPr>
          </a:p>
        </p:txBody>
      </p:sp>
      <p:sp>
        <p:nvSpPr>
          <p:cNvPr id="107" name="TextBox 4"/>
          <p:cNvSpPr/>
          <p:nvPr/>
        </p:nvSpPr>
        <p:spPr>
          <a:xfrm>
            <a:off x="548640" y="3803760"/>
            <a:ext cx="11088720" cy="817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400" b="1" u="none" strike="noStrike">
                <a:solidFill>
                  <a:srgbClr val="FFFFFF"/>
                </a:solidFill>
                <a:effectLst/>
                <a:uFillTx/>
                <a:latin typeface="Cambria"/>
                <a:ea typeface="DejaVu Sans"/>
              </a:rPr>
              <a:t>Το σύστημα</a:t>
            </a:r>
            <a:endParaRPr lang="en-US" sz="4400" b="0" u="none" strike="noStrike">
              <a:solidFill>
                <a:srgbClr val="000000"/>
              </a:solidFill>
              <a:effectLst/>
              <a:uFillTx/>
              <a:latin typeface="Arial"/>
            </a:endParaRPr>
          </a:p>
        </p:txBody>
      </p:sp>
      <p:sp>
        <p:nvSpPr>
          <p:cNvPr id="108" name="TextBox 5"/>
          <p:cNvSpPr/>
          <p:nvPr/>
        </p:nvSpPr>
        <p:spPr>
          <a:xfrm>
            <a:off x="548640" y="4645080"/>
            <a:ext cx="11088720" cy="36288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109" name="TextBox 6"/>
          <p:cNvSpPr/>
          <p:nvPr/>
        </p:nvSpPr>
        <p:spPr>
          <a:xfrm>
            <a:off x="548640" y="6473880"/>
            <a:ext cx="5483520" cy="27144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110" name="TextBox 7"/>
          <p:cNvSpPr/>
          <p:nvPr/>
        </p:nvSpPr>
        <p:spPr>
          <a:xfrm>
            <a:off x="11094480" y="6473880"/>
            <a:ext cx="545760" cy="16740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D7E5D2"/>
                </a:solidFill>
                <a:effectLst/>
                <a:uFillTx/>
                <a:latin typeface="Calibri"/>
                <a:ea typeface="DejaVu Sans"/>
              </a:rPr>
              <a:t>7</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1" name="TextBox 1"/>
          <p:cNvSpPr/>
          <p:nvPr/>
        </p:nvSpPr>
        <p:spPr>
          <a:xfrm>
            <a:off x="548640" y="457200"/>
            <a:ext cx="1108872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ΤΟ ΣΥΣΤΗΜΑ</a:t>
            </a:r>
            <a:endParaRPr lang="en-US" sz="1200" b="0" u="none" strike="noStrike">
              <a:solidFill>
                <a:srgbClr val="000000"/>
              </a:solidFill>
              <a:effectLst/>
              <a:uFillTx/>
              <a:latin typeface="Arial"/>
            </a:endParaRPr>
          </a:p>
        </p:txBody>
      </p:sp>
      <p:sp>
        <p:nvSpPr>
          <p:cNvPr id="112" name="TextBox 2"/>
          <p:cNvSpPr/>
          <p:nvPr/>
        </p:nvSpPr>
        <p:spPr>
          <a:xfrm>
            <a:off x="548640" y="749880"/>
            <a:ext cx="11088720" cy="5572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Interfaces και outputs</a:t>
            </a:r>
            <a:endParaRPr lang="en-US" sz="3000" b="0" u="none" strike="noStrike">
              <a:solidFill>
                <a:srgbClr val="000000"/>
              </a:solidFill>
              <a:effectLst/>
              <a:uFillTx/>
              <a:latin typeface="Arial"/>
            </a:endParaRPr>
          </a:p>
        </p:txBody>
      </p:sp>
      <p:sp>
        <p:nvSpPr>
          <p:cNvPr id="113" name="TextBox 4"/>
          <p:cNvSpPr/>
          <p:nvPr/>
        </p:nvSpPr>
        <p:spPr>
          <a:xfrm>
            <a:off x="11094480" y="6473880"/>
            <a:ext cx="545760" cy="16740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8</a:t>
            </a:r>
            <a:endParaRPr lang="en-US" sz="900" b="0" u="none" strike="noStrike">
              <a:solidFill>
                <a:srgbClr val="000000"/>
              </a:solidFill>
              <a:effectLst/>
              <a:uFillTx/>
              <a:latin typeface="Arial"/>
            </a:endParaRPr>
          </a:p>
        </p:txBody>
      </p:sp>
      <p:sp>
        <p:nvSpPr>
          <p:cNvPr id="114" name="Rounded Rectangle 6"/>
          <p:cNvSpPr/>
          <p:nvPr/>
        </p:nvSpPr>
        <p:spPr>
          <a:xfrm>
            <a:off x="512640" y="2452680"/>
            <a:ext cx="5346360" cy="56412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15" name="Rectangle 7"/>
          <p:cNvSpPr/>
          <p:nvPr/>
        </p:nvSpPr>
        <p:spPr>
          <a:xfrm>
            <a:off x="512640" y="2452680"/>
            <a:ext cx="79560" cy="56412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39960" tIns="45000" rIns="39960" bIns="45000" anchor="ctr">
            <a:noAutofit/>
          </a:bodyPr>
          <a:p>
            <a:pPr/>
            <a:endParaRPr lang="en-US" sz="1800" b="0" u="none" strike="noStrike">
              <a:solidFill>
                <a:schemeClr val="lt1"/>
              </a:solidFill>
              <a:effectLst/>
              <a:uFillTx/>
              <a:latin typeface="Calibri"/>
            </a:endParaRPr>
          </a:p>
        </p:txBody>
      </p:sp>
      <p:sp>
        <p:nvSpPr>
          <p:cNvPr id="116" name="TextBox 8"/>
          <p:cNvSpPr/>
          <p:nvPr/>
        </p:nvSpPr>
        <p:spPr>
          <a:xfrm>
            <a:off x="768600" y="2535120"/>
            <a:ext cx="1825920" cy="241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00" b="1" u="none" strike="noStrike">
                <a:solidFill>
                  <a:srgbClr val="2C5530"/>
                </a:solidFill>
                <a:effectLst/>
                <a:uFillTx/>
                <a:latin typeface="Cambria"/>
                <a:ea typeface="DejaVu Sans"/>
              </a:rPr>
              <a:t>API</a:t>
            </a:r>
            <a:endParaRPr lang="en-US" sz="1300" b="0" u="none" strike="noStrike">
              <a:solidFill>
                <a:srgbClr val="000000"/>
              </a:solidFill>
              <a:effectLst/>
              <a:uFillTx/>
              <a:latin typeface="Arial"/>
            </a:endParaRPr>
          </a:p>
        </p:txBody>
      </p:sp>
      <p:sp>
        <p:nvSpPr>
          <p:cNvPr id="117" name="TextBox 9"/>
          <p:cNvSpPr/>
          <p:nvPr/>
        </p:nvSpPr>
        <p:spPr>
          <a:xfrm>
            <a:off x="2615760" y="2553480"/>
            <a:ext cx="301464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0" u="none" strike="noStrike">
                <a:solidFill>
                  <a:srgbClr val="6B6259"/>
                </a:solidFill>
                <a:effectLst/>
                <a:uFillTx/>
                <a:latin typeface="Calibri"/>
                <a:ea typeface="DejaVu Sans"/>
              </a:rPr>
              <a:t>Δέχεται τα αιτήματα</a:t>
            </a:r>
            <a:endParaRPr lang="en-US" sz="1200" b="0" u="none" strike="noStrike">
              <a:solidFill>
                <a:srgbClr val="000000"/>
              </a:solidFill>
              <a:effectLst/>
              <a:uFillTx/>
              <a:latin typeface="Arial"/>
            </a:endParaRPr>
          </a:p>
        </p:txBody>
      </p:sp>
      <p:sp>
        <p:nvSpPr>
          <p:cNvPr id="118" name="Rounded Rectangle 10"/>
          <p:cNvSpPr/>
          <p:nvPr/>
        </p:nvSpPr>
        <p:spPr>
          <a:xfrm>
            <a:off x="512640" y="3129480"/>
            <a:ext cx="5346360" cy="56412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19" name="Rectangle 11"/>
          <p:cNvSpPr/>
          <p:nvPr/>
        </p:nvSpPr>
        <p:spPr>
          <a:xfrm>
            <a:off x="512640" y="3129480"/>
            <a:ext cx="79560" cy="56412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39960" tIns="45000" rIns="39960" bIns="45000" anchor="ctr">
            <a:noAutofit/>
          </a:bodyPr>
          <a:p>
            <a:pPr/>
            <a:endParaRPr lang="en-US" sz="1800" b="0" u="none" strike="noStrike">
              <a:solidFill>
                <a:schemeClr val="lt1"/>
              </a:solidFill>
              <a:effectLst/>
              <a:uFillTx/>
              <a:latin typeface="Calibri"/>
            </a:endParaRPr>
          </a:p>
        </p:txBody>
      </p:sp>
      <p:sp>
        <p:nvSpPr>
          <p:cNvPr id="120" name="TextBox 12"/>
          <p:cNvSpPr/>
          <p:nvPr/>
        </p:nvSpPr>
        <p:spPr>
          <a:xfrm>
            <a:off x="768600" y="3211560"/>
            <a:ext cx="1825920" cy="241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00" b="1" u="none" strike="noStrike">
                <a:solidFill>
                  <a:srgbClr val="2C5530"/>
                </a:solidFill>
                <a:effectLst/>
                <a:uFillTx/>
                <a:latin typeface="Cambria"/>
                <a:ea typeface="DejaVu Sans"/>
              </a:rPr>
              <a:t>Services</a:t>
            </a:r>
            <a:endParaRPr lang="en-US" sz="1300" b="0" u="none" strike="noStrike">
              <a:solidFill>
                <a:srgbClr val="000000"/>
              </a:solidFill>
              <a:effectLst/>
              <a:uFillTx/>
              <a:latin typeface="Arial"/>
            </a:endParaRPr>
          </a:p>
        </p:txBody>
      </p:sp>
      <p:sp>
        <p:nvSpPr>
          <p:cNvPr id="121" name="TextBox 13"/>
          <p:cNvSpPr/>
          <p:nvPr/>
        </p:nvSpPr>
        <p:spPr>
          <a:xfrm>
            <a:off x="2615760" y="3229920"/>
            <a:ext cx="301464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spcBef>
                <a:spcPts val="1191"/>
              </a:spcBef>
              <a:spcAft>
                <a:spcPts val="992"/>
              </a:spcAft>
            </a:pPr>
            <a:r>
              <a:rPr lang="en-US" sz="1200" b="0" u="none" strike="noStrike">
                <a:solidFill>
                  <a:srgbClr val="6B6259"/>
                </a:solidFill>
                <a:effectLst/>
                <a:uFillTx/>
                <a:latin typeface="Calibri"/>
                <a:ea typeface="DejaVu Sans"/>
              </a:rPr>
              <a:t>Επιχειρησιακή λογική</a:t>
            </a:r>
            <a:endParaRPr lang="en-US" sz="1200" b="0" u="none" strike="noStrike">
              <a:solidFill>
                <a:srgbClr val="000000"/>
              </a:solidFill>
              <a:effectLst/>
              <a:uFillTx/>
              <a:latin typeface="Arial"/>
            </a:endParaRPr>
          </a:p>
        </p:txBody>
      </p:sp>
      <p:sp>
        <p:nvSpPr>
          <p:cNvPr id="122" name="Rounded Rectangle 14"/>
          <p:cNvSpPr/>
          <p:nvPr/>
        </p:nvSpPr>
        <p:spPr>
          <a:xfrm>
            <a:off x="512640" y="3805920"/>
            <a:ext cx="5346360" cy="56412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23" name="Rectangle 15"/>
          <p:cNvSpPr/>
          <p:nvPr/>
        </p:nvSpPr>
        <p:spPr>
          <a:xfrm>
            <a:off x="512640" y="3805920"/>
            <a:ext cx="79560" cy="56412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39960" tIns="45000" rIns="39960" bIns="45000" anchor="ctr">
            <a:noAutofit/>
          </a:bodyPr>
          <a:p>
            <a:pPr/>
            <a:endParaRPr lang="en-US" sz="1800" b="0" u="none" strike="noStrike">
              <a:solidFill>
                <a:schemeClr val="lt1"/>
              </a:solidFill>
              <a:effectLst/>
              <a:uFillTx/>
              <a:latin typeface="Calibri"/>
            </a:endParaRPr>
          </a:p>
        </p:txBody>
      </p:sp>
      <p:sp>
        <p:nvSpPr>
          <p:cNvPr id="124" name="TextBox 16"/>
          <p:cNvSpPr/>
          <p:nvPr/>
        </p:nvSpPr>
        <p:spPr>
          <a:xfrm>
            <a:off x="768600" y="3888360"/>
            <a:ext cx="1825920" cy="241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00" b="1" u="none" strike="noStrike">
                <a:solidFill>
                  <a:srgbClr val="2C5530"/>
                </a:solidFill>
                <a:effectLst/>
                <a:uFillTx/>
                <a:latin typeface="Cambria"/>
                <a:ea typeface="DejaVu Sans"/>
              </a:rPr>
              <a:t>Repositories</a:t>
            </a:r>
            <a:endParaRPr lang="en-US" sz="1300" b="0" u="none" strike="noStrike">
              <a:solidFill>
                <a:srgbClr val="000000"/>
              </a:solidFill>
              <a:effectLst/>
              <a:uFillTx/>
              <a:latin typeface="Arial"/>
            </a:endParaRPr>
          </a:p>
        </p:txBody>
      </p:sp>
      <p:sp>
        <p:nvSpPr>
          <p:cNvPr id="125" name="TextBox 17"/>
          <p:cNvSpPr/>
          <p:nvPr/>
        </p:nvSpPr>
        <p:spPr>
          <a:xfrm>
            <a:off x="2615760" y="3906720"/>
            <a:ext cx="301464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0" u="none" strike="noStrike">
                <a:solidFill>
                  <a:srgbClr val="6B6259"/>
                </a:solidFill>
                <a:effectLst/>
                <a:uFillTx/>
                <a:latin typeface="Calibri"/>
                <a:ea typeface="DejaVu Sans"/>
              </a:rPr>
              <a:t>SQL queries</a:t>
            </a:r>
            <a:endParaRPr lang="en-US" sz="1200" b="0" u="none" strike="noStrike">
              <a:solidFill>
                <a:srgbClr val="000000"/>
              </a:solidFill>
              <a:effectLst/>
              <a:uFillTx/>
              <a:latin typeface="Arial"/>
            </a:endParaRPr>
          </a:p>
        </p:txBody>
      </p:sp>
      <p:sp>
        <p:nvSpPr>
          <p:cNvPr id="126" name="Rounded Rectangle 18"/>
          <p:cNvSpPr/>
          <p:nvPr/>
        </p:nvSpPr>
        <p:spPr>
          <a:xfrm>
            <a:off x="512640" y="4482720"/>
            <a:ext cx="5346360" cy="56412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27" name="Rectangle 19"/>
          <p:cNvSpPr/>
          <p:nvPr/>
        </p:nvSpPr>
        <p:spPr>
          <a:xfrm>
            <a:off x="512640" y="4482720"/>
            <a:ext cx="79560" cy="56412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39960" tIns="45000" rIns="39960" bIns="45000" anchor="ctr">
            <a:noAutofit/>
          </a:bodyPr>
          <a:p>
            <a:pPr/>
            <a:endParaRPr lang="en-US" sz="1800" b="0" u="none" strike="noStrike">
              <a:solidFill>
                <a:schemeClr val="lt1"/>
              </a:solidFill>
              <a:effectLst/>
              <a:uFillTx/>
              <a:latin typeface="Calibri"/>
            </a:endParaRPr>
          </a:p>
        </p:txBody>
      </p:sp>
      <p:sp>
        <p:nvSpPr>
          <p:cNvPr id="128" name="TextBox 20"/>
          <p:cNvSpPr/>
          <p:nvPr/>
        </p:nvSpPr>
        <p:spPr>
          <a:xfrm>
            <a:off x="768600" y="4565160"/>
            <a:ext cx="1825920" cy="2415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00" b="1" u="none" strike="noStrike">
                <a:solidFill>
                  <a:srgbClr val="2C5530"/>
                </a:solidFill>
                <a:effectLst/>
                <a:uFillTx/>
                <a:latin typeface="Cambria"/>
                <a:ea typeface="DejaVu Sans"/>
              </a:rPr>
              <a:t>PostgreSQL</a:t>
            </a:r>
            <a:endParaRPr lang="en-US" sz="1300" b="0" u="none" strike="noStrike">
              <a:solidFill>
                <a:srgbClr val="000000"/>
              </a:solidFill>
              <a:effectLst/>
              <a:uFillTx/>
              <a:latin typeface="Arial"/>
            </a:endParaRPr>
          </a:p>
        </p:txBody>
      </p:sp>
      <p:sp>
        <p:nvSpPr>
          <p:cNvPr id="129" name="TextBox 21"/>
          <p:cNvSpPr/>
          <p:nvPr/>
        </p:nvSpPr>
        <p:spPr>
          <a:xfrm>
            <a:off x="2615760" y="4583160"/>
            <a:ext cx="301464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0" u="none" strike="noStrike">
                <a:solidFill>
                  <a:srgbClr val="6B6259"/>
                </a:solidFill>
                <a:effectLst/>
                <a:uFillTx/>
                <a:latin typeface="Calibri"/>
                <a:ea typeface="DejaVu Sans"/>
              </a:rPr>
              <a:t>Βάση δεδομένων</a:t>
            </a:r>
            <a:endParaRPr lang="en-US" sz="1200" b="0" u="none" strike="noStrike">
              <a:solidFill>
                <a:srgbClr val="000000"/>
              </a:solidFill>
              <a:effectLst/>
              <a:uFillTx/>
              <a:latin typeface="Arial"/>
            </a:endParaRPr>
          </a:p>
        </p:txBody>
      </p:sp>
      <p:sp>
        <p:nvSpPr>
          <p:cNvPr id="130" name="Rounded Rectangle 25"/>
          <p:cNvSpPr/>
          <p:nvPr/>
        </p:nvSpPr>
        <p:spPr>
          <a:xfrm>
            <a:off x="6291000" y="1928520"/>
            <a:ext cx="5346360" cy="104868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31" name="TextBox 26"/>
          <p:cNvSpPr/>
          <p:nvPr/>
        </p:nvSpPr>
        <p:spPr>
          <a:xfrm>
            <a:off x="6519600" y="2093040"/>
            <a:ext cx="4889160" cy="250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50" b="1" u="none" strike="noStrike">
                <a:solidFill>
                  <a:srgbClr val="2C5530"/>
                </a:solidFill>
                <a:effectLst/>
                <a:uFillTx/>
                <a:latin typeface="Cambria"/>
                <a:ea typeface="DejaVu Sans"/>
              </a:rPr>
              <a:t>REST API</a:t>
            </a:r>
            <a:endParaRPr lang="en-US" sz="1350" b="0" u="none" strike="noStrike">
              <a:solidFill>
                <a:srgbClr val="000000"/>
              </a:solidFill>
              <a:effectLst/>
              <a:uFillTx/>
              <a:latin typeface="Arial"/>
            </a:endParaRPr>
          </a:p>
        </p:txBody>
      </p:sp>
      <p:sp>
        <p:nvSpPr>
          <p:cNvPr id="132" name="TextBox 27"/>
          <p:cNvSpPr/>
          <p:nvPr/>
        </p:nvSpPr>
        <p:spPr>
          <a:xfrm>
            <a:off x="6519600" y="2431440"/>
            <a:ext cx="4889160" cy="2599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400" b="0" u="none" strike="noStrike">
                <a:solidFill>
                  <a:srgbClr val="241F1B"/>
                </a:solidFill>
                <a:effectLst/>
                <a:uFillTx/>
                <a:latin typeface="Calibri"/>
                <a:ea typeface="DejaVu Sans"/>
              </a:rPr>
              <a:t>JSON response with versioning</a:t>
            </a:r>
            <a:endParaRPr lang="en-US" sz="1400" b="0" u="none" strike="noStrike">
              <a:solidFill>
                <a:srgbClr val="000000"/>
              </a:solidFill>
              <a:effectLst/>
              <a:uFillTx/>
              <a:latin typeface="Arial"/>
            </a:endParaRPr>
          </a:p>
        </p:txBody>
      </p:sp>
      <p:sp>
        <p:nvSpPr>
          <p:cNvPr id="133" name="Rounded Rectangle 28"/>
          <p:cNvSpPr/>
          <p:nvPr/>
        </p:nvSpPr>
        <p:spPr>
          <a:xfrm>
            <a:off x="6291000" y="3162960"/>
            <a:ext cx="5346360" cy="104868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34" name="TextBox 29"/>
          <p:cNvSpPr/>
          <p:nvPr/>
        </p:nvSpPr>
        <p:spPr>
          <a:xfrm>
            <a:off x="6519600" y="3327480"/>
            <a:ext cx="4889160" cy="250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50" b="1" u="none" strike="noStrike">
                <a:solidFill>
                  <a:srgbClr val="2C5530"/>
                </a:solidFill>
                <a:effectLst/>
                <a:uFillTx/>
                <a:latin typeface="Cambria"/>
                <a:ea typeface="DejaVu Sans"/>
              </a:rPr>
              <a:t>METABASE</a:t>
            </a:r>
            <a:endParaRPr lang="en-US" sz="1350" b="0" u="none" strike="noStrike">
              <a:solidFill>
                <a:srgbClr val="000000"/>
              </a:solidFill>
              <a:effectLst/>
              <a:uFillTx/>
              <a:latin typeface="Arial"/>
            </a:endParaRPr>
          </a:p>
        </p:txBody>
      </p:sp>
      <p:sp>
        <p:nvSpPr>
          <p:cNvPr id="135" name="TextBox 30"/>
          <p:cNvSpPr/>
          <p:nvPr/>
        </p:nvSpPr>
        <p:spPr>
          <a:xfrm>
            <a:off x="6519600" y="3665880"/>
            <a:ext cx="4889160" cy="2599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400" b="0" u="none" strike="noStrike">
                <a:solidFill>
                  <a:srgbClr val="241F1B"/>
                </a:solidFill>
                <a:effectLst/>
                <a:uFillTx/>
                <a:latin typeface="Calibri"/>
                <a:ea typeface="DejaVu Sans"/>
              </a:rPr>
              <a:t>Έτοιμοι πίνακες με στατιστικά και αναλύσεις</a:t>
            </a:r>
            <a:endParaRPr lang="en-US" sz="1400" b="0" u="none" strike="noStrike">
              <a:solidFill>
                <a:srgbClr val="000000"/>
              </a:solidFill>
              <a:effectLst/>
              <a:uFillTx/>
              <a:latin typeface="Arial"/>
            </a:endParaRPr>
          </a:p>
        </p:txBody>
      </p:sp>
      <p:sp>
        <p:nvSpPr>
          <p:cNvPr id="136" name="Rounded Rectangle 31"/>
          <p:cNvSpPr/>
          <p:nvPr/>
        </p:nvSpPr>
        <p:spPr>
          <a:xfrm>
            <a:off x="6291000" y="4397400"/>
            <a:ext cx="5346360" cy="104868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37" name="TextBox 32"/>
          <p:cNvSpPr/>
          <p:nvPr/>
        </p:nvSpPr>
        <p:spPr>
          <a:xfrm>
            <a:off x="6519600" y="4561920"/>
            <a:ext cx="4889160" cy="250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50" b="1" u="none" strike="noStrike">
                <a:solidFill>
                  <a:srgbClr val="2C5530"/>
                </a:solidFill>
                <a:effectLst/>
                <a:uFillTx/>
                <a:latin typeface="Cambria"/>
                <a:ea typeface="DejaVu Sans"/>
              </a:rPr>
              <a:t>JUPYTER</a:t>
            </a:r>
            <a:endParaRPr lang="en-US" sz="1350" b="0" u="none" strike="noStrike">
              <a:solidFill>
                <a:srgbClr val="000000"/>
              </a:solidFill>
              <a:effectLst/>
              <a:uFillTx/>
              <a:latin typeface="Arial"/>
            </a:endParaRPr>
          </a:p>
        </p:txBody>
      </p:sp>
      <p:sp>
        <p:nvSpPr>
          <p:cNvPr id="138" name="TextBox 33"/>
          <p:cNvSpPr/>
          <p:nvPr/>
        </p:nvSpPr>
        <p:spPr>
          <a:xfrm>
            <a:off x="6519600" y="4900320"/>
            <a:ext cx="4889160" cy="2599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400" b="0" u="none" strike="noStrike">
                <a:solidFill>
                  <a:srgbClr val="241F1B"/>
                </a:solidFill>
                <a:effectLst/>
                <a:uFillTx/>
                <a:latin typeface="Calibri"/>
                <a:ea typeface="DejaVu Sans"/>
              </a:rPr>
              <a:t>Τα διαγράμματα της διπλωματικής</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 name="TextBox 1"/>
          <p:cNvSpPr/>
          <p:nvPr/>
        </p:nvSpPr>
        <p:spPr>
          <a:xfrm>
            <a:off x="548640" y="457200"/>
            <a:ext cx="1108872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ΤΟ ΣΥΣΤΗΜΑ</a:t>
            </a:r>
            <a:endParaRPr lang="en-US" sz="1200" b="0" u="none" strike="noStrike">
              <a:solidFill>
                <a:srgbClr val="000000"/>
              </a:solidFill>
              <a:effectLst/>
              <a:uFillTx/>
              <a:latin typeface="Arial"/>
            </a:endParaRPr>
          </a:p>
        </p:txBody>
      </p:sp>
      <p:sp>
        <p:nvSpPr>
          <p:cNvPr id="140" name="TextBox 2"/>
          <p:cNvSpPr/>
          <p:nvPr/>
        </p:nvSpPr>
        <p:spPr>
          <a:xfrm>
            <a:off x="548640" y="749880"/>
            <a:ext cx="11088720" cy="5572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Τρόποι εισαγωγής δεδομένων</a:t>
            </a:r>
            <a:endParaRPr lang="en-US" sz="3000" b="0" u="none" strike="noStrike">
              <a:solidFill>
                <a:srgbClr val="000000"/>
              </a:solidFill>
              <a:effectLst/>
              <a:uFillTx/>
              <a:latin typeface="Arial"/>
            </a:endParaRPr>
          </a:p>
        </p:txBody>
      </p:sp>
      <p:sp>
        <p:nvSpPr>
          <p:cNvPr id="141" name="TextBox 4"/>
          <p:cNvSpPr/>
          <p:nvPr/>
        </p:nvSpPr>
        <p:spPr>
          <a:xfrm>
            <a:off x="11094480" y="6473880"/>
            <a:ext cx="545760" cy="16740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9</a:t>
            </a:r>
            <a:endParaRPr lang="en-US" sz="900" b="0" u="none" strike="noStrike">
              <a:solidFill>
                <a:srgbClr val="000000"/>
              </a:solidFill>
              <a:effectLst/>
              <a:uFillTx/>
              <a:latin typeface="Arial"/>
            </a:endParaRPr>
          </a:p>
        </p:txBody>
      </p:sp>
      <p:sp>
        <p:nvSpPr>
          <p:cNvPr id="142" name="Rectangle 6"/>
          <p:cNvSpPr/>
          <p:nvPr/>
        </p:nvSpPr>
        <p:spPr>
          <a:xfrm>
            <a:off x="5715000" y="3312360"/>
            <a:ext cx="4078080" cy="344520"/>
          </a:xfrm>
          <a:prstGeom prst="rect">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43" name="TextBox 7"/>
          <p:cNvSpPr/>
          <p:nvPr/>
        </p:nvSpPr>
        <p:spPr>
          <a:xfrm>
            <a:off x="5806440" y="3394440"/>
            <a:ext cx="238176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 Επιλογές</a:t>
            </a:r>
            <a:endParaRPr lang="en-US" sz="1200" b="0" u="none" strike="noStrike">
              <a:solidFill>
                <a:srgbClr val="000000"/>
              </a:solidFill>
              <a:effectLst/>
              <a:uFillTx/>
              <a:latin typeface="Arial"/>
            </a:endParaRPr>
          </a:p>
        </p:txBody>
      </p:sp>
      <p:sp>
        <p:nvSpPr>
          <p:cNvPr id="144" name="TextBox 8"/>
          <p:cNvSpPr/>
          <p:nvPr/>
        </p:nvSpPr>
        <p:spPr>
          <a:xfrm>
            <a:off x="8373960" y="3394440"/>
            <a:ext cx="141912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Παραμετροποίση</a:t>
            </a:r>
            <a:endParaRPr lang="en-US" sz="1200" b="0" u="none" strike="noStrike">
              <a:solidFill>
                <a:srgbClr val="000000"/>
              </a:solidFill>
              <a:effectLst/>
              <a:uFillTx/>
              <a:latin typeface="Arial"/>
            </a:endParaRPr>
          </a:p>
        </p:txBody>
      </p:sp>
      <p:sp>
        <p:nvSpPr>
          <p:cNvPr id="145" name="TextBox 10"/>
          <p:cNvSpPr/>
          <p:nvPr/>
        </p:nvSpPr>
        <p:spPr>
          <a:xfrm>
            <a:off x="5806440" y="3751200"/>
            <a:ext cx="238176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Batch API requests</a:t>
            </a:r>
            <a:endParaRPr lang="en-US" sz="1250" b="0" u="none" strike="noStrike">
              <a:solidFill>
                <a:srgbClr val="000000"/>
              </a:solidFill>
              <a:effectLst/>
              <a:uFillTx/>
              <a:latin typeface="Arial"/>
            </a:endParaRPr>
          </a:p>
        </p:txBody>
      </p:sp>
      <p:sp>
        <p:nvSpPr>
          <p:cNvPr id="146" name="TextBox 11"/>
          <p:cNvSpPr/>
          <p:nvPr/>
        </p:nvSpPr>
        <p:spPr>
          <a:xfrm>
            <a:off x="8373960" y="3751200"/>
            <a:ext cx="141912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Όχι</a:t>
            </a:r>
            <a:endParaRPr lang="en-US" sz="1250" b="0" u="none" strike="noStrike">
              <a:solidFill>
                <a:srgbClr val="000000"/>
              </a:solidFill>
              <a:effectLst/>
              <a:uFillTx/>
              <a:latin typeface="Arial"/>
            </a:endParaRPr>
          </a:p>
        </p:txBody>
      </p:sp>
      <p:sp>
        <p:nvSpPr>
          <p:cNvPr id="147" name="TextBox 14"/>
          <p:cNvSpPr/>
          <p:nvPr/>
        </p:nvSpPr>
        <p:spPr>
          <a:xfrm>
            <a:off x="5806440" y="4116960"/>
            <a:ext cx="2381760" cy="231840"/>
          </a:xfrm>
          <a:prstGeom prst="rect">
            <a:avLst/>
          </a:prstGeom>
          <a:solidFill>
            <a:srgbClr val="FFFFFF"/>
          </a:solid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Database Reads</a:t>
            </a:r>
            <a:endParaRPr lang="en-US" sz="1250" b="0" u="none" strike="noStrike">
              <a:solidFill>
                <a:srgbClr val="000000"/>
              </a:solidFill>
              <a:effectLst/>
              <a:uFillTx/>
              <a:latin typeface="Arial"/>
            </a:endParaRPr>
          </a:p>
        </p:txBody>
      </p:sp>
      <p:sp>
        <p:nvSpPr>
          <p:cNvPr id="148" name="TextBox 15"/>
          <p:cNvSpPr/>
          <p:nvPr/>
        </p:nvSpPr>
        <p:spPr>
          <a:xfrm>
            <a:off x="8373960" y="4116960"/>
            <a:ext cx="1419120" cy="231840"/>
          </a:xfrm>
          <a:prstGeom prst="rect">
            <a:avLst/>
          </a:prstGeom>
          <a:solidFill>
            <a:srgbClr val="FFFFFF"/>
          </a:solid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Όχι</a:t>
            </a:r>
            <a:endParaRPr lang="en-US" sz="1250" b="0" u="none" strike="noStrike">
              <a:solidFill>
                <a:srgbClr val="000000"/>
              </a:solidFill>
              <a:effectLst/>
              <a:uFillTx/>
              <a:latin typeface="Arial"/>
            </a:endParaRPr>
          </a:p>
        </p:txBody>
      </p:sp>
      <p:sp>
        <p:nvSpPr>
          <p:cNvPr id="149" name="TextBox 17"/>
          <p:cNvSpPr/>
          <p:nvPr/>
        </p:nvSpPr>
        <p:spPr>
          <a:xfrm>
            <a:off x="5806440" y="4482720"/>
            <a:ext cx="238176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Export Αρχείο</a:t>
            </a:r>
            <a:endParaRPr lang="en-US" sz="1250" b="0" u="none" strike="noStrike">
              <a:solidFill>
                <a:srgbClr val="000000"/>
              </a:solidFill>
              <a:effectLst/>
              <a:uFillTx/>
              <a:latin typeface="Arial"/>
            </a:endParaRPr>
          </a:p>
        </p:txBody>
      </p:sp>
      <p:sp>
        <p:nvSpPr>
          <p:cNvPr id="150" name="TextBox 18"/>
          <p:cNvSpPr/>
          <p:nvPr/>
        </p:nvSpPr>
        <p:spPr>
          <a:xfrm>
            <a:off x="8373960" y="4482720"/>
            <a:ext cx="141912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Ναι</a:t>
            </a:r>
            <a:endParaRPr lang="en-US" sz="1250" b="0" u="none" strike="noStrike">
              <a:solidFill>
                <a:srgbClr val="000000"/>
              </a:solidFill>
              <a:effectLst/>
              <a:uFillTx/>
              <a:latin typeface="Arial"/>
            </a:endParaRPr>
          </a:p>
        </p:txBody>
      </p:sp>
      <p:sp>
        <p:nvSpPr>
          <p:cNvPr id="151" name="TextBox 23"/>
          <p:cNvSpPr/>
          <p:nvPr/>
        </p:nvSpPr>
        <p:spPr>
          <a:xfrm>
            <a:off x="457200" y="2057400"/>
            <a:ext cx="5346360" cy="2966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600" b="1" u="none" strike="noStrike">
                <a:solidFill>
                  <a:srgbClr val="E8A33D"/>
                </a:solidFill>
                <a:effectLst/>
                <a:uFillTx/>
                <a:latin typeface="Calibri"/>
                <a:ea typeface="DejaVu Sans"/>
              </a:rPr>
              <a:t>6 ΣΤΑΘΕΡΕΣ ΕΝΝΟΙΕΣ ΓΙΑ ΚΑΘΕ ΕΠΙΧΕΙΡΗΣΗ</a:t>
            </a:r>
            <a:endParaRPr lang="en-US" sz="1600" b="0" u="none" strike="noStrike">
              <a:solidFill>
                <a:srgbClr val="000000"/>
              </a:solidFill>
              <a:effectLst/>
              <a:uFillTx/>
              <a:latin typeface="Arial"/>
            </a:endParaRPr>
          </a:p>
        </p:txBody>
      </p:sp>
      <p:sp>
        <p:nvSpPr>
          <p:cNvPr id="152" name="Rounded Rectangle 24"/>
          <p:cNvSpPr/>
          <p:nvPr/>
        </p:nvSpPr>
        <p:spPr>
          <a:xfrm>
            <a:off x="914400" y="2514600"/>
            <a:ext cx="2607840" cy="38124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53" name="TextBox 25"/>
          <p:cNvSpPr/>
          <p:nvPr/>
        </p:nvSpPr>
        <p:spPr>
          <a:xfrm>
            <a:off x="914400" y="2606040"/>
            <a:ext cx="2607840" cy="2224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200" b="1" u="none" strike="noStrike">
                <a:solidFill>
                  <a:srgbClr val="2C5530"/>
                </a:solidFill>
                <a:effectLst/>
                <a:uFillTx/>
                <a:latin typeface="Calibri"/>
                <a:ea typeface="DejaVu Sans"/>
              </a:rPr>
              <a:t>Πελάτης</a:t>
            </a:r>
            <a:endParaRPr lang="en-US" sz="1200" b="0" u="none" strike="noStrike">
              <a:solidFill>
                <a:srgbClr val="000000"/>
              </a:solidFill>
              <a:effectLst/>
              <a:uFillTx/>
              <a:latin typeface="Arial"/>
            </a:endParaRPr>
          </a:p>
        </p:txBody>
      </p:sp>
      <p:sp>
        <p:nvSpPr>
          <p:cNvPr id="154" name="TextBox 37"/>
          <p:cNvSpPr/>
          <p:nvPr/>
        </p:nvSpPr>
        <p:spPr>
          <a:xfrm>
            <a:off x="6291000" y="3017160"/>
            <a:ext cx="4889160" cy="250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50" b="1" u="none" strike="noStrike">
                <a:solidFill>
                  <a:srgbClr val="FFFFFF"/>
                </a:solidFill>
                <a:effectLst/>
                <a:uFillTx/>
                <a:latin typeface="Cambria"/>
                <a:ea typeface="DejaVu Sans"/>
              </a:rPr>
              <a:t>Η ΑΠΟΔΕΙΞΗ</a:t>
            </a:r>
            <a:endParaRPr lang="en-US" sz="1350" b="0" u="none" strike="noStrike">
              <a:solidFill>
                <a:srgbClr val="000000"/>
              </a:solidFill>
              <a:effectLst/>
              <a:uFillTx/>
              <a:latin typeface="Arial"/>
            </a:endParaRPr>
          </a:p>
        </p:txBody>
      </p:sp>
      <p:sp>
        <p:nvSpPr>
          <p:cNvPr id="155" name="Rounded Rectangle 1"/>
          <p:cNvSpPr/>
          <p:nvPr/>
        </p:nvSpPr>
        <p:spPr>
          <a:xfrm>
            <a:off x="914400" y="3045240"/>
            <a:ext cx="2607840" cy="38124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56" name="TextBox 25"/>
          <p:cNvSpPr/>
          <p:nvPr/>
        </p:nvSpPr>
        <p:spPr>
          <a:xfrm>
            <a:off x="914400" y="3136680"/>
            <a:ext cx="2607840" cy="222480"/>
          </a:xfrm>
          <a:prstGeom prst="rect">
            <a:avLst/>
          </a:prstGeom>
          <a:solidFill>
            <a:srgbClr val="EEF3EC"/>
          </a:solidFill>
          <a:ln w="0">
            <a:noFill/>
          </a:ln>
        </p:spPr>
        <p:style>
          <a:lnRef idx="0"/>
          <a:fillRef idx="0"/>
          <a:effectRef idx="0"/>
          <a:fontRef idx="minor"/>
        </p:style>
        <p:txBody>
          <a:bodyPr lIns="0" tIns="0" rIns="0" bIns="0" anchor="t">
            <a:spAutoFit/>
          </a:bodyPr>
          <a:p>
            <a:pPr algn="ctr" defTabSz="457200">
              <a:lnSpc>
                <a:spcPct val="122000"/>
              </a:lnSpc>
            </a:pPr>
            <a:r>
              <a:rPr lang="en-US" sz="1200" b="1" u="none" strike="noStrike">
                <a:solidFill>
                  <a:srgbClr val="2C5530"/>
                </a:solidFill>
                <a:effectLst/>
                <a:uFillTx/>
                <a:latin typeface="Calibri"/>
                <a:ea typeface="DejaVu Sans"/>
              </a:rPr>
              <a:t>Προϊόν</a:t>
            </a:r>
            <a:endParaRPr lang="en-US" sz="1200" b="0" u="none" strike="noStrike">
              <a:solidFill>
                <a:srgbClr val="000000"/>
              </a:solidFill>
              <a:effectLst/>
              <a:uFillTx/>
              <a:latin typeface="Arial"/>
            </a:endParaRPr>
          </a:p>
        </p:txBody>
      </p:sp>
      <p:sp>
        <p:nvSpPr>
          <p:cNvPr id="157" name="Rounded Rectangle 2"/>
          <p:cNvSpPr/>
          <p:nvPr/>
        </p:nvSpPr>
        <p:spPr>
          <a:xfrm>
            <a:off x="914400" y="3657600"/>
            <a:ext cx="2607840" cy="38124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58" name="TextBox 25"/>
          <p:cNvSpPr/>
          <p:nvPr/>
        </p:nvSpPr>
        <p:spPr>
          <a:xfrm>
            <a:off x="914400" y="3749040"/>
            <a:ext cx="2607840" cy="222480"/>
          </a:xfrm>
          <a:prstGeom prst="rect">
            <a:avLst/>
          </a:prstGeom>
          <a:solidFill>
            <a:srgbClr val="EEF3EC"/>
          </a:solidFill>
          <a:ln w="0">
            <a:noFill/>
          </a:ln>
        </p:spPr>
        <p:style>
          <a:lnRef idx="0"/>
          <a:fillRef idx="0"/>
          <a:effectRef idx="0"/>
          <a:fontRef idx="minor"/>
        </p:style>
        <p:txBody>
          <a:bodyPr lIns="0" tIns="0" rIns="0" bIns="0" anchor="t">
            <a:spAutoFit/>
          </a:bodyPr>
          <a:p>
            <a:pPr algn="ctr" defTabSz="457200">
              <a:lnSpc>
                <a:spcPct val="122000"/>
              </a:lnSpc>
            </a:pPr>
            <a:r>
              <a:rPr lang="en-US" sz="1200" b="1" u="none" strike="noStrike">
                <a:solidFill>
                  <a:srgbClr val="2C5530"/>
                </a:solidFill>
                <a:effectLst/>
                <a:uFillTx/>
                <a:latin typeface="Calibri"/>
                <a:ea typeface="DejaVu Sans"/>
              </a:rPr>
              <a:t>Περιοχή</a:t>
            </a:r>
            <a:endParaRPr lang="en-US" sz="1200" b="0" u="none" strike="noStrike">
              <a:solidFill>
                <a:srgbClr val="000000"/>
              </a:solidFill>
              <a:effectLst/>
              <a:uFillTx/>
              <a:latin typeface="Arial"/>
            </a:endParaRPr>
          </a:p>
        </p:txBody>
      </p:sp>
      <p:sp>
        <p:nvSpPr>
          <p:cNvPr id="159" name="Rounded Rectangle 3"/>
          <p:cNvSpPr/>
          <p:nvPr/>
        </p:nvSpPr>
        <p:spPr>
          <a:xfrm>
            <a:off x="914400" y="4188240"/>
            <a:ext cx="2607840" cy="38124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60" name="TextBox 25"/>
          <p:cNvSpPr/>
          <p:nvPr/>
        </p:nvSpPr>
        <p:spPr>
          <a:xfrm>
            <a:off x="914400" y="4279680"/>
            <a:ext cx="2607840" cy="222480"/>
          </a:xfrm>
          <a:prstGeom prst="rect">
            <a:avLst/>
          </a:prstGeom>
          <a:solidFill>
            <a:srgbClr val="EEF3EC"/>
          </a:solidFill>
          <a:ln w="0">
            <a:noFill/>
          </a:ln>
        </p:spPr>
        <p:style>
          <a:lnRef idx="0"/>
          <a:fillRef idx="0"/>
          <a:effectRef idx="0"/>
          <a:fontRef idx="minor"/>
        </p:style>
        <p:txBody>
          <a:bodyPr lIns="0" tIns="0" rIns="0" bIns="0" anchor="t">
            <a:spAutoFit/>
          </a:bodyPr>
          <a:p>
            <a:pPr algn="ctr" defTabSz="457200">
              <a:lnSpc>
                <a:spcPct val="122000"/>
              </a:lnSpc>
            </a:pPr>
            <a:r>
              <a:rPr lang="en-US" sz="1200" b="1" u="none" strike="noStrike">
                <a:solidFill>
                  <a:srgbClr val="2C5530"/>
                </a:solidFill>
                <a:effectLst/>
                <a:uFillTx/>
                <a:latin typeface="Calibri"/>
                <a:ea typeface="DejaVu Sans"/>
              </a:rPr>
              <a:t>Παραγγελία</a:t>
            </a:r>
            <a:endParaRPr lang="en-US" sz="1200" b="0" u="none" strike="noStrike">
              <a:solidFill>
                <a:srgbClr val="000000"/>
              </a:solidFill>
              <a:effectLst/>
              <a:uFillTx/>
              <a:latin typeface="Arial"/>
            </a:endParaRPr>
          </a:p>
        </p:txBody>
      </p:sp>
      <p:sp>
        <p:nvSpPr>
          <p:cNvPr id="161" name="Rounded Rectangle 4"/>
          <p:cNvSpPr/>
          <p:nvPr/>
        </p:nvSpPr>
        <p:spPr>
          <a:xfrm>
            <a:off x="914400" y="4800600"/>
            <a:ext cx="2607840" cy="38124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62" name="TextBox 25"/>
          <p:cNvSpPr/>
          <p:nvPr/>
        </p:nvSpPr>
        <p:spPr>
          <a:xfrm>
            <a:off x="914400" y="4892040"/>
            <a:ext cx="2607840" cy="222480"/>
          </a:xfrm>
          <a:prstGeom prst="rect">
            <a:avLst/>
          </a:prstGeom>
          <a:solidFill>
            <a:srgbClr val="EEF3EC"/>
          </a:solidFill>
          <a:ln w="0">
            <a:noFill/>
          </a:ln>
        </p:spPr>
        <p:style>
          <a:lnRef idx="0"/>
          <a:fillRef idx="0"/>
          <a:effectRef idx="0"/>
          <a:fontRef idx="minor"/>
        </p:style>
        <p:txBody>
          <a:bodyPr lIns="0" tIns="0" rIns="0" bIns="0" anchor="t">
            <a:spAutoFit/>
          </a:bodyPr>
          <a:p>
            <a:pPr algn="ctr" defTabSz="457200">
              <a:lnSpc>
                <a:spcPct val="122000"/>
              </a:lnSpc>
            </a:pPr>
            <a:r>
              <a:rPr lang="en-US" sz="1200" b="1" u="none" strike="noStrike">
                <a:solidFill>
                  <a:srgbClr val="2C5530"/>
                </a:solidFill>
                <a:effectLst/>
                <a:uFillTx/>
                <a:latin typeface="Calibri"/>
                <a:ea typeface="DejaVu Sans"/>
              </a:rPr>
              <a:t>Γραμμή Παραγγελίας</a:t>
            </a:r>
            <a:endParaRPr lang="en-US" sz="1200" b="0" u="none" strike="noStrike">
              <a:solidFill>
                <a:srgbClr val="000000"/>
              </a:solidFill>
              <a:effectLst/>
              <a:uFillTx/>
              <a:latin typeface="Arial"/>
            </a:endParaRPr>
          </a:p>
        </p:txBody>
      </p:sp>
      <p:sp>
        <p:nvSpPr>
          <p:cNvPr id="163" name="Rounded Rectangle 8"/>
          <p:cNvSpPr/>
          <p:nvPr/>
        </p:nvSpPr>
        <p:spPr>
          <a:xfrm>
            <a:off x="914400" y="5331240"/>
            <a:ext cx="2607840" cy="38124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64" name="TextBox 25"/>
          <p:cNvSpPr/>
          <p:nvPr/>
        </p:nvSpPr>
        <p:spPr>
          <a:xfrm>
            <a:off x="914400" y="5422680"/>
            <a:ext cx="2607840" cy="222480"/>
          </a:xfrm>
          <a:prstGeom prst="rect">
            <a:avLst/>
          </a:prstGeom>
          <a:solidFill>
            <a:srgbClr val="EEF3EC"/>
          </a:solidFill>
          <a:ln w="0">
            <a:noFill/>
          </a:ln>
        </p:spPr>
        <p:style>
          <a:lnRef idx="0"/>
          <a:fillRef idx="0"/>
          <a:effectRef idx="0"/>
          <a:fontRef idx="minor"/>
        </p:style>
        <p:txBody>
          <a:bodyPr lIns="0" tIns="0" rIns="0" bIns="0" anchor="t">
            <a:spAutoFit/>
          </a:bodyPr>
          <a:p>
            <a:pPr algn="ctr" defTabSz="457200">
              <a:lnSpc>
                <a:spcPct val="122000"/>
              </a:lnSpc>
            </a:pPr>
            <a:r>
              <a:rPr lang="en-US" sz="1200" b="1" u="none" strike="noStrike">
                <a:solidFill>
                  <a:srgbClr val="2C5530"/>
                </a:solidFill>
                <a:effectLst/>
                <a:uFillTx/>
                <a:latin typeface="Calibri"/>
                <a:ea typeface="DejaVu Sans"/>
              </a:rPr>
              <a:t>Επιστροφή</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5" name="TextBox 1"/>
          <p:cNvSpPr/>
          <p:nvPr/>
        </p:nvSpPr>
        <p:spPr>
          <a:xfrm>
            <a:off x="548640" y="457200"/>
            <a:ext cx="1108872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ΤΟ ΣΥΣΤΗΜΑ</a:t>
            </a:r>
            <a:endParaRPr lang="en-US" sz="1200" b="0" u="none" strike="noStrike">
              <a:solidFill>
                <a:srgbClr val="000000"/>
              </a:solidFill>
              <a:effectLst/>
              <a:uFillTx/>
              <a:latin typeface="Arial"/>
            </a:endParaRPr>
          </a:p>
        </p:txBody>
      </p:sp>
      <p:sp>
        <p:nvSpPr>
          <p:cNvPr id="166" name="TextBox 2"/>
          <p:cNvSpPr/>
          <p:nvPr/>
        </p:nvSpPr>
        <p:spPr>
          <a:xfrm>
            <a:off x="548640" y="749880"/>
            <a:ext cx="11088720" cy="5572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API Responses</a:t>
            </a:r>
            <a:endParaRPr lang="en-US" sz="3000" b="0" u="none" strike="noStrike">
              <a:solidFill>
                <a:srgbClr val="000000"/>
              </a:solidFill>
              <a:effectLst/>
              <a:uFillTx/>
              <a:latin typeface="Arial"/>
            </a:endParaRPr>
          </a:p>
        </p:txBody>
      </p:sp>
      <p:sp>
        <p:nvSpPr>
          <p:cNvPr id="167" name="TextBox 4"/>
          <p:cNvSpPr/>
          <p:nvPr/>
        </p:nvSpPr>
        <p:spPr>
          <a:xfrm>
            <a:off x="11094480" y="6473880"/>
            <a:ext cx="545760" cy="16740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10</a:t>
            </a:r>
            <a:endParaRPr lang="en-US" sz="900" b="0" u="none" strike="noStrike">
              <a:solidFill>
                <a:srgbClr val="000000"/>
              </a:solidFill>
              <a:effectLst/>
              <a:uFillTx/>
              <a:latin typeface="Arial"/>
            </a:endParaRPr>
          </a:p>
        </p:txBody>
      </p:sp>
      <p:sp>
        <p:nvSpPr>
          <p:cNvPr id="168" name="TextBox 5"/>
          <p:cNvSpPr/>
          <p:nvPr/>
        </p:nvSpPr>
        <p:spPr>
          <a:xfrm>
            <a:off x="548640" y="6157080"/>
            <a:ext cx="11088720" cy="20232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169" name="TextBox 6"/>
          <p:cNvSpPr/>
          <p:nvPr/>
        </p:nvSpPr>
        <p:spPr>
          <a:xfrm>
            <a:off x="548640" y="2095200"/>
            <a:ext cx="5346360" cy="213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50" b="1" u="none" strike="noStrike">
                <a:solidFill>
                  <a:srgbClr val="E8A33D"/>
                </a:solidFill>
                <a:effectLst/>
                <a:uFillTx/>
                <a:latin typeface="Consolas"/>
                <a:ea typeface="DejaVu Sans"/>
              </a:rPr>
              <a:t>GET /api/v1/forecasting/revenue?horizon=3</a:t>
            </a:r>
            <a:endParaRPr lang="en-US" sz="1150" b="0" u="none" strike="noStrike">
              <a:solidFill>
                <a:srgbClr val="000000"/>
              </a:solidFill>
              <a:effectLst/>
              <a:uFillTx/>
              <a:latin typeface="Arial"/>
            </a:endParaRPr>
          </a:p>
        </p:txBody>
      </p:sp>
      <p:sp>
        <p:nvSpPr>
          <p:cNvPr id="170" name="Rectangle 7"/>
          <p:cNvSpPr/>
          <p:nvPr/>
        </p:nvSpPr>
        <p:spPr>
          <a:xfrm>
            <a:off x="548640" y="2442600"/>
            <a:ext cx="5346360" cy="2813040"/>
          </a:xfrm>
          <a:prstGeom prst="rect">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71" name="TextBox 8"/>
          <p:cNvSpPr/>
          <p:nvPr/>
        </p:nvSpPr>
        <p:spPr>
          <a:xfrm>
            <a:off x="694800" y="2570760"/>
            <a:ext cx="5053680" cy="25657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50" b="0" u="none" strike="noStrike">
                <a:solidFill>
                  <a:srgbClr val="241F1B"/>
                </a:solidFill>
                <a:effectLst/>
                <a:uFillTx/>
                <a:latin typeface="Consolas"/>
                <a:ea typeface="DejaVu Sans"/>
              </a:rPr>
              <a:t>{</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"method": "exponential_smoothing",</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"horizon": 3,</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"history_length": 25,</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"forecast": [</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a:t>
            </a:r>
            <a:r>
              <a:rPr lang="en-US" sz="1150" b="0" u="none" strike="noStrike">
                <a:solidFill>
                  <a:srgbClr val="241F1B"/>
                </a:solidFill>
                <a:effectLst/>
                <a:uFillTx/>
                <a:latin typeface="Consolas"/>
                <a:ea typeface="DejaVu Sans"/>
              </a:rPr>
              <a:t>587222.83, 502905.56, 671261.41</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"metrics": {</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"mean_absolute_percentage_error": 51.12</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"skill_score": -0.21</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a:t>
            </a:r>
            <a:endParaRPr lang="en-US" sz="1150" b="0" u="none" strike="noStrike">
              <a:solidFill>
                <a:srgbClr val="000000"/>
              </a:solidFill>
              <a:effectLst/>
              <a:uFillTx/>
              <a:latin typeface="Arial"/>
            </a:endParaRPr>
          </a:p>
        </p:txBody>
      </p:sp>
      <p:sp>
        <p:nvSpPr>
          <p:cNvPr id="172" name="TextBox 10"/>
          <p:cNvSpPr/>
          <p:nvPr/>
        </p:nvSpPr>
        <p:spPr>
          <a:xfrm>
            <a:off x="6291000" y="2095200"/>
            <a:ext cx="5346360" cy="213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50" b="1" u="none" strike="noStrike">
                <a:solidFill>
                  <a:srgbClr val="E8A33D"/>
                </a:solidFill>
                <a:effectLst/>
                <a:uFillTx/>
                <a:latin typeface="Consolas"/>
                <a:ea typeface="DejaVu Sans"/>
              </a:rPr>
              <a:t>GET /api/v1/profitability/unit-economics</a:t>
            </a:r>
            <a:endParaRPr lang="en-US" sz="1150" b="0" u="none" strike="noStrike">
              <a:solidFill>
                <a:srgbClr val="000000"/>
              </a:solidFill>
              <a:effectLst/>
              <a:uFillTx/>
              <a:latin typeface="Arial"/>
            </a:endParaRPr>
          </a:p>
        </p:txBody>
      </p:sp>
      <p:sp>
        <p:nvSpPr>
          <p:cNvPr id="173" name="Rectangle 11"/>
          <p:cNvSpPr/>
          <p:nvPr/>
        </p:nvSpPr>
        <p:spPr>
          <a:xfrm>
            <a:off x="6291000" y="2442600"/>
            <a:ext cx="5346360" cy="2813040"/>
          </a:xfrm>
          <a:prstGeom prst="rect">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74" name="TextBox 12"/>
          <p:cNvSpPr/>
          <p:nvPr/>
        </p:nvSpPr>
        <p:spPr>
          <a:xfrm>
            <a:off x="6437520" y="2570760"/>
            <a:ext cx="5053680" cy="25657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50" b="0" u="none" strike="noStrike">
                <a:solidFill>
                  <a:srgbClr val="241F1B"/>
                </a:solidFill>
                <a:effectLst/>
                <a:uFillTx/>
                <a:latin typeface="Consolas"/>
                <a:ea typeface="DejaVu Sans"/>
              </a:rPr>
              <a:t>{</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"average_customer_revenue": 2895.0,</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"lifetime_value": 1447.5,</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"assumptions": {</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"gross_margin": 0.5,</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"customer_acquisition_cost": 0.0</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"disclaimer": "</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a:t>
            </a:r>
            <a:r>
              <a:rPr lang="en-US" sz="1150" b="0" u="none" strike="noStrike">
                <a:solidFill>
                  <a:srgbClr val="241F1B"/>
                </a:solidFill>
                <a:effectLst/>
                <a:uFillTx/>
                <a:latin typeface="Consolas"/>
                <a:ea typeface="DejaVu Sans"/>
              </a:rPr>
              <a:t>Scenario output, not a measurement.</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a:t>
            </a:r>
            <a:r>
              <a:rPr lang="en-US" sz="1150" b="0" u="none" strike="noStrike">
                <a:solidFill>
                  <a:srgbClr val="241F1B"/>
                </a:solidFill>
                <a:effectLst/>
                <a:uFillTx/>
                <a:latin typeface="Consolas"/>
                <a:ea typeface="DejaVu Sans"/>
              </a:rPr>
              <a:t>	</a:t>
            </a:r>
            <a:r>
              <a:rPr lang="en-US" sz="1150" b="0" u="none" strike="noStrike">
                <a:solidFill>
                  <a:srgbClr val="241F1B"/>
                </a:solidFill>
                <a:effectLst/>
                <a:uFillTx/>
                <a:latin typeface="Consolas"/>
                <a:ea typeface="DejaVu Sans"/>
              </a:rPr>
              <a:t>The source data contains no cost of goods</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     and no marketing spend."</a:t>
            </a:r>
            <a:endParaRPr lang="en-US" sz="1150" b="0" u="none" strike="noStrike">
              <a:solidFill>
                <a:srgbClr val="000000"/>
              </a:solidFill>
              <a:effectLst/>
              <a:uFillTx/>
              <a:latin typeface="Arial"/>
            </a:endParaRPr>
          </a:p>
          <a:p>
            <a:pPr defTabSz="457200">
              <a:lnSpc>
                <a:spcPct val="122000"/>
              </a:lnSpc>
            </a:pPr>
            <a:r>
              <a:rPr lang="en-US" sz="1150" b="0" u="none" strike="noStrike">
                <a:solidFill>
                  <a:srgbClr val="241F1B"/>
                </a:solidFill>
                <a:effectLst/>
                <a:uFillTx/>
                <a:latin typeface="Consolas"/>
                <a:ea typeface="DejaVu Sans"/>
              </a:rPr>
              <a:t>}</a:t>
            </a:r>
            <a:endParaRPr lang="en-U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5" name="TextBox 1"/>
          <p:cNvSpPr/>
          <p:nvPr/>
        </p:nvSpPr>
        <p:spPr>
          <a:xfrm>
            <a:off x="548640" y="457200"/>
            <a:ext cx="1108872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ΤΟ ΣΥΣΤΗΜΑ</a:t>
            </a:r>
            <a:endParaRPr lang="en-US" sz="1200" b="0" u="none" strike="noStrike">
              <a:solidFill>
                <a:srgbClr val="000000"/>
              </a:solidFill>
              <a:effectLst/>
              <a:uFillTx/>
              <a:latin typeface="Arial"/>
            </a:endParaRPr>
          </a:p>
        </p:txBody>
      </p:sp>
      <p:sp>
        <p:nvSpPr>
          <p:cNvPr id="176" name="TextBox 2"/>
          <p:cNvSpPr/>
          <p:nvPr/>
        </p:nvSpPr>
        <p:spPr>
          <a:xfrm>
            <a:off x="548640" y="749880"/>
            <a:ext cx="11088720" cy="5572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Metabase</a:t>
            </a:r>
            <a:endParaRPr lang="en-US" sz="3000" b="0" u="none" strike="noStrike">
              <a:solidFill>
                <a:srgbClr val="000000"/>
              </a:solidFill>
              <a:effectLst/>
              <a:uFillTx/>
              <a:latin typeface="Arial"/>
            </a:endParaRPr>
          </a:p>
        </p:txBody>
      </p:sp>
      <p:sp>
        <p:nvSpPr>
          <p:cNvPr id="177" name="TextBox 4"/>
          <p:cNvSpPr/>
          <p:nvPr/>
        </p:nvSpPr>
        <p:spPr>
          <a:xfrm>
            <a:off x="11094480" y="6473880"/>
            <a:ext cx="545760" cy="16740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11</a:t>
            </a:r>
            <a:endParaRPr lang="en-US" sz="900" b="0" u="none" strike="noStrike">
              <a:solidFill>
                <a:srgbClr val="000000"/>
              </a:solidFill>
              <a:effectLst/>
              <a:uFillTx/>
              <a:latin typeface="Arial"/>
            </a:endParaRPr>
          </a:p>
        </p:txBody>
      </p:sp>
      <p:pic>
        <p:nvPicPr>
          <p:cNvPr id="178" name="Picture 6" descr="metabase-dashboard.jpg"/>
          <p:cNvPicPr/>
          <p:nvPr/>
        </p:nvPicPr>
        <p:blipFill>
          <a:blip r:embed="rId1"/>
          <a:stretch/>
        </p:blipFill>
        <p:spPr>
          <a:xfrm>
            <a:off x="457200" y="1691640"/>
            <a:ext cx="5346360" cy="2649600"/>
          </a:xfrm>
          <a:prstGeom prst="rect">
            <a:avLst/>
          </a:prstGeom>
          <a:noFill/>
          <a:ln w="0">
            <a:noFill/>
          </a:ln>
        </p:spPr>
      </p:pic>
      <p:pic>
        <p:nvPicPr>
          <p:cNvPr id="179" name="Picture 9" descr="metabase-association-rules.jpg"/>
          <p:cNvPicPr/>
          <p:nvPr/>
        </p:nvPicPr>
        <p:blipFill>
          <a:blip r:embed="rId2"/>
          <a:stretch/>
        </p:blipFill>
        <p:spPr>
          <a:xfrm>
            <a:off x="6298560" y="3589560"/>
            <a:ext cx="5129280" cy="2580480"/>
          </a:xfrm>
          <a:prstGeom prst="rect">
            <a:avLst/>
          </a:prstGeom>
          <a:noFill/>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0" name="TextBox 2"/>
          <p:cNvSpPr/>
          <p:nvPr/>
        </p:nvSpPr>
        <p:spPr>
          <a:xfrm>
            <a:off x="548640" y="1600200"/>
            <a:ext cx="11088720" cy="178272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181" name="TextBox 7"/>
          <p:cNvSpPr/>
          <p:nvPr/>
        </p:nvSpPr>
        <p:spPr>
          <a:xfrm>
            <a:off x="11094480" y="6473880"/>
            <a:ext cx="545760" cy="16740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D7E5D2"/>
                </a:solidFill>
                <a:effectLst/>
                <a:uFillTx/>
                <a:latin typeface="Calibri"/>
                <a:ea typeface="DejaVu Sans"/>
              </a:rPr>
              <a:t>12</a:t>
            </a:r>
            <a:endParaRPr lang="en-US" sz="900" b="0" u="none" strike="noStrike">
              <a:solidFill>
                <a:srgbClr val="000000"/>
              </a:solidFill>
              <a:effectLst/>
              <a:uFillTx/>
              <a:latin typeface="Arial"/>
            </a:endParaRPr>
          </a:p>
        </p:txBody>
      </p:sp>
      <p:sp>
        <p:nvSpPr>
          <p:cNvPr id="182" name="Rectangle 3"/>
          <p:cNvSpPr/>
          <p:nvPr/>
        </p:nvSpPr>
        <p:spPr>
          <a:xfrm>
            <a:off x="360" y="360"/>
            <a:ext cx="12188880" cy="685512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83" name="TextBox 2"/>
          <p:cNvSpPr/>
          <p:nvPr/>
        </p:nvSpPr>
        <p:spPr>
          <a:xfrm>
            <a:off x="549000" y="1600560"/>
            <a:ext cx="11088720" cy="164304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184" name="TextBox 3"/>
          <p:cNvSpPr/>
          <p:nvPr/>
        </p:nvSpPr>
        <p:spPr>
          <a:xfrm>
            <a:off x="549000" y="2972160"/>
            <a:ext cx="11088720" cy="7430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000" b="1" u="none" strike="noStrike">
                <a:solidFill>
                  <a:srgbClr val="E8A33D"/>
                </a:solidFill>
                <a:effectLst/>
                <a:uFillTx/>
                <a:latin typeface="Calibri"/>
                <a:ea typeface="DejaVu Sans"/>
              </a:rPr>
              <a:t>3η ΕΝΟΤΗΤΑ</a:t>
            </a:r>
            <a:endParaRPr lang="en-US" sz="4000" b="0" u="none" strike="noStrike">
              <a:solidFill>
                <a:srgbClr val="000000"/>
              </a:solidFill>
              <a:effectLst/>
              <a:uFillTx/>
              <a:latin typeface="Arial"/>
            </a:endParaRPr>
          </a:p>
        </p:txBody>
      </p:sp>
      <p:sp>
        <p:nvSpPr>
          <p:cNvPr id="185" name="TextBox 4"/>
          <p:cNvSpPr/>
          <p:nvPr/>
        </p:nvSpPr>
        <p:spPr>
          <a:xfrm>
            <a:off x="549000" y="3804120"/>
            <a:ext cx="11088720" cy="817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400" b="1" u="none" strike="noStrike">
                <a:solidFill>
                  <a:srgbClr val="FFFFFF"/>
                </a:solidFill>
                <a:effectLst/>
                <a:uFillTx/>
                <a:latin typeface="Cambria"/>
                <a:ea typeface="DejaVu Sans"/>
              </a:rPr>
              <a:t>Τα ευρήματα</a:t>
            </a:r>
            <a:endParaRPr lang="en-US" sz="4400" b="0" u="none" strike="noStrike">
              <a:solidFill>
                <a:srgbClr val="000000"/>
              </a:solidFill>
              <a:effectLst/>
              <a:uFillTx/>
              <a:latin typeface="Arial"/>
            </a:endParaRPr>
          </a:p>
        </p:txBody>
      </p:sp>
      <p:sp>
        <p:nvSpPr>
          <p:cNvPr id="186" name="TextBox 5"/>
          <p:cNvSpPr/>
          <p:nvPr/>
        </p:nvSpPr>
        <p:spPr>
          <a:xfrm>
            <a:off x="549000" y="4645440"/>
            <a:ext cx="11088720" cy="36288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187" name="TextBox 6"/>
          <p:cNvSpPr/>
          <p:nvPr/>
        </p:nvSpPr>
        <p:spPr>
          <a:xfrm>
            <a:off x="549000" y="6474240"/>
            <a:ext cx="5483520" cy="27144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188" name="TextBox 7"/>
          <p:cNvSpPr/>
          <p:nvPr/>
        </p:nvSpPr>
        <p:spPr>
          <a:xfrm>
            <a:off x="11094840" y="6474240"/>
            <a:ext cx="545760" cy="16740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D7E5D2"/>
                </a:solidFill>
                <a:effectLst/>
                <a:uFillTx/>
                <a:latin typeface="Calibri"/>
                <a:ea typeface="DejaVu Sans"/>
              </a:rPr>
              <a:t>12</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9" name="TextBox 1"/>
          <p:cNvSpPr/>
          <p:nvPr/>
        </p:nvSpPr>
        <p:spPr>
          <a:xfrm>
            <a:off x="548640" y="457200"/>
            <a:ext cx="1108872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ΤΑ ΔΕΔΟΜΕΝΑ</a:t>
            </a:r>
            <a:endParaRPr lang="en-US" sz="1200" b="0" u="none" strike="noStrike">
              <a:solidFill>
                <a:srgbClr val="000000"/>
              </a:solidFill>
              <a:effectLst/>
              <a:uFillTx/>
              <a:latin typeface="Arial"/>
            </a:endParaRPr>
          </a:p>
        </p:txBody>
      </p:sp>
      <p:sp>
        <p:nvSpPr>
          <p:cNvPr id="190" name="TextBox 2"/>
          <p:cNvSpPr/>
          <p:nvPr/>
        </p:nvSpPr>
        <p:spPr>
          <a:xfrm>
            <a:off x="548640" y="749880"/>
            <a:ext cx="11088720" cy="5572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Online Retail II: το πείραμα</a:t>
            </a:r>
            <a:endParaRPr lang="en-US" sz="3000" b="0" u="none" strike="noStrike">
              <a:solidFill>
                <a:srgbClr val="000000"/>
              </a:solidFill>
              <a:effectLst/>
              <a:uFillTx/>
              <a:latin typeface="Arial"/>
            </a:endParaRPr>
          </a:p>
        </p:txBody>
      </p:sp>
      <p:sp>
        <p:nvSpPr>
          <p:cNvPr id="191" name="TextBox 4"/>
          <p:cNvSpPr/>
          <p:nvPr/>
        </p:nvSpPr>
        <p:spPr>
          <a:xfrm>
            <a:off x="11094480" y="6473880"/>
            <a:ext cx="545760" cy="16740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13</a:t>
            </a:r>
            <a:endParaRPr lang="en-US" sz="900" b="0" u="none" strike="noStrike">
              <a:solidFill>
                <a:srgbClr val="000000"/>
              </a:solidFill>
              <a:effectLst/>
              <a:uFillTx/>
              <a:latin typeface="Arial"/>
            </a:endParaRPr>
          </a:p>
        </p:txBody>
      </p:sp>
      <p:sp>
        <p:nvSpPr>
          <p:cNvPr id="192" name="Rounded Rectangle 6"/>
          <p:cNvSpPr/>
          <p:nvPr/>
        </p:nvSpPr>
        <p:spPr>
          <a:xfrm>
            <a:off x="548640" y="2258640"/>
            <a:ext cx="1723680" cy="96624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93" name="TextBox 7"/>
          <p:cNvSpPr/>
          <p:nvPr/>
        </p:nvSpPr>
        <p:spPr>
          <a:xfrm>
            <a:off x="548640" y="2350080"/>
            <a:ext cx="1723680" cy="4456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39.516</a:t>
            </a:r>
            <a:endParaRPr lang="en-US" sz="2400" b="0" u="none" strike="noStrike">
              <a:solidFill>
                <a:srgbClr val="000000"/>
              </a:solidFill>
              <a:effectLst/>
              <a:uFillTx/>
              <a:latin typeface="Arial"/>
            </a:endParaRPr>
          </a:p>
        </p:txBody>
      </p:sp>
      <p:sp>
        <p:nvSpPr>
          <p:cNvPr id="194" name="TextBox 8"/>
          <p:cNvSpPr/>
          <p:nvPr/>
        </p:nvSpPr>
        <p:spPr>
          <a:xfrm>
            <a:off x="603360" y="2807280"/>
            <a:ext cx="1614240" cy="20412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Παραγγελίες</a:t>
            </a:r>
            <a:endParaRPr lang="en-US" sz="1100" b="0" u="none" strike="noStrike">
              <a:solidFill>
                <a:srgbClr val="000000"/>
              </a:solidFill>
              <a:effectLst/>
              <a:uFillTx/>
              <a:latin typeface="Arial"/>
            </a:endParaRPr>
          </a:p>
        </p:txBody>
      </p:sp>
      <p:sp>
        <p:nvSpPr>
          <p:cNvPr id="195" name="Rounded Rectangle 9"/>
          <p:cNvSpPr/>
          <p:nvPr/>
        </p:nvSpPr>
        <p:spPr>
          <a:xfrm>
            <a:off x="2421720" y="2258640"/>
            <a:ext cx="1723680" cy="96624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96" name="TextBox 10"/>
          <p:cNvSpPr/>
          <p:nvPr/>
        </p:nvSpPr>
        <p:spPr>
          <a:xfrm>
            <a:off x="2421720" y="2350080"/>
            <a:ext cx="1723680" cy="4456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1.002.423</a:t>
            </a:r>
            <a:endParaRPr lang="en-US" sz="2400" b="0" u="none" strike="noStrike">
              <a:solidFill>
                <a:srgbClr val="000000"/>
              </a:solidFill>
              <a:effectLst/>
              <a:uFillTx/>
              <a:latin typeface="Arial"/>
            </a:endParaRPr>
          </a:p>
        </p:txBody>
      </p:sp>
      <p:sp>
        <p:nvSpPr>
          <p:cNvPr id="197" name="TextBox 11"/>
          <p:cNvSpPr/>
          <p:nvPr/>
        </p:nvSpPr>
        <p:spPr>
          <a:xfrm>
            <a:off x="2476440" y="2807280"/>
            <a:ext cx="1614240" cy="20412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Γραμμές</a:t>
            </a:r>
            <a:endParaRPr lang="en-US" sz="1100" b="0" u="none" strike="noStrike">
              <a:solidFill>
                <a:srgbClr val="000000"/>
              </a:solidFill>
              <a:effectLst/>
              <a:uFillTx/>
              <a:latin typeface="Arial"/>
            </a:endParaRPr>
          </a:p>
        </p:txBody>
      </p:sp>
      <p:sp>
        <p:nvSpPr>
          <p:cNvPr id="198" name="Rounded Rectangle 12"/>
          <p:cNvSpPr/>
          <p:nvPr/>
        </p:nvSpPr>
        <p:spPr>
          <a:xfrm>
            <a:off x="4294800" y="2258640"/>
            <a:ext cx="1723680" cy="96624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199" name="TextBox 13"/>
          <p:cNvSpPr/>
          <p:nvPr/>
        </p:nvSpPr>
        <p:spPr>
          <a:xfrm>
            <a:off x="4294800" y="2350080"/>
            <a:ext cx="1723680" cy="4456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17.925</a:t>
            </a:r>
            <a:endParaRPr lang="en-US" sz="2400" b="0" u="none" strike="noStrike">
              <a:solidFill>
                <a:srgbClr val="000000"/>
              </a:solidFill>
              <a:effectLst/>
              <a:uFillTx/>
              <a:latin typeface="Arial"/>
            </a:endParaRPr>
          </a:p>
        </p:txBody>
      </p:sp>
      <p:sp>
        <p:nvSpPr>
          <p:cNvPr id="200" name="TextBox 14"/>
          <p:cNvSpPr/>
          <p:nvPr/>
        </p:nvSpPr>
        <p:spPr>
          <a:xfrm>
            <a:off x="4349520" y="2807280"/>
            <a:ext cx="1614240" cy="20412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Επιστροφές</a:t>
            </a:r>
            <a:endParaRPr lang="en-US" sz="1100" b="0" u="none" strike="noStrike">
              <a:solidFill>
                <a:srgbClr val="000000"/>
              </a:solidFill>
              <a:effectLst/>
              <a:uFillTx/>
              <a:latin typeface="Arial"/>
            </a:endParaRPr>
          </a:p>
        </p:txBody>
      </p:sp>
      <p:sp>
        <p:nvSpPr>
          <p:cNvPr id="201" name="Rounded Rectangle 15"/>
          <p:cNvSpPr/>
          <p:nvPr/>
        </p:nvSpPr>
        <p:spPr>
          <a:xfrm>
            <a:off x="6167520" y="2258640"/>
            <a:ext cx="1723680" cy="96624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02" name="TextBox 16"/>
          <p:cNvSpPr/>
          <p:nvPr/>
        </p:nvSpPr>
        <p:spPr>
          <a:xfrm>
            <a:off x="6167520" y="2350080"/>
            <a:ext cx="1723680" cy="4456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5.875</a:t>
            </a:r>
            <a:endParaRPr lang="en-US" sz="2400" b="0" u="none" strike="noStrike">
              <a:solidFill>
                <a:srgbClr val="000000"/>
              </a:solidFill>
              <a:effectLst/>
              <a:uFillTx/>
              <a:latin typeface="Arial"/>
            </a:endParaRPr>
          </a:p>
        </p:txBody>
      </p:sp>
      <p:sp>
        <p:nvSpPr>
          <p:cNvPr id="203" name="TextBox 17"/>
          <p:cNvSpPr/>
          <p:nvPr/>
        </p:nvSpPr>
        <p:spPr>
          <a:xfrm>
            <a:off x="6222600" y="2807280"/>
            <a:ext cx="1614240" cy="20412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Πελάτες</a:t>
            </a:r>
            <a:endParaRPr lang="en-US" sz="1100" b="0" u="none" strike="noStrike">
              <a:solidFill>
                <a:srgbClr val="000000"/>
              </a:solidFill>
              <a:effectLst/>
              <a:uFillTx/>
              <a:latin typeface="Arial"/>
            </a:endParaRPr>
          </a:p>
        </p:txBody>
      </p:sp>
      <p:sp>
        <p:nvSpPr>
          <p:cNvPr id="204" name="Rounded Rectangle 18"/>
          <p:cNvSpPr/>
          <p:nvPr/>
        </p:nvSpPr>
        <p:spPr>
          <a:xfrm>
            <a:off x="8040600" y="2258640"/>
            <a:ext cx="1723680" cy="96624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05" name="TextBox 19"/>
          <p:cNvSpPr/>
          <p:nvPr/>
        </p:nvSpPr>
        <p:spPr>
          <a:xfrm>
            <a:off x="8040600" y="2350080"/>
            <a:ext cx="1723680" cy="4456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4.900</a:t>
            </a:r>
            <a:endParaRPr lang="en-US" sz="2400" b="0" u="none" strike="noStrike">
              <a:solidFill>
                <a:srgbClr val="000000"/>
              </a:solidFill>
              <a:effectLst/>
              <a:uFillTx/>
              <a:latin typeface="Arial"/>
            </a:endParaRPr>
          </a:p>
        </p:txBody>
      </p:sp>
      <p:sp>
        <p:nvSpPr>
          <p:cNvPr id="206" name="TextBox 20"/>
          <p:cNvSpPr/>
          <p:nvPr/>
        </p:nvSpPr>
        <p:spPr>
          <a:xfrm>
            <a:off x="8095320" y="2807280"/>
            <a:ext cx="1614240" cy="20412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Προϊόντα</a:t>
            </a:r>
            <a:endParaRPr lang="en-US" sz="1100" b="0" u="none" strike="noStrike">
              <a:solidFill>
                <a:srgbClr val="000000"/>
              </a:solidFill>
              <a:effectLst/>
              <a:uFillTx/>
              <a:latin typeface="Arial"/>
            </a:endParaRPr>
          </a:p>
        </p:txBody>
      </p:sp>
      <p:sp>
        <p:nvSpPr>
          <p:cNvPr id="207" name="Rounded Rectangle 21"/>
          <p:cNvSpPr/>
          <p:nvPr/>
        </p:nvSpPr>
        <p:spPr>
          <a:xfrm>
            <a:off x="9913680" y="2258640"/>
            <a:ext cx="1723680" cy="96624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08" name="TextBox 22"/>
          <p:cNvSpPr/>
          <p:nvPr/>
        </p:nvSpPr>
        <p:spPr>
          <a:xfrm>
            <a:off x="9913680" y="2350080"/>
            <a:ext cx="1723680" cy="4456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43</a:t>
            </a:r>
            <a:endParaRPr lang="en-US" sz="2400" b="0" u="none" strike="noStrike">
              <a:solidFill>
                <a:srgbClr val="000000"/>
              </a:solidFill>
              <a:effectLst/>
              <a:uFillTx/>
              <a:latin typeface="Arial"/>
            </a:endParaRPr>
          </a:p>
        </p:txBody>
      </p:sp>
      <p:sp>
        <p:nvSpPr>
          <p:cNvPr id="209" name="TextBox 23"/>
          <p:cNvSpPr/>
          <p:nvPr/>
        </p:nvSpPr>
        <p:spPr>
          <a:xfrm>
            <a:off x="9968400" y="2807280"/>
            <a:ext cx="1614240" cy="20412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Περιοχές</a:t>
            </a:r>
            <a:endParaRPr lang="en-US" sz="1100" b="0" u="none" strike="noStrike">
              <a:solidFill>
                <a:srgbClr val="000000"/>
              </a:solidFill>
              <a:effectLst/>
              <a:uFillTx/>
              <a:latin typeface="Arial"/>
            </a:endParaRPr>
          </a:p>
        </p:txBody>
      </p:sp>
      <p:sp>
        <p:nvSpPr>
          <p:cNvPr id="210" name="TextBox 24"/>
          <p:cNvSpPr/>
          <p:nvPr/>
        </p:nvSpPr>
        <p:spPr>
          <a:xfrm>
            <a:off x="548640" y="3891240"/>
            <a:ext cx="11088720" cy="2037240"/>
          </a:xfrm>
          <a:prstGeom prst="rect">
            <a:avLst/>
          </a:prstGeom>
          <a:noFill/>
          <a:ln w="0">
            <a:noFill/>
          </a:ln>
        </p:spPr>
        <p:style>
          <a:lnRef idx="0"/>
          <a:fillRef idx="0"/>
          <a:effectRef idx="0"/>
          <a:fontRef idx="minor"/>
        </p:style>
        <p:txBody>
          <a:bodyPr lIns="0" tIns="0" rIns="0" bIns="0" anchor="t">
            <a:spAutoFit/>
          </a:bodyPr>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500" b="0" u="none" strike="noStrike">
                <a:solidFill>
                  <a:srgbClr val="241F1B"/>
                </a:solidFill>
                <a:effectLst/>
                <a:uFillTx/>
                <a:latin typeface="Calibri"/>
                <a:ea typeface="DejaVu Sans"/>
              </a:rPr>
              <a:t>Βρετανικό κατάστημα χονδρικής με είδη δώρων, από το 2009 ως το 2011 μέσω του δημοσίου συνόλου δεδομένων UCI.</a:t>
            </a:r>
            <a:endParaRPr lang="en-US" sz="1500" b="0" u="none" strike="noStrike">
              <a:solidFill>
                <a:srgbClr val="000000"/>
              </a:solidFill>
              <a:effectLst/>
              <a:uFillTx/>
              <a:latin typeface="Arial"/>
            </a:endParaRPr>
          </a:p>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500" b="0" u="none" strike="noStrike">
                <a:solidFill>
                  <a:srgbClr val="241F1B"/>
                </a:solidFill>
                <a:effectLst/>
                <a:uFillTx/>
                <a:latin typeface="Calibri"/>
                <a:ea typeface="DejaVu Sans"/>
              </a:rPr>
              <a:t>Επιλέχθηκε καθώς: </a:t>
            </a:r>
            <a:endParaRPr lang="en-US" sz="1500" b="0" u="none" strike="noStrike">
              <a:solidFill>
                <a:srgbClr val="000000"/>
              </a:solidFill>
              <a:effectLst/>
              <a:uFillTx/>
              <a:latin typeface="Arial"/>
            </a:endParaRPr>
          </a:p>
          <a:p>
            <a:pPr defTabSz="457200">
              <a:lnSpc>
                <a:spcPct val="122000"/>
              </a:lnSpc>
              <a:spcAft>
                <a:spcPts val="901"/>
              </a:spcAft>
            </a:pPr>
            <a:r>
              <a:rPr lang="en-US" sz="1500" b="0" u="none" strike="noStrike">
                <a:solidFill>
                  <a:srgbClr val="241F1B"/>
                </a:solidFill>
                <a:effectLst/>
                <a:uFillTx/>
                <a:latin typeface="Calibri"/>
                <a:ea typeface="DejaVu Sans"/>
              </a:rPr>
              <a:t>    </a:t>
            </a:r>
            <a:r>
              <a:rPr lang="en-US" sz="1500" b="0" u="none" strike="noStrike">
                <a:solidFill>
                  <a:srgbClr val="224B12"/>
                </a:solidFill>
                <a:effectLst/>
                <a:uFillTx/>
                <a:latin typeface="Calibri"/>
                <a:ea typeface="DejaVu Sans"/>
              </a:rPr>
              <a:t>α. </a:t>
            </a:r>
            <a:r>
              <a:rPr lang="en-US" sz="1500" b="0" u="none" strike="noStrike">
                <a:solidFill>
                  <a:srgbClr val="241F1B"/>
                </a:solidFill>
                <a:effectLst/>
                <a:uFillTx/>
                <a:latin typeface="Calibri"/>
                <a:ea typeface="DejaVu Sans"/>
              </a:rPr>
              <a:t>είναι δημόσιο, άρα ο καθένας μπορεί να ελέγξει τα αποτελέσματα</a:t>
            </a:r>
            <a:endParaRPr lang="en-US" sz="1500" b="0" u="none" strike="noStrike">
              <a:solidFill>
                <a:srgbClr val="000000"/>
              </a:solidFill>
              <a:effectLst/>
              <a:uFillTx/>
              <a:latin typeface="Arial"/>
            </a:endParaRPr>
          </a:p>
          <a:p>
            <a:pPr defTabSz="457200">
              <a:lnSpc>
                <a:spcPct val="122000"/>
              </a:lnSpc>
              <a:spcAft>
                <a:spcPts val="901"/>
              </a:spcAft>
            </a:pPr>
            <a:r>
              <a:rPr lang="en-US" sz="1500" b="0" u="none" strike="noStrike">
                <a:solidFill>
                  <a:srgbClr val="241F1B"/>
                </a:solidFill>
                <a:effectLst/>
                <a:uFillTx/>
                <a:latin typeface="Calibri"/>
                <a:ea typeface="DejaVu Sans"/>
              </a:rPr>
              <a:t>    </a:t>
            </a:r>
            <a:r>
              <a:rPr lang="en-US" sz="1500" b="0" u="none" strike="noStrike">
                <a:solidFill>
                  <a:srgbClr val="224B12"/>
                </a:solidFill>
                <a:effectLst/>
                <a:uFillTx/>
                <a:latin typeface="Calibri"/>
                <a:ea typeface="DejaVu Sans"/>
              </a:rPr>
              <a:t>β. </a:t>
            </a:r>
            <a:r>
              <a:rPr lang="en-US" sz="1500" b="0" u="none" strike="noStrike">
                <a:solidFill>
                  <a:srgbClr val="241F1B"/>
                </a:solidFill>
                <a:effectLst/>
                <a:uFillTx/>
                <a:latin typeface="Calibri"/>
                <a:ea typeface="DejaVu Sans"/>
              </a:rPr>
              <a:t>εχει χρησιμοποιήσει ήδη δημοσιευμένη έρευνα, άρα μπορούμε να συγκρίνουμε τα αποτελέσματα</a:t>
            </a:r>
            <a:endParaRPr lang="en-US" sz="1500" b="0" u="none" strike="noStrike">
              <a:solidFill>
                <a:srgbClr val="000000"/>
              </a:solidFill>
              <a:effectLst/>
              <a:uFillTx/>
              <a:latin typeface="Arial"/>
            </a:endParaRPr>
          </a:p>
          <a:p>
            <a:pPr defTabSz="457200">
              <a:lnSpc>
                <a:spcPct val="122000"/>
              </a:lnSpc>
              <a:spcAft>
                <a:spcPts val="901"/>
              </a:spcAft>
            </a:pPr>
            <a:r>
              <a:rPr lang="en-US" sz="1500" b="0" u="none" strike="noStrike">
                <a:solidFill>
                  <a:srgbClr val="241F1B"/>
                </a:solidFill>
                <a:effectLst/>
                <a:uFillTx/>
                <a:latin typeface="Calibri"/>
                <a:ea typeface="DejaVu Sans"/>
              </a:rPr>
              <a:t>    </a:t>
            </a:r>
            <a:r>
              <a:rPr lang="en-US" sz="1500" b="0" u="none" strike="noStrike">
                <a:solidFill>
                  <a:srgbClr val="224B12"/>
                </a:solidFill>
                <a:effectLst/>
                <a:uFillTx/>
                <a:latin typeface="Calibri"/>
                <a:ea typeface="DejaVu Sans"/>
              </a:rPr>
              <a:t>γ. </a:t>
            </a:r>
            <a:r>
              <a:rPr lang="en-US" sz="1500" b="0" u="none" strike="noStrike">
                <a:solidFill>
                  <a:srgbClr val="241F1B"/>
                </a:solidFill>
                <a:effectLst/>
                <a:uFillTx/>
                <a:latin typeface="Calibri"/>
                <a:ea typeface="DejaVu Sans"/>
              </a:rPr>
              <a:t>κρατάει τα ακυρωμένα παραστατικά, χωρίς τα οποία το ερώτημα των επιστροφών θα ήταν αδύνατο</a:t>
            </a:r>
            <a:endParaRPr lang="en-US"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1" name="TextBox 1"/>
          <p:cNvSpPr/>
          <p:nvPr/>
        </p:nvSpPr>
        <p:spPr>
          <a:xfrm>
            <a:off x="548640" y="457200"/>
            <a:ext cx="1108872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ΠΕΡΙΓΡΑΦΙΚΗ ΑΝΑΛΥΣΗ</a:t>
            </a:r>
            <a:endParaRPr lang="en-US" sz="1200" b="0" u="none" strike="noStrike">
              <a:solidFill>
                <a:srgbClr val="000000"/>
              </a:solidFill>
              <a:effectLst/>
              <a:uFillTx/>
              <a:latin typeface="Arial"/>
            </a:endParaRPr>
          </a:p>
        </p:txBody>
      </p:sp>
      <p:sp>
        <p:nvSpPr>
          <p:cNvPr id="212" name="TextBox 2"/>
          <p:cNvSpPr/>
          <p:nvPr/>
        </p:nvSpPr>
        <p:spPr>
          <a:xfrm>
            <a:off x="548640" y="749880"/>
            <a:ext cx="11088720" cy="5572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Τι πουλάει και πού</a:t>
            </a:r>
            <a:endParaRPr lang="en-US" sz="3000" b="0" u="none" strike="noStrike">
              <a:solidFill>
                <a:srgbClr val="000000"/>
              </a:solidFill>
              <a:effectLst/>
              <a:uFillTx/>
              <a:latin typeface="Arial"/>
            </a:endParaRPr>
          </a:p>
        </p:txBody>
      </p:sp>
      <p:sp>
        <p:nvSpPr>
          <p:cNvPr id="213" name="TextBox 4"/>
          <p:cNvSpPr/>
          <p:nvPr/>
        </p:nvSpPr>
        <p:spPr>
          <a:xfrm>
            <a:off x="11094480" y="6473880"/>
            <a:ext cx="545760" cy="16740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14</a:t>
            </a:r>
            <a:endParaRPr lang="en-US" sz="900" b="0" u="none" strike="noStrike">
              <a:solidFill>
                <a:srgbClr val="000000"/>
              </a:solidFill>
              <a:effectLst/>
              <a:uFillTx/>
              <a:latin typeface="Arial"/>
            </a:endParaRPr>
          </a:p>
        </p:txBody>
      </p:sp>
      <p:pic>
        <p:nvPicPr>
          <p:cNvPr id="214" name="Picture 5" descr="top-products.png"/>
          <p:cNvPicPr/>
          <p:nvPr/>
        </p:nvPicPr>
        <p:blipFill>
          <a:blip r:embed="rId1"/>
          <a:stretch/>
        </p:blipFill>
        <p:spPr>
          <a:xfrm>
            <a:off x="548640" y="1837440"/>
            <a:ext cx="5346360" cy="2671920"/>
          </a:xfrm>
          <a:prstGeom prst="rect">
            <a:avLst/>
          </a:prstGeom>
          <a:solidFill>
            <a:srgbClr val="224B12"/>
          </a:solidFill>
          <a:ln w="0">
            <a:noFill/>
          </a:ln>
        </p:spPr>
      </p:pic>
      <p:sp>
        <p:nvSpPr>
          <p:cNvPr id="215" name="Rectangle 6"/>
          <p:cNvSpPr/>
          <p:nvPr/>
        </p:nvSpPr>
        <p:spPr>
          <a:xfrm>
            <a:off x="548640" y="1837440"/>
            <a:ext cx="5346360" cy="2671920"/>
          </a:xfrm>
          <a:prstGeom prst="rect">
            <a:avLst/>
          </a:prstGeom>
          <a:noFill/>
          <a:ln w="9360">
            <a:solidFill>
              <a:srgbClr val="376092"/>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16" name="TextBox 7"/>
          <p:cNvSpPr/>
          <p:nvPr/>
        </p:nvSpPr>
        <p:spPr>
          <a:xfrm>
            <a:off x="548640" y="4603680"/>
            <a:ext cx="5346360" cy="2041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Προϊόντα με τα υψηλότερα έσοδα</a:t>
            </a:r>
            <a:endParaRPr lang="en-US" sz="1100" b="0" u="none" strike="noStrike">
              <a:solidFill>
                <a:srgbClr val="000000"/>
              </a:solidFill>
              <a:effectLst/>
              <a:uFillTx/>
              <a:latin typeface="Arial"/>
            </a:endParaRPr>
          </a:p>
        </p:txBody>
      </p:sp>
      <p:pic>
        <p:nvPicPr>
          <p:cNvPr id="217" name="Picture 8" descr="top-regions.png"/>
          <p:cNvPicPr/>
          <p:nvPr/>
        </p:nvPicPr>
        <p:blipFill>
          <a:blip r:embed="rId2"/>
          <a:stretch/>
        </p:blipFill>
        <p:spPr>
          <a:xfrm>
            <a:off x="6291000" y="1837440"/>
            <a:ext cx="5346360" cy="2671920"/>
          </a:xfrm>
          <a:prstGeom prst="rect">
            <a:avLst/>
          </a:prstGeom>
          <a:noFill/>
          <a:ln w="0">
            <a:noFill/>
          </a:ln>
        </p:spPr>
      </p:pic>
      <p:sp>
        <p:nvSpPr>
          <p:cNvPr id="218" name="Rectangle 9"/>
          <p:cNvSpPr/>
          <p:nvPr/>
        </p:nvSpPr>
        <p:spPr>
          <a:xfrm>
            <a:off x="6291000" y="1837440"/>
            <a:ext cx="5346360" cy="2671920"/>
          </a:xfrm>
          <a:prstGeom prst="rect">
            <a:avLst/>
          </a:prstGeom>
          <a:noFill/>
          <a:ln w="9360">
            <a:solidFill>
              <a:srgbClr val="376092"/>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19" name="TextBox 10"/>
          <p:cNvSpPr/>
          <p:nvPr/>
        </p:nvSpPr>
        <p:spPr>
          <a:xfrm>
            <a:off x="6291000" y="4603680"/>
            <a:ext cx="5346360" cy="2041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Περιοχές με τα υψηλότερα έσοδα</a:t>
            </a:r>
            <a:endParaRPr lang="en-US" sz="1100" b="0" u="none" strike="noStrike">
              <a:solidFill>
                <a:srgbClr val="000000"/>
              </a:solidFill>
              <a:effectLst/>
              <a:uFillTx/>
              <a:latin typeface="Arial"/>
            </a:endParaRPr>
          </a:p>
        </p:txBody>
      </p:sp>
      <p:sp>
        <p:nvSpPr>
          <p:cNvPr id="220" name="TextBox 11"/>
          <p:cNvSpPr/>
          <p:nvPr/>
        </p:nvSpPr>
        <p:spPr>
          <a:xfrm>
            <a:off x="457200" y="5401080"/>
            <a:ext cx="11088720" cy="857880"/>
          </a:xfrm>
          <a:prstGeom prst="rect">
            <a:avLst/>
          </a:prstGeom>
          <a:noFill/>
          <a:ln w="0">
            <a:noFill/>
          </a:ln>
        </p:spPr>
        <p:style>
          <a:lnRef idx="0"/>
          <a:fillRef idx="0"/>
          <a:effectRef idx="0"/>
          <a:fontRef idx="minor"/>
        </p:style>
        <p:txBody>
          <a:bodyPr lIns="0" tIns="0" rIns="0" bIns="0" anchor="t">
            <a:spAutoFit/>
          </a:bodyPr>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150" b="0" u="none" strike="noStrike">
                <a:solidFill>
                  <a:srgbClr val="241F1B"/>
                </a:solidFill>
                <a:effectLst/>
                <a:uFillTx/>
                <a:latin typeface="Calibri"/>
                <a:ea typeface="DejaVu Sans"/>
              </a:rPr>
              <a:t>Το REGENCY CAKESTAND βγαίνει πρώτο με 26.315 κομμάτια, ενώ το JUMBO BAG πουλάει σχεδόν τετραπλάσια κομμάτια και βγαίνει τρίτο.</a:t>
            </a:r>
            <a:endParaRPr lang="en-US" sz="1150" b="0" u="none" strike="noStrike">
              <a:solidFill>
                <a:srgbClr val="000000"/>
              </a:solidFill>
              <a:effectLst/>
              <a:uFillTx/>
              <a:latin typeface="Arial"/>
            </a:endParaRPr>
          </a:p>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150" b="0" u="none" strike="noStrike">
                <a:solidFill>
                  <a:srgbClr val="241F1B"/>
                </a:solidFill>
                <a:effectLst/>
                <a:uFillTx/>
                <a:latin typeface="Calibri"/>
                <a:ea typeface="DejaVu Sans"/>
              </a:rPr>
              <a:t>Το Ηνωμένο Βασίλειο κάνει περίπου το 86% των εσόδων. Στην Ιρλανδία τρεις πελάτες φέρνουν περισσότερα από τους εκατόν επτά της Γερμανίας.</a:t>
            </a:r>
            <a:endParaRPr lang="en-U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1" name="TextBox 1"/>
          <p:cNvSpPr/>
          <p:nvPr/>
        </p:nvSpPr>
        <p:spPr>
          <a:xfrm>
            <a:off x="548640" y="457200"/>
            <a:ext cx="1108872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ΠΕΡΙΓΡΑΦΙΚΗ ΑΝΑΛΥΣΗ</a:t>
            </a:r>
            <a:endParaRPr lang="en-US" sz="1200" b="0" u="none" strike="noStrike">
              <a:solidFill>
                <a:srgbClr val="000000"/>
              </a:solidFill>
              <a:effectLst/>
              <a:uFillTx/>
              <a:latin typeface="Arial"/>
            </a:endParaRPr>
          </a:p>
        </p:txBody>
      </p:sp>
      <p:sp>
        <p:nvSpPr>
          <p:cNvPr id="222" name="TextBox 2"/>
          <p:cNvSpPr/>
          <p:nvPr/>
        </p:nvSpPr>
        <p:spPr>
          <a:xfrm>
            <a:off x="548640" y="749880"/>
            <a:ext cx="11088720" cy="5572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Πότε πουλάει και σε τι τιμή</a:t>
            </a:r>
            <a:endParaRPr lang="en-US" sz="3000" b="0" u="none" strike="noStrike">
              <a:solidFill>
                <a:srgbClr val="000000"/>
              </a:solidFill>
              <a:effectLst/>
              <a:uFillTx/>
              <a:latin typeface="Arial"/>
            </a:endParaRPr>
          </a:p>
        </p:txBody>
      </p:sp>
      <p:sp>
        <p:nvSpPr>
          <p:cNvPr id="223" name="TextBox 4"/>
          <p:cNvSpPr/>
          <p:nvPr/>
        </p:nvSpPr>
        <p:spPr>
          <a:xfrm>
            <a:off x="11094480" y="6473880"/>
            <a:ext cx="545760" cy="16740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15</a:t>
            </a:r>
            <a:endParaRPr lang="en-US" sz="900" b="0" u="none" strike="noStrike">
              <a:solidFill>
                <a:srgbClr val="000000"/>
              </a:solidFill>
              <a:effectLst/>
              <a:uFillTx/>
              <a:latin typeface="Arial"/>
            </a:endParaRPr>
          </a:p>
        </p:txBody>
      </p:sp>
      <p:pic>
        <p:nvPicPr>
          <p:cNvPr id="224" name="Picture 5" descr="sales-monthly.png"/>
          <p:cNvPicPr/>
          <p:nvPr/>
        </p:nvPicPr>
        <p:blipFill>
          <a:blip r:embed="rId1"/>
          <a:stretch/>
        </p:blipFill>
        <p:spPr>
          <a:xfrm>
            <a:off x="548640" y="2102760"/>
            <a:ext cx="5346360" cy="2136960"/>
          </a:xfrm>
          <a:prstGeom prst="rect">
            <a:avLst/>
          </a:prstGeom>
          <a:noFill/>
          <a:ln w="0">
            <a:noFill/>
          </a:ln>
        </p:spPr>
      </p:pic>
      <p:sp>
        <p:nvSpPr>
          <p:cNvPr id="225" name="Rectangle 6"/>
          <p:cNvSpPr/>
          <p:nvPr/>
        </p:nvSpPr>
        <p:spPr>
          <a:xfrm>
            <a:off x="548640" y="2102760"/>
            <a:ext cx="5346360" cy="2136960"/>
          </a:xfrm>
          <a:prstGeom prst="rect">
            <a:avLst/>
          </a:prstGeom>
          <a:noFill/>
          <a:ln w="9360">
            <a:solidFill>
              <a:srgbClr val="376092"/>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26" name="TextBox 7"/>
          <p:cNvSpPr/>
          <p:nvPr/>
        </p:nvSpPr>
        <p:spPr>
          <a:xfrm>
            <a:off x="548640" y="4599000"/>
            <a:ext cx="5346360" cy="2041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Μηνιαία κατανομή εσόδων</a:t>
            </a:r>
            <a:endParaRPr lang="en-US" sz="1100" b="0" u="none" strike="noStrike">
              <a:solidFill>
                <a:srgbClr val="000000"/>
              </a:solidFill>
              <a:effectLst/>
              <a:uFillTx/>
              <a:latin typeface="Arial"/>
            </a:endParaRPr>
          </a:p>
        </p:txBody>
      </p:sp>
      <p:pic>
        <p:nvPicPr>
          <p:cNvPr id="227" name="Picture 8" descr="price-bands.png"/>
          <p:cNvPicPr/>
          <p:nvPr/>
        </p:nvPicPr>
        <p:blipFill>
          <a:blip r:embed="rId2"/>
          <a:stretch/>
        </p:blipFill>
        <p:spPr>
          <a:xfrm>
            <a:off x="6291000" y="1837440"/>
            <a:ext cx="5346360" cy="2671920"/>
          </a:xfrm>
          <a:prstGeom prst="rect">
            <a:avLst/>
          </a:prstGeom>
          <a:noFill/>
          <a:ln w="0">
            <a:noFill/>
          </a:ln>
        </p:spPr>
      </p:pic>
      <p:sp>
        <p:nvSpPr>
          <p:cNvPr id="228" name="Rectangle 9"/>
          <p:cNvSpPr/>
          <p:nvPr/>
        </p:nvSpPr>
        <p:spPr>
          <a:xfrm>
            <a:off x="6291000" y="1837440"/>
            <a:ext cx="5346360" cy="2671920"/>
          </a:xfrm>
          <a:prstGeom prst="rect">
            <a:avLst/>
          </a:prstGeom>
          <a:noFill/>
          <a:ln w="9360">
            <a:solidFill>
              <a:srgbClr val="376092"/>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29" name="TextBox 10"/>
          <p:cNvSpPr/>
          <p:nvPr/>
        </p:nvSpPr>
        <p:spPr>
          <a:xfrm>
            <a:off x="6291000" y="4603680"/>
            <a:ext cx="5346360" cy="2041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Έσοδα ανά εύρος τιμής μονάδας</a:t>
            </a:r>
            <a:endParaRPr lang="en-US" sz="1100" b="0" u="none" strike="noStrike">
              <a:solidFill>
                <a:srgbClr val="000000"/>
              </a:solidFill>
              <a:effectLst/>
              <a:uFillTx/>
              <a:latin typeface="Arial"/>
            </a:endParaRPr>
          </a:p>
        </p:txBody>
      </p:sp>
      <p:sp>
        <p:nvSpPr>
          <p:cNvPr id="230" name="TextBox 11"/>
          <p:cNvSpPr/>
          <p:nvPr/>
        </p:nvSpPr>
        <p:spPr>
          <a:xfrm>
            <a:off x="567720" y="5301360"/>
            <a:ext cx="11088720" cy="1186200"/>
          </a:xfrm>
          <a:prstGeom prst="rect">
            <a:avLst/>
          </a:prstGeom>
          <a:noFill/>
          <a:ln w="0">
            <a:noFill/>
          </a:ln>
        </p:spPr>
        <p:style>
          <a:lnRef idx="0"/>
          <a:fillRef idx="0"/>
          <a:effectRef idx="0"/>
          <a:fontRef idx="minor"/>
        </p:style>
        <p:txBody>
          <a:bodyPr lIns="0" tIns="0" rIns="0" bIns="0" anchor="t">
            <a:spAutoFit/>
          </a:bodyPr>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150" b="0" u="none" strike="noStrike">
                <a:solidFill>
                  <a:srgbClr val="241F1B"/>
                </a:solidFill>
                <a:effectLst/>
                <a:uFillTx/>
                <a:latin typeface="Calibri"/>
                <a:ea typeface="DejaVu Sans"/>
              </a:rPr>
              <a:t>Ο Νοέμβριος είναι ο πιο δυνατός μήνας και τις δύο χρονιές, λόγω της προετοιμασίας για τα Χριστούγεννα. </a:t>
            </a:r>
            <a:endParaRPr lang="en-US" sz="1150" b="0" u="none" strike="noStrike">
              <a:solidFill>
                <a:srgbClr val="000000"/>
              </a:solidFill>
              <a:effectLst/>
              <a:uFillTx/>
              <a:latin typeface="Arial"/>
            </a:endParaRPr>
          </a:p>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150" b="0" u="none" strike="noStrike">
                <a:solidFill>
                  <a:srgbClr val="241F1B"/>
                </a:solidFill>
                <a:effectLst/>
                <a:uFillTx/>
                <a:latin typeface="Calibri"/>
                <a:ea typeface="DejaVu Sans"/>
              </a:rPr>
              <a:t>Τα φθηνά προϊόντα, από μία ως πέντε λίρες τη μονάδα, φέρνουν το 64% των εσόδων.</a:t>
            </a:r>
            <a:endParaRPr lang="en-US" sz="1150" b="0" u="none" strike="noStrike">
              <a:solidFill>
                <a:srgbClr val="000000"/>
              </a:solidFill>
              <a:effectLst/>
              <a:uFillTx/>
              <a:latin typeface="Arial"/>
            </a:endParaRPr>
          </a:p>
          <a:p>
            <a:pPr defTabSz="457200">
              <a:lnSpc>
                <a:spcPct val="122000"/>
              </a:lnSpc>
              <a:spcAft>
                <a:spcPts val="901"/>
              </a:spcAft>
            </a:pPr>
            <a:endParaRPr lang="en-US"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1" name="TextBox 1"/>
          <p:cNvSpPr/>
          <p:nvPr/>
        </p:nvSpPr>
        <p:spPr>
          <a:xfrm>
            <a:off x="548640" y="457200"/>
            <a:ext cx="1108872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Η ΤΕΧΝΙΚΗ</a:t>
            </a:r>
            <a:endParaRPr lang="en-US" sz="1200" b="0" u="none" strike="noStrike">
              <a:solidFill>
                <a:srgbClr val="000000"/>
              </a:solidFill>
              <a:effectLst/>
              <a:uFillTx/>
              <a:latin typeface="Arial"/>
            </a:endParaRPr>
          </a:p>
        </p:txBody>
      </p:sp>
      <p:sp>
        <p:nvSpPr>
          <p:cNvPr id="232" name="TextBox 2"/>
          <p:cNvSpPr/>
          <p:nvPr/>
        </p:nvSpPr>
        <p:spPr>
          <a:xfrm>
            <a:off x="548640" y="749880"/>
            <a:ext cx="11088720" cy="5572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Ποια προϊόντα αγοράζονται μαζί</a:t>
            </a:r>
            <a:endParaRPr lang="en-US" sz="3000" b="0" u="none" strike="noStrike">
              <a:solidFill>
                <a:srgbClr val="000000"/>
              </a:solidFill>
              <a:effectLst/>
              <a:uFillTx/>
              <a:latin typeface="Arial"/>
            </a:endParaRPr>
          </a:p>
        </p:txBody>
      </p:sp>
      <p:sp>
        <p:nvSpPr>
          <p:cNvPr id="233" name="TextBox 4"/>
          <p:cNvSpPr/>
          <p:nvPr/>
        </p:nvSpPr>
        <p:spPr>
          <a:xfrm>
            <a:off x="11094480" y="6473880"/>
            <a:ext cx="545760" cy="16740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16</a:t>
            </a:r>
            <a:endParaRPr lang="en-US" sz="900" b="0" u="none" strike="noStrike">
              <a:solidFill>
                <a:srgbClr val="000000"/>
              </a:solidFill>
              <a:effectLst/>
              <a:uFillTx/>
              <a:latin typeface="Arial"/>
            </a:endParaRPr>
          </a:p>
        </p:txBody>
      </p:sp>
      <p:sp>
        <p:nvSpPr>
          <p:cNvPr id="234" name="TextBox 5"/>
          <p:cNvSpPr/>
          <p:nvPr/>
        </p:nvSpPr>
        <p:spPr>
          <a:xfrm>
            <a:off x="548640" y="2435040"/>
            <a:ext cx="5346360" cy="1982520"/>
          </a:xfrm>
          <a:prstGeom prst="rect">
            <a:avLst/>
          </a:prstGeom>
          <a:noFill/>
          <a:ln w="0">
            <a:noFill/>
          </a:ln>
        </p:spPr>
        <p:style>
          <a:lnRef idx="0"/>
          <a:fillRef idx="0"/>
          <a:effectRef idx="0"/>
          <a:fontRef idx="minor"/>
        </p:style>
        <p:txBody>
          <a:bodyPr lIns="0" tIns="0" rIns="0" bIns="0" anchor="t">
            <a:spAutoFit/>
          </a:bodyPr>
          <a:p>
            <a:pPr defTabSz="457200">
              <a:lnSpc>
                <a:spcPct val="122000"/>
              </a:lnSpc>
              <a:spcBef>
                <a:spcPts val="1191"/>
              </a:spcBef>
              <a:spcAft>
                <a:spcPts val="992"/>
              </a:spcAft>
            </a:pPr>
            <a:r>
              <a:rPr lang="en-US" sz="2000" b="0" u="none" strike="noStrike">
                <a:solidFill>
                  <a:srgbClr val="224B12"/>
                </a:solidFill>
                <a:effectLst/>
                <a:uFillTx/>
                <a:latin typeface="Calibri"/>
                <a:ea typeface="DejaVu Sans"/>
              </a:rPr>
              <a:t>- </a:t>
            </a:r>
            <a:r>
              <a:rPr lang="en-US" sz="1500" b="0" u="none" strike="noStrike">
                <a:solidFill>
                  <a:srgbClr val="241F1B"/>
                </a:solidFill>
                <a:effectLst/>
                <a:uFillTx/>
                <a:latin typeface="Calibri"/>
                <a:ea typeface="DejaVu Sans"/>
              </a:rPr>
              <a:t>Σε σύνολο 10 καλαθιών, αν τα 3 περιέχουν κινητό και φορτιστή μαζί, το Support είναι 0,3.</a:t>
            </a:r>
            <a:endParaRPr lang="en-US" sz="1500" b="0" u="none" strike="noStrike">
              <a:solidFill>
                <a:srgbClr val="000000"/>
              </a:solidFill>
              <a:effectLst/>
              <a:uFillTx/>
              <a:latin typeface="Arial"/>
            </a:endParaRPr>
          </a:p>
          <a:p>
            <a:pPr defTabSz="457200">
              <a:lnSpc>
                <a:spcPct val="122000"/>
              </a:lnSpc>
              <a:spcBef>
                <a:spcPts val="1191"/>
              </a:spcBef>
              <a:spcAft>
                <a:spcPts val="992"/>
              </a:spcAft>
            </a:pPr>
            <a:r>
              <a:rPr lang="en-US" sz="2000" b="0" u="none" strike="noStrike">
                <a:solidFill>
                  <a:srgbClr val="224B12"/>
                </a:solidFill>
                <a:effectLst/>
                <a:uFillTx/>
                <a:latin typeface="Calibri"/>
                <a:ea typeface="DejaVu Sans"/>
              </a:rPr>
              <a:t>- </a:t>
            </a:r>
            <a:r>
              <a:rPr lang="en-US" sz="1500" b="0" u="none" strike="noStrike">
                <a:solidFill>
                  <a:srgbClr val="241F1B"/>
                </a:solidFill>
                <a:effectLst/>
                <a:uFillTx/>
                <a:latin typeface="Calibri"/>
                <a:ea typeface="DejaVu Sans"/>
              </a:rPr>
              <a:t>Αν ο φορτιστής είναι σπάνιο προϊόν, το Lift εκτοξεύεται στο 3, δηλαδή δείχνει τριπλάσια πιθανότητα αγοράς.</a:t>
            </a:r>
            <a:endParaRPr lang="en-US" sz="1500" b="0" u="none" strike="noStrike">
              <a:solidFill>
                <a:srgbClr val="000000"/>
              </a:solidFill>
              <a:effectLst/>
              <a:uFillTx/>
              <a:latin typeface="Arial"/>
            </a:endParaRPr>
          </a:p>
          <a:p>
            <a:pPr defTabSz="457200">
              <a:lnSpc>
                <a:spcPct val="122000"/>
              </a:lnSpc>
              <a:spcAft>
                <a:spcPts val="901"/>
              </a:spcAft>
            </a:pPr>
            <a:endParaRPr lang="en-US" sz="1500" b="0" u="none" strike="noStrike">
              <a:solidFill>
                <a:srgbClr val="000000"/>
              </a:solidFill>
              <a:effectLst/>
              <a:uFillTx/>
              <a:latin typeface="Arial"/>
            </a:endParaRPr>
          </a:p>
        </p:txBody>
      </p:sp>
      <p:sp>
        <p:nvSpPr>
          <p:cNvPr id="235" name="Rounded Rectangle 6"/>
          <p:cNvSpPr/>
          <p:nvPr/>
        </p:nvSpPr>
        <p:spPr>
          <a:xfrm>
            <a:off x="6291000" y="2258640"/>
            <a:ext cx="5346360" cy="104868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36" name="TextBox 7"/>
          <p:cNvSpPr/>
          <p:nvPr/>
        </p:nvSpPr>
        <p:spPr>
          <a:xfrm>
            <a:off x="6519600" y="2423160"/>
            <a:ext cx="4889160" cy="250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50" b="1" u="none" strike="noStrike">
                <a:solidFill>
                  <a:srgbClr val="2C5530"/>
                </a:solidFill>
                <a:effectLst/>
                <a:uFillTx/>
                <a:latin typeface="Cambria"/>
                <a:ea typeface="DejaVu Sans"/>
              </a:rPr>
              <a:t>APRIORI, 1994</a:t>
            </a:r>
            <a:endParaRPr lang="en-US" sz="1350" b="0" u="none" strike="noStrike">
              <a:solidFill>
                <a:srgbClr val="000000"/>
              </a:solidFill>
              <a:effectLst/>
              <a:uFillTx/>
              <a:latin typeface="Arial"/>
            </a:endParaRPr>
          </a:p>
        </p:txBody>
      </p:sp>
      <p:sp>
        <p:nvSpPr>
          <p:cNvPr id="237" name="TextBox 8"/>
          <p:cNvSpPr/>
          <p:nvPr/>
        </p:nvSpPr>
        <p:spPr>
          <a:xfrm>
            <a:off x="6519600" y="2761560"/>
            <a:ext cx="4889160" cy="2599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400" b="0" u="none" strike="noStrike">
                <a:solidFill>
                  <a:srgbClr val="241F1B"/>
                </a:solidFill>
                <a:effectLst/>
                <a:uFillTx/>
                <a:latin typeface="Calibri"/>
                <a:ea typeface="DejaVu Sans"/>
              </a:rPr>
              <a:t>Σαρώνει τη βάση πολλές φορές, ένα επίπεδο τη φορά</a:t>
            </a:r>
            <a:endParaRPr lang="en-US" sz="1400" b="0" u="none" strike="noStrike">
              <a:solidFill>
                <a:srgbClr val="000000"/>
              </a:solidFill>
              <a:effectLst/>
              <a:uFillTx/>
              <a:latin typeface="Arial"/>
            </a:endParaRPr>
          </a:p>
        </p:txBody>
      </p:sp>
      <p:sp>
        <p:nvSpPr>
          <p:cNvPr id="238" name="Rounded Rectangle 9"/>
          <p:cNvSpPr/>
          <p:nvPr/>
        </p:nvSpPr>
        <p:spPr>
          <a:xfrm>
            <a:off x="6291000" y="3493080"/>
            <a:ext cx="5346360" cy="104868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39" name="TextBox 10"/>
          <p:cNvSpPr/>
          <p:nvPr/>
        </p:nvSpPr>
        <p:spPr>
          <a:xfrm>
            <a:off x="6519600" y="3657600"/>
            <a:ext cx="4889160" cy="250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50" b="1" u="none" strike="noStrike">
                <a:solidFill>
                  <a:srgbClr val="2C5530"/>
                </a:solidFill>
                <a:effectLst/>
                <a:uFillTx/>
                <a:latin typeface="Cambria"/>
                <a:ea typeface="DejaVu Sans"/>
              </a:rPr>
              <a:t>FP-GROWTH, 2000</a:t>
            </a:r>
            <a:endParaRPr lang="en-US" sz="1350" b="0" u="none" strike="noStrike">
              <a:solidFill>
                <a:srgbClr val="000000"/>
              </a:solidFill>
              <a:effectLst/>
              <a:uFillTx/>
              <a:latin typeface="Arial"/>
            </a:endParaRPr>
          </a:p>
        </p:txBody>
      </p:sp>
      <p:sp>
        <p:nvSpPr>
          <p:cNvPr id="240" name="TextBox 11"/>
          <p:cNvSpPr/>
          <p:nvPr/>
        </p:nvSpPr>
        <p:spPr>
          <a:xfrm>
            <a:off x="6519600" y="3996000"/>
            <a:ext cx="4889160" cy="2599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400" b="0" u="none" strike="noStrike">
                <a:solidFill>
                  <a:srgbClr val="241F1B"/>
                </a:solidFill>
                <a:effectLst/>
                <a:uFillTx/>
                <a:latin typeface="Calibri"/>
                <a:ea typeface="DejaVu Sans"/>
              </a:rPr>
              <a:t>Χτίζει ένα συμπιεσμένο δέντρο και αναζητά σε αυτό</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1" name="TextBox 1"/>
          <p:cNvSpPr/>
          <p:nvPr/>
        </p:nvSpPr>
        <p:spPr>
          <a:xfrm>
            <a:off x="548640" y="457200"/>
            <a:ext cx="1108872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ΕΞΟΡΥΞΗ ΣΥΧΝΩΝ ΣΥΝΟΛΩΝ</a:t>
            </a:r>
            <a:endParaRPr lang="en-US" sz="1200" b="0" u="none" strike="noStrike">
              <a:solidFill>
                <a:srgbClr val="000000"/>
              </a:solidFill>
              <a:effectLst/>
              <a:uFillTx/>
              <a:latin typeface="Arial"/>
            </a:endParaRPr>
          </a:p>
        </p:txBody>
      </p:sp>
      <p:sp>
        <p:nvSpPr>
          <p:cNvPr id="242" name="TextBox 2"/>
          <p:cNvSpPr/>
          <p:nvPr/>
        </p:nvSpPr>
        <p:spPr>
          <a:xfrm>
            <a:off x="548640" y="749880"/>
            <a:ext cx="11088720" cy="5572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Apriori vs FP-Growth</a:t>
            </a:r>
            <a:endParaRPr lang="en-US" sz="3000" b="0" u="none" strike="noStrike">
              <a:solidFill>
                <a:srgbClr val="000000"/>
              </a:solidFill>
              <a:effectLst/>
              <a:uFillTx/>
              <a:latin typeface="Arial"/>
            </a:endParaRPr>
          </a:p>
        </p:txBody>
      </p:sp>
      <p:sp>
        <p:nvSpPr>
          <p:cNvPr id="243" name="TextBox 3"/>
          <p:cNvSpPr/>
          <p:nvPr/>
        </p:nvSpPr>
        <p:spPr>
          <a:xfrm>
            <a:off x="548640" y="6473880"/>
            <a:ext cx="3654720" cy="16560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244" name="TextBox 4"/>
          <p:cNvSpPr/>
          <p:nvPr/>
        </p:nvSpPr>
        <p:spPr>
          <a:xfrm>
            <a:off x="11094480" y="6473880"/>
            <a:ext cx="545760" cy="16740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17</a:t>
            </a:r>
            <a:endParaRPr lang="en-US" sz="900" b="0" u="none" strike="noStrike">
              <a:solidFill>
                <a:srgbClr val="000000"/>
              </a:solidFill>
              <a:effectLst/>
              <a:uFillTx/>
              <a:latin typeface="Arial"/>
            </a:endParaRPr>
          </a:p>
        </p:txBody>
      </p:sp>
      <p:pic>
        <p:nvPicPr>
          <p:cNvPr id="245" name="Picture 6" descr="basket-sizes.png"/>
          <p:cNvPicPr/>
          <p:nvPr/>
        </p:nvPicPr>
        <p:blipFill>
          <a:blip r:embed="rId1"/>
          <a:stretch/>
        </p:blipFill>
        <p:spPr>
          <a:xfrm>
            <a:off x="548640" y="2258640"/>
            <a:ext cx="5346360" cy="2374560"/>
          </a:xfrm>
          <a:prstGeom prst="rect">
            <a:avLst/>
          </a:prstGeom>
          <a:noFill/>
          <a:ln w="0">
            <a:noFill/>
          </a:ln>
        </p:spPr>
      </p:pic>
      <p:sp>
        <p:nvSpPr>
          <p:cNvPr id="246" name="Rectangle 7"/>
          <p:cNvSpPr/>
          <p:nvPr/>
        </p:nvSpPr>
        <p:spPr>
          <a:xfrm>
            <a:off x="548640" y="2258640"/>
            <a:ext cx="5346360" cy="2374560"/>
          </a:xfrm>
          <a:prstGeom prst="rect">
            <a:avLst/>
          </a:prstGeom>
          <a:noFill/>
          <a:ln w="9360">
            <a:solidFill>
              <a:srgbClr val="376092"/>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47" name="TextBox 8"/>
          <p:cNvSpPr/>
          <p:nvPr/>
        </p:nvSpPr>
        <p:spPr>
          <a:xfrm>
            <a:off x="548640" y="4727520"/>
            <a:ext cx="5346360" cy="2041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Κατανομή μεγέθους καλαθιού, λογαριθμική κλίμακα</a:t>
            </a:r>
            <a:endParaRPr lang="en-US" sz="1100" b="0" u="none" strike="noStrike">
              <a:solidFill>
                <a:srgbClr val="000000"/>
              </a:solidFill>
              <a:effectLst/>
              <a:uFillTx/>
              <a:latin typeface="Arial"/>
            </a:endParaRPr>
          </a:p>
        </p:txBody>
      </p:sp>
      <p:sp>
        <p:nvSpPr>
          <p:cNvPr id="248" name="Rounded Rectangle 9"/>
          <p:cNvSpPr/>
          <p:nvPr/>
        </p:nvSpPr>
        <p:spPr>
          <a:xfrm>
            <a:off x="6248520" y="2419560"/>
            <a:ext cx="2598480" cy="96624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49" name="TextBox 10"/>
          <p:cNvSpPr/>
          <p:nvPr/>
        </p:nvSpPr>
        <p:spPr>
          <a:xfrm>
            <a:off x="6248520" y="2511000"/>
            <a:ext cx="2598480" cy="4456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36.269</a:t>
            </a:r>
            <a:endParaRPr lang="en-US" sz="2400" b="0" u="none" strike="noStrike">
              <a:solidFill>
                <a:srgbClr val="000000"/>
              </a:solidFill>
              <a:effectLst/>
              <a:uFillTx/>
              <a:latin typeface="Arial"/>
            </a:endParaRPr>
          </a:p>
        </p:txBody>
      </p:sp>
      <p:sp>
        <p:nvSpPr>
          <p:cNvPr id="250" name="TextBox 11"/>
          <p:cNvSpPr/>
          <p:nvPr/>
        </p:nvSpPr>
        <p:spPr>
          <a:xfrm>
            <a:off x="6303600" y="2968200"/>
            <a:ext cx="2488680" cy="20412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Καλάθια με 2+ προϊόντα</a:t>
            </a:r>
            <a:endParaRPr lang="en-US" sz="1100" b="0" u="none" strike="noStrike">
              <a:solidFill>
                <a:srgbClr val="000000"/>
              </a:solidFill>
              <a:effectLst/>
              <a:uFillTx/>
              <a:latin typeface="Arial"/>
            </a:endParaRPr>
          </a:p>
        </p:txBody>
      </p:sp>
      <p:sp>
        <p:nvSpPr>
          <p:cNvPr id="251" name="Rounded Rectangle 12"/>
          <p:cNvSpPr/>
          <p:nvPr/>
        </p:nvSpPr>
        <p:spPr>
          <a:xfrm>
            <a:off x="8996400" y="2419560"/>
            <a:ext cx="2598480" cy="96624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52" name="TextBox 13"/>
          <p:cNvSpPr/>
          <p:nvPr/>
        </p:nvSpPr>
        <p:spPr>
          <a:xfrm>
            <a:off x="8996400" y="2511000"/>
            <a:ext cx="2598480" cy="4456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17</a:t>
            </a:r>
            <a:endParaRPr lang="en-US" sz="2400" b="0" u="none" strike="noStrike">
              <a:solidFill>
                <a:srgbClr val="000000"/>
              </a:solidFill>
              <a:effectLst/>
              <a:uFillTx/>
              <a:latin typeface="Arial"/>
            </a:endParaRPr>
          </a:p>
        </p:txBody>
      </p:sp>
      <p:sp>
        <p:nvSpPr>
          <p:cNvPr id="253" name="TextBox 14"/>
          <p:cNvSpPr/>
          <p:nvPr/>
        </p:nvSpPr>
        <p:spPr>
          <a:xfrm>
            <a:off x="9051120" y="2968200"/>
            <a:ext cx="2488680" cy="20412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Προϊόντα στο καλάθι</a:t>
            </a:r>
            <a:endParaRPr lang="en-US" sz="1100" b="0" u="none" strike="noStrike">
              <a:solidFill>
                <a:srgbClr val="000000"/>
              </a:solidFill>
              <a:effectLst/>
              <a:uFillTx/>
              <a:latin typeface="Arial"/>
            </a:endParaRPr>
          </a:p>
        </p:txBody>
      </p:sp>
      <p:sp>
        <p:nvSpPr>
          <p:cNvPr id="254" name="Rectangle 15"/>
          <p:cNvSpPr/>
          <p:nvPr/>
        </p:nvSpPr>
        <p:spPr>
          <a:xfrm>
            <a:off x="6248520" y="3535200"/>
            <a:ext cx="5346360" cy="344520"/>
          </a:xfrm>
          <a:prstGeom prst="rect">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55" name="TextBox 16"/>
          <p:cNvSpPr/>
          <p:nvPr/>
        </p:nvSpPr>
        <p:spPr>
          <a:xfrm>
            <a:off x="6339960" y="3617280"/>
            <a:ext cx="163296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Αλγόριθμος</a:t>
            </a:r>
            <a:endParaRPr lang="en-US" sz="1200" b="0" u="none" strike="noStrike">
              <a:solidFill>
                <a:srgbClr val="000000"/>
              </a:solidFill>
              <a:effectLst/>
              <a:uFillTx/>
              <a:latin typeface="Arial"/>
            </a:endParaRPr>
          </a:p>
        </p:txBody>
      </p:sp>
      <p:sp>
        <p:nvSpPr>
          <p:cNvPr id="256" name="TextBox 17"/>
          <p:cNvSpPr/>
          <p:nvPr/>
        </p:nvSpPr>
        <p:spPr>
          <a:xfrm>
            <a:off x="8158680" y="3617280"/>
            <a:ext cx="99108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Χρόνος</a:t>
            </a:r>
            <a:endParaRPr lang="en-US" sz="1200" b="0" u="none" strike="noStrike">
              <a:solidFill>
                <a:srgbClr val="000000"/>
              </a:solidFill>
              <a:effectLst/>
              <a:uFillTx/>
              <a:latin typeface="Arial"/>
            </a:endParaRPr>
          </a:p>
        </p:txBody>
      </p:sp>
      <p:sp>
        <p:nvSpPr>
          <p:cNvPr id="257" name="TextBox 18"/>
          <p:cNvSpPr/>
          <p:nvPr/>
        </p:nvSpPr>
        <p:spPr>
          <a:xfrm>
            <a:off x="9335520" y="3617280"/>
            <a:ext cx="99108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Σύνολα</a:t>
            </a:r>
            <a:endParaRPr lang="en-US" sz="1200" b="0" u="none" strike="noStrike">
              <a:solidFill>
                <a:srgbClr val="000000"/>
              </a:solidFill>
              <a:effectLst/>
              <a:uFillTx/>
              <a:latin typeface="Arial"/>
            </a:endParaRPr>
          </a:p>
        </p:txBody>
      </p:sp>
      <p:sp>
        <p:nvSpPr>
          <p:cNvPr id="258" name="TextBox 19"/>
          <p:cNvSpPr/>
          <p:nvPr/>
        </p:nvSpPr>
        <p:spPr>
          <a:xfrm>
            <a:off x="10512360" y="3617280"/>
            <a:ext cx="99108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Κανόνες</a:t>
            </a:r>
            <a:endParaRPr lang="en-US" sz="1200" b="0" u="none" strike="noStrike">
              <a:solidFill>
                <a:srgbClr val="000000"/>
              </a:solidFill>
              <a:effectLst/>
              <a:uFillTx/>
              <a:latin typeface="Arial"/>
            </a:endParaRPr>
          </a:p>
        </p:txBody>
      </p:sp>
      <p:sp>
        <p:nvSpPr>
          <p:cNvPr id="259" name="TextBox 20"/>
          <p:cNvSpPr/>
          <p:nvPr/>
        </p:nvSpPr>
        <p:spPr>
          <a:xfrm>
            <a:off x="6339960" y="3974040"/>
            <a:ext cx="163296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Apriori</a:t>
            </a:r>
            <a:endParaRPr lang="en-US" sz="1250" b="0" u="none" strike="noStrike">
              <a:solidFill>
                <a:srgbClr val="000000"/>
              </a:solidFill>
              <a:effectLst/>
              <a:uFillTx/>
              <a:latin typeface="Arial"/>
            </a:endParaRPr>
          </a:p>
        </p:txBody>
      </p:sp>
      <p:sp>
        <p:nvSpPr>
          <p:cNvPr id="260" name="TextBox 21"/>
          <p:cNvSpPr/>
          <p:nvPr/>
        </p:nvSpPr>
        <p:spPr>
          <a:xfrm>
            <a:off x="8158680" y="3974040"/>
            <a:ext cx="99108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5,14 s</a:t>
            </a:r>
            <a:endParaRPr lang="en-US" sz="1250" b="0" u="none" strike="noStrike">
              <a:solidFill>
                <a:srgbClr val="000000"/>
              </a:solidFill>
              <a:effectLst/>
              <a:uFillTx/>
              <a:latin typeface="Arial"/>
            </a:endParaRPr>
          </a:p>
        </p:txBody>
      </p:sp>
      <p:sp>
        <p:nvSpPr>
          <p:cNvPr id="261" name="TextBox 22"/>
          <p:cNvSpPr/>
          <p:nvPr/>
        </p:nvSpPr>
        <p:spPr>
          <a:xfrm>
            <a:off x="9335520" y="3974040"/>
            <a:ext cx="99108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385</a:t>
            </a:r>
            <a:endParaRPr lang="en-US" sz="1250" b="0" u="none" strike="noStrike">
              <a:solidFill>
                <a:srgbClr val="000000"/>
              </a:solidFill>
              <a:effectLst/>
              <a:uFillTx/>
              <a:latin typeface="Arial"/>
            </a:endParaRPr>
          </a:p>
        </p:txBody>
      </p:sp>
      <p:sp>
        <p:nvSpPr>
          <p:cNvPr id="262" name="TextBox 23"/>
          <p:cNvSpPr/>
          <p:nvPr/>
        </p:nvSpPr>
        <p:spPr>
          <a:xfrm>
            <a:off x="10512360" y="3974040"/>
            <a:ext cx="99108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134</a:t>
            </a:r>
            <a:endParaRPr lang="en-US" sz="1250" b="0" u="none" strike="noStrike">
              <a:solidFill>
                <a:srgbClr val="000000"/>
              </a:solidFill>
              <a:effectLst/>
              <a:uFillTx/>
              <a:latin typeface="Arial"/>
            </a:endParaRPr>
          </a:p>
        </p:txBody>
      </p:sp>
      <p:sp>
        <p:nvSpPr>
          <p:cNvPr id="263" name="TextBox 25"/>
          <p:cNvSpPr/>
          <p:nvPr/>
        </p:nvSpPr>
        <p:spPr>
          <a:xfrm>
            <a:off x="6339960" y="4339800"/>
            <a:ext cx="163296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FP-Growth</a:t>
            </a:r>
            <a:endParaRPr lang="en-US" sz="1250" b="0" u="none" strike="noStrike">
              <a:solidFill>
                <a:srgbClr val="000000"/>
              </a:solidFill>
              <a:effectLst/>
              <a:uFillTx/>
              <a:latin typeface="Arial"/>
            </a:endParaRPr>
          </a:p>
        </p:txBody>
      </p:sp>
      <p:sp>
        <p:nvSpPr>
          <p:cNvPr id="264" name="TextBox 26"/>
          <p:cNvSpPr/>
          <p:nvPr/>
        </p:nvSpPr>
        <p:spPr>
          <a:xfrm>
            <a:off x="8158680" y="4339800"/>
            <a:ext cx="99108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1,96 s</a:t>
            </a:r>
            <a:endParaRPr lang="en-US" sz="1250" b="0" u="none" strike="noStrike">
              <a:solidFill>
                <a:srgbClr val="000000"/>
              </a:solidFill>
              <a:effectLst/>
              <a:uFillTx/>
              <a:latin typeface="Arial"/>
            </a:endParaRPr>
          </a:p>
        </p:txBody>
      </p:sp>
      <p:sp>
        <p:nvSpPr>
          <p:cNvPr id="265" name="TextBox 27"/>
          <p:cNvSpPr/>
          <p:nvPr/>
        </p:nvSpPr>
        <p:spPr>
          <a:xfrm>
            <a:off x="9335520" y="4339800"/>
            <a:ext cx="99108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385</a:t>
            </a:r>
            <a:endParaRPr lang="en-US" sz="1250" b="0" u="none" strike="noStrike">
              <a:solidFill>
                <a:srgbClr val="000000"/>
              </a:solidFill>
              <a:effectLst/>
              <a:uFillTx/>
              <a:latin typeface="Arial"/>
            </a:endParaRPr>
          </a:p>
        </p:txBody>
      </p:sp>
      <p:sp>
        <p:nvSpPr>
          <p:cNvPr id="266" name="TextBox 28"/>
          <p:cNvSpPr/>
          <p:nvPr/>
        </p:nvSpPr>
        <p:spPr>
          <a:xfrm>
            <a:off x="10512360" y="4339800"/>
            <a:ext cx="99108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134</a:t>
            </a:r>
            <a:endParaRPr lang="en-U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7" name="TextBox 1"/>
          <p:cNvSpPr/>
          <p:nvPr/>
        </p:nvSpPr>
        <p:spPr>
          <a:xfrm>
            <a:off x="548640" y="457200"/>
            <a:ext cx="1108872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ΚΑΝΟΝΕΣ ΣΥΣΧΕΤΙΣΗΣ</a:t>
            </a:r>
            <a:endParaRPr lang="en-US" sz="1200" b="0" u="none" strike="noStrike">
              <a:solidFill>
                <a:srgbClr val="000000"/>
              </a:solidFill>
              <a:effectLst/>
              <a:uFillTx/>
              <a:latin typeface="Arial"/>
            </a:endParaRPr>
          </a:p>
        </p:txBody>
      </p:sp>
      <p:sp>
        <p:nvSpPr>
          <p:cNvPr id="268" name="TextBox 2"/>
          <p:cNvSpPr/>
          <p:nvPr/>
        </p:nvSpPr>
        <p:spPr>
          <a:xfrm>
            <a:off x="548640" y="749880"/>
            <a:ext cx="11088720" cy="5572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Lift</a:t>
            </a:r>
            <a:endParaRPr lang="en-US" sz="3000" b="0" u="none" strike="noStrike">
              <a:solidFill>
                <a:srgbClr val="000000"/>
              </a:solidFill>
              <a:effectLst/>
              <a:uFillTx/>
              <a:latin typeface="Arial"/>
            </a:endParaRPr>
          </a:p>
        </p:txBody>
      </p:sp>
      <p:sp>
        <p:nvSpPr>
          <p:cNvPr id="269" name="TextBox 4"/>
          <p:cNvSpPr/>
          <p:nvPr/>
        </p:nvSpPr>
        <p:spPr>
          <a:xfrm>
            <a:off x="11094480" y="6473880"/>
            <a:ext cx="545760" cy="16740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18</a:t>
            </a:r>
            <a:endParaRPr lang="en-US" sz="900" b="0" u="none" strike="noStrike">
              <a:solidFill>
                <a:srgbClr val="000000"/>
              </a:solidFill>
              <a:effectLst/>
              <a:uFillTx/>
              <a:latin typeface="Arial"/>
            </a:endParaRPr>
          </a:p>
        </p:txBody>
      </p:sp>
      <p:pic>
        <p:nvPicPr>
          <p:cNvPr id="270" name="Picture 5" descr="association-rules.png"/>
          <p:cNvPicPr/>
          <p:nvPr/>
        </p:nvPicPr>
        <p:blipFill>
          <a:blip r:embed="rId1"/>
          <a:stretch/>
        </p:blipFill>
        <p:spPr>
          <a:xfrm>
            <a:off x="809280" y="1755360"/>
            <a:ext cx="4825080" cy="3014640"/>
          </a:xfrm>
          <a:prstGeom prst="rect">
            <a:avLst/>
          </a:prstGeom>
          <a:noFill/>
          <a:ln w="0">
            <a:noFill/>
          </a:ln>
        </p:spPr>
      </p:pic>
      <p:sp>
        <p:nvSpPr>
          <p:cNvPr id="271" name="Rectangle 6"/>
          <p:cNvSpPr/>
          <p:nvPr/>
        </p:nvSpPr>
        <p:spPr>
          <a:xfrm>
            <a:off x="809280" y="1755360"/>
            <a:ext cx="4825080" cy="3014640"/>
          </a:xfrm>
          <a:prstGeom prst="rect">
            <a:avLst/>
          </a:prstGeom>
          <a:noFill/>
          <a:ln w="9360">
            <a:solidFill>
              <a:srgbClr val="376092"/>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72" name="TextBox 7"/>
          <p:cNvSpPr/>
          <p:nvPr/>
        </p:nvSpPr>
        <p:spPr>
          <a:xfrm>
            <a:off x="548640" y="4864320"/>
            <a:ext cx="5346360" cy="2041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Οι 134 κανόνες: support έναντι confidence, χρώμα το lift</a:t>
            </a:r>
            <a:endParaRPr lang="en-US" sz="1100" b="0" u="none" strike="noStrike">
              <a:solidFill>
                <a:srgbClr val="000000"/>
              </a:solidFill>
              <a:effectLst/>
              <a:uFillTx/>
              <a:latin typeface="Arial"/>
            </a:endParaRPr>
          </a:p>
        </p:txBody>
      </p:sp>
      <p:pic>
        <p:nvPicPr>
          <p:cNvPr id="273" name="Picture 8" descr="support-sensitivity.png"/>
          <p:cNvPicPr/>
          <p:nvPr/>
        </p:nvPicPr>
        <p:blipFill>
          <a:blip r:embed="rId2"/>
          <a:stretch/>
        </p:blipFill>
        <p:spPr>
          <a:xfrm>
            <a:off x="6291000" y="1926720"/>
            <a:ext cx="5346360" cy="2671920"/>
          </a:xfrm>
          <a:prstGeom prst="rect">
            <a:avLst/>
          </a:prstGeom>
          <a:noFill/>
          <a:ln w="0">
            <a:noFill/>
          </a:ln>
        </p:spPr>
      </p:pic>
      <p:sp>
        <p:nvSpPr>
          <p:cNvPr id="274" name="Rectangle 9"/>
          <p:cNvSpPr/>
          <p:nvPr/>
        </p:nvSpPr>
        <p:spPr>
          <a:xfrm>
            <a:off x="6291000" y="1926720"/>
            <a:ext cx="5346360" cy="2671920"/>
          </a:xfrm>
          <a:prstGeom prst="rect">
            <a:avLst/>
          </a:prstGeom>
          <a:noFill/>
          <a:ln w="9360">
            <a:solidFill>
              <a:srgbClr val="376092"/>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75" name="TextBox 10"/>
          <p:cNvSpPr/>
          <p:nvPr/>
        </p:nvSpPr>
        <p:spPr>
          <a:xfrm>
            <a:off x="6291000" y="4864320"/>
            <a:ext cx="5346360" cy="2041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Πλήθος συχνών συνόλων ανά κατώφλι support</a:t>
            </a:r>
            <a:endParaRPr lang="en-US" sz="1100" b="0" u="none" strike="noStrike">
              <a:solidFill>
                <a:srgbClr val="000000"/>
              </a:solidFill>
              <a:effectLst/>
              <a:uFillTx/>
              <a:latin typeface="Arial"/>
            </a:endParaRPr>
          </a:p>
        </p:txBody>
      </p:sp>
      <p:sp>
        <p:nvSpPr>
          <p:cNvPr id="276" name="TextBox 11"/>
          <p:cNvSpPr/>
          <p:nvPr/>
        </p:nvSpPr>
        <p:spPr>
          <a:xfrm>
            <a:off x="548640" y="5389200"/>
            <a:ext cx="11088720" cy="857880"/>
          </a:xfrm>
          <a:prstGeom prst="rect">
            <a:avLst/>
          </a:prstGeom>
          <a:noFill/>
          <a:ln w="0">
            <a:noFill/>
          </a:ln>
        </p:spPr>
        <p:style>
          <a:lnRef idx="0"/>
          <a:fillRef idx="0"/>
          <a:effectRef idx="0"/>
          <a:fontRef idx="minor"/>
        </p:style>
        <p:txBody>
          <a:bodyPr lIns="0" tIns="0" rIns="0" bIns="0" anchor="t">
            <a:spAutoFit/>
          </a:bodyPr>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300" b="0" u="none" strike="noStrike">
                <a:solidFill>
                  <a:srgbClr val="241F1B"/>
                </a:solidFill>
                <a:effectLst/>
                <a:uFillTx/>
                <a:latin typeface="Calibri"/>
                <a:ea typeface="DejaVu Sans"/>
              </a:rPr>
              <a:t>Ο Lift αφορά τις χρωματικές παραλλαγές του REGENCY TEACUP AND SAUCER. Αγοράζονται μαζί εικοσιπέντε φορές πιο συχνά απ' ό,τι αν ήταν άσχετα μεταξύ τους.</a:t>
            </a:r>
            <a:endParaRPr lang="en-US" sz="1300" b="0" u="none" strike="noStrike">
              <a:solidFill>
                <a:srgbClr val="000000"/>
              </a:solidFill>
              <a:effectLst/>
              <a:uFillTx/>
              <a:latin typeface="Arial"/>
            </a:endParaRPr>
          </a:p>
          <a:p>
            <a:pPr defTabSz="457200">
              <a:lnSpc>
                <a:spcPct val="122000"/>
              </a:lnSpc>
              <a:spcAft>
                <a:spcPts val="901"/>
              </a:spcAft>
            </a:pPr>
            <a:r>
              <a:rPr lang="en-US" sz="2000" b="0" u="none" strike="noStrike">
                <a:solidFill>
                  <a:srgbClr val="224B12"/>
                </a:solidFill>
                <a:effectLst/>
                <a:uFillTx/>
                <a:latin typeface="Calibri"/>
                <a:ea typeface="DejaVu Sans"/>
              </a:rPr>
              <a:t>-</a:t>
            </a:r>
            <a:r>
              <a:rPr lang="en-US" sz="1300" b="0" u="none" strike="noStrike">
                <a:solidFill>
                  <a:srgbClr val="224B12"/>
                </a:solidFill>
                <a:effectLst/>
                <a:uFillTx/>
                <a:latin typeface="Calibri"/>
                <a:ea typeface="DejaVu Sans"/>
              </a:rPr>
              <a:t> </a:t>
            </a:r>
            <a:r>
              <a:rPr lang="en-US" sz="1300" b="0" u="none" strike="noStrike">
                <a:solidFill>
                  <a:srgbClr val="241F1B"/>
                </a:solidFill>
                <a:effectLst/>
                <a:uFillTx/>
                <a:latin typeface="Calibri"/>
                <a:ea typeface="DejaVu Sans"/>
              </a:rPr>
              <a:t>Όσο ανεβαίνει το κατώφλι, τόσο λιγότεροι αλλά πιο σίγουροι κανόνες. Στο 5% δεν επιβιώνει κανένας, σε κατάλογο 4.900 προϊόντων.</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7" name="TextBox 1"/>
          <p:cNvSpPr/>
          <p:nvPr/>
        </p:nvSpPr>
        <p:spPr>
          <a:xfrm>
            <a:off x="548640" y="457200"/>
            <a:ext cx="1108872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Η ΤΕΧΝΙΚΗ</a:t>
            </a:r>
            <a:endParaRPr lang="en-US" sz="1200" b="0" u="none" strike="noStrike">
              <a:solidFill>
                <a:srgbClr val="000000"/>
              </a:solidFill>
              <a:effectLst/>
              <a:uFillTx/>
              <a:latin typeface="Arial"/>
            </a:endParaRPr>
          </a:p>
        </p:txBody>
      </p:sp>
      <p:sp>
        <p:nvSpPr>
          <p:cNvPr id="278" name="TextBox 2"/>
          <p:cNvSpPr/>
          <p:nvPr/>
        </p:nvSpPr>
        <p:spPr>
          <a:xfrm>
            <a:off x="548640" y="749880"/>
            <a:ext cx="11088720" cy="5572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Ομαδοποίηση σε δύο επίπεδα</a:t>
            </a:r>
            <a:endParaRPr lang="en-US" sz="3000" b="0" u="none" strike="noStrike">
              <a:solidFill>
                <a:srgbClr val="000000"/>
              </a:solidFill>
              <a:effectLst/>
              <a:uFillTx/>
              <a:latin typeface="Arial"/>
            </a:endParaRPr>
          </a:p>
        </p:txBody>
      </p:sp>
      <p:sp>
        <p:nvSpPr>
          <p:cNvPr id="279" name="TextBox 4"/>
          <p:cNvSpPr/>
          <p:nvPr/>
        </p:nvSpPr>
        <p:spPr>
          <a:xfrm>
            <a:off x="11094480" y="6473880"/>
            <a:ext cx="545760" cy="16740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19</a:t>
            </a:r>
            <a:endParaRPr lang="en-US" sz="900" b="0" u="none" strike="noStrike">
              <a:solidFill>
                <a:srgbClr val="000000"/>
              </a:solidFill>
              <a:effectLst/>
              <a:uFillTx/>
              <a:latin typeface="Arial"/>
            </a:endParaRPr>
          </a:p>
        </p:txBody>
      </p:sp>
      <p:sp>
        <p:nvSpPr>
          <p:cNvPr id="280" name="TextBox 6"/>
          <p:cNvSpPr/>
          <p:nvPr/>
        </p:nvSpPr>
        <p:spPr>
          <a:xfrm>
            <a:off x="497880" y="2286000"/>
            <a:ext cx="5346360" cy="2692440"/>
          </a:xfrm>
          <a:prstGeom prst="rect">
            <a:avLst/>
          </a:prstGeom>
          <a:noFill/>
          <a:ln w="0">
            <a:noFill/>
          </a:ln>
        </p:spPr>
        <p:style>
          <a:lnRef idx="0"/>
          <a:fillRef idx="0"/>
          <a:effectRef idx="0"/>
          <a:fontRef idx="minor"/>
        </p:style>
        <p:txBody>
          <a:bodyPr lIns="0" tIns="0" rIns="0" bIns="0" anchor="t">
            <a:spAutoFit/>
          </a:bodyPr>
          <a:p>
            <a:pPr defTabSz="457200">
              <a:lnSpc>
                <a:spcPct val="122000"/>
              </a:lnSpc>
              <a:spcBef>
                <a:spcPts val="1191"/>
              </a:spcBef>
              <a:spcAft>
                <a:spcPts val="992"/>
              </a:spcAft>
            </a:pPr>
            <a:r>
              <a:rPr lang="en-US" sz="2000" b="0" u="none" strike="noStrike">
                <a:solidFill>
                  <a:srgbClr val="224B12"/>
                </a:solidFill>
                <a:effectLst/>
                <a:uFillTx/>
                <a:latin typeface="Calibri"/>
                <a:ea typeface="DejaVu Sans"/>
              </a:rPr>
              <a:t>- </a:t>
            </a:r>
            <a:r>
              <a:rPr lang="en-US" sz="1500" b="0" u="none" strike="noStrike">
                <a:solidFill>
                  <a:srgbClr val="241F1B"/>
                </a:solidFill>
                <a:effectLst/>
                <a:uFillTx/>
                <a:latin typeface="Calibri"/>
                <a:ea typeface="DejaVu Sans"/>
              </a:rPr>
              <a:t>Ο αλγόριθμος k-means ομαδοποιεί τα στοιχεία ανάλογα με τις ομοιότητές τους, τοποθετώντας τα στο πλησιέστερο κέντρο και επαναλαμβάνοντας τη διαδικασία μέχρι να σταθεροποιηθούν τα κέντρα.</a:t>
            </a:r>
            <a:endParaRPr lang="en-US" sz="1500" b="0" u="none" strike="noStrike">
              <a:solidFill>
                <a:srgbClr val="000000"/>
              </a:solidFill>
              <a:effectLst/>
              <a:uFillTx/>
              <a:latin typeface="Arial"/>
            </a:endParaRPr>
          </a:p>
          <a:p>
            <a:pPr defTabSz="457200">
              <a:lnSpc>
                <a:spcPct val="122000"/>
              </a:lnSpc>
              <a:spcBef>
                <a:spcPts val="1191"/>
              </a:spcBef>
              <a:spcAft>
                <a:spcPts val="992"/>
              </a:spcAft>
            </a:pPr>
            <a:r>
              <a:rPr lang="en-US" sz="2000" b="0" u="none" strike="noStrike">
                <a:solidFill>
                  <a:srgbClr val="224B12"/>
                </a:solidFill>
                <a:effectLst/>
                <a:uFillTx/>
                <a:latin typeface="Calibri"/>
                <a:ea typeface="DejaVu Sans"/>
              </a:rPr>
              <a:t>- </a:t>
            </a:r>
            <a:r>
              <a:rPr lang="en-US" sz="1500" b="1" u="none" strike="noStrike">
                <a:solidFill>
                  <a:srgbClr val="241F1B"/>
                </a:solidFill>
                <a:effectLst/>
                <a:uFillTx/>
                <a:latin typeface="Calibri"/>
                <a:ea typeface="DejaVu Sans"/>
              </a:rPr>
              <a:t>Για τον καθορισμό του αριθμού των ομάδων, δοκιμάζουμε πολλές τιμές και επιλέγουμε εκείνη που πετυχαίνει το καλύτερο silhouette score, το οποίο μετρά πόσο καθαρά έχουν διαχωριστεί οι ομάδες μεταξύ τους.</a:t>
            </a:r>
            <a:endParaRPr lang="en-US" sz="1500" b="0" u="none" strike="noStrike">
              <a:solidFill>
                <a:srgbClr val="000000"/>
              </a:solidFill>
              <a:effectLst/>
              <a:uFillTx/>
              <a:latin typeface="Arial"/>
            </a:endParaRPr>
          </a:p>
        </p:txBody>
      </p:sp>
      <p:sp>
        <p:nvSpPr>
          <p:cNvPr id="281" name="Rounded Rectangle 7"/>
          <p:cNvSpPr/>
          <p:nvPr/>
        </p:nvSpPr>
        <p:spPr>
          <a:xfrm>
            <a:off x="6291000" y="1828800"/>
            <a:ext cx="5346360" cy="168372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82" name="TextBox 8"/>
          <p:cNvSpPr/>
          <p:nvPr/>
        </p:nvSpPr>
        <p:spPr>
          <a:xfrm>
            <a:off x="6538680" y="1828800"/>
            <a:ext cx="4889160" cy="250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50" b="1" u="none" strike="noStrike">
                <a:solidFill>
                  <a:srgbClr val="2C5530"/>
                </a:solidFill>
                <a:effectLst/>
                <a:uFillTx/>
                <a:latin typeface="Cambria"/>
                <a:ea typeface="DejaVu Sans"/>
              </a:rPr>
              <a:t>ΠΡΩΤΟ ΕΠΙΠΕΔΟ</a:t>
            </a:r>
            <a:endParaRPr lang="en-US" sz="1350" b="0" u="none" strike="noStrike">
              <a:solidFill>
                <a:srgbClr val="000000"/>
              </a:solidFill>
              <a:effectLst/>
              <a:uFillTx/>
              <a:latin typeface="Arial"/>
            </a:endParaRPr>
          </a:p>
        </p:txBody>
      </p:sp>
      <p:sp>
        <p:nvSpPr>
          <p:cNvPr id="283" name="TextBox 9"/>
          <p:cNvSpPr/>
          <p:nvPr/>
        </p:nvSpPr>
        <p:spPr>
          <a:xfrm>
            <a:off x="6519600" y="2286000"/>
            <a:ext cx="4889160" cy="10407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400" b="0" u="none" strike="noStrike">
                <a:solidFill>
                  <a:srgbClr val="241F1B"/>
                </a:solidFill>
                <a:effectLst/>
                <a:uFillTx/>
                <a:latin typeface="Calibri"/>
                <a:ea typeface="DejaVu Sans"/>
              </a:rPr>
              <a:t>Ομαδοποίηση των περιοχών με βάση:</a:t>
            </a:r>
            <a:endParaRPr lang="en-US" sz="1400" b="0" u="none" strike="noStrike">
              <a:solidFill>
                <a:srgbClr val="000000"/>
              </a:solidFill>
              <a:effectLst/>
              <a:uFillTx/>
              <a:latin typeface="Arial"/>
            </a:endParaRPr>
          </a:p>
          <a:p>
            <a:pPr defTabSz="457200">
              <a:lnSpc>
                <a:spcPct val="122000"/>
              </a:lnSpc>
            </a:pPr>
            <a:r>
              <a:rPr lang="en-US" sz="1400" b="0" u="none" strike="noStrike">
                <a:solidFill>
                  <a:srgbClr val="241F1B"/>
                </a:solidFill>
                <a:effectLst/>
                <a:uFillTx/>
                <a:latin typeface="Calibri"/>
                <a:ea typeface="DejaVu Sans"/>
              </a:rPr>
              <a:t>  - έσοδα</a:t>
            </a:r>
            <a:endParaRPr lang="en-US" sz="1400" b="0" u="none" strike="noStrike">
              <a:solidFill>
                <a:srgbClr val="000000"/>
              </a:solidFill>
              <a:effectLst/>
              <a:uFillTx/>
              <a:latin typeface="Arial"/>
            </a:endParaRPr>
          </a:p>
          <a:p>
            <a:pPr defTabSz="457200">
              <a:lnSpc>
                <a:spcPct val="122000"/>
              </a:lnSpc>
            </a:pPr>
            <a:r>
              <a:rPr lang="en-US" sz="1400" b="0" u="none" strike="noStrike">
                <a:solidFill>
                  <a:srgbClr val="241F1B"/>
                </a:solidFill>
                <a:effectLst/>
                <a:uFillTx/>
                <a:latin typeface="Calibri"/>
                <a:ea typeface="DejaVu Sans"/>
              </a:rPr>
              <a:t>  - παραγγελίες </a:t>
            </a:r>
            <a:endParaRPr lang="en-US" sz="1400" b="0" u="none" strike="noStrike">
              <a:solidFill>
                <a:srgbClr val="000000"/>
              </a:solidFill>
              <a:effectLst/>
              <a:uFillTx/>
              <a:latin typeface="Arial"/>
            </a:endParaRPr>
          </a:p>
          <a:p>
            <a:pPr defTabSz="457200">
              <a:lnSpc>
                <a:spcPct val="122000"/>
              </a:lnSpc>
            </a:pPr>
            <a:r>
              <a:rPr lang="en-US" sz="1400" b="0" u="none" strike="noStrike">
                <a:solidFill>
                  <a:srgbClr val="241F1B"/>
                </a:solidFill>
                <a:effectLst/>
                <a:uFillTx/>
                <a:latin typeface="Calibri"/>
                <a:ea typeface="DejaVu Sans"/>
              </a:rPr>
              <a:t>  - σε πόσους μήνες ήταν ενεργές</a:t>
            </a:r>
            <a:endParaRPr lang="en-US" sz="1400" b="0" u="none" strike="noStrike">
              <a:solidFill>
                <a:srgbClr val="000000"/>
              </a:solidFill>
              <a:effectLst/>
              <a:uFillTx/>
              <a:latin typeface="Arial"/>
            </a:endParaRPr>
          </a:p>
        </p:txBody>
      </p:sp>
      <p:sp>
        <p:nvSpPr>
          <p:cNvPr id="284" name="Rounded Rectangle 10"/>
          <p:cNvSpPr/>
          <p:nvPr/>
        </p:nvSpPr>
        <p:spPr>
          <a:xfrm>
            <a:off x="6310080" y="3657600"/>
            <a:ext cx="5346360" cy="1826640"/>
          </a:xfrm>
          <a:prstGeom prst="roundRect">
            <a:avLst>
              <a:gd name="adj" fmla="val 16667"/>
            </a:avLst>
          </a:prstGeom>
          <a:solidFill>
            <a:srgbClr val="224B12"/>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85" name="TextBox 11"/>
          <p:cNvSpPr/>
          <p:nvPr/>
        </p:nvSpPr>
        <p:spPr>
          <a:xfrm>
            <a:off x="6519600" y="3862800"/>
            <a:ext cx="4889160" cy="250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350" b="1" u="none" strike="noStrike">
                <a:solidFill>
                  <a:srgbClr val="FFFFFF"/>
                </a:solidFill>
                <a:effectLst/>
                <a:uFillTx/>
                <a:latin typeface="Cambria"/>
                <a:ea typeface="DejaVu Sans"/>
              </a:rPr>
              <a:t>ΔΕΥΤΕΡΟ ΕΠΙΠΕΔΟ</a:t>
            </a:r>
            <a:endParaRPr lang="en-US" sz="1350" b="0" u="none" strike="noStrike">
              <a:solidFill>
                <a:srgbClr val="000000"/>
              </a:solidFill>
              <a:effectLst/>
              <a:uFillTx/>
              <a:latin typeface="Arial"/>
            </a:endParaRPr>
          </a:p>
        </p:txBody>
      </p:sp>
      <p:sp>
        <p:nvSpPr>
          <p:cNvPr id="286" name="TextBox 12"/>
          <p:cNvSpPr/>
          <p:nvPr/>
        </p:nvSpPr>
        <p:spPr>
          <a:xfrm>
            <a:off x="6519600" y="4343400"/>
            <a:ext cx="4889160" cy="104076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400" b="0" u="none" strike="noStrike">
                <a:solidFill>
                  <a:srgbClr val="D7E5D2"/>
                </a:solidFill>
                <a:effectLst/>
                <a:uFillTx/>
                <a:latin typeface="Calibri"/>
                <a:ea typeface="DejaVu Sans"/>
              </a:rPr>
              <a:t>Μέσα σε κάθε ομάδα, νέα ομαδοποίηση των πελατών με RFM:  </a:t>
            </a:r>
            <a:endParaRPr lang="en-US" sz="1400" b="0" u="none" strike="noStrike">
              <a:solidFill>
                <a:srgbClr val="000000"/>
              </a:solidFill>
              <a:effectLst/>
              <a:uFillTx/>
              <a:latin typeface="Arial"/>
            </a:endParaRPr>
          </a:p>
          <a:p>
            <a:pPr defTabSz="457200">
              <a:lnSpc>
                <a:spcPct val="122000"/>
              </a:lnSpc>
            </a:pPr>
            <a:r>
              <a:rPr lang="en-US" sz="1400" b="0" u="none" strike="noStrike">
                <a:solidFill>
                  <a:srgbClr val="D7E5D2"/>
                </a:solidFill>
                <a:effectLst/>
                <a:uFillTx/>
                <a:latin typeface="Calibri"/>
                <a:ea typeface="DejaVu Sans"/>
              </a:rPr>
              <a:t>  - πόσο πρόσφατα</a:t>
            </a:r>
            <a:endParaRPr lang="en-US" sz="1400" b="0" u="none" strike="noStrike">
              <a:solidFill>
                <a:srgbClr val="000000"/>
              </a:solidFill>
              <a:effectLst/>
              <a:uFillTx/>
              <a:latin typeface="Arial"/>
            </a:endParaRPr>
          </a:p>
          <a:p>
            <a:pPr defTabSz="457200">
              <a:lnSpc>
                <a:spcPct val="122000"/>
              </a:lnSpc>
            </a:pPr>
            <a:r>
              <a:rPr lang="en-US" sz="1400" b="0" u="none" strike="noStrike">
                <a:solidFill>
                  <a:srgbClr val="D7E5D2"/>
                </a:solidFill>
                <a:effectLst/>
                <a:uFillTx/>
                <a:latin typeface="Calibri"/>
                <a:ea typeface="DejaVu Sans"/>
              </a:rPr>
              <a:t>  - πόσο συχνά</a:t>
            </a:r>
            <a:endParaRPr lang="en-US" sz="1400" b="0" u="none" strike="noStrike">
              <a:solidFill>
                <a:srgbClr val="000000"/>
              </a:solidFill>
              <a:effectLst/>
              <a:uFillTx/>
              <a:latin typeface="Arial"/>
            </a:endParaRPr>
          </a:p>
          <a:p>
            <a:pPr defTabSz="457200">
              <a:lnSpc>
                <a:spcPct val="122000"/>
              </a:lnSpc>
            </a:pPr>
            <a:r>
              <a:rPr lang="en-US" sz="1400" b="0" u="none" strike="noStrike">
                <a:solidFill>
                  <a:srgbClr val="D7E5D2"/>
                </a:solidFill>
                <a:effectLst/>
                <a:uFillTx/>
                <a:latin typeface="Calibri"/>
                <a:ea typeface="DejaVu Sans"/>
              </a:rPr>
              <a:t>  - πόσα ξοδεύει</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7" name="TextBox 1"/>
          <p:cNvSpPr/>
          <p:nvPr/>
        </p:nvSpPr>
        <p:spPr>
          <a:xfrm>
            <a:off x="548640" y="457200"/>
            <a:ext cx="1108872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ΟΜΑΔΟΠΟΙΗΣΗ</a:t>
            </a:r>
            <a:endParaRPr lang="en-US" sz="1200" b="0" u="none" strike="noStrike">
              <a:solidFill>
                <a:srgbClr val="000000"/>
              </a:solidFill>
              <a:effectLst/>
              <a:uFillTx/>
              <a:latin typeface="Arial"/>
            </a:endParaRPr>
          </a:p>
        </p:txBody>
      </p:sp>
      <p:sp>
        <p:nvSpPr>
          <p:cNvPr id="288" name="TextBox 2"/>
          <p:cNvSpPr/>
          <p:nvPr/>
        </p:nvSpPr>
        <p:spPr>
          <a:xfrm>
            <a:off x="548640" y="749880"/>
            <a:ext cx="11088720" cy="5572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Ομαδοποίηση περιοχών και πελατών</a:t>
            </a:r>
            <a:endParaRPr lang="en-US" sz="3000" b="0" u="none" strike="noStrike">
              <a:solidFill>
                <a:srgbClr val="000000"/>
              </a:solidFill>
              <a:effectLst/>
              <a:uFillTx/>
              <a:latin typeface="Arial"/>
            </a:endParaRPr>
          </a:p>
        </p:txBody>
      </p:sp>
      <p:sp>
        <p:nvSpPr>
          <p:cNvPr id="289" name="TextBox 4"/>
          <p:cNvSpPr/>
          <p:nvPr/>
        </p:nvSpPr>
        <p:spPr>
          <a:xfrm>
            <a:off x="11094480" y="6473880"/>
            <a:ext cx="545760" cy="16740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20</a:t>
            </a:r>
            <a:endParaRPr lang="en-US" sz="900" b="0" u="none" strike="noStrike">
              <a:solidFill>
                <a:srgbClr val="000000"/>
              </a:solidFill>
              <a:effectLst/>
              <a:uFillTx/>
              <a:latin typeface="Arial"/>
            </a:endParaRPr>
          </a:p>
        </p:txBody>
      </p:sp>
      <p:pic>
        <p:nvPicPr>
          <p:cNvPr id="290" name="Picture 6" descr="silhouette-level-one.png"/>
          <p:cNvPicPr/>
          <p:nvPr/>
        </p:nvPicPr>
        <p:blipFill>
          <a:blip r:embed="rId1"/>
          <a:stretch/>
        </p:blipFill>
        <p:spPr>
          <a:xfrm>
            <a:off x="708480" y="1908000"/>
            <a:ext cx="5026320" cy="2511720"/>
          </a:xfrm>
          <a:prstGeom prst="rect">
            <a:avLst/>
          </a:prstGeom>
          <a:noFill/>
          <a:ln w="0">
            <a:noFill/>
          </a:ln>
        </p:spPr>
      </p:pic>
      <p:sp>
        <p:nvSpPr>
          <p:cNvPr id="291" name="Rectangle 7"/>
          <p:cNvSpPr/>
          <p:nvPr/>
        </p:nvSpPr>
        <p:spPr>
          <a:xfrm>
            <a:off x="708480" y="1908000"/>
            <a:ext cx="5026320" cy="2511720"/>
          </a:xfrm>
          <a:prstGeom prst="rect">
            <a:avLst/>
          </a:prstGeom>
          <a:noFill/>
          <a:ln w="9360">
            <a:solidFill>
              <a:srgbClr val="376092"/>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92" name="TextBox 8"/>
          <p:cNvSpPr/>
          <p:nvPr/>
        </p:nvSpPr>
        <p:spPr>
          <a:xfrm>
            <a:off x="548640" y="4514040"/>
            <a:ext cx="5346360" cy="2041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Το silhouette διαλέγει k ίσον 2, με σκορ 0,8793</a:t>
            </a:r>
            <a:endParaRPr lang="en-US" sz="1100" b="0" u="none" strike="noStrike">
              <a:solidFill>
                <a:srgbClr val="000000"/>
              </a:solidFill>
              <a:effectLst/>
              <a:uFillTx/>
              <a:latin typeface="Arial"/>
            </a:endParaRPr>
          </a:p>
        </p:txBody>
      </p:sp>
      <p:sp>
        <p:nvSpPr>
          <p:cNvPr id="293" name="TextBox 9"/>
          <p:cNvSpPr/>
          <p:nvPr/>
        </p:nvSpPr>
        <p:spPr>
          <a:xfrm>
            <a:off x="6291000" y="1908000"/>
            <a:ext cx="5346360" cy="213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50" b="1" u="none" strike="noStrike">
                <a:solidFill>
                  <a:srgbClr val="E8A33D"/>
                </a:solidFill>
                <a:effectLst/>
                <a:uFillTx/>
                <a:latin typeface="Calibri"/>
                <a:ea typeface="DejaVu Sans"/>
              </a:rPr>
              <a:t>ΠΡΩΤΟ ΕΠΙΠΕΔΟ: ΠΕΡΙΟΧΕΣ</a:t>
            </a:r>
            <a:endParaRPr lang="en-US" sz="1150" b="0" u="none" strike="noStrike">
              <a:solidFill>
                <a:srgbClr val="000000"/>
              </a:solidFill>
              <a:effectLst/>
              <a:uFillTx/>
              <a:latin typeface="Arial"/>
            </a:endParaRPr>
          </a:p>
        </p:txBody>
      </p:sp>
      <p:sp>
        <p:nvSpPr>
          <p:cNvPr id="294" name="Rectangle 10"/>
          <p:cNvSpPr/>
          <p:nvPr/>
        </p:nvSpPr>
        <p:spPr>
          <a:xfrm>
            <a:off x="6291000" y="2237400"/>
            <a:ext cx="5346360" cy="344520"/>
          </a:xfrm>
          <a:prstGeom prst="rect">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295" name="TextBox 11"/>
          <p:cNvSpPr/>
          <p:nvPr/>
        </p:nvSpPr>
        <p:spPr>
          <a:xfrm>
            <a:off x="6382440" y="2319480"/>
            <a:ext cx="216792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Ομάδα</a:t>
            </a:r>
            <a:endParaRPr lang="en-US" sz="1200" b="0" u="none" strike="noStrike">
              <a:solidFill>
                <a:srgbClr val="000000"/>
              </a:solidFill>
              <a:effectLst/>
              <a:uFillTx/>
              <a:latin typeface="Arial"/>
            </a:endParaRPr>
          </a:p>
        </p:txBody>
      </p:sp>
      <p:sp>
        <p:nvSpPr>
          <p:cNvPr id="296" name="TextBox 12"/>
          <p:cNvSpPr/>
          <p:nvPr/>
        </p:nvSpPr>
        <p:spPr>
          <a:xfrm>
            <a:off x="8736120" y="2319480"/>
            <a:ext cx="120492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Μέλη</a:t>
            </a:r>
            <a:endParaRPr lang="en-US" sz="1200" b="0" u="none" strike="noStrike">
              <a:solidFill>
                <a:srgbClr val="000000"/>
              </a:solidFill>
              <a:effectLst/>
              <a:uFillTx/>
              <a:latin typeface="Arial"/>
            </a:endParaRPr>
          </a:p>
        </p:txBody>
      </p:sp>
      <p:sp>
        <p:nvSpPr>
          <p:cNvPr id="297" name="TextBox 13"/>
          <p:cNvSpPr/>
          <p:nvPr/>
        </p:nvSpPr>
        <p:spPr>
          <a:xfrm>
            <a:off x="10127160" y="2319480"/>
            <a:ext cx="141912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Ενεργοί μήνες</a:t>
            </a:r>
            <a:endParaRPr lang="en-US" sz="1200" b="0" u="none" strike="noStrike">
              <a:solidFill>
                <a:srgbClr val="000000"/>
              </a:solidFill>
              <a:effectLst/>
              <a:uFillTx/>
              <a:latin typeface="Arial"/>
            </a:endParaRPr>
          </a:p>
        </p:txBody>
      </p:sp>
      <p:sp>
        <p:nvSpPr>
          <p:cNvPr id="298" name="TextBox 14"/>
          <p:cNvSpPr/>
          <p:nvPr/>
        </p:nvSpPr>
        <p:spPr>
          <a:xfrm>
            <a:off x="6382440" y="2676240"/>
            <a:ext cx="216792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Εξαγωγές</a:t>
            </a:r>
            <a:endParaRPr lang="en-US" sz="1250" b="0" u="none" strike="noStrike">
              <a:solidFill>
                <a:srgbClr val="000000"/>
              </a:solidFill>
              <a:effectLst/>
              <a:uFillTx/>
              <a:latin typeface="Arial"/>
            </a:endParaRPr>
          </a:p>
        </p:txBody>
      </p:sp>
      <p:sp>
        <p:nvSpPr>
          <p:cNvPr id="299" name="TextBox 15"/>
          <p:cNvSpPr/>
          <p:nvPr/>
        </p:nvSpPr>
        <p:spPr>
          <a:xfrm>
            <a:off x="8736120" y="2676240"/>
            <a:ext cx="120492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42</a:t>
            </a:r>
            <a:endParaRPr lang="en-US" sz="1250" b="0" u="none" strike="noStrike">
              <a:solidFill>
                <a:srgbClr val="000000"/>
              </a:solidFill>
              <a:effectLst/>
              <a:uFillTx/>
              <a:latin typeface="Arial"/>
            </a:endParaRPr>
          </a:p>
        </p:txBody>
      </p:sp>
      <p:sp>
        <p:nvSpPr>
          <p:cNvPr id="300" name="TextBox 16"/>
          <p:cNvSpPr/>
          <p:nvPr/>
        </p:nvSpPr>
        <p:spPr>
          <a:xfrm>
            <a:off x="10127160" y="2676240"/>
            <a:ext cx="141912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12,8</a:t>
            </a:r>
            <a:endParaRPr lang="en-US" sz="1250" b="0" u="none" strike="noStrike">
              <a:solidFill>
                <a:srgbClr val="000000"/>
              </a:solidFill>
              <a:effectLst/>
              <a:uFillTx/>
              <a:latin typeface="Arial"/>
            </a:endParaRPr>
          </a:p>
        </p:txBody>
      </p:sp>
      <p:sp>
        <p:nvSpPr>
          <p:cNvPr id="301" name="TextBox 18"/>
          <p:cNvSpPr/>
          <p:nvPr/>
        </p:nvSpPr>
        <p:spPr>
          <a:xfrm>
            <a:off x="6382440" y="3042000"/>
            <a:ext cx="216792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Ηνωμένο Βασίλειο</a:t>
            </a:r>
            <a:endParaRPr lang="en-US" sz="1250" b="0" u="none" strike="noStrike">
              <a:solidFill>
                <a:srgbClr val="000000"/>
              </a:solidFill>
              <a:effectLst/>
              <a:uFillTx/>
              <a:latin typeface="Arial"/>
            </a:endParaRPr>
          </a:p>
        </p:txBody>
      </p:sp>
      <p:sp>
        <p:nvSpPr>
          <p:cNvPr id="302" name="TextBox 19"/>
          <p:cNvSpPr/>
          <p:nvPr/>
        </p:nvSpPr>
        <p:spPr>
          <a:xfrm>
            <a:off x="8736120" y="3042000"/>
            <a:ext cx="120492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1</a:t>
            </a:r>
            <a:endParaRPr lang="en-US" sz="1250" b="0" u="none" strike="noStrike">
              <a:solidFill>
                <a:srgbClr val="000000"/>
              </a:solidFill>
              <a:effectLst/>
              <a:uFillTx/>
              <a:latin typeface="Arial"/>
            </a:endParaRPr>
          </a:p>
        </p:txBody>
      </p:sp>
      <p:sp>
        <p:nvSpPr>
          <p:cNvPr id="303" name="TextBox 20"/>
          <p:cNvSpPr/>
          <p:nvPr/>
        </p:nvSpPr>
        <p:spPr>
          <a:xfrm>
            <a:off x="10127160" y="3042000"/>
            <a:ext cx="141912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25,0</a:t>
            </a:r>
            <a:endParaRPr lang="en-US" sz="1250" b="0" u="none" strike="noStrike">
              <a:solidFill>
                <a:srgbClr val="000000"/>
              </a:solidFill>
              <a:effectLst/>
              <a:uFillTx/>
              <a:latin typeface="Arial"/>
            </a:endParaRPr>
          </a:p>
        </p:txBody>
      </p:sp>
      <p:sp>
        <p:nvSpPr>
          <p:cNvPr id="304" name="TextBox 21"/>
          <p:cNvSpPr/>
          <p:nvPr/>
        </p:nvSpPr>
        <p:spPr>
          <a:xfrm>
            <a:off x="6291000" y="3462480"/>
            <a:ext cx="5346360" cy="213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50" b="1" u="none" strike="noStrike">
                <a:solidFill>
                  <a:srgbClr val="E8A33D"/>
                </a:solidFill>
                <a:effectLst/>
                <a:uFillTx/>
                <a:latin typeface="Calibri"/>
                <a:ea typeface="DejaVu Sans"/>
              </a:rPr>
              <a:t>ΔΕΥΤΕΡΟ ΕΠΙΠΕΔΟ: ΠΕΛΑΤΕΣ</a:t>
            </a:r>
            <a:endParaRPr lang="en-US" sz="1150" b="0" u="none" strike="noStrike">
              <a:solidFill>
                <a:srgbClr val="000000"/>
              </a:solidFill>
              <a:effectLst/>
              <a:uFillTx/>
              <a:latin typeface="Arial"/>
            </a:endParaRPr>
          </a:p>
        </p:txBody>
      </p:sp>
      <p:sp>
        <p:nvSpPr>
          <p:cNvPr id="305" name="Rectangle 22"/>
          <p:cNvSpPr/>
          <p:nvPr/>
        </p:nvSpPr>
        <p:spPr>
          <a:xfrm>
            <a:off x="6291000" y="3791880"/>
            <a:ext cx="5346360" cy="344520"/>
          </a:xfrm>
          <a:prstGeom prst="rect">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06" name="TextBox 23"/>
          <p:cNvSpPr/>
          <p:nvPr/>
        </p:nvSpPr>
        <p:spPr>
          <a:xfrm>
            <a:off x="6382440" y="3873960"/>
            <a:ext cx="163296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Υποομάδα</a:t>
            </a:r>
            <a:endParaRPr lang="en-US" sz="1200" b="0" u="none" strike="noStrike">
              <a:solidFill>
                <a:srgbClr val="000000"/>
              </a:solidFill>
              <a:effectLst/>
              <a:uFillTx/>
              <a:latin typeface="Arial"/>
            </a:endParaRPr>
          </a:p>
        </p:txBody>
      </p:sp>
      <p:sp>
        <p:nvSpPr>
          <p:cNvPr id="307" name="TextBox 24"/>
          <p:cNvSpPr/>
          <p:nvPr/>
        </p:nvSpPr>
        <p:spPr>
          <a:xfrm>
            <a:off x="8201160" y="3873960"/>
            <a:ext cx="99108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Πελάτες</a:t>
            </a:r>
            <a:endParaRPr lang="en-US" sz="1200" b="0" u="none" strike="noStrike">
              <a:solidFill>
                <a:srgbClr val="000000"/>
              </a:solidFill>
              <a:effectLst/>
              <a:uFillTx/>
              <a:latin typeface="Arial"/>
            </a:endParaRPr>
          </a:p>
        </p:txBody>
      </p:sp>
      <p:sp>
        <p:nvSpPr>
          <p:cNvPr id="308" name="TextBox 25"/>
          <p:cNvSpPr/>
          <p:nvPr/>
        </p:nvSpPr>
        <p:spPr>
          <a:xfrm>
            <a:off x="9378000" y="3873960"/>
            <a:ext cx="109800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Παραγγελίες</a:t>
            </a:r>
            <a:endParaRPr lang="en-US" sz="1200" b="0" u="none" strike="noStrike">
              <a:solidFill>
                <a:srgbClr val="000000"/>
              </a:solidFill>
              <a:effectLst/>
              <a:uFillTx/>
              <a:latin typeface="Arial"/>
            </a:endParaRPr>
          </a:p>
        </p:txBody>
      </p:sp>
      <p:sp>
        <p:nvSpPr>
          <p:cNvPr id="309" name="TextBox 26"/>
          <p:cNvSpPr/>
          <p:nvPr/>
        </p:nvSpPr>
        <p:spPr>
          <a:xfrm>
            <a:off x="10661760" y="3873960"/>
            <a:ext cx="88416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Αξία</a:t>
            </a:r>
            <a:endParaRPr lang="en-US" sz="1200" b="0" u="none" strike="noStrike">
              <a:solidFill>
                <a:srgbClr val="000000"/>
              </a:solidFill>
              <a:effectLst/>
              <a:uFillTx/>
              <a:latin typeface="Arial"/>
            </a:endParaRPr>
          </a:p>
        </p:txBody>
      </p:sp>
      <p:sp>
        <p:nvSpPr>
          <p:cNvPr id="310" name="TextBox 27"/>
          <p:cNvSpPr/>
          <p:nvPr/>
        </p:nvSpPr>
        <p:spPr>
          <a:xfrm>
            <a:off x="6382440" y="4230720"/>
            <a:ext cx="163296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Τακτικοί, εξαγωγές</a:t>
            </a:r>
            <a:endParaRPr lang="en-US" sz="1250" b="0" u="none" strike="noStrike">
              <a:solidFill>
                <a:srgbClr val="000000"/>
              </a:solidFill>
              <a:effectLst/>
              <a:uFillTx/>
              <a:latin typeface="Arial"/>
            </a:endParaRPr>
          </a:p>
        </p:txBody>
      </p:sp>
      <p:sp>
        <p:nvSpPr>
          <p:cNvPr id="311" name="TextBox 28"/>
          <p:cNvSpPr/>
          <p:nvPr/>
        </p:nvSpPr>
        <p:spPr>
          <a:xfrm>
            <a:off x="8201160" y="4230720"/>
            <a:ext cx="99108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527</a:t>
            </a:r>
            <a:endParaRPr lang="en-US" sz="1250" b="0" u="none" strike="noStrike">
              <a:solidFill>
                <a:srgbClr val="000000"/>
              </a:solidFill>
              <a:effectLst/>
              <a:uFillTx/>
              <a:latin typeface="Arial"/>
            </a:endParaRPr>
          </a:p>
        </p:txBody>
      </p:sp>
      <p:sp>
        <p:nvSpPr>
          <p:cNvPr id="312" name="TextBox 29"/>
          <p:cNvSpPr/>
          <p:nvPr/>
        </p:nvSpPr>
        <p:spPr>
          <a:xfrm>
            <a:off x="9378000" y="4230720"/>
            <a:ext cx="109800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4,88</a:t>
            </a:r>
            <a:endParaRPr lang="en-US" sz="1250" b="0" u="none" strike="noStrike">
              <a:solidFill>
                <a:srgbClr val="000000"/>
              </a:solidFill>
              <a:effectLst/>
              <a:uFillTx/>
              <a:latin typeface="Arial"/>
            </a:endParaRPr>
          </a:p>
        </p:txBody>
      </p:sp>
      <p:sp>
        <p:nvSpPr>
          <p:cNvPr id="313" name="TextBox 30"/>
          <p:cNvSpPr/>
          <p:nvPr/>
        </p:nvSpPr>
        <p:spPr>
          <a:xfrm>
            <a:off x="10661760" y="4230720"/>
            <a:ext cx="88416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3.161</a:t>
            </a:r>
            <a:endParaRPr lang="en-US" sz="1250" b="0" u="none" strike="noStrike">
              <a:solidFill>
                <a:srgbClr val="000000"/>
              </a:solidFill>
              <a:effectLst/>
              <a:uFillTx/>
              <a:latin typeface="Arial"/>
            </a:endParaRPr>
          </a:p>
        </p:txBody>
      </p:sp>
      <p:sp>
        <p:nvSpPr>
          <p:cNvPr id="314" name="TextBox 32"/>
          <p:cNvSpPr/>
          <p:nvPr/>
        </p:nvSpPr>
        <p:spPr>
          <a:xfrm>
            <a:off x="6382440" y="4596480"/>
            <a:ext cx="163296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Whales, εξαγωγές</a:t>
            </a:r>
            <a:endParaRPr lang="en-US" sz="1250" b="0" u="none" strike="noStrike">
              <a:solidFill>
                <a:srgbClr val="000000"/>
              </a:solidFill>
              <a:effectLst/>
              <a:uFillTx/>
              <a:latin typeface="Arial"/>
            </a:endParaRPr>
          </a:p>
        </p:txBody>
      </p:sp>
      <p:sp>
        <p:nvSpPr>
          <p:cNvPr id="315" name="TextBox 33"/>
          <p:cNvSpPr/>
          <p:nvPr/>
        </p:nvSpPr>
        <p:spPr>
          <a:xfrm>
            <a:off x="8201160" y="4596480"/>
            <a:ext cx="99108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3</a:t>
            </a:r>
            <a:endParaRPr lang="en-US" sz="1250" b="0" u="none" strike="noStrike">
              <a:solidFill>
                <a:srgbClr val="000000"/>
              </a:solidFill>
              <a:effectLst/>
              <a:uFillTx/>
              <a:latin typeface="Arial"/>
            </a:endParaRPr>
          </a:p>
        </p:txBody>
      </p:sp>
      <p:sp>
        <p:nvSpPr>
          <p:cNvPr id="316" name="TextBox 34"/>
          <p:cNvSpPr/>
          <p:nvPr/>
        </p:nvSpPr>
        <p:spPr>
          <a:xfrm>
            <a:off x="9378000" y="4596480"/>
            <a:ext cx="109800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220,7</a:t>
            </a:r>
            <a:endParaRPr lang="en-US" sz="1250" b="0" u="none" strike="noStrike">
              <a:solidFill>
                <a:srgbClr val="000000"/>
              </a:solidFill>
              <a:effectLst/>
              <a:uFillTx/>
              <a:latin typeface="Arial"/>
            </a:endParaRPr>
          </a:p>
        </p:txBody>
      </p:sp>
      <p:sp>
        <p:nvSpPr>
          <p:cNvPr id="317" name="TextBox 35"/>
          <p:cNvSpPr/>
          <p:nvPr/>
        </p:nvSpPr>
        <p:spPr>
          <a:xfrm>
            <a:off x="10661760" y="4596480"/>
            <a:ext cx="88416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365.705</a:t>
            </a:r>
            <a:endParaRPr lang="en-US" sz="1250" b="0" u="none" strike="noStrike">
              <a:solidFill>
                <a:srgbClr val="000000"/>
              </a:solidFill>
              <a:effectLst/>
              <a:uFillTx/>
              <a:latin typeface="Arial"/>
            </a:endParaRPr>
          </a:p>
        </p:txBody>
      </p:sp>
      <p:sp>
        <p:nvSpPr>
          <p:cNvPr id="318" name="TextBox 36"/>
          <p:cNvSpPr/>
          <p:nvPr/>
        </p:nvSpPr>
        <p:spPr>
          <a:xfrm>
            <a:off x="6382440" y="4962240"/>
            <a:ext cx="163296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Τακτικοί, ΗΒ</a:t>
            </a:r>
            <a:endParaRPr lang="en-US" sz="1250" b="0" u="none" strike="noStrike">
              <a:solidFill>
                <a:srgbClr val="000000"/>
              </a:solidFill>
              <a:effectLst/>
              <a:uFillTx/>
              <a:latin typeface="Arial"/>
            </a:endParaRPr>
          </a:p>
        </p:txBody>
      </p:sp>
      <p:sp>
        <p:nvSpPr>
          <p:cNvPr id="319" name="TextBox 37"/>
          <p:cNvSpPr/>
          <p:nvPr/>
        </p:nvSpPr>
        <p:spPr>
          <a:xfrm>
            <a:off x="8201160" y="4962240"/>
            <a:ext cx="99108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5.309</a:t>
            </a:r>
            <a:endParaRPr lang="en-US" sz="1250" b="0" u="none" strike="noStrike">
              <a:solidFill>
                <a:srgbClr val="000000"/>
              </a:solidFill>
              <a:effectLst/>
              <a:uFillTx/>
              <a:latin typeface="Arial"/>
            </a:endParaRPr>
          </a:p>
        </p:txBody>
      </p:sp>
      <p:sp>
        <p:nvSpPr>
          <p:cNvPr id="320" name="TextBox 38"/>
          <p:cNvSpPr/>
          <p:nvPr/>
        </p:nvSpPr>
        <p:spPr>
          <a:xfrm>
            <a:off x="9378000" y="4962240"/>
            <a:ext cx="109800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5,72</a:t>
            </a:r>
            <a:endParaRPr lang="en-US" sz="1250" b="0" u="none" strike="noStrike">
              <a:solidFill>
                <a:srgbClr val="000000"/>
              </a:solidFill>
              <a:effectLst/>
              <a:uFillTx/>
              <a:latin typeface="Arial"/>
            </a:endParaRPr>
          </a:p>
        </p:txBody>
      </p:sp>
      <p:sp>
        <p:nvSpPr>
          <p:cNvPr id="321" name="TextBox 39"/>
          <p:cNvSpPr/>
          <p:nvPr/>
        </p:nvSpPr>
        <p:spPr>
          <a:xfrm>
            <a:off x="10661760" y="4962240"/>
            <a:ext cx="88416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2.138</a:t>
            </a:r>
            <a:endParaRPr lang="en-US" sz="1250" b="0" u="none" strike="noStrike">
              <a:solidFill>
                <a:srgbClr val="000000"/>
              </a:solidFill>
              <a:effectLst/>
              <a:uFillTx/>
              <a:latin typeface="Arial"/>
            </a:endParaRPr>
          </a:p>
        </p:txBody>
      </p:sp>
      <p:sp>
        <p:nvSpPr>
          <p:cNvPr id="322" name="TextBox 41"/>
          <p:cNvSpPr/>
          <p:nvPr/>
        </p:nvSpPr>
        <p:spPr>
          <a:xfrm>
            <a:off x="6382440" y="5328000"/>
            <a:ext cx="163296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Whales, ΗΒ</a:t>
            </a:r>
            <a:endParaRPr lang="en-US" sz="1250" b="0" u="none" strike="noStrike">
              <a:solidFill>
                <a:srgbClr val="000000"/>
              </a:solidFill>
              <a:effectLst/>
              <a:uFillTx/>
              <a:latin typeface="Arial"/>
            </a:endParaRPr>
          </a:p>
        </p:txBody>
      </p:sp>
      <p:sp>
        <p:nvSpPr>
          <p:cNvPr id="323" name="TextBox 42"/>
          <p:cNvSpPr/>
          <p:nvPr/>
        </p:nvSpPr>
        <p:spPr>
          <a:xfrm>
            <a:off x="8201160" y="5328000"/>
            <a:ext cx="99108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25</a:t>
            </a:r>
            <a:endParaRPr lang="en-US" sz="1250" b="0" u="none" strike="noStrike">
              <a:solidFill>
                <a:srgbClr val="000000"/>
              </a:solidFill>
              <a:effectLst/>
              <a:uFillTx/>
              <a:latin typeface="Arial"/>
            </a:endParaRPr>
          </a:p>
        </p:txBody>
      </p:sp>
      <p:sp>
        <p:nvSpPr>
          <p:cNvPr id="324" name="TextBox 43"/>
          <p:cNvSpPr/>
          <p:nvPr/>
        </p:nvSpPr>
        <p:spPr>
          <a:xfrm>
            <a:off x="9378000" y="5328000"/>
            <a:ext cx="109800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120,4</a:t>
            </a:r>
            <a:endParaRPr lang="en-US" sz="1250" b="0" u="none" strike="noStrike">
              <a:solidFill>
                <a:srgbClr val="000000"/>
              </a:solidFill>
              <a:effectLst/>
              <a:uFillTx/>
              <a:latin typeface="Arial"/>
            </a:endParaRPr>
          </a:p>
        </p:txBody>
      </p:sp>
      <p:sp>
        <p:nvSpPr>
          <p:cNvPr id="325" name="TextBox 44"/>
          <p:cNvSpPr/>
          <p:nvPr/>
        </p:nvSpPr>
        <p:spPr>
          <a:xfrm>
            <a:off x="10661760" y="5328000"/>
            <a:ext cx="88416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114.404</a:t>
            </a:r>
            <a:endParaRPr lang="en-US" sz="12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6" name="TextBox 1"/>
          <p:cNvSpPr/>
          <p:nvPr/>
        </p:nvSpPr>
        <p:spPr>
          <a:xfrm>
            <a:off x="548640" y="457200"/>
            <a:ext cx="1108872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ΠΡΟΒΛΕΨΗ</a:t>
            </a:r>
            <a:endParaRPr lang="en-US" sz="1200" b="0" u="none" strike="noStrike">
              <a:solidFill>
                <a:srgbClr val="000000"/>
              </a:solidFill>
              <a:effectLst/>
              <a:uFillTx/>
              <a:latin typeface="Arial"/>
            </a:endParaRPr>
          </a:p>
        </p:txBody>
      </p:sp>
      <p:sp>
        <p:nvSpPr>
          <p:cNvPr id="327" name="TextBox 2"/>
          <p:cNvSpPr/>
          <p:nvPr/>
        </p:nvSpPr>
        <p:spPr>
          <a:xfrm>
            <a:off x="548640" y="749880"/>
            <a:ext cx="11088720" cy="5572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Skill score και περίοδος προβλέψεων</a:t>
            </a:r>
            <a:endParaRPr lang="en-US" sz="3000" b="0" u="none" strike="noStrike">
              <a:solidFill>
                <a:srgbClr val="000000"/>
              </a:solidFill>
              <a:effectLst/>
              <a:uFillTx/>
              <a:latin typeface="Arial"/>
            </a:endParaRPr>
          </a:p>
        </p:txBody>
      </p:sp>
      <p:sp>
        <p:nvSpPr>
          <p:cNvPr id="328" name="TextBox 4"/>
          <p:cNvSpPr/>
          <p:nvPr/>
        </p:nvSpPr>
        <p:spPr>
          <a:xfrm>
            <a:off x="11094480" y="6473880"/>
            <a:ext cx="545760" cy="16740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21</a:t>
            </a:r>
            <a:endParaRPr lang="en-US" sz="900" b="0" u="none" strike="noStrike">
              <a:solidFill>
                <a:srgbClr val="000000"/>
              </a:solidFill>
              <a:effectLst/>
              <a:uFillTx/>
              <a:latin typeface="Arial"/>
            </a:endParaRPr>
          </a:p>
        </p:txBody>
      </p:sp>
      <p:pic>
        <p:nvPicPr>
          <p:cNvPr id="329" name="Picture 5" descr="revenue-forecast.png"/>
          <p:cNvPicPr/>
          <p:nvPr/>
        </p:nvPicPr>
        <p:blipFill>
          <a:blip r:embed="rId1"/>
          <a:stretch/>
        </p:blipFill>
        <p:spPr>
          <a:xfrm>
            <a:off x="548640" y="2160720"/>
            <a:ext cx="5346360" cy="1942200"/>
          </a:xfrm>
          <a:prstGeom prst="rect">
            <a:avLst/>
          </a:prstGeom>
          <a:noFill/>
          <a:ln w="0">
            <a:noFill/>
          </a:ln>
        </p:spPr>
      </p:pic>
      <p:sp>
        <p:nvSpPr>
          <p:cNvPr id="330" name="Rectangle 6"/>
          <p:cNvSpPr/>
          <p:nvPr/>
        </p:nvSpPr>
        <p:spPr>
          <a:xfrm>
            <a:off x="548640" y="2160720"/>
            <a:ext cx="5346360" cy="1942200"/>
          </a:xfrm>
          <a:prstGeom prst="rect">
            <a:avLst/>
          </a:prstGeom>
          <a:noFill/>
          <a:ln w="9360">
            <a:solidFill>
              <a:srgbClr val="376092"/>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31" name="TextBox 7"/>
          <p:cNvSpPr/>
          <p:nvPr/>
        </p:nvSpPr>
        <p:spPr>
          <a:xfrm>
            <a:off x="548640" y="4197600"/>
            <a:ext cx="5346360" cy="2041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Καθαρές πωλήσεις ανά μήνα και πρόβλεψη τριμήνου</a:t>
            </a:r>
            <a:endParaRPr lang="en-US" sz="1100" b="0" u="none" strike="noStrike">
              <a:solidFill>
                <a:srgbClr val="000000"/>
              </a:solidFill>
              <a:effectLst/>
              <a:uFillTx/>
              <a:latin typeface="Arial"/>
            </a:endParaRPr>
          </a:p>
        </p:txBody>
      </p:sp>
      <p:sp>
        <p:nvSpPr>
          <p:cNvPr id="332" name="Rectangle 8"/>
          <p:cNvSpPr/>
          <p:nvPr/>
        </p:nvSpPr>
        <p:spPr>
          <a:xfrm>
            <a:off x="548640" y="4514400"/>
            <a:ext cx="5346360" cy="344520"/>
          </a:xfrm>
          <a:prstGeom prst="rect">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33" name="TextBox 9"/>
          <p:cNvSpPr/>
          <p:nvPr/>
        </p:nvSpPr>
        <p:spPr>
          <a:xfrm>
            <a:off x="640080" y="4596480"/>
            <a:ext cx="216792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Μέθοδος</a:t>
            </a:r>
            <a:endParaRPr lang="en-US" sz="1200" b="0" u="none" strike="noStrike">
              <a:solidFill>
                <a:srgbClr val="000000"/>
              </a:solidFill>
              <a:effectLst/>
              <a:uFillTx/>
              <a:latin typeface="Arial"/>
            </a:endParaRPr>
          </a:p>
        </p:txBody>
      </p:sp>
      <p:sp>
        <p:nvSpPr>
          <p:cNvPr id="334" name="TextBox 10"/>
          <p:cNvSpPr/>
          <p:nvPr/>
        </p:nvSpPr>
        <p:spPr>
          <a:xfrm>
            <a:off x="2993760" y="4596480"/>
            <a:ext cx="120492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MAPE %</a:t>
            </a:r>
            <a:endParaRPr lang="en-US" sz="1200" b="0" u="none" strike="noStrike">
              <a:solidFill>
                <a:srgbClr val="000000"/>
              </a:solidFill>
              <a:effectLst/>
              <a:uFillTx/>
              <a:latin typeface="Arial"/>
            </a:endParaRPr>
          </a:p>
        </p:txBody>
      </p:sp>
      <p:sp>
        <p:nvSpPr>
          <p:cNvPr id="335" name="TextBox 11"/>
          <p:cNvSpPr/>
          <p:nvPr/>
        </p:nvSpPr>
        <p:spPr>
          <a:xfrm>
            <a:off x="4384440" y="4596480"/>
            <a:ext cx="141912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2C5530"/>
                </a:solidFill>
                <a:effectLst/>
                <a:uFillTx/>
                <a:latin typeface="Calibri"/>
                <a:ea typeface="DejaVu Sans"/>
              </a:rPr>
              <a:t>Skill score</a:t>
            </a:r>
            <a:endParaRPr lang="en-US" sz="1200" b="0" u="none" strike="noStrike">
              <a:solidFill>
                <a:srgbClr val="000000"/>
              </a:solidFill>
              <a:effectLst/>
              <a:uFillTx/>
              <a:latin typeface="Arial"/>
            </a:endParaRPr>
          </a:p>
        </p:txBody>
      </p:sp>
      <p:sp>
        <p:nvSpPr>
          <p:cNvPr id="336" name="TextBox 12"/>
          <p:cNvSpPr/>
          <p:nvPr/>
        </p:nvSpPr>
        <p:spPr>
          <a:xfrm>
            <a:off x="640080" y="4953240"/>
            <a:ext cx="216792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Απλοϊκή εκτίμηση</a:t>
            </a:r>
            <a:endParaRPr lang="en-US" sz="1250" b="0" u="none" strike="noStrike">
              <a:solidFill>
                <a:srgbClr val="000000"/>
              </a:solidFill>
              <a:effectLst/>
              <a:uFillTx/>
              <a:latin typeface="Arial"/>
            </a:endParaRPr>
          </a:p>
        </p:txBody>
      </p:sp>
      <p:sp>
        <p:nvSpPr>
          <p:cNvPr id="337" name="TextBox 13"/>
          <p:cNvSpPr/>
          <p:nvPr/>
        </p:nvSpPr>
        <p:spPr>
          <a:xfrm>
            <a:off x="2993760" y="4953240"/>
            <a:ext cx="120492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38,48</a:t>
            </a:r>
            <a:endParaRPr lang="en-US" sz="1250" b="0" u="none" strike="noStrike">
              <a:solidFill>
                <a:srgbClr val="000000"/>
              </a:solidFill>
              <a:effectLst/>
              <a:uFillTx/>
              <a:latin typeface="Arial"/>
            </a:endParaRPr>
          </a:p>
        </p:txBody>
      </p:sp>
      <p:sp>
        <p:nvSpPr>
          <p:cNvPr id="338" name="TextBox 14"/>
          <p:cNvSpPr/>
          <p:nvPr/>
        </p:nvSpPr>
        <p:spPr>
          <a:xfrm>
            <a:off x="4384440" y="4953240"/>
            <a:ext cx="141912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0,0000</a:t>
            </a:r>
            <a:endParaRPr lang="en-US" sz="1250" b="0" u="none" strike="noStrike">
              <a:solidFill>
                <a:srgbClr val="000000"/>
              </a:solidFill>
              <a:effectLst/>
              <a:uFillTx/>
              <a:latin typeface="Arial"/>
            </a:endParaRPr>
          </a:p>
        </p:txBody>
      </p:sp>
      <p:sp>
        <p:nvSpPr>
          <p:cNvPr id="339" name="TextBox 16"/>
          <p:cNvSpPr/>
          <p:nvPr/>
        </p:nvSpPr>
        <p:spPr>
          <a:xfrm>
            <a:off x="640080" y="5319000"/>
            <a:ext cx="216792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Holt-Winters</a:t>
            </a:r>
            <a:endParaRPr lang="en-US" sz="1250" b="0" u="none" strike="noStrike">
              <a:solidFill>
                <a:srgbClr val="000000"/>
              </a:solidFill>
              <a:effectLst/>
              <a:uFillTx/>
              <a:latin typeface="Arial"/>
            </a:endParaRPr>
          </a:p>
        </p:txBody>
      </p:sp>
      <p:sp>
        <p:nvSpPr>
          <p:cNvPr id="340" name="TextBox 17"/>
          <p:cNvSpPr/>
          <p:nvPr/>
        </p:nvSpPr>
        <p:spPr>
          <a:xfrm>
            <a:off x="2993760" y="5319000"/>
            <a:ext cx="120492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32,74</a:t>
            </a:r>
            <a:endParaRPr lang="en-US" sz="1250" b="0" u="none" strike="noStrike">
              <a:solidFill>
                <a:srgbClr val="000000"/>
              </a:solidFill>
              <a:effectLst/>
              <a:uFillTx/>
              <a:latin typeface="Arial"/>
            </a:endParaRPr>
          </a:p>
        </p:txBody>
      </p:sp>
      <p:sp>
        <p:nvSpPr>
          <p:cNvPr id="341" name="TextBox 18"/>
          <p:cNvSpPr/>
          <p:nvPr/>
        </p:nvSpPr>
        <p:spPr>
          <a:xfrm>
            <a:off x="4384440" y="5319000"/>
            <a:ext cx="1419120" cy="2318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50" b="0" u="none" strike="noStrike">
                <a:solidFill>
                  <a:srgbClr val="241F1B"/>
                </a:solidFill>
                <a:effectLst/>
                <a:uFillTx/>
                <a:latin typeface="Calibri"/>
                <a:ea typeface="DejaVu Sans"/>
              </a:rPr>
              <a:t>+0,1421</a:t>
            </a:r>
            <a:endParaRPr lang="en-US" sz="1250" b="0" u="none" strike="noStrike">
              <a:solidFill>
                <a:srgbClr val="000000"/>
              </a:solidFill>
              <a:effectLst/>
              <a:uFillTx/>
              <a:latin typeface="Arial"/>
            </a:endParaRPr>
          </a:p>
        </p:txBody>
      </p:sp>
      <p:sp>
        <p:nvSpPr>
          <p:cNvPr id="342" name="TextBox 19"/>
          <p:cNvSpPr/>
          <p:nvPr/>
        </p:nvSpPr>
        <p:spPr>
          <a:xfrm>
            <a:off x="6291000" y="2743200"/>
            <a:ext cx="5346360" cy="2458800"/>
          </a:xfrm>
          <a:prstGeom prst="rect">
            <a:avLst/>
          </a:prstGeom>
          <a:noFill/>
          <a:ln w="0">
            <a:noFill/>
          </a:ln>
        </p:spPr>
        <p:style>
          <a:lnRef idx="0"/>
          <a:fillRef idx="0"/>
          <a:effectRef idx="0"/>
          <a:fontRef idx="minor"/>
        </p:style>
        <p:txBody>
          <a:bodyPr lIns="0" tIns="0" rIns="0" bIns="0" anchor="t">
            <a:spAutoFit/>
          </a:bodyPr>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500" b="0" u="none" strike="noStrike">
                <a:solidFill>
                  <a:srgbClr val="241F1B"/>
                </a:solidFill>
                <a:effectLst/>
                <a:uFillTx/>
                <a:latin typeface="Calibri"/>
                <a:ea typeface="DejaVu Sans"/>
              </a:rPr>
              <a:t>Η πρώτη εκτέλεση έβγαλε skill score -0,21. Δηλαδή η πρόβλεψη έχανε από την πιο απλοϊκή εκτίμηση, τύπου το “ίδιο με τον προηγούμενο μήνα”.</a:t>
            </a:r>
            <a:endParaRPr lang="en-US" sz="1500" b="0" u="none" strike="noStrike">
              <a:solidFill>
                <a:srgbClr val="000000"/>
              </a:solidFill>
              <a:effectLst/>
              <a:uFillTx/>
              <a:latin typeface="Arial"/>
            </a:endParaRPr>
          </a:p>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500" b="0" u="none" strike="noStrike">
                <a:solidFill>
                  <a:srgbClr val="241F1B"/>
                </a:solidFill>
                <a:effectLst/>
                <a:uFillTx/>
                <a:latin typeface="Calibri"/>
                <a:ea typeface="DejaVu Sans"/>
              </a:rPr>
              <a:t>Ο λόγος ήταν πως τα δεδομένα σταματούν στις 9 Δεκεμβρίου 2011, οπότε ο τελευταίος μήνας έχει 9 ημέρες.</a:t>
            </a:r>
            <a:endParaRPr lang="en-US" sz="1500" b="0" u="none" strike="noStrike">
              <a:solidFill>
                <a:srgbClr val="000000"/>
              </a:solidFill>
              <a:effectLst/>
              <a:uFillTx/>
              <a:latin typeface="Arial"/>
            </a:endParaRPr>
          </a:p>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500" b="1" u="none" strike="noStrike">
                <a:solidFill>
                  <a:srgbClr val="241F1B"/>
                </a:solidFill>
                <a:effectLst/>
                <a:uFillTx/>
                <a:latin typeface="Calibri"/>
                <a:ea typeface="DejaVu Sans"/>
              </a:rPr>
              <a:t>Βγάζοντάς τον έξω, το skill score γίνεται  +0,1421. Ίδιο μοντέλο, ίδια δεδομένα, αντίθετο συμπέρασμα.</a:t>
            </a:r>
            <a:endParaRPr lang="en-US"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3" name="TextBox 1"/>
          <p:cNvSpPr/>
          <p:nvPr/>
        </p:nvSpPr>
        <p:spPr>
          <a:xfrm>
            <a:off x="548640" y="457200"/>
            <a:ext cx="1108872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ΟΙΚΟΝΟΜΙΚΟΙ ΔΕΙΚΤΕΣ</a:t>
            </a:r>
            <a:endParaRPr lang="en-US" sz="1200" b="0" u="none" strike="noStrike">
              <a:solidFill>
                <a:srgbClr val="000000"/>
              </a:solidFill>
              <a:effectLst/>
              <a:uFillTx/>
              <a:latin typeface="Arial"/>
            </a:endParaRPr>
          </a:p>
        </p:txBody>
      </p:sp>
      <p:sp>
        <p:nvSpPr>
          <p:cNvPr id="344" name="TextBox 2"/>
          <p:cNvSpPr/>
          <p:nvPr/>
        </p:nvSpPr>
        <p:spPr>
          <a:xfrm>
            <a:off x="548640" y="749880"/>
            <a:ext cx="11088720" cy="5572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Πού πάνε τα έσοδα κάθε μήνα</a:t>
            </a:r>
            <a:endParaRPr lang="en-US" sz="3000" b="0" u="none" strike="noStrike">
              <a:solidFill>
                <a:srgbClr val="000000"/>
              </a:solidFill>
              <a:effectLst/>
              <a:uFillTx/>
              <a:latin typeface="Arial"/>
            </a:endParaRPr>
          </a:p>
        </p:txBody>
      </p:sp>
      <p:sp>
        <p:nvSpPr>
          <p:cNvPr id="345" name="TextBox 4"/>
          <p:cNvSpPr/>
          <p:nvPr/>
        </p:nvSpPr>
        <p:spPr>
          <a:xfrm>
            <a:off x="11094480" y="6473880"/>
            <a:ext cx="545760" cy="16740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22</a:t>
            </a:r>
            <a:endParaRPr lang="en-US" sz="900" b="0" u="none" strike="noStrike">
              <a:solidFill>
                <a:srgbClr val="000000"/>
              </a:solidFill>
              <a:effectLst/>
              <a:uFillTx/>
              <a:latin typeface="Arial"/>
            </a:endParaRPr>
          </a:p>
        </p:txBody>
      </p:sp>
      <p:pic>
        <p:nvPicPr>
          <p:cNvPr id="346" name="Picture 6" descr="growth-accounting.png"/>
          <p:cNvPicPr/>
          <p:nvPr/>
        </p:nvPicPr>
        <p:blipFill>
          <a:blip r:embed="rId1"/>
          <a:stretch/>
        </p:blipFill>
        <p:spPr>
          <a:xfrm>
            <a:off x="548640" y="1839600"/>
            <a:ext cx="5346360" cy="2225880"/>
          </a:xfrm>
          <a:prstGeom prst="rect">
            <a:avLst/>
          </a:prstGeom>
          <a:noFill/>
          <a:ln w="0">
            <a:noFill/>
          </a:ln>
        </p:spPr>
      </p:pic>
      <p:sp>
        <p:nvSpPr>
          <p:cNvPr id="347" name="Rectangle 7"/>
          <p:cNvSpPr/>
          <p:nvPr/>
        </p:nvSpPr>
        <p:spPr>
          <a:xfrm>
            <a:off x="548640" y="1839600"/>
            <a:ext cx="5346360" cy="2225880"/>
          </a:xfrm>
          <a:prstGeom prst="rect">
            <a:avLst/>
          </a:prstGeom>
          <a:noFill/>
          <a:ln w="9360">
            <a:solidFill>
              <a:srgbClr val="376092"/>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48" name="TextBox 8"/>
          <p:cNvSpPr/>
          <p:nvPr/>
        </p:nvSpPr>
        <p:spPr>
          <a:xfrm>
            <a:off x="548640" y="4160880"/>
            <a:ext cx="5346360" cy="2041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Η μεταβολή εσόδων σπασμένη σε έξι ροές</a:t>
            </a:r>
            <a:endParaRPr lang="en-US" sz="1100" b="0" u="none" strike="noStrike">
              <a:solidFill>
                <a:srgbClr val="000000"/>
              </a:solidFill>
              <a:effectLst/>
              <a:uFillTx/>
              <a:latin typeface="Arial"/>
            </a:endParaRPr>
          </a:p>
        </p:txBody>
      </p:sp>
      <p:pic>
        <p:nvPicPr>
          <p:cNvPr id="349" name="Picture 9" descr="quick-ratio.png"/>
          <p:cNvPicPr/>
          <p:nvPr/>
        </p:nvPicPr>
        <p:blipFill>
          <a:blip r:embed="rId2"/>
          <a:stretch/>
        </p:blipFill>
        <p:spPr>
          <a:xfrm>
            <a:off x="6291000" y="2102760"/>
            <a:ext cx="5346360" cy="1699200"/>
          </a:xfrm>
          <a:prstGeom prst="rect">
            <a:avLst/>
          </a:prstGeom>
          <a:noFill/>
          <a:ln w="0">
            <a:noFill/>
          </a:ln>
        </p:spPr>
      </p:pic>
      <p:sp>
        <p:nvSpPr>
          <p:cNvPr id="350" name="Rectangle 10"/>
          <p:cNvSpPr/>
          <p:nvPr/>
        </p:nvSpPr>
        <p:spPr>
          <a:xfrm>
            <a:off x="6291000" y="2102760"/>
            <a:ext cx="5346360" cy="1699200"/>
          </a:xfrm>
          <a:prstGeom prst="rect">
            <a:avLst/>
          </a:prstGeom>
          <a:noFill/>
          <a:ln w="9360">
            <a:solidFill>
              <a:srgbClr val="376092"/>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51" name="TextBox 11"/>
          <p:cNvSpPr/>
          <p:nvPr/>
        </p:nvSpPr>
        <p:spPr>
          <a:xfrm>
            <a:off x="6291000" y="4160880"/>
            <a:ext cx="5346360" cy="20412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100" b="0" u="none" strike="noStrike">
                <a:solidFill>
                  <a:srgbClr val="6B6259"/>
                </a:solidFill>
                <a:effectLst/>
                <a:uFillTx/>
                <a:latin typeface="Calibri"/>
                <a:ea typeface="DejaVu Sans"/>
              </a:rPr>
              <a:t>Quick ratio ανά μήνα. Κάτω από τη μονάδα, τα έσοδα συρρικνώνονται</a:t>
            </a:r>
            <a:endParaRPr lang="en-US" sz="1100" b="0" u="none" strike="noStrike">
              <a:solidFill>
                <a:srgbClr val="000000"/>
              </a:solidFill>
              <a:effectLst/>
              <a:uFillTx/>
              <a:latin typeface="Arial"/>
            </a:endParaRPr>
          </a:p>
        </p:txBody>
      </p:sp>
      <p:sp>
        <p:nvSpPr>
          <p:cNvPr id="352" name="Rounded Rectangle 12"/>
          <p:cNvSpPr/>
          <p:nvPr/>
        </p:nvSpPr>
        <p:spPr>
          <a:xfrm>
            <a:off x="548640" y="4532400"/>
            <a:ext cx="3596760" cy="96624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53" name="TextBox 13"/>
          <p:cNvSpPr/>
          <p:nvPr/>
        </p:nvSpPr>
        <p:spPr>
          <a:xfrm>
            <a:off x="548640" y="4623840"/>
            <a:ext cx="3596760" cy="4456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72,4%</a:t>
            </a:r>
            <a:endParaRPr lang="en-US" sz="2400" b="0" u="none" strike="noStrike">
              <a:solidFill>
                <a:srgbClr val="000000"/>
              </a:solidFill>
              <a:effectLst/>
              <a:uFillTx/>
              <a:latin typeface="Arial"/>
            </a:endParaRPr>
          </a:p>
        </p:txBody>
      </p:sp>
      <p:sp>
        <p:nvSpPr>
          <p:cNvPr id="354" name="TextBox 14"/>
          <p:cNvSpPr/>
          <p:nvPr/>
        </p:nvSpPr>
        <p:spPr>
          <a:xfrm>
            <a:off x="603360" y="5081040"/>
            <a:ext cx="3486960" cy="20412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Πελάτες που ξαναγόρασαν</a:t>
            </a:r>
            <a:endParaRPr lang="en-US" sz="1100" b="0" u="none" strike="noStrike">
              <a:solidFill>
                <a:srgbClr val="000000"/>
              </a:solidFill>
              <a:effectLst/>
              <a:uFillTx/>
              <a:latin typeface="Arial"/>
            </a:endParaRPr>
          </a:p>
        </p:txBody>
      </p:sp>
      <p:sp>
        <p:nvSpPr>
          <p:cNvPr id="355" name="Rounded Rectangle 15"/>
          <p:cNvSpPr/>
          <p:nvPr/>
        </p:nvSpPr>
        <p:spPr>
          <a:xfrm>
            <a:off x="4294800" y="4532400"/>
            <a:ext cx="3596760" cy="96624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56" name="TextBox 16"/>
          <p:cNvSpPr/>
          <p:nvPr/>
        </p:nvSpPr>
        <p:spPr>
          <a:xfrm>
            <a:off x="4294800" y="4623840"/>
            <a:ext cx="3596760" cy="4456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0,740</a:t>
            </a:r>
            <a:endParaRPr lang="en-US" sz="2400" b="0" u="none" strike="noStrike">
              <a:solidFill>
                <a:srgbClr val="000000"/>
              </a:solidFill>
              <a:effectLst/>
              <a:uFillTx/>
              <a:latin typeface="Arial"/>
            </a:endParaRPr>
          </a:p>
        </p:txBody>
      </p:sp>
      <p:sp>
        <p:nvSpPr>
          <p:cNvPr id="357" name="TextBox 17"/>
          <p:cNvSpPr/>
          <p:nvPr/>
        </p:nvSpPr>
        <p:spPr>
          <a:xfrm>
            <a:off x="4349520" y="5081040"/>
            <a:ext cx="3486960" cy="20412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Συντελεστής Gini</a:t>
            </a:r>
            <a:endParaRPr lang="en-US" sz="1100" b="0" u="none" strike="noStrike">
              <a:solidFill>
                <a:srgbClr val="000000"/>
              </a:solidFill>
              <a:effectLst/>
              <a:uFillTx/>
              <a:latin typeface="Arial"/>
            </a:endParaRPr>
          </a:p>
        </p:txBody>
      </p:sp>
      <p:sp>
        <p:nvSpPr>
          <p:cNvPr id="358" name="Rounded Rectangle 18"/>
          <p:cNvSpPr/>
          <p:nvPr/>
        </p:nvSpPr>
        <p:spPr>
          <a:xfrm>
            <a:off x="8040600" y="4532400"/>
            <a:ext cx="3596760" cy="966240"/>
          </a:xfrm>
          <a:prstGeom prst="roundRect">
            <a:avLst>
              <a:gd name="adj" fmla="val 16667"/>
            </a:avLst>
          </a:prstGeom>
          <a:solidFill>
            <a:srgbClr val="EEF3EC"/>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59" name="TextBox 19"/>
          <p:cNvSpPr/>
          <p:nvPr/>
        </p:nvSpPr>
        <p:spPr>
          <a:xfrm>
            <a:off x="8040600" y="4623840"/>
            <a:ext cx="3596760" cy="44568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2400" b="1" u="none" strike="noStrike">
                <a:solidFill>
                  <a:srgbClr val="2C5530"/>
                </a:solidFill>
                <a:effectLst/>
                <a:uFillTx/>
                <a:latin typeface="Cambria"/>
                <a:ea typeface="DejaVu Sans"/>
              </a:rPr>
              <a:t>3,3%</a:t>
            </a:r>
            <a:endParaRPr lang="en-US" sz="2400" b="0" u="none" strike="noStrike">
              <a:solidFill>
                <a:srgbClr val="000000"/>
              </a:solidFill>
              <a:effectLst/>
              <a:uFillTx/>
              <a:latin typeface="Arial"/>
            </a:endParaRPr>
          </a:p>
        </p:txBody>
      </p:sp>
      <p:sp>
        <p:nvSpPr>
          <p:cNvPr id="360" name="TextBox 20"/>
          <p:cNvSpPr/>
          <p:nvPr/>
        </p:nvSpPr>
        <p:spPr>
          <a:xfrm>
            <a:off x="8095320" y="5081040"/>
            <a:ext cx="3486960" cy="204120"/>
          </a:xfrm>
          <a:prstGeom prst="rect">
            <a:avLst/>
          </a:prstGeom>
          <a:noFill/>
          <a:ln w="0">
            <a:noFill/>
          </a:ln>
        </p:spPr>
        <p:style>
          <a:lnRef idx="0"/>
          <a:fillRef idx="0"/>
          <a:effectRef idx="0"/>
          <a:fontRef idx="minor"/>
        </p:style>
        <p:txBody>
          <a:bodyPr lIns="0" tIns="0" rIns="0" bIns="0" anchor="t">
            <a:spAutoFit/>
          </a:bodyPr>
          <a:p>
            <a:pPr algn="ctr" defTabSz="457200">
              <a:lnSpc>
                <a:spcPct val="122000"/>
              </a:lnSpc>
            </a:pPr>
            <a:r>
              <a:rPr lang="en-US" sz="1100" b="0" u="none" strike="noStrike">
                <a:solidFill>
                  <a:srgbClr val="6B6259"/>
                </a:solidFill>
                <a:effectLst/>
                <a:uFillTx/>
                <a:latin typeface="Calibri"/>
                <a:ea typeface="DejaVu Sans"/>
              </a:rPr>
              <a:t>Ο μεγαλύτερος πελάτης</a:t>
            </a:r>
            <a:endParaRPr lang="en-US" sz="1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1" name="TextBox 1"/>
          <p:cNvSpPr/>
          <p:nvPr/>
        </p:nvSpPr>
        <p:spPr>
          <a:xfrm>
            <a:off x="548640" y="457200"/>
            <a:ext cx="1108872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ΟΙΚΟΝΟΜΙΚΟΙ ΔΕΙΚΤΕΣ</a:t>
            </a:r>
            <a:endParaRPr lang="en-US" sz="1200" b="0" u="none" strike="noStrike">
              <a:solidFill>
                <a:srgbClr val="000000"/>
              </a:solidFill>
              <a:effectLst/>
              <a:uFillTx/>
              <a:latin typeface="Arial"/>
            </a:endParaRPr>
          </a:p>
        </p:txBody>
      </p:sp>
      <p:sp>
        <p:nvSpPr>
          <p:cNvPr id="362" name="TextBox 2"/>
          <p:cNvSpPr/>
          <p:nvPr/>
        </p:nvSpPr>
        <p:spPr>
          <a:xfrm>
            <a:off x="548640" y="749880"/>
            <a:ext cx="11088720" cy="5572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Κερδοφορία</a:t>
            </a:r>
            <a:endParaRPr lang="en-US" sz="3000" b="0" u="none" strike="noStrike">
              <a:solidFill>
                <a:srgbClr val="000000"/>
              </a:solidFill>
              <a:effectLst/>
              <a:uFillTx/>
              <a:latin typeface="Arial"/>
            </a:endParaRPr>
          </a:p>
        </p:txBody>
      </p:sp>
      <p:sp>
        <p:nvSpPr>
          <p:cNvPr id="363" name="TextBox 4"/>
          <p:cNvSpPr/>
          <p:nvPr/>
        </p:nvSpPr>
        <p:spPr>
          <a:xfrm>
            <a:off x="11094480" y="6473880"/>
            <a:ext cx="545760" cy="16740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23</a:t>
            </a:r>
            <a:endParaRPr lang="en-US" sz="900" b="0" u="none" strike="noStrike">
              <a:solidFill>
                <a:srgbClr val="000000"/>
              </a:solidFill>
              <a:effectLst/>
              <a:uFillTx/>
              <a:latin typeface="Arial"/>
            </a:endParaRPr>
          </a:p>
        </p:txBody>
      </p:sp>
      <p:pic>
        <p:nvPicPr>
          <p:cNvPr id="364" name="Picture 5" descr="profitability-sensitivity.png"/>
          <p:cNvPicPr/>
          <p:nvPr/>
        </p:nvPicPr>
        <p:blipFill>
          <a:blip r:embed="rId1"/>
          <a:stretch/>
        </p:blipFill>
        <p:spPr>
          <a:xfrm>
            <a:off x="1023120" y="2258640"/>
            <a:ext cx="4397760" cy="2511720"/>
          </a:xfrm>
          <a:prstGeom prst="rect">
            <a:avLst/>
          </a:prstGeom>
          <a:noFill/>
          <a:ln w="0">
            <a:noFill/>
          </a:ln>
        </p:spPr>
      </p:pic>
      <p:sp>
        <p:nvSpPr>
          <p:cNvPr id="365" name="Rectangle 6"/>
          <p:cNvSpPr/>
          <p:nvPr/>
        </p:nvSpPr>
        <p:spPr>
          <a:xfrm>
            <a:off x="1023120" y="2258640"/>
            <a:ext cx="4397760" cy="2511720"/>
          </a:xfrm>
          <a:prstGeom prst="rect">
            <a:avLst/>
          </a:prstGeom>
          <a:noFill/>
          <a:ln w="9360">
            <a:solidFill>
              <a:srgbClr val="376092"/>
            </a:solidFill>
            <a:round/>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66" name="TextBox 7"/>
          <p:cNvSpPr/>
          <p:nvPr/>
        </p:nvSpPr>
        <p:spPr>
          <a:xfrm>
            <a:off x="548640" y="4864680"/>
            <a:ext cx="5346360" cy="204120"/>
          </a:xfrm>
          <a:prstGeom prst="rect">
            <a:avLst/>
          </a:prstGeom>
          <a:noFill/>
          <a:ln w="0">
            <a:noFill/>
          </a:ln>
        </p:spPr>
        <p:style>
          <a:lnRef idx="0"/>
          <a:fillRef idx="0"/>
          <a:effectRef idx="0"/>
          <a:fontRef idx="minor"/>
        </p:style>
        <p:txBody>
          <a:bodyPr lIns="0" tIns="0" rIns="0" bIns="0" anchor="t" anchorCtr="1">
            <a:spAutoFit/>
          </a:bodyPr>
          <a:p>
            <a:pPr algn="ctr" defTabSz="457200">
              <a:lnSpc>
                <a:spcPct val="122000"/>
              </a:lnSpc>
            </a:pPr>
            <a:r>
              <a:rPr lang="en-US" sz="1100" b="0" u="none" strike="noStrike">
                <a:solidFill>
                  <a:srgbClr val="6B6259"/>
                </a:solidFill>
                <a:effectLst/>
                <a:uFillTx/>
                <a:latin typeface="Calibri"/>
                <a:ea typeface="DejaVu Sans"/>
              </a:rPr>
              <a:t>LTV προς CAC για κάθε συνδυασμό παραδοχών</a:t>
            </a:r>
            <a:endParaRPr lang="en-US" sz="1100" b="0" u="none" strike="noStrike">
              <a:solidFill>
                <a:srgbClr val="000000"/>
              </a:solidFill>
              <a:effectLst/>
              <a:uFillTx/>
              <a:latin typeface="Arial"/>
            </a:endParaRPr>
          </a:p>
        </p:txBody>
      </p:sp>
      <p:sp>
        <p:nvSpPr>
          <p:cNvPr id="367" name="TextBox 8"/>
          <p:cNvSpPr/>
          <p:nvPr/>
        </p:nvSpPr>
        <p:spPr>
          <a:xfrm>
            <a:off x="6291000" y="2514600"/>
            <a:ext cx="5346360" cy="1972440"/>
          </a:xfrm>
          <a:prstGeom prst="rect">
            <a:avLst/>
          </a:prstGeom>
          <a:noFill/>
          <a:ln w="0">
            <a:noFill/>
          </a:ln>
        </p:spPr>
        <p:style>
          <a:lnRef idx="0"/>
          <a:fillRef idx="0"/>
          <a:effectRef idx="0"/>
          <a:fontRef idx="minor"/>
        </p:style>
        <p:txBody>
          <a:bodyPr lIns="0" tIns="0" rIns="0" bIns="0" anchor="t">
            <a:spAutoFit/>
          </a:bodyPr>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500" b="0" u="none" strike="noStrike">
                <a:solidFill>
                  <a:srgbClr val="241F1B"/>
                </a:solidFill>
                <a:effectLst/>
                <a:uFillTx/>
                <a:latin typeface="Calibri"/>
                <a:ea typeface="DejaVu Sans"/>
              </a:rPr>
              <a:t>Από τα δεκαέξι κελιά του πλέγματος, τα 8 περνάνε το όριο 3:1 και τα 8 όχι. Ίδια δεδομένα, αντίθετα συμπεράσματα, μόνο και μόνο επειδή αλλάζει η υπόθεση για το περιθώριο κέρδους.</a:t>
            </a:r>
            <a:endParaRPr lang="en-US" sz="1500" b="0" u="none" strike="noStrike">
              <a:solidFill>
                <a:srgbClr val="000000"/>
              </a:solidFill>
              <a:effectLst/>
              <a:uFillTx/>
              <a:latin typeface="Arial"/>
            </a:endParaRPr>
          </a:p>
          <a:p>
            <a:pPr defTabSz="457200">
              <a:lnSpc>
                <a:spcPct val="122000"/>
              </a:lnSpc>
              <a:spcAft>
                <a:spcPts val="901"/>
              </a:spcAft>
            </a:pPr>
            <a:r>
              <a:rPr lang="en-US" sz="2000" b="0" u="none" strike="noStrike">
                <a:solidFill>
                  <a:srgbClr val="224B12"/>
                </a:solidFill>
                <a:effectLst/>
                <a:uFillTx/>
                <a:latin typeface="Calibri"/>
                <a:ea typeface="DejaVu Sans"/>
              </a:rPr>
              <a:t>- </a:t>
            </a:r>
            <a:r>
              <a:rPr lang="en-US" sz="1500" b="1" u="none" strike="noStrike">
                <a:solidFill>
                  <a:srgbClr val="241F1B"/>
                </a:solidFill>
                <a:effectLst/>
                <a:uFillTx/>
                <a:latin typeface="Calibri"/>
                <a:ea typeface="DejaVu Sans"/>
              </a:rPr>
              <a:t>Αυτή η εξάρτηση είναι το εύρημα. Δεν διαλέγουμε ένα “λογικό” περιθώριο για να δώσουμε μία καθαρή απάντηση, γιατί θα ήταν υπόθεση ντυμένη σαν μέτρηση.</a:t>
            </a:r>
            <a:endParaRPr lang="en-US"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8" name="TextBox 4"/>
          <p:cNvSpPr/>
          <p:nvPr/>
        </p:nvSpPr>
        <p:spPr>
          <a:xfrm>
            <a:off x="548640" y="3803760"/>
            <a:ext cx="11088720" cy="817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400" b="1" u="none" strike="noStrike">
                <a:solidFill>
                  <a:srgbClr val="FFFFFF"/>
                </a:solidFill>
                <a:effectLst/>
                <a:uFillTx/>
                <a:latin typeface="Cambria"/>
                <a:ea typeface="DejaVu Sans"/>
              </a:rPr>
              <a:t>Συμπεράσματα</a:t>
            </a:r>
            <a:endParaRPr lang="en-US" sz="4400" b="0" u="none" strike="noStrike">
              <a:solidFill>
                <a:srgbClr val="000000"/>
              </a:solidFill>
              <a:effectLst/>
              <a:uFillTx/>
              <a:latin typeface="Arial"/>
            </a:endParaRPr>
          </a:p>
        </p:txBody>
      </p:sp>
      <p:sp>
        <p:nvSpPr>
          <p:cNvPr id="369" name="TextBox 7"/>
          <p:cNvSpPr/>
          <p:nvPr/>
        </p:nvSpPr>
        <p:spPr>
          <a:xfrm>
            <a:off x="11094480" y="6473880"/>
            <a:ext cx="545760" cy="16740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D7E5D2"/>
                </a:solidFill>
                <a:effectLst/>
                <a:uFillTx/>
                <a:latin typeface="Calibri"/>
                <a:ea typeface="DejaVu Sans"/>
              </a:rPr>
              <a:t>24</a:t>
            </a:r>
            <a:endParaRPr lang="en-US" sz="900" b="0" u="none" strike="noStrike">
              <a:solidFill>
                <a:srgbClr val="000000"/>
              </a:solidFill>
              <a:effectLst/>
              <a:uFillTx/>
              <a:latin typeface="Arial"/>
            </a:endParaRPr>
          </a:p>
        </p:txBody>
      </p:sp>
      <p:sp>
        <p:nvSpPr>
          <p:cNvPr id="370" name="TextBox 31"/>
          <p:cNvSpPr/>
          <p:nvPr/>
        </p:nvSpPr>
        <p:spPr>
          <a:xfrm>
            <a:off x="549000" y="1600560"/>
            <a:ext cx="11088720" cy="178272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371" name="TextBox 40"/>
          <p:cNvSpPr/>
          <p:nvPr/>
        </p:nvSpPr>
        <p:spPr>
          <a:xfrm>
            <a:off x="11094840" y="6474240"/>
            <a:ext cx="545760" cy="16740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D7E5D2"/>
                </a:solidFill>
                <a:effectLst/>
                <a:uFillTx/>
                <a:latin typeface="Calibri"/>
                <a:ea typeface="DejaVu Sans"/>
              </a:rPr>
              <a:t>12</a:t>
            </a:r>
            <a:endParaRPr lang="en-US" sz="900" b="0" u="none" strike="noStrike">
              <a:solidFill>
                <a:srgbClr val="000000"/>
              </a:solidFill>
              <a:effectLst/>
              <a:uFillTx/>
              <a:latin typeface="Arial"/>
            </a:endParaRPr>
          </a:p>
        </p:txBody>
      </p:sp>
      <p:sp>
        <p:nvSpPr>
          <p:cNvPr id="372" name="Rectangle 3"/>
          <p:cNvSpPr/>
          <p:nvPr/>
        </p:nvSpPr>
        <p:spPr>
          <a:xfrm>
            <a:off x="720" y="720"/>
            <a:ext cx="12188880" cy="685512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73" name="TextBox 45"/>
          <p:cNvSpPr/>
          <p:nvPr/>
        </p:nvSpPr>
        <p:spPr>
          <a:xfrm>
            <a:off x="549360" y="1600920"/>
            <a:ext cx="11088720" cy="164304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374" name="TextBox 46"/>
          <p:cNvSpPr/>
          <p:nvPr/>
        </p:nvSpPr>
        <p:spPr>
          <a:xfrm>
            <a:off x="549360" y="2972520"/>
            <a:ext cx="11088720" cy="74304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000" b="1" u="none" strike="noStrike">
                <a:solidFill>
                  <a:srgbClr val="E8A33D"/>
                </a:solidFill>
                <a:effectLst/>
                <a:uFillTx/>
                <a:latin typeface="Calibri"/>
                <a:ea typeface="DejaVu Sans"/>
              </a:rPr>
              <a:t>4η ΕΝΟΤΗΤΑ</a:t>
            </a:r>
            <a:endParaRPr lang="en-US" sz="4000" b="0" u="none" strike="noStrike">
              <a:solidFill>
                <a:srgbClr val="000000"/>
              </a:solidFill>
              <a:effectLst/>
              <a:uFillTx/>
              <a:latin typeface="Arial"/>
            </a:endParaRPr>
          </a:p>
        </p:txBody>
      </p:sp>
      <p:sp>
        <p:nvSpPr>
          <p:cNvPr id="375" name="TextBox 47"/>
          <p:cNvSpPr/>
          <p:nvPr/>
        </p:nvSpPr>
        <p:spPr>
          <a:xfrm>
            <a:off x="549360" y="3804480"/>
            <a:ext cx="11088720" cy="81720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4400" b="1" u="none" strike="noStrike">
                <a:solidFill>
                  <a:srgbClr val="FFFFFF"/>
                </a:solidFill>
                <a:effectLst/>
                <a:uFillTx/>
                <a:latin typeface="Cambria"/>
                <a:ea typeface="DejaVu Sans"/>
              </a:rPr>
              <a:t>Συμπεράσματα</a:t>
            </a:r>
            <a:endParaRPr lang="en-US" sz="4400" b="0" u="none" strike="noStrike">
              <a:solidFill>
                <a:srgbClr val="000000"/>
              </a:solidFill>
              <a:effectLst/>
              <a:uFillTx/>
              <a:latin typeface="Arial"/>
            </a:endParaRPr>
          </a:p>
        </p:txBody>
      </p:sp>
      <p:sp>
        <p:nvSpPr>
          <p:cNvPr id="376" name="TextBox 48"/>
          <p:cNvSpPr/>
          <p:nvPr/>
        </p:nvSpPr>
        <p:spPr>
          <a:xfrm>
            <a:off x="549360" y="4645800"/>
            <a:ext cx="11088720" cy="36288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377" name="TextBox 49"/>
          <p:cNvSpPr/>
          <p:nvPr/>
        </p:nvSpPr>
        <p:spPr>
          <a:xfrm>
            <a:off x="549360" y="6474600"/>
            <a:ext cx="5483520" cy="271440"/>
          </a:xfrm>
          <a:prstGeom prst="rect">
            <a:avLst/>
          </a:prstGeom>
          <a:noFill/>
          <a:ln w="0">
            <a:noFill/>
          </a:ln>
        </p:spPr>
        <p:style>
          <a:lnRef idx="0"/>
          <a:fillRef idx="0"/>
          <a:effectRef idx="0"/>
          <a:fontRef idx="minor"/>
        </p:style>
        <p:txBody>
          <a:bodyPr lIns="0" tIns="0" rIns="0" bIns="0" anchor="t">
            <a:spAutoFit/>
          </a:bodyPr>
          <a:p>
            <a:pPr/>
            <a:endParaRPr lang="en-US" sz="1800" b="0" u="none" strike="noStrike">
              <a:solidFill>
                <a:srgbClr val="000000"/>
              </a:solidFill>
              <a:effectLst/>
              <a:uFillTx/>
              <a:latin typeface="Arial"/>
            </a:endParaRPr>
          </a:p>
        </p:txBody>
      </p:sp>
      <p:sp>
        <p:nvSpPr>
          <p:cNvPr id="378" name="TextBox 50"/>
          <p:cNvSpPr/>
          <p:nvPr/>
        </p:nvSpPr>
        <p:spPr>
          <a:xfrm>
            <a:off x="11095200" y="6474600"/>
            <a:ext cx="545760" cy="16740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D7E5D2"/>
                </a:solidFill>
                <a:effectLst/>
                <a:uFillTx/>
                <a:latin typeface="Calibri"/>
                <a:ea typeface="DejaVu Sans"/>
              </a:rPr>
              <a:t>24</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79" name="TextBox 1"/>
          <p:cNvSpPr/>
          <p:nvPr/>
        </p:nvSpPr>
        <p:spPr>
          <a:xfrm>
            <a:off x="548640" y="457200"/>
            <a:ext cx="1108872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ΣΥΜΠΕΡΑΣΜΑΤΑ</a:t>
            </a:r>
            <a:endParaRPr lang="en-US" sz="1200" b="0" u="none" strike="noStrike">
              <a:solidFill>
                <a:srgbClr val="000000"/>
              </a:solidFill>
              <a:effectLst/>
              <a:uFillTx/>
              <a:latin typeface="Arial"/>
            </a:endParaRPr>
          </a:p>
        </p:txBody>
      </p:sp>
      <p:sp>
        <p:nvSpPr>
          <p:cNvPr id="380" name="TextBox 2"/>
          <p:cNvSpPr/>
          <p:nvPr/>
        </p:nvSpPr>
        <p:spPr>
          <a:xfrm>
            <a:off x="548640" y="749880"/>
            <a:ext cx="11088720" cy="5572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3000" b="1" u="none" strike="noStrike">
                <a:solidFill>
                  <a:srgbClr val="2C5530"/>
                </a:solidFill>
                <a:effectLst/>
                <a:uFillTx/>
                <a:latin typeface="Cambria"/>
                <a:ea typeface="DejaVu Sans"/>
              </a:rPr>
              <a:t>Τι απαντήθηκε και τι προσφέρει στην επιχείρηση</a:t>
            </a:r>
            <a:endParaRPr lang="en-US" sz="3000" b="0" u="none" strike="noStrike">
              <a:solidFill>
                <a:srgbClr val="000000"/>
              </a:solidFill>
              <a:effectLst/>
              <a:uFillTx/>
              <a:latin typeface="Arial"/>
            </a:endParaRPr>
          </a:p>
        </p:txBody>
      </p:sp>
      <p:sp>
        <p:nvSpPr>
          <p:cNvPr id="381" name="TextBox 4"/>
          <p:cNvSpPr/>
          <p:nvPr/>
        </p:nvSpPr>
        <p:spPr>
          <a:xfrm>
            <a:off x="11094480" y="6473880"/>
            <a:ext cx="545760" cy="167400"/>
          </a:xfrm>
          <a:prstGeom prst="rect">
            <a:avLst/>
          </a:prstGeom>
          <a:noFill/>
          <a:ln w="0">
            <a:noFill/>
          </a:ln>
        </p:spPr>
        <p:style>
          <a:lnRef idx="0"/>
          <a:fillRef idx="0"/>
          <a:effectRef idx="0"/>
          <a:fontRef idx="minor"/>
        </p:style>
        <p:txBody>
          <a:bodyPr lIns="0" tIns="0" rIns="0" bIns="0" anchor="t">
            <a:spAutoFit/>
          </a:bodyPr>
          <a:p>
            <a:pPr algn="r" defTabSz="457200">
              <a:lnSpc>
                <a:spcPct val="122000"/>
              </a:lnSpc>
            </a:pPr>
            <a:r>
              <a:rPr lang="en-US" sz="900" b="0" u="none" strike="noStrike">
                <a:solidFill>
                  <a:srgbClr val="6B6259"/>
                </a:solidFill>
                <a:effectLst/>
                <a:uFillTx/>
                <a:latin typeface="Calibri"/>
                <a:ea typeface="DejaVu Sans"/>
              </a:rPr>
              <a:t>25</a:t>
            </a:r>
            <a:endParaRPr lang="en-US" sz="900" b="0" u="none" strike="noStrike">
              <a:solidFill>
                <a:srgbClr val="000000"/>
              </a:solidFill>
              <a:effectLst/>
              <a:uFillTx/>
              <a:latin typeface="Arial"/>
            </a:endParaRPr>
          </a:p>
        </p:txBody>
      </p:sp>
      <p:sp>
        <p:nvSpPr>
          <p:cNvPr id="382" name="TextBox 5"/>
          <p:cNvSpPr/>
          <p:nvPr/>
        </p:nvSpPr>
        <p:spPr>
          <a:xfrm>
            <a:off x="548640" y="2255040"/>
            <a:ext cx="534636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ΤΙ ΑΠΑΝΤΗΘΗΚΕ</a:t>
            </a:r>
            <a:endParaRPr lang="en-US" sz="1200" b="0" u="none" strike="noStrike">
              <a:solidFill>
                <a:srgbClr val="000000"/>
              </a:solidFill>
              <a:effectLst/>
              <a:uFillTx/>
              <a:latin typeface="Arial"/>
            </a:endParaRPr>
          </a:p>
        </p:txBody>
      </p:sp>
      <p:sp>
        <p:nvSpPr>
          <p:cNvPr id="383" name="TextBox 6"/>
          <p:cNvSpPr/>
          <p:nvPr/>
        </p:nvSpPr>
        <p:spPr>
          <a:xfrm>
            <a:off x="548640" y="2620800"/>
            <a:ext cx="5346360" cy="2316600"/>
          </a:xfrm>
          <a:prstGeom prst="rect">
            <a:avLst/>
          </a:prstGeom>
          <a:noFill/>
          <a:ln w="0">
            <a:noFill/>
          </a:ln>
        </p:spPr>
        <p:style>
          <a:lnRef idx="0"/>
          <a:fillRef idx="0"/>
          <a:effectRef idx="0"/>
          <a:fontRef idx="minor"/>
        </p:style>
        <p:txBody>
          <a:bodyPr lIns="0" tIns="0" rIns="0" bIns="0" anchor="t">
            <a:spAutoFit/>
          </a:bodyPr>
          <a:p>
            <a:pPr defTabSz="457200">
              <a:lnSpc>
                <a:spcPct val="122000"/>
              </a:lnSpc>
              <a:spcBef>
                <a:spcPts val="1191"/>
              </a:spcBef>
              <a:spcAft>
                <a:spcPts val="992"/>
              </a:spcAft>
            </a:pPr>
            <a:r>
              <a:rPr lang="en-US" sz="2000" b="0" u="none" strike="noStrike">
                <a:solidFill>
                  <a:srgbClr val="224B12"/>
                </a:solidFill>
                <a:effectLst/>
                <a:uFillTx/>
                <a:latin typeface="Calibri"/>
                <a:ea typeface="DejaVu Sans"/>
              </a:rPr>
              <a:t>- </a:t>
            </a:r>
            <a:r>
              <a:rPr lang="en-US" sz="1700" b="0" u="none" strike="noStrike">
                <a:solidFill>
                  <a:srgbClr val="241F1B"/>
                </a:solidFill>
                <a:effectLst/>
                <a:uFillTx/>
                <a:latin typeface="Calibri"/>
                <a:ea typeface="DejaVu Sans"/>
              </a:rPr>
              <a:t>Και τα 7 βασικά ερωτήματα που έχει μία επιχείρηση.</a:t>
            </a:r>
            <a:endParaRPr lang="en-US" sz="1700" b="0" u="none" strike="noStrike">
              <a:solidFill>
                <a:srgbClr val="000000"/>
              </a:solidFill>
              <a:effectLst/>
              <a:uFillTx/>
              <a:latin typeface="Arial"/>
            </a:endParaRPr>
          </a:p>
          <a:p>
            <a:pPr defTabSz="457200">
              <a:lnSpc>
                <a:spcPct val="122000"/>
              </a:lnSpc>
              <a:spcAft>
                <a:spcPts val="1001"/>
              </a:spcAft>
            </a:pPr>
            <a:r>
              <a:rPr lang="en-US" sz="2000" b="0" u="none" strike="noStrike">
                <a:solidFill>
                  <a:srgbClr val="224B12"/>
                </a:solidFill>
                <a:effectLst/>
                <a:uFillTx/>
                <a:latin typeface="Calibri"/>
                <a:ea typeface="DejaVu Sans"/>
              </a:rPr>
              <a:t>- </a:t>
            </a:r>
            <a:r>
              <a:rPr lang="en-US" sz="1700" b="0" u="none" strike="noStrike">
                <a:solidFill>
                  <a:srgbClr val="241F1B"/>
                </a:solidFill>
                <a:effectLst/>
                <a:uFillTx/>
                <a:latin typeface="Calibri"/>
                <a:ea typeface="DejaVu Sans"/>
              </a:rPr>
              <a:t>Ο αλγόριθμος Apriori και ο FP-Growth δίνουν ταυτόσημα αποτελέσματα. Η επιλογή είναι θέμα χρόνου, όχι ευρήματος.</a:t>
            </a:r>
            <a:endParaRPr lang="en-US" sz="1700" b="0" u="none" strike="noStrike">
              <a:solidFill>
                <a:srgbClr val="000000"/>
              </a:solidFill>
              <a:effectLst/>
              <a:uFillTx/>
              <a:latin typeface="Arial"/>
            </a:endParaRPr>
          </a:p>
          <a:p>
            <a:pPr defTabSz="457200">
              <a:lnSpc>
                <a:spcPct val="122000"/>
              </a:lnSpc>
              <a:spcAft>
                <a:spcPts val="1001"/>
              </a:spcAft>
            </a:pPr>
            <a:r>
              <a:rPr lang="en-US" sz="2000" b="0" u="none" strike="noStrike">
                <a:solidFill>
                  <a:srgbClr val="224B12"/>
                </a:solidFill>
                <a:effectLst/>
                <a:uFillTx/>
                <a:latin typeface="Calibri"/>
                <a:ea typeface="DejaVu Sans"/>
              </a:rPr>
              <a:t>- </a:t>
            </a:r>
            <a:r>
              <a:rPr lang="en-US" sz="1700" b="0" u="none" strike="noStrike">
                <a:solidFill>
                  <a:srgbClr val="241F1B"/>
                </a:solidFill>
                <a:effectLst/>
                <a:uFillTx/>
                <a:latin typeface="Calibri"/>
                <a:ea typeface="DejaVu Sans"/>
              </a:rPr>
              <a:t>Κάθε πρόβλεψη συγκρίνεται με μια απλοϊκή εκτίμηση, ώστε μια τετριμμένη πρόβλεψη να μη μοιάζει με επιτυχία.</a:t>
            </a:r>
            <a:endParaRPr lang="en-US" sz="1700" b="0" u="none" strike="noStrike">
              <a:solidFill>
                <a:srgbClr val="000000"/>
              </a:solidFill>
              <a:effectLst/>
              <a:uFillTx/>
              <a:latin typeface="Arial"/>
            </a:endParaRPr>
          </a:p>
        </p:txBody>
      </p:sp>
      <p:sp>
        <p:nvSpPr>
          <p:cNvPr id="384" name="TextBox 7"/>
          <p:cNvSpPr/>
          <p:nvPr/>
        </p:nvSpPr>
        <p:spPr>
          <a:xfrm>
            <a:off x="6291000" y="2255040"/>
            <a:ext cx="5346360" cy="222480"/>
          </a:xfrm>
          <a:prstGeom prst="rect">
            <a:avLst/>
          </a:prstGeom>
          <a:noFill/>
          <a:ln w="0">
            <a:noFill/>
          </a:ln>
        </p:spPr>
        <p:style>
          <a:lnRef idx="0"/>
          <a:fillRef idx="0"/>
          <a:effectRef idx="0"/>
          <a:fontRef idx="minor"/>
        </p:style>
        <p:txBody>
          <a:bodyPr lIns="0" tIns="0" rIns="0" bIns="0" anchor="t">
            <a:spAutoFit/>
          </a:bodyPr>
          <a:p>
            <a:pPr defTabSz="457200">
              <a:lnSpc>
                <a:spcPct val="122000"/>
              </a:lnSpc>
            </a:pPr>
            <a:r>
              <a:rPr lang="en-US" sz="1200" b="1" u="none" strike="noStrike">
                <a:solidFill>
                  <a:srgbClr val="E8A33D"/>
                </a:solidFill>
                <a:effectLst/>
                <a:uFillTx/>
                <a:latin typeface="Calibri"/>
                <a:ea typeface="DejaVu Sans"/>
              </a:rPr>
              <a:t>ΤΙ ΠΡΕΠΕΙ ΝΑ ΚΑΝΕΙ Η ΕΠΙΧΕΙΡΗΣΗ</a:t>
            </a:r>
            <a:endParaRPr lang="en-US" sz="1200" b="0" u="none" strike="noStrike">
              <a:solidFill>
                <a:srgbClr val="000000"/>
              </a:solidFill>
              <a:effectLst/>
              <a:uFillTx/>
              <a:latin typeface="Arial"/>
            </a:endParaRPr>
          </a:p>
        </p:txBody>
      </p:sp>
      <p:sp>
        <p:nvSpPr>
          <p:cNvPr id="385" name="TextBox 8"/>
          <p:cNvSpPr/>
          <p:nvPr/>
        </p:nvSpPr>
        <p:spPr>
          <a:xfrm>
            <a:off x="6291000" y="2570400"/>
            <a:ext cx="5346360" cy="2001600"/>
          </a:xfrm>
          <a:prstGeom prst="rect">
            <a:avLst/>
          </a:prstGeom>
          <a:noFill/>
          <a:ln w="0">
            <a:noFill/>
          </a:ln>
        </p:spPr>
        <p:style>
          <a:lnRef idx="0"/>
          <a:fillRef idx="0"/>
          <a:effectRef idx="0"/>
          <a:fontRef idx="minor"/>
        </p:style>
        <p:txBody>
          <a:bodyPr lIns="0" tIns="0" rIns="0" bIns="0" anchor="t">
            <a:spAutoFit/>
          </a:bodyPr>
          <a:p>
            <a:pPr defTabSz="457200">
              <a:lnSpc>
                <a:spcPct val="122000"/>
              </a:lnSpc>
              <a:spcAft>
                <a:spcPts val="1001"/>
              </a:spcAft>
            </a:pPr>
            <a:r>
              <a:rPr lang="en-US" sz="2000" b="0" u="none" strike="noStrike">
                <a:solidFill>
                  <a:srgbClr val="224B12"/>
                </a:solidFill>
                <a:effectLst/>
                <a:uFillTx/>
                <a:latin typeface="Calibri"/>
                <a:ea typeface="DejaVu Sans"/>
              </a:rPr>
              <a:t>- </a:t>
            </a:r>
            <a:r>
              <a:rPr lang="en-US" sz="1700" b="0" u="none" strike="noStrike">
                <a:solidFill>
                  <a:srgbClr val="241F1B"/>
                </a:solidFill>
                <a:effectLst/>
                <a:uFillTx/>
                <a:latin typeface="Calibri"/>
                <a:ea typeface="DejaVu Sans"/>
              </a:rPr>
              <a:t>Προωθεί μαζί τα προϊόντα με lift πάνω από 1.</a:t>
            </a:r>
            <a:endParaRPr lang="en-US" sz="1700" b="0" u="none" strike="noStrike">
              <a:solidFill>
                <a:srgbClr val="000000"/>
              </a:solidFill>
              <a:effectLst/>
              <a:uFillTx/>
              <a:latin typeface="Arial"/>
            </a:endParaRPr>
          </a:p>
          <a:p>
            <a:pPr defTabSz="457200">
              <a:lnSpc>
                <a:spcPct val="122000"/>
              </a:lnSpc>
              <a:spcAft>
                <a:spcPts val="1001"/>
              </a:spcAft>
            </a:pPr>
            <a:r>
              <a:rPr lang="en-US" sz="2000" b="0" u="none" strike="noStrike">
                <a:solidFill>
                  <a:srgbClr val="224B12"/>
                </a:solidFill>
                <a:effectLst/>
                <a:uFillTx/>
                <a:latin typeface="Calibri"/>
                <a:ea typeface="DejaVu Sans"/>
              </a:rPr>
              <a:t>- </a:t>
            </a:r>
            <a:r>
              <a:rPr lang="en-US" sz="1700" b="0" u="none" strike="noStrike">
                <a:solidFill>
                  <a:srgbClr val="241F1B"/>
                </a:solidFill>
                <a:effectLst/>
                <a:uFillTx/>
                <a:latin typeface="Calibri"/>
                <a:ea typeface="DejaVu Sans"/>
              </a:rPr>
              <a:t>Μιλάει διαφορετικά στους τακτικούς και στους μεγάλους πελάτες.</a:t>
            </a:r>
            <a:endParaRPr lang="en-US" sz="1700" b="0" u="none" strike="noStrike">
              <a:solidFill>
                <a:srgbClr val="000000"/>
              </a:solidFill>
              <a:effectLst/>
              <a:uFillTx/>
              <a:latin typeface="Arial"/>
            </a:endParaRPr>
          </a:p>
          <a:p>
            <a:pPr defTabSz="457200">
              <a:lnSpc>
                <a:spcPct val="122000"/>
              </a:lnSpc>
              <a:spcAft>
                <a:spcPts val="1001"/>
              </a:spcAft>
            </a:pPr>
            <a:r>
              <a:rPr lang="en-US" sz="2000" b="0" u="none" strike="noStrike">
                <a:solidFill>
                  <a:srgbClr val="224B12"/>
                </a:solidFill>
                <a:effectLst/>
                <a:uFillTx/>
                <a:latin typeface="Calibri"/>
                <a:ea typeface="DejaVu Sans"/>
              </a:rPr>
              <a:t>- </a:t>
            </a:r>
            <a:r>
              <a:rPr lang="en-US" sz="1700" b="0" u="none" strike="noStrike">
                <a:solidFill>
                  <a:srgbClr val="241F1B"/>
                </a:solidFill>
                <a:effectLst/>
                <a:uFillTx/>
                <a:latin typeface="Calibri"/>
                <a:ea typeface="DejaVu Sans"/>
              </a:rPr>
              <a:t>Προγραμματίζει το απόθεμα με βάση τη χρονική κατανομή και την πρόβλεψη.</a:t>
            </a:r>
            <a:endParaRPr lang="en-US" sz="17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6" name="Rectangle 1"/>
          <p:cNvSpPr/>
          <p:nvPr/>
        </p:nvSpPr>
        <p:spPr>
          <a:xfrm>
            <a:off x="0" y="0"/>
            <a:ext cx="12188880" cy="6855120"/>
          </a:xfrm>
          <a:prstGeom prst="rect">
            <a:avLst/>
          </a:prstGeom>
          <a:solidFill>
            <a:srgbClr val="28471F"/>
          </a:solidFill>
          <a:ln w="9360">
            <a:noFill/>
          </a:ln>
          <a:effectLst>
            <a:outerShdw blurRad="39960" dir="5400000" dist="23040" rotWithShape="0">
              <a:srgbClr val="000000">
                <a:alpha val="35000"/>
              </a:srgbClr>
            </a:outerShdw>
          </a:effectLst>
        </p:spPr>
        <p:style>
          <a:lnRef idx="0"/>
          <a:fillRef idx="0"/>
          <a:effectRef idx="0"/>
          <a:fontRef idx="minor"/>
        </p:style>
        <p:txBody>
          <a:bodyPr lIns="90000" tIns="45000" rIns="90000" bIns="45000" anchor="ctr">
            <a:noAutofit/>
          </a:bodyPr>
          <a:p>
            <a:pPr/>
            <a:endParaRPr lang="en-US" sz="1800" b="0" u="none" strike="noStrike">
              <a:solidFill>
                <a:schemeClr val="lt1"/>
              </a:solidFill>
              <a:effectLst/>
              <a:uFillTx/>
              <a:latin typeface="Calibri"/>
            </a:endParaRPr>
          </a:p>
        </p:txBody>
      </p:sp>
      <p:sp>
        <p:nvSpPr>
          <p:cNvPr id="387" name="Rectangle 2"/>
          <p:cNvSpPr/>
          <p:nvPr/>
        </p:nvSpPr>
        <p:spPr>
          <a:xfrm>
            <a:off x="548640" y="2011680"/>
            <a:ext cx="88560" cy="1460160"/>
          </a:xfrm>
          <a:prstGeom prst="rect">
            <a:avLst/>
          </a:prstGeom>
          <a:solidFill>
            <a:srgbClr val="E8A202"/>
          </a:solidFill>
          <a:ln w="9360">
            <a:noFill/>
          </a:ln>
          <a:effectLst>
            <a:outerShdw blurRad="39960" dir="5400000" dist="23040" rotWithShape="0">
              <a:srgbClr val="000000">
                <a:alpha val="35000"/>
              </a:srgbClr>
            </a:outerShdw>
          </a:effectLst>
        </p:spPr>
        <p:style>
          <a:lnRef idx="0"/>
          <a:fillRef idx="0"/>
          <a:effectRef idx="0"/>
          <a:fontRef idx="minor"/>
        </p:style>
        <p:txBody>
          <a:bodyPr lIns="44280" tIns="45000" rIns="44280" bIns="45000" anchor="ctr">
            <a:noAutofit/>
          </a:bodyPr>
          <a:p>
            <a:pPr/>
            <a:endParaRPr lang="en-US" sz="1800" b="0" u="none" strike="noStrike">
              <a:solidFill>
                <a:schemeClr val="lt1"/>
              </a:solidFill>
              <a:effectLst/>
              <a:uFillTx/>
              <a:latin typeface="Calibri"/>
            </a:endParaRPr>
          </a:p>
        </p:txBody>
      </p:sp>
      <p:sp>
        <p:nvSpPr>
          <p:cNvPr id="388" name="TextBox 3"/>
          <p:cNvSpPr/>
          <p:nvPr/>
        </p:nvSpPr>
        <p:spPr>
          <a:xfrm>
            <a:off x="960120" y="2057400"/>
            <a:ext cx="10677240" cy="1130040"/>
          </a:xfrm>
          <a:prstGeom prst="rect">
            <a:avLst/>
          </a:prstGeom>
          <a:noFill/>
          <a:ln w="0">
            <a:noFill/>
          </a:ln>
        </p:spPr>
        <p:style>
          <a:lnRef idx="0"/>
          <a:fillRef idx="0"/>
          <a:effectRef idx="0"/>
          <a:fontRef idx="minor"/>
        </p:style>
        <p:txBody>
          <a:bodyPr lIns="0" tIns="0" rIns="0" bIns="0" anchor="t">
            <a:spAutoFit/>
          </a:bodyPr>
          <a:p>
            <a:pPr defTabSz="457200">
              <a:lnSpc>
                <a:spcPct val="122000"/>
              </a:lnSpc>
              <a:spcBef>
                <a:spcPts val="1191"/>
              </a:spcBef>
              <a:spcAft>
                <a:spcPts val="992"/>
              </a:spcAft>
            </a:pPr>
            <a:r>
              <a:rPr lang="en-US" sz="2700" b="0" u="none" strike="noStrike">
                <a:solidFill>
                  <a:srgbClr val="FFFFFF"/>
                </a:solidFill>
                <a:effectLst/>
                <a:uFillTx/>
                <a:latin typeface="Cambria"/>
                <a:ea typeface="DejaVu Sans"/>
              </a:rPr>
              <a:t>Να απαντηθεί ό,τι ζητάει μια επιχείρηση,</a:t>
            </a:r>
            <a:endParaRPr lang="en-US" sz="2700" b="0" u="none" strike="noStrike">
              <a:solidFill>
                <a:srgbClr val="000000"/>
              </a:solidFill>
              <a:effectLst/>
              <a:uFillTx/>
              <a:latin typeface="Arial"/>
            </a:endParaRPr>
          </a:p>
          <a:p>
            <a:pPr defTabSz="457200">
              <a:lnSpc>
                <a:spcPct val="122000"/>
              </a:lnSpc>
              <a:spcAft>
                <a:spcPts val="601"/>
              </a:spcAft>
            </a:pPr>
            <a:r>
              <a:rPr lang="en-US" sz="2700" b="0" u="none" strike="noStrike">
                <a:solidFill>
                  <a:srgbClr val="FFFFFF"/>
                </a:solidFill>
                <a:effectLst/>
                <a:uFillTx/>
                <a:latin typeface="Cambria"/>
                <a:ea typeface="DejaVu Sans"/>
              </a:rPr>
              <a:t>και να μην απαντηθεί ό,τι τα δεδομένα δεν επιτρέπουν.</a:t>
            </a:r>
            <a:endParaRPr lang="en-US" sz="2700" b="0" u="none" strike="noStrike">
              <a:solidFill>
                <a:srgbClr val="000000"/>
              </a:solidFill>
              <a:effectLst/>
              <a:uFillTx/>
              <a:latin typeface="Arial"/>
            </a:endParaRPr>
          </a:p>
        </p:txBody>
      </p:sp>
      <p:sp>
        <p:nvSpPr>
          <p:cNvPr id="389" name="TextBox 4"/>
          <p:cNvSpPr/>
          <p:nvPr/>
        </p:nvSpPr>
        <p:spPr>
          <a:xfrm rot="19200">
            <a:off x="5027040" y="5637600"/>
            <a:ext cx="7019640" cy="743400"/>
          </a:xfrm>
          <a:prstGeom prst="rect">
            <a:avLst/>
          </a:prstGeom>
          <a:noFill/>
          <a:ln w="0">
            <a:noFill/>
          </a:ln>
        </p:spPr>
        <p:style>
          <a:lnRef idx="0"/>
          <a:fillRef idx="0"/>
          <a:effectRef idx="0"/>
          <a:fontRef idx="minor"/>
        </p:style>
        <p:txBody>
          <a:bodyPr lIns="0" tIns="0" rIns="0" bIns="0" anchor="t" anchorCtr="1">
            <a:spAutoFit/>
          </a:bodyPr>
          <a:p>
            <a:pPr algn="r" defTabSz="457200">
              <a:lnSpc>
                <a:spcPct val="122000"/>
              </a:lnSpc>
            </a:pPr>
            <a:r>
              <a:rPr lang="en-US" sz="2000" b="0" u="none" strike="noStrike">
                <a:solidFill>
                  <a:srgbClr val="D7E5D2"/>
                </a:solidFill>
                <a:effectLst/>
                <a:uFillTx/>
                <a:latin typeface="Calibri"/>
                <a:ea typeface="DejaVu Sans"/>
              </a:rPr>
              <a:t>Σας ευχαριστώ πολύ για τον χρόνο σας και την προσοχή σας.</a:t>
            </a:r>
            <a:endParaRPr lang="en-US" sz="2000" b="0" u="none" strike="noStrike">
              <a:solidFill>
                <a:srgbClr val="000000"/>
              </a:solidFill>
              <a:effectLst/>
              <a:uFillTx/>
              <a:latin typeface="Arial"/>
            </a:endParaRPr>
          </a:p>
          <a:p>
            <a:pPr algn="r" defTabSz="457200">
              <a:lnSpc>
                <a:spcPct val="122000"/>
              </a:lnSpc>
            </a:pPr>
            <a:r>
              <a:rPr lang="en-US" sz="2000" b="0" u="none" strike="noStrike">
                <a:solidFill>
                  <a:srgbClr val="D7E5D2"/>
                </a:solidFill>
                <a:effectLst/>
                <a:uFillTx/>
                <a:latin typeface="Calibri"/>
                <a:ea typeface="DejaVu Sans"/>
              </a:rPr>
              <a:t>Μουρτογιάννης Χρήστος</a:t>
            </a:r>
            <a:endParaRPr lang="en-US" sz="2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269</TotalTime>
  <Application>LibreOffice/26.8.0.3$MacOSX_AARCH64 LibreOffice_project/bce0998afefdbc355585ca324285661a2170ba77</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2026-09-23T01:52:28Z</dcterms:modified>
  <cp:revision>69</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