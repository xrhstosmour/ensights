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 name="PlaceHolder 1"/>
          <p:cNvSpPr>
            <a:spLocks noGrp="1"/>
          </p:cNvSpPr>
          <p:nvPr>
            <p:ph type="sldImg"/>
          </p:nvPr>
        </p:nvSpPr>
        <p:spPr>
          <a:xfrm>
            <a:off x="0" y="812520"/>
            <a:ext cx="0" cy="0"/>
          </a:xfrm>
          <a:prstGeom prst="rect">
            <a:avLst/>
          </a:prstGeom>
          <a:noFill/>
          <a:ln w="0">
            <a:noFill/>
          </a:ln>
        </p:spPr>
        <p:txBody>
          <a:bodyPr lIns="0" tIns="0" rIns="0" bIns="0" anchor="ctr">
            <a:noAutofit/>
          </a:bodyPr>
          <a:p>
            <a:pPr algn="ctr" defTabSz="457200">
              <a:tabLst>
                <a:tab pos="0" algn="l"/>
              </a:tabLst>
            </a:pPr>
            <a:r>
              <a:rPr lang="en-US" sz="4400" b="0" u="none" strike="noStrike">
                <a:solidFill>
                  <a:schemeClr val="dk1"/>
                </a:solidFill>
                <a:effectLst/>
                <a:uFillTx/>
                <a:latin typeface="Calibri"/>
              </a:rPr>
              <a:t>Click </a:t>
            </a:r>
            <a:r>
              <a:rPr lang="en-US" sz="4400" b="0" u="none" strike="noStrike">
                <a:solidFill>
                  <a:schemeClr val="dk1"/>
                </a:solidFill>
                <a:effectLst/>
                <a:uFillTx/>
                <a:latin typeface="Calibri"/>
              </a:rPr>
              <a:t>to </a:t>
            </a:r>
            <a:r>
              <a:rPr lang="en-US" sz="4400" b="0" u="none" strike="noStrike">
                <a:solidFill>
                  <a:schemeClr val="dk1"/>
                </a:solidFill>
                <a:effectLst/>
                <a:uFillTx/>
                <a:latin typeface="Calibri"/>
              </a:rPr>
              <a:t>move </a:t>
            </a:r>
            <a:r>
              <a:rPr lang="en-US" sz="4400" b="0" u="none" strike="noStrike">
                <a:solidFill>
                  <a:schemeClr val="dk1"/>
                </a:solidFill>
                <a:effectLst/>
                <a:uFillTx/>
                <a:latin typeface="Calibri"/>
              </a:rPr>
              <a:t>the </a:t>
            </a:r>
            <a:r>
              <a:rPr lang="en-US" sz="4400" b="0" u="none" strike="noStrike">
                <a:solidFill>
                  <a:schemeClr val="dk1"/>
                </a:solidFill>
                <a:effectLst/>
                <a:uFillTx/>
                <a:latin typeface="Calibri"/>
              </a:rPr>
              <a:t>slide</a:t>
            </a:r>
            <a:endParaRPr lang="en-US" sz="4400" b="0" u="none" strike="noStrike">
              <a:solidFill>
                <a:schemeClr val="dk1"/>
              </a:solidFill>
              <a:effectLst/>
              <a:uFillTx/>
              <a:latin typeface="Calibri"/>
            </a:endParaRPr>
          </a:p>
        </p:txBody>
      </p:sp>
      <p:sp>
        <p:nvSpPr>
          <p:cNvPr id="1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14"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15" name="PlaceHolder 4"/>
          <p:cNvSpPr>
            <a:spLocks noGrp="1"/>
          </p:cNvSpPr>
          <p:nvPr>
            <p:ph type="dt" idx="7"/>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6" name="PlaceHolder 5"/>
          <p:cNvSpPr>
            <a:spLocks noGrp="1"/>
          </p:cNvSpPr>
          <p:nvPr>
            <p:ph type="ftr" idx="8"/>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7" name="PlaceHolder 6"/>
          <p:cNvSpPr>
            <a:spLocks noGrp="1"/>
          </p:cNvSpPr>
          <p:nvPr>
            <p:ph type="sldNum" idx="9"/>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810F7068-388B-4C14-A4D3-87D5FEE9E950}"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PlaceHolder 1"/>
          <p:cNvSpPr>
            <a:spLocks noGrp="1"/>
          </p:cNvSpPr>
          <p:nvPr>
            <p:ph type="sldImg"/>
          </p:nvPr>
        </p:nvSpPr>
        <p:spPr>
          <a:xfrm>
            <a:off x="1143000" y="685800"/>
            <a:ext cx="4571280" cy="3428280"/>
          </a:xfrm>
          <a:prstGeom prst="rect">
            <a:avLst/>
          </a:prstGeom>
          <a:ln w="0">
            <a:noFill/>
          </a:ln>
        </p:spPr>
      </p:sp>
      <p:sp>
        <p:nvSpPr>
          <p:cNvPr id="429"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r>
              <a:t>Καλησπέρα σας. Ονομάζομαι Μουρτογιάννης Χρήστος και θα σας παρουσιάσω τη διπλωματική μου εργασία, με θέμα: Εξαγωγή Ευφυών Αναλύσεων από Δεδομένα Ηλεκτρονικού Εμπορίου.</a:t>
            </a:r>
          </a:p>
        </p:txBody>
      </p:sp>
      <p:sp>
        <p:nvSpPr>
          <p:cNvPr id="430" name="PlaceHolder 3"/>
          <p:cNvSpPr>
            <a:spLocks noGrp="1"/>
          </p:cNvSpPr>
          <p:nvPr>
            <p:ph type="sldNum" idx="10"/>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7B9BEE13-7A18-4E87-9CEE-8EA0F4E03D7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1" name="PlaceHolder 1"/>
          <p:cNvSpPr>
            <a:spLocks noGrp="1"/>
          </p:cNvSpPr>
          <p:nvPr>
            <p:ph type="sldImg"/>
          </p:nvPr>
        </p:nvSpPr>
        <p:spPr>
          <a:xfrm>
            <a:off x="1143000" y="685800"/>
            <a:ext cx="4571280" cy="3428280"/>
          </a:xfrm>
          <a:prstGeom prst="rect">
            <a:avLst/>
          </a:prstGeom>
          <a:ln w="0">
            <a:noFill/>
          </a:ln>
        </p:spPr>
      </p:sp>
      <p:sp>
        <p:nvSpPr>
          <p:cNvPr id="432"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Η </a:t>
            </a:r>
            <a:r>
              <a:rPr lang="en-US" sz="2000" b="0" u="none" strike="noStrike">
                <a:solidFill>
                  <a:srgbClr val="000000"/>
                </a:solidFill>
                <a:effectLst/>
                <a:uFillTx/>
                <a:latin typeface="Arial"/>
              </a:rPr>
              <a:t>παρουσίαση </a:t>
            </a:r>
            <a:r>
              <a:rPr lang="en-US" sz="2000" b="0" u="none" strike="noStrike">
                <a:solidFill>
                  <a:srgbClr val="000000"/>
                </a:solidFill>
                <a:effectLst/>
                <a:uFillTx/>
                <a:latin typeface="Arial"/>
              </a:rPr>
              <a:t>έχει τέσσερα </a:t>
            </a:r>
            <a:r>
              <a:rPr lang="en-US" sz="2000" b="0" u="none" strike="noStrike">
                <a:solidFill>
                  <a:srgbClr val="000000"/>
                </a:solidFill>
                <a:effectLst/>
                <a:uFillTx/>
                <a:latin typeface="Arial"/>
              </a:rPr>
              <a:t>μέρη. </a:t>
            </a:r>
            <a:r>
              <a:rPr lang="en-US" sz="2000" b="0" u="none" strike="noStrike">
                <a:solidFill>
                  <a:srgbClr val="000000"/>
                </a:solidFill>
                <a:effectLst/>
                <a:uFillTx/>
                <a:latin typeface="Arial"/>
              </a:rPr>
              <a:t>Πρώτα το </a:t>
            </a:r>
            <a:r>
              <a:rPr lang="en-US" sz="2000" b="0" u="none" strike="noStrike">
                <a:solidFill>
                  <a:srgbClr val="000000"/>
                </a:solidFill>
                <a:effectLst/>
                <a:uFillTx/>
                <a:latin typeface="Arial"/>
              </a:rPr>
              <a:t>πρόβλημα </a:t>
            </a:r>
            <a:r>
              <a:rPr lang="en-US" sz="2000" b="0" u="none" strike="noStrike">
                <a:solidFill>
                  <a:srgbClr val="000000"/>
                </a:solidFill>
                <a:effectLst/>
                <a:uFillTx/>
                <a:latin typeface="Arial"/>
              </a:rPr>
              <a:t>και οι </a:t>
            </a:r>
            <a:r>
              <a:rPr lang="en-US" sz="2000" b="0" u="none" strike="noStrike">
                <a:solidFill>
                  <a:srgbClr val="000000"/>
                </a:solidFill>
                <a:effectLst/>
                <a:uFillTx/>
                <a:latin typeface="Arial"/>
              </a:rPr>
              <a:t>στόχοι. </a:t>
            </a:r>
            <a:r>
              <a:rPr lang="en-US" sz="2000" b="0" u="none" strike="noStrike">
                <a:solidFill>
                  <a:srgbClr val="000000"/>
                </a:solidFill>
                <a:effectLst/>
                <a:uFillTx/>
                <a:latin typeface="Arial"/>
              </a:rPr>
              <a:t>Μετά το </a:t>
            </a:r>
            <a:r>
              <a:rPr lang="en-US" sz="2000" b="0" u="none" strike="noStrike">
                <a:solidFill>
                  <a:srgbClr val="000000"/>
                </a:solidFill>
                <a:effectLst/>
                <a:uFillTx/>
                <a:latin typeface="Arial"/>
              </a:rPr>
              <a:t>σύστημα </a:t>
            </a:r>
            <a:r>
              <a:rPr lang="en-US" sz="2000" b="0" u="none" strike="noStrike">
                <a:solidFill>
                  <a:srgbClr val="000000"/>
                </a:solidFill>
                <a:effectLst/>
                <a:uFillTx/>
                <a:latin typeface="Arial"/>
              </a:rPr>
              <a:t>που </a:t>
            </a:r>
            <a:r>
              <a:rPr lang="en-US" sz="2000" b="0" u="none" strike="noStrike">
                <a:solidFill>
                  <a:srgbClr val="000000"/>
                </a:solidFill>
                <a:effectLst/>
                <a:uFillTx/>
                <a:latin typeface="Arial"/>
              </a:rPr>
              <a:t>έφτιαξα, </a:t>
            </a:r>
            <a:r>
              <a:rPr lang="en-US" sz="2000" b="0" u="none" strike="noStrike">
                <a:solidFill>
                  <a:srgbClr val="000000"/>
                </a:solidFill>
                <a:effectLst/>
                <a:uFillTx/>
                <a:latin typeface="Arial"/>
              </a:rPr>
              <a:t>πώς είναι </a:t>
            </a:r>
            <a:r>
              <a:rPr lang="en-US" sz="2000" b="0" u="none" strike="noStrike">
                <a:solidFill>
                  <a:srgbClr val="000000"/>
                </a:solidFill>
                <a:effectLst/>
                <a:uFillTx/>
                <a:latin typeface="Arial"/>
              </a:rPr>
              <a:t>δομημένο </a:t>
            </a:r>
            <a:r>
              <a:rPr lang="en-US" sz="2000" b="0" u="none" strike="noStrike">
                <a:solidFill>
                  <a:srgbClr val="000000"/>
                </a:solidFill>
                <a:effectLst/>
                <a:uFillTx/>
                <a:latin typeface="Arial"/>
              </a:rPr>
              <a:t>και πώς </a:t>
            </a:r>
            <a:r>
              <a:rPr lang="en-US" sz="2000" b="0" u="none" strike="noStrike">
                <a:solidFill>
                  <a:srgbClr val="000000"/>
                </a:solidFill>
                <a:effectLst/>
                <a:uFillTx/>
                <a:latin typeface="Arial"/>
              </a:rPr>
              <a:t>φαίνεται </a:t>
            </a:r>
            <a:r>
              <a:rPr lang="en-US" sz="2000" b="0" u="none" strike="noStrike">
                <a:solidFill>
                  <a:srgbClr val="000000"/>
                </a:solidFill>
                <a:effectLst/>
                <a:uFillTx/>
                <a:latin typeface="Arial"/>
              </a:rPr>
              <a:t>όταν τρέχει. </a:t>
            </a:r>
            <a:r>
              <a:rPr lang="en-US" sz="2000" b="0" u="none" strike="noStrike">
                <a:solidFill>
                  <a:srgbClr val="000000"/>
                </a:solidFill>
                <a:effectLst/>
                <a:uFillTx/>
                <a:latin typeface="Arial"/>
              </a:rPr>
              <a:t>Μετά τα </a:t>
            </a:r>
            <a:r>
              <a:rPr lang="en-US" sz="2000" b="0" u="none" strike="noStrike">
                <a:solidFill>
                  <a:srgbClr val="000000"/>
                </a:solidFill>
                <a:effectLst/>
                <a:uFillTx/>
                <a:latin typeface="Arial"/>
              </a:rPr>
              <a:t>ευρήματα </a:t>
            </a:r>
            <a:r>
              <a:rPr lang="en-US" sz="2000" b="0" u="none" strike="noStrike">
                <a:solidFill>
                  <a:srgbClr val="000000"/>
                </a:solidFill>
                <a:effectLst/>
                <a:uFillTx/>
                <a:latin typeface="Arial"/>
              </a:rPr>
              <a:t>πάνω σε </a:t>
            </a:r>
            <a:r>
              <a:rPr lang="en-US" sz="2000" b="0" u="none" strike="noStrike">
                <a:solidFill>
                  <a:srgbClr val="000000"/>
                </a:solidFill>
                <a:effectLst/>
                <a:uFillTx/>
                <a:latin typeface="Arial"/>
              </a:rPr>
              <a:t>πραγματικά </a:t>
            </a:r>
            <a:r>
              <a:rPr lang="en-US" sz="2000" b="0" u="none" strike="noStrike">
                <a:solidFill>
                  <a:srgbClr val="000000"/>
                </a:solidFill>
                <a:effectLst/>
                <a:uFillTx/>
                <a:latin typeface="Arial"/>
              </a:rPr>
              <a:t>δεδομένα. </a:t>
            </a:r>
            <a:r>
              <a:rPr lang="en-US" sz="2000" b="0" u="none" strike="noStrike">
                <a:solidFill>
                  <a:srgbClr val="000000"/>
                </a:solidFill>
                <a:effectLst/>
                <a:uFillTx/>
                <a:latin typeface="Arial"/>
              </a:rPr>
              <a:t>Και στο </a:t>
            </a:r>
            <a:r>
              <a:rPr lang="en-US" sz="2000" b="0" u="none" strike="noStrike">
                <a:solidFill>
                  <a:srgbClr val="000000"/>
                </a:solidFill>
                <a:effectLst/>
                <a:uFillTx/>
                <a:latin typeface="Arial"/>
              </a:rPr>
              <a:t>τέλος τα </a:t>
            </a:r>
            <a:r>
              <a:rPr lang="en-US" sz="2000" b="0" u="none" strike="noStrike">
                <a:solidFill>
                  <a:srgbClr val="000000"/>
                </a:solidFill>
                <a:effectLst/>
                <a:uFillTx/>
                <a:latin typeface="Arial"/>
              </a:rPr>
              <a:t>συμπεράσμ</a:t>
            </a:r>
            <a:r>
              <a:rPr lang="en-US" sz="2000" b="0" u="none" strike="noStrike">
                <a:solidFill>
                  <a:srgbClr val="000000"/>
                </a:solidFill>
                <a:effectLst/>
                <a:uFillTx/>
                <a:latin typeface="Arial"/>
              </a:rPr>
              <a:t>ατα, μαζί με </a:t>
            </a:r>
            <a:r>
              <a:rPr lang="en-US" sz="2000" b="0" u="none" strike="noStrike">
                <a:solidFill>
                  <a:srgbClr val="000000"/>
                </a:solidFill>
                <a:effectLst/>
                <a:uFillTx/>
                <a:latin typeface="Arial"/>
              </a:rPr>
              <a:t>το τι δεν </a:t>
            </a:r>
            <a:r>
              <a:rPr lang="en-US" sz="2000" b="0" u="none" strike="noStrike">
                <a:solidFill>
                  <a:srgbClr val="000000"/>
                </a:solidFill>
                <a:effectLst/>
                <a:uFillTx/>
                <a:latin typeface="Arial"/>
              </a:rPr>
              <a:t>μπορεί να </a:t>
            </a:r>
            <a:r>
              <a:rPr lang="en-US" sz="2000" b="0" u="none" strike="noStrike">
                <a:solidFill>
                  <a:srgbClr val="000000"/>
                </a:solidFill>
                <a:effectLst/>
                <a:uFillTx/>
                <a:latin typeface="Arial"/>
              </a:rPr>
              <a:t>απαντήσει η </a:t>
            </a:r>
            <a:r>
              <a:rPr lang="en-US" sz="2000" b="0" u="none" strike="noStrike">
                <a:solidFill>
                  <a:srgbClr val="000000"/>
                </a:solidFill>
                <a:effectLst/>
                <a:uFillTx/>
                <a:latin typeface="Arial"/>
              </a:rPr>
              <a:t>δουλειά.</a:t>
            </a:r>
            <a:endParaRPr lang="en-US" sz="2000" b="0" u="none" strike="noStrike">
              <a:solidFill>
                <a:srgbClr val="000000"/>
              </a:solidFill>
              <a:effectLst/>
              <a:uFillTx/>
              <a:latin typeface="Arial"/>
            </a:endParaRPr>
          </a:p>
        </p:txBody>
      </p:sp>
      <p:sp>
        <p:nvSpPr>
          <p:cNvPr id="433" name="PlaceHolder 3"/>
          <p:cNvSpPr>
            <a:spLocks noGrp="1"/>
          </p:cNvSpPr>
          <p:nvPr>
            <p:ph type="sldNum" idx="11"/>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A5CC385F-76E9-4A72-A184-732D09A8732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PlaceHolder 1"/>
          <p:cNvSpPr>
            <a:spLocks noGrp="1"/>
          </p:cNvSpPr>
          <p:nvPr>
            <p:ph type="sldImg"/>
          </p:nvPr>
        </p:nvSpPr>
        <p:spPr>
          <a:xfrm>
            <a:off x="1143000" y="685800"/>
            <a:ext cx="4571280" cy="3428280"/>
          </a:xfrm>
          <a:prstGeom prst="rect">
            <a:avLst/>
          </a:prstGeom>
          <a:ln w="0">
            <a:noFill/>
          </a:ln>
        </p:spPr>
      </p:sp>
      <p:sp>
        <p:nvSpPr>
          <p:cNvPr id="435"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r>
              <a:t>Πρώτο μέρος: Το πρόβλημα.</a:t>
            </a:r>
          </a:p>
        </p:txBody>
      </p:sp>
      <p:sp>
        <p:nvSpPr>
          <p:cNvPr id="436" name="PlaceHolder 3"/>
          <p:cNvSpPr>
            <a:spLocks noGrp="1"/>
          </p:cNvSpPr>
          <p:nvPr>
            <p:ph type="sldNum" idx="12"/>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65BAA8C-8CE0-4DEB-9243-F5C3665CE97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7" name="PlaceHolder 1"/>
          <p:cNvSpPr>
            <a:spLocks noGrp="1"/>
          </p:cNvSpPr>
          <p:nvPr>
            <p:ph type="sldImg"/>
          </p:nvPr>
        </p:nvSpPr>
        <p:spPr>
          <a:xfrm>
            <a:off x="1143000" y="685800"/>
            <a:ext cx="4571280" cy="3428280"/>
          </a:xfrm>
          <a:prstGeom prst="rect">
            <a:avLst/>
          </a:prstGeom>
          <a:ln w="0">
            <a:noFill/>
          </a:ln>
        </p:spPr>
      </p:sp>
      <p:sp>
        <p:nvSpPr>
          <p:cNvPr id="438"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Φανταστείτε ένα μαγαζί που έχει καταγράψει κάθε πώληση εδώ και τρία χρόνια, αλλά ο ιδιοκτήτης αποφασίζει τι θα παραγγείλει με το μάτι. Τα δεδομένα είναι εκεί, απλώς κανείς δεν τα διαβάζει. Αυτό είναι το κενό που κλείνει η εργασία.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δεν το κάνει μόνη της η επιχείρηση;» Γιατί χρειάζεται γνώση εξόρυξης δεδομένων και μηχανικής μάθησης. Με ένα Excel δεν βγαίνει.</a:t>
            </a:r>
            <a:endParaRPr lang="en-US" sz="2000" b="0" u="none" strike="noStrike">
              <a:solidFill>
                <a:srgbClr val="000000"/>
              </a:solidFill>
              <a:effectLst/>
              <a:uFillTx/>
              <a:latin typeface="Arial"/>
            </a:endParaRPr>
          </a:p>
        </p:txBody>
      </p:sp>
      <p:sp>
        <p:nvSpPr>
          <p:cNvPr id="439" name="PlaceHolder 3"/>
          <p:cNvSpPr>
            <a:spLocks noGrp="1"/>
          </p:cNvSpPr>
          <p:nvPr>
            <p:ph type="sldNum" idx="13"/>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5FD02E1-EE45-4C22-8682-8D84E340D2F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0" name="PlaceHolder 1"/>
          <p:cNvSpPr>
            <a:spLocks noGrp="1"/>
          </p:cNvSpPr>
          <p:nvPr>
            <p:ph type="sldImg"/>
          </p:nvPr>
        </p:nvSpPr>
        <p:spPr>
          <a:xfrm>
            <a:off x="1143000" y="685800"/>
            <a:ext cx="4571280" cy="3428280"/>
          </a:xfrm>
          <a:prstGeom prst="rect">
            <a:avLst/>
          </a:prstGeom>
          <a:ln w="0">
            <a:noFill/>
          </a:ln>
        </p:spPr>
      </p:sp>
      <p:sp>
        <p:nvSpPr>
          <p:cNvPr id="441"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Αυτά τα επτά ερωτήματα θα τα έκανε οποιοσδήποτε έχει μαγαζί. Ποιο προϊόν πουλάει καλύτερα, ποιος πελάτης αγοράζει πιο πολύ, πότε πέφτει η δουλειά. Η εργασία ξεκίνησε απαντώντας ακριβώς σε αυτά.</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Από πάνω μπήκαν τρεις τεχνικές: εξόρυξη συχνών συνόλων, ομαδοποίηση σε δύο επίπεδα και πρόβλεψη πωλήσεων. Και οι οικονομικοί δείκτες: συνολικά έσοδα, ποσοστό πελατών που ξαναγοράζουν, Growth Accounting και κερδοφορία.</a:t>
            </a:r>
            <a:endParaRPr lang="en-US" sz="2000" b="0" u="none" strike="noStrike">
              <a:solidFill>
                <a:srgbClr val="000000"/>
              </a:solidFill>
              <a:effectLst/>
              <a:uFillTx/>
              <a:latin typeface="Arial"/>
            </a:endParaRPr>
          </a:p>
        </p:txBody>
      </p:sp>
      <p:sp>
        <p:nvSpPr>
          <p:cNvPr id="442" name="PlaceHolder 3"/>
          <p:cNvSpPr>
            <a:spLocks noGrp="1"/>
          </p:cNvSpPr>
          <p:nvPr>
            <p:ph type="sldNum" idx="14"/>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9DC4A7A7-2F3E-476F-A437-7A291B1458E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3" name="PlaceHolder 1"/>
          <p:cNvSpPr>
            <a:spLocks noGrp="1"/>
          </p:cNvSpPr>
          <p:nvPr>
            <p:ph type="sldImg"/>
          </p:nvPr>
        </p:nvSpPr>
        <p:spPr>
          <a:xfrm>
            <a:off x="1143000" y="685800"/>
            <a:ext cx="4571280" cy="3428280"/>
          </a:xfrm>
          <a:prstGeom prst="rect">
            <a:avLst/>
          </a:prstGeom>
          <a:ln w="0">
            <a:noFill/>
          </a:ln>
        </p:spPr>
      </p:sp>
      <p:sp>
        <p:nvSpPr>
          <p:cNvPr id="444"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Δύο κανόνες </a:t>
            </a:r>
            <a:r>
              <a:rPr lang="en-US" sz="2000" b="0" u="none" strike="noStrike">
                <a:solidFill>
                  <a:srgbClr val="000000"/>
                </a:solidFill>
                <a:effectLst/>
                <a:uFillTx/>
                <a:latin typeface="Arial"/>
              </a:rPr>
              <a:t>διατρέχουν </a:t>
            </a:r>
            <a:r>
              <a:rPr lang="en-US" sz="2000" b="0" u="none" strike="noStrike">
                <a:solidFill>
                  <a:srgbClr val="000000"/>
                </a:solidFill>
                <a:effectLst/>
                <a:uFillTx/>
                <a:latin typeface="Arial"/>
              </a:rPr>
              <a:t>όλη τη </a:t>
            </a:r>
            <a:r>
              <a:rPr lang="en-US" sz="2000" b="0" u="none" strike="noStrike">
                <a:solidFill>
                  <a:srgbClr val="000000"/>
                </a:solidFill>
                <a:effectLst/>
                <a:uFillTx/>
                <a:latin typeface="Arial"/>
              </a:rPr>
              <a:t>δουλειά. Ο </a:t>
            </a:r>
            <a:r>
              <a:rPr lang="en-US" sz="2000" b="0" u="none" strike="noStrike">
                <a:solidFill>
                  <a:srgbClr val="000000"/>
                </a:solidFill>
                <a:effectLst/>
                <a:uFillTx/>
                <a:latin typeface="Arial"/>
              </a:rPr>
              <a:t>πρώτος: </a:t>
            </a:r>
            <a:r>
              <a:rPr lang="en-US" sz="2000" b="0" u="none" strike="noStrike">
                <a:solidFill>
                  <a:srgbClr val="000000"/>
                </a:solidFill>
                <a:effectLst/>
                <a:uFillTx/>
                <a:latin typeface="Arial"/>
              </a:rPr>
              <a:t>δουλεύει </a:t>
            </a:r>
            <a:r>
              <a:rPr lang="en-US" sz="2000" b="0" u="none" strike="noStrike">
                <a:solidFill>
                  <a:srgbClr val="000000"/>
                </a:solidFill>
                <a:effectLst/>
                <a:uFillTx/>
                <a:latin typeface="Arial"/>
              </a:rPr>
              <a:t>παντού. Το </a:t>
            </a:r>
            <a:r>
              <a:rPr lang="en-US" sz="2000" b="0" u="none" strike="noStrike">
                <a:solidFill>
                  <a:srgbClr val="000000"/>
                </a:solidFill>
                <a:effectLst/>
                <a:uFillTx/>
                <a:latin typeface="Arial"/>
              </a:rPr>
              <a:t>σύστημα δεν </a:t>
            </a:r>
            <a:r>
              <a:rPr lang="en-US" sz="2000" b="0" u="none" strike="noStrike">
                <a:solidFill>
                  <a:srgbClr val="000000"/>
                </a:solidFill>
                <a:effectLst/>
                <a:uFillTx/>
                <a:latin typeface="Arial"/>
              </a:rPr>
              <a:t>είναι </a:t>
            </a:r>
            <a:r>
              <a:rPr lang="en-US" sz="2000" b="0" u="none" strike="noStrike">
                <a:solidFill>
                  <a:srgbClr val="000000"/>
                </a:solidFill>
                <a:effectLst/>
                <a:uFillTx/>
                <a:latin typeface="Arial"/>
              </a:rPr>
              <a:t>φτιαγμένο για </a:t>
            </a:r>
            <a:r>
              <a:rPr lang="en-US" sz="2000" b="0" u="none" strike="noStrike">
                <a:solidFill>
                  <a:srgbClr val="000000"/>
                </a:solidFill>
                <a:effectLst/>
                <a:uFillTx/>
                <a:latin typeface="Arial"/>
              </a:rPr>
              <a:t>το </a:t>
            </a:r>
            <a:r>
              <a:rPr lang="en-US" sz="2000" b="0" u="none" strike="noStrike">
                <a:solidFill>
                  <a:srgbClr val="000000"/>
                </a:solidFill>
                <a:effectLst/>
                <a:uFillTx/>
                <a:latin typeface="Arial"/>
              </a:rPr>
              <a:t>συγκεκριμένο </a:t>
            </a:r>
            <a:r>
              <a:rPr lang="en-US" sz="2000" b="0" u="none" strike="noStrike">
                <a:solidFill>
                  <a:srgbClr val="000000"/>
                </a:solidFill>
                <a:effectLst/>
                <a:uFillTx/>
                <a:latin typeface="Arial"/>
              </a:rPr>
              <a:t>μαγαζί. Ο </a:t>
            </a:r>
            <a:r>
              <a:rPr lang="en-US" sz="2000" b="0" u="none" strike="noStrike">
                <a:solidFill>
                  <a:srgbClr val="000000"/>
                </a:solidFill>
                <a:effectLst/>
                <a:uFillTx/>
                <a:latin typeface="Arial"/>
              </a:rPr>
              <a:t>δεύτερος: δεν </a:t>
            </a:r>
            <a:r>
              <a:rPr lang="en-US" sz="2000" b="0" u="none" strike="noStrike">
                <a:solidFill>
                  <a:srgbClr val="000000"/>
                </a:solidFill>
                <a:effectLst/>
                <a:uFillTx/>
                <a:latin typeface="Arial"/>
              </a:rPr>
              <a:t>λέει ψέματα. </a:t>
            </a:r>
            <a:r>
              <a:rPr lang="en-US" sz="2000" b="0" u="none" strike="noStrike">
                <a:solidFill>
                  <a:srgbClr val="000000"/>
                </a:solidFill>
                <a:effectLst/>
                <a:uFillTx/>
                <a:latin typeface="Arial"/>
              </a:rPr>
              <a:t>Αν κάτι δεν </a:t>
            </a:r>
            <a:r>
              <a:rPr lang="en-US" sz="2000" b="0" u="none" strike="noStrike">
                <a:solidFill>
                  <a:srgbClr val="000000"/>
                </a:solidFill>
                <a:effectLst/>
                <a:uFillTx/>
                <a:latin typeface="Arial"/>
              </a:rPr>
              <a:t>μπορεί να </a:t>
            </a:r>
            <a:r>
              <a:rPr lang="en-US" sz="2000" b="0" u="none" strike="noStrike">
                <a:solidFill>
                  <a:srgbClr val="000000"/>
                </a:solidFill>
                <a:effectLst/>
                <a:uFillTx/>
                <a:latin typeface="Arial"/>
              </a:rPr>
              <a:t>μετρηθεί, δεν </a:t>
            </a:r>
            <a:r>
              <a:rPr lang="en-US" sz="2000" b="0" u="none" strike="noStrike">
                <a:solidFill>
                  <a:srgbClr val="000000"/>
                </a:solidFill>
                <a:effectLst/>
                <a:uFillTx/>
                <a:latin typeface="Arial"/>
              </a:rPr>
              <a:t>προσποιούμα</a:t>
            </a:r>
            <a:r>
              <a:rPr lang="en-US" sz="2000" b="0" u="none" strike="noStrike">
                <a:solidFill>
                  <a:srgbClr val="000000"/>
                </a:solidFill>
                <a:effectLst/>
                <a:uFillTx/>
                <a:latin typeface="Arial"/>
              </a:rPr>
              <a:t>στε ότι το </a:t>
            </a:r>
            <a:r>
              <a:rPr lang="en-US" sz="2000" b="0" u="none" strike="noStrike">
                <a:solidFill>
                  <a:srgbClr val="000000"/>
                </a:solidFill>
                <a:effectLst/>
                <a:uFillTx/>
                <a:latin typeface="Arial"/>
              </a:rPr>
              <a:t>ξέρουμε.</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a:t>
            </a:r>
            <a:r>
              <a:rPr lang="en-US" sz="2000" b="0" u="none" strike="noStrike">
                <a:solidFill>
                  <a:srgbClr val="000000"/>
                </a:solidFill>
                <a:effectLst/>
                <a:uFillTx/>
                <a:latin typeface="Arial"/>
              </a:rPr>
              <a:t>Α: Το κέρδος </a:t>
            </a:r>
            <a:r>
              <a:rPr lang="en-US" sz="2000" b="0" u="none" strike="noStrike">
                <a:solidFill>
                  <a:srgbClr val="000000"/>
                </a:solidFill>
                <a:effectLst/>
                <a:uFillTx/>
                <a:latin typeface="Arial"/>
              </a:rPr>
              <a:t>είναι το </a:t>
            </a:r>
            <a:r>
              <a:rPr lang="en-US" sz="2000" b="0" u="none" strike="noStrike">
                <a:solidFill>
                  <a:srgbClr val="000000"/>
                </a:solidFill>
                <a:effectLst/>
                <a:uFillTx/>
                <a:latin typeface="Arial"/>
              </a:rPr>
              <a:t>χαρακτηριστικ</a:t>
            </a:r>
            <a:r>
              <a:rPr lang="en-US" sz="2000" b="0" u="none" strike="noStrike">
                <a:solidFill>
                  <a:srgbClr val="000000"/>
                </a:solidFill>
                <a:effectLst/>
                <a:uFillTx/>
                <a:latin typeface="Arial"/>
              </a:rPr>
              <a:t>ό </a:t>
            </a:r>
            <a:r>
              <a:rPr lang="en-US" sz="2000" b="0" u="none" strike="noStrike">
                <a:solidFill>
                  <a:srgbClr val="000000"/>
                </a:solidFill>
                <a:effectLst/>
                <a:uFillTx/>
                <a:latin typeface="Arial"/>
              </a:rPr>
              <a:t>παράδειγμα. </a:t>
            </a:r>
            <a:r>
              <a:rPr lang="en-US" sz="2000" b="0" u="none" strike="noStrike">
                <a:solidFill>
                  <a:srgbClr val="000000"/>
                </a:solidFill>
                <a:effectLst/>
                <a:uFillTx/>
                <a:latin typeface="Arial"/>
              </a:rPr>
              <a:t>Για να πεις </a:t>
            </a:r>
            <a:r>
              <a:rPr lang="en-US" sz="2000" b="0" u="none" strike="noStrike">
                <a:solidFill>
                  <a:srgbClr val="000000"/>
                </a:solidFill>
                <a:effectLst/>
                <a:uFillTx/>
                <a:latin typeface="Arial"/>
              </a:rPr>
              <a:t>πόσο κερδίζει </a:t>
            </a:r>
            <a:r>
              <a:rPr lang="en-US" sz="2000" b="0" u="none" strike="noStrike">
                <a:solidFill>
                  <a:srgbClr val="000000"/>
                </a:solidFill>
                <a:effectLst/>
                <a:uFillTx/>
                <a:latin typeface="Arial"/>
              </a:rPr>
              <a:t>ένα μαγαζί </a:t>
            </a:r>
            <a:r>
              <a:rPr lang="en-US" sz="2000" b="0" u="none" strike="noStrike">
                <a:solidFill>
                  <a:srgbClr val="000000"/>
                </a:solidFill>
                <a:effectLst/>
                <a:uFillTx/>
                <a:latin typeface="Arial"/>
              </a:rPr>
              <a:t>χρειάζεσαι το </a:t>
            </a:r>
            <a:r>
              <a:rPr lang="en-US" sz="2000" b="0" u="none" strike="noStrike">
                <a:solidFill>
                  <a:srgbClr val="000000"/>
                </a:solidFill>
                <a:effectLst/>
                <a:uFillTx/>
                <a:latin typeface="Arial"/>
              </a:rPr>
              <a:t>κόστος των </a:t>
            </a:r>
            <a:r>
              <a:rPr lang="en-US" sz="2000" b="0" u="none" strike="noStrike">
                <a:solidFill>
                  <a:srgbClr val="000000"/>
                </a:solidFill>
                <a:effectLst/>
                <a:uFillTx/>
                <a:latin typeface="Arial"/>
              </a:rPr>
              <a:t>προϊόντων και </a:t>
            </a:r>
            <a:r>
              <a:rPr lang="en-US" sz="2000" b="0" u="none" strike="noStrike">
                <a:solidFill>
                  <a:srgbClr val="000000"/>
                </a:solidFill>
                <a:effectLst/>
                <a:uFillTx/>
                <a:latin typeface="Arial"/>
              </a:rPr>
              <a:t>τα έξοδα </a:t>
            </a:r>
            <a:r>
              <a:rPr lang="en-US" sz="2000" b="0" u="none" strike="noStrike">
                <a:solidFill>
                  <a:srgbClr val="000000"/>
                </a:solidFill>
                <a:effectLst/>
                <a:uFillTx/>
                <a:latin typeface="Arial"/>
              </a:rPr>
              <a:t>marketing. Τα </a:t>
            </a:r>
            <a:r>
              <a:rPr lang="en-US" sz="2000" b="0" u="none" strike="noStrike">
                <a:solidFill>
                  <a:srgbClr val="000000"/>
                </a:solidFill>
                <a:effectLst/>
                <a:uFillTx/>
                <a:latin typeface="Arial"/>
              </a:rPr>
              <a:t>δεδομένα </a:t>
            </a:r>
            <a:r>
              <a:rPr lang="en-US" sz="2000" b="0" u="none" strike="noStrike">
                <a:solidFill>
                  <a:srgbClr val="000000"/>
                </a:solidFill>
                <a:effectLst/>
                <a:uFillTx/>
                <a:latin typeface="Arial"/>
              </a:rPr>
              <a:t>συναλλαγών </a:t>
            </a:r>
            <a:r>
              <a:rPr lang="en-US" sz="2000" b="0" u="none" strike="noStrike">
                <a:solidFill>
                  <a:srgbClr val="000000"/>
                </a:solidFill>
                <a:effectLst/>
                <a:uFillTx/>
                <a:latin typeface="Arial"/>
              </a:rPr>
              <a:t>δεν έχουν </a:t>
            </a:r>
            <a:r>
              <a:rPr lang="en-US" sz="2000" b="0" u="none" strike="noStrike">
                <a:solidFill>
                  <a:srgbClr val="000000"/>
                </a:solidFill>
                <a:effectLst/>
                <a:uFillTx/>
                <a:latin typeface="Arial"/>
              </a:rPr>
              <a:t>τίποτα από τα </a:t>
            </a:r>
            <a:r>
              <a:rPr lang="en-US" sz="2000" b="0" u="none" strike="noStrike">
                <a:solidFill>
                  <a:srgbClr val="000000"/>
                </a:solidFill>
                <a:effectLst/>
                <a:uFillTx/>
                <a:latin typeface="Arial"/>
              </a:rPr>
              <a:t>δύο. Άρα η </a:t>
            </a:r>
            <a:r>
              <a:rPr lang="en-US" sz="2000" b="0" u="none" strike="noStrike">
                <a:solidFill>
                  <a:srgbClr val="000000"/>
                </a:solidFill>
                <a:effectLst/>
                <a:uFillTx/>
                <a:latin typeface="Arial"/>
              </a:rPr>
              <a:t>απάντηση </a:t>
            </a:r>
            <a:r>
              <a:rPr lang="en-US" sz="2000" b="0" u="none" strike="noStrike">
                <a:solidFill>
                  <a:srgbClr val="000000"/>
                </a:solidFill>
                <a:effectLst/>
                <a:uFillTx/>
                <a:latin typeface="Arial"/>
              </a:rPr>
              <a:t>δίνεται ως </a:t>
            </a:r>
            <a:r>
              <a:rPr lang="en-US" sz="2000" b="0" u="none" strike="noStrike">
                <a:solidFill>
                  <a:srgbClr val="000000"/>
                </a:solidFill>
                <a:effectLst/>
                <a:uFillTx/>
                <a:latin typeface="Arial"/>
              </a:rPr>
              <a:t>σενάριο: αν το </a:t>
            </a:r>
            <a:r>
              <a:rPr lang="en-US" sz="2000" b="0" u="none" strike="noStrike">
                <a:solidFill>
                  <a:srgbClr val="000000"/>
                </a:solidFill>
                <a:effectLst/>
                <a:uFillTx/>
                <a:latin typeface="Arial"/>
              </a:rPr>
              <a:t>περιθώριο </a:t>
            </a:r>
            <a:r>
              <a:rPr lang="en-US" sz="2000" b="0" u="none" strike="noStrike">
                <a:solidFill>
                  <a:srgbClr val="000000"/>
                </a:solidFill>
                <a:effectLst/>
                <a:uFillTx/>
                <a:latin typeface="Arial"/>
              </a:rPr>
              <a:t>είναι τόσο, </a:t>
            </a:r>
            <a:r>
              <a:rPr lang="en-US" sz="2000" b="0" u="none" strike="noStrike">
                <a:solidFill>
                  <a:srgbClr val="000000"/>
                </a:solidFill>
                <a:effectLst/>
                <a:uFillTx/>
                <a:latin typeface="Arial"/>
              </a:rPr>
              <a:t>τότε βγαίνει </a:t>
            </a:r>
            <a:r>
              <a:rPr lang="en-US" sz="2000" b="0" u="none" strike="noStrike">
                <a:solidFill>
                  <a:srgbClr val="000000"/>
                </a:solidFill>
                <a:effectLst/>
                <a:uFillTx/>
                <a:latin typeface="Arial"/>
              </a:rPr>
              <a:t>αυτό.</a:t>
            </a:r>
            <a:endParaRPr lang="en-US" sz="2000" b="0" u="none" strike="noStrike">
              <a:solidFill>
                <a:srgbClr val="000000"/>
              </a:solidFill>
              <a:effectLst/>
              <a:uFillTx/>
              <a:latin typeface="Arial"/>
            </a:endParaRPr>
          </a:p>
        </p:txBody>
      </p:sp>
      <p:sp>
        <p:nvSpPr>
          <p:cNvPr id="445" name="PlaceHolder 3"/>
          <p:cNvSpPr>
            <a:spLocks noGrp="1"/>
          </p:cNvSpPr>
          <p:nvPr>
            <p:ph type="sldNum" idx="15"/>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2970E4ED-8463-4F9A-88DD-B6C9B966F25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PlaceHolder 1"/>
          <p:cNvSpPr>
            <a:spLocks noGrp="1"/>
          </p:cNvSpPr>
          <p:nvPr>
            <p:ph type="sldImg"/>
          </p:nvPr>
        </p:nvSpPr>
        <p:spPr>
          <a:xfrm>
            <a:off x="1143000" y="685800"/>
            <a:ext cx="4571280" cy="3428280"/>
          </a:xfrm>
          <a:prstGeom prst="rect">
            <a:avLst/>
          </a:prstGeom>
          <a:ln w="0">
            <a:noFill/>
          </a:ln>
        </p:spPr>
      </p:sp>
      <p:sp>
        <p:nvSpPr>
          <p:cNvPr id="447"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r>
              <a:t>Δεύτερο μέρος: Το σύστημα.</a:t>
            </a:r>
          </a:p>
        </p:txBody>
      </p:sp>
      <p:sp>
        <p:nvSpPr>
          <p:cNvPr id="448" name="PlaceHolder 3"/>
          <p:cNvSpPr>
            <a:spLocks noGrp="1"/>
          </p:cNvSpPr>
          <p:nvPr>
            <p:ph type="sldNum" idx="16"/>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AAB59851-94D8-4396-A0E9-8350037B638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PlaceHolder 1"/>
          <p:cNvSpPr>
            <a:spLocks noGrp="1"/>
          </p:cNvSpPr>
          <p:nvPr>
            <p:ph type="sldImg"/>
          </p:nvPr>
        </p:nvSpPr>
        <p:spPr>
          <a:xfrm>
            <a:off x="1143000" y="685800"/>
            <a:ext cx="4571280" cy="3428280"/>
          </a:xfrm>
          <a:prstGeom prst="rect">
            <a:avLst/>
          </a:prstGeom>
          <a:ln w="0">
            <a:noFill/>
          </a:ln>
        </p:spPr>
      </p:sp>
      <p:sp>
        <p:nvSpPr>
          <p:cNvPr id="450"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Το σύστημα είναι FastAPI, PostgreSQL και Celery. Σκεφτείτε το σαν κτίριο με τέσσερις ορόφους. Πάνω το API που δέχεται τα ερωτήματα, από κάτω τα services με τη λογική, μετά τα repositories που φέρνουν τα δεδομένα, και κάτω η βάση. Κάθε όροφος μιλάει μόνο με τον διπλανό του.</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τρεις διαφορετικές έξοδοι;» Γιατί απευθύνονται σε τρία κοινά: προγράμματα, ανθρώπους χωρίς τεχνικές γνώσεις, και τη διατριβή. Δεν είναι τρεις υλοποιήσεις, είναι τρεις όψεις της ίδιας.</a:t>
            </a:r>
            <a:endParaRPr lang="en-US" sz="2000" b="0" u="none" strike="noStrike">
              <a:solidFill>
                <a:srgbClr val="000000"/>
              </a:solidFill>
              <a:effectLst/>
              <a:uFillTx/>
              <a:latin typeface="Arial"/>
            </a:endParaRPr>
          </a:p>
        </p:txBody>
      </p:sp>
      <p:sp>
        <p:nvSpPr>
          <p:cNvPr id="451" name="PlaceHolder 3"/>
          <p:cNvSpPr>
            <a:spLocks noGrp="1"/>
          </p:cNvSpPr>
          <p:nvPr>
            <p:ph type="sldNum" idx="17"/>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A561D05-9DDD-4397-B304-7EB8367DE86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2" name="PlaceHolder 1"/>
          <p:cNvSpPr>
            <a:spLocks noGrp="1"/>
          </p:cNvSpPr>
          <p:nvPr>
            <p:ph type="sldImg"/>
          </p:nvPr>
        </p:nvSpPr>
        <p:spPr>
          <a:xfrm>
            <a:off x="1143000" y="685800"/>
            <a:ext cx="4571280" cy="3428280"/>
          </a:xfrm>
          <a:prstGeom prst="rect">
            <a:avLst/>
          </a:prstGeom>
          <a:ln w="0">
            <a:noFill/>
          </a:ln>
        </p:spPr>
      </p:sp>
      <p:sp>
        <p:nvSpPr>
          <p:cNvPr id="453"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Κάθε μαγαζί έχει δικά του ονόματα και δικό του σχήμα. Όλα μεταφράζονται στις ίδιες έξι έννοιες. Υπάρχουν τρεις τρόποι να μπουν τα δεδομένα και μόνο ο ένας χρειάζεται καινούριο κώδικα, ένας μικρός adapter ανά μορφή αρχείου.</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Η πιο σημαντική απόφαση εδώ είναι οι επιστροφές. Τις κρατάμε ξεχωριστά, με θετικό πρόσημο. Αν κάποιος μας στείλει έσοδα από τα οποία έχει ήδη αφαιρέσει τις επιστροφές, δεν μπορούμε ποτέ να τις ξαναχωρίσουμε, και το ερώτημα των επιστροφών μένει αναπάντητο.</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«Πώς ξέρουμε ότι είναι πραγματικά γενικό;» Δοκιμάστηκε σε δεύτερη πηγή, μια βάση SQLite με εντελώς διαφορετικό σχήμα και διαφορετικά ονόματα στηλών. Ο αναλυτικός κώδικας δεν άλλαξε καθόλου.</a:t>
            </a:r>
            <a:endParaRPr lang="en-US" sz="2000" b="0" u="none" strike="noStrike">
              <a:solidFill>
                <a:srgbClr val="000000"/>
              </a:solidFill>
              <a:effectLst/>
              <a:uFillTx/>
              <a:latin typeface="Arial"/>
            </a:endParaRPr>
          </a:p>
        </p:txBody>
      </p:sp>
      <p:sp>
        <p:nvSpPr>
          <p:cNvPr id="454" name="PlaceHolder 3"/>
          <p:cNvSpPr>
            <a:spLocks noGrp="1"/>
          </p:cNvSpPr>
          <p:nvPr>
            <p:ph type="sldNum" idx="18"/>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84D18C79-34C3-4EE2-A3F6-49F1D739779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type="sldImg"/>
          </p:nvPr>
        </p:nvSpPr>
        <p:spPr>
          <a:xfrm>
            <a:off x="1143000" y="685800"/>
            <a:ext cx="4571280" cy="3428280"/>
          </a:xfrm>
          <a:prstGeom prst="rect">
            <a:avLst/>
          </a:prstGeom>
          <a:ln w="0">
            <a:noFill/>
          </a:ln>
        </p:spPr>
      </p:sp>
      <p:sp>
        <p:nvSpPr>
          <p:cNvPr id="456"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Αυτά δεν είναι εικόνες φτιαγμένες για την παρουσίαση. Είναι ακριβώς αυτό που γυρίζει το σύστημα όταν του ζητήσεις πρόβλεψη πωλήσεων ή ανάλυση κερδοφορίας. Το JSON είναι απλώς ένας τρόπος να γράφεις δεδομένα ώστε να τα διαβάζουν εύκολα τα προγράμματα.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Προσέξτε δύο πράγματα. Αριστερά, το skill score είναι αρνητικό: το σύστημα αναφέρει μόνο του ότι η πρόβλεψη έχασε από το απλοϊκό μοντέλο, αντί να το κρύψει. Δεξιά, η προειδοποίηση ταξιδεύει μαζί με το νούμερο, μέσα στην ίδια απάντηση, οπότε δεν μπορεί να αφαιρεθεί κατά λάθος.</a:t>
            </a:r>
            <a:endParaRPr lang="en-US" sz="2000" b="0" u="none" strike="noStrike">
              <a:solidFill>
                <a:srgbClr val="000000"/>
              </a:solidFill>
              <a:effectLst/>
              <a:uFillTx/>
              <a:latin typeface="Arial"/>
            </a:endParaRPr>
          </a:p>
        </p:txBody>
      </p:sp>
      <p:sp>
        <p:nvSpPr>
          <p:cNvPr id="457" name="PlaceHolder 3"/>
          <p:cNvSpPr>
            <a:spLocks noGrp="1"/>
          </p:cNvSpPr>
          <p:nvPr>
            <p:ph type="sldNum" idx="19"/>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8654BE5A-8FB6-45B2-82CE-98E3B7DBA39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8" name="PlaceHolder 1"/>
          <p:cNvSpPr>
            <a:spLocks noGrp="1"/>
          </p:cNvSpPr>
          <p:nvPr>
            <p:ph type="sldImg"/>
          </p:nvPr>
        </p:nvSpPr>
        <p:spPr>
          <a:xfrm>
            <a:off x="1143000" y="685800"/>
            <a:ext cx="4571280" cy="3428280"/>
          </a:xfrm>
          <a:prstGeom prst="rect">
            <a:avLst/>
          </a:prstGeom>
          <a:ln w="0">
            <a:noFill/>
          </a:ln>
        </p:spPr>
      </p:sp>
      <p:sp>
        <p:nvSpPr>
          <p:cNvPr id="459"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Εδώ βλέπει ο ιδιοκτήτης του μαγαζιού τα ίδια νούμερα χωρίς να ξέρει προγραμματισμό. Δώδεκα κάρτες σε τρία dashboards, και καθεμιά αντιστοιχεί ένα προς ένα σε ένα endpoint.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Δύο σκόπιμες αποφάσεις. Πρώτον, η σύνδεση είναι μόνο για ανάγνωση, ένα dashboard δεν μπορεί να πειράξει δεδομένα. Δεύτερον, δεν υπάρχει κάρτα για την κερδοφορία, γιατί μια κάρτα δείχνει έναν αριθμό χωρίς τις παραδοχές του. Αυτό θα ήταν ακριβώς το λάθος που όλη η σχεδίαση προσπαθεί να αποτρέψει.</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δεν υπάρχει κάρτα για την πρόβλεψη ή το clustering;» Μια κάρτα είναι ένα ερώτημα SQL, οπότε δείχνει μόνο ό,τι υπάρχει ήδη στη βάση. Η πρόβλεψη και οι ομάδες υπολογίζονται τη στιγμή του αιτήματος. Αν τα ξαναγράφαμε σε SQL, θα είχαμε δεύτερη υλοποίηση που με τον καιρό θα ξέφευγε από την πρώτη.</a:t>
            </a:r>
            <a:endParaRPr lang="en-US" sz="2000" b="0" u="none" strike="noStrike">
              <a:solidFill>
                <a:srgbClr val="000000"/>
              </a:solidFill>
              <a:effectLst/>
              <a:uFillTx/>
              <a:latin typeface="Arial"/>
            </a:endParaRPr>
          </a:p>
        </p:txBody>
      </p:sp>
      <p:sp>
        <p:nvSpPr>
          <p:cNvPr id="460" name="PlaceHolder 3"/>
          <p:cNvSpPr>
            <a:spLocks noGrp="1"/>
          </p:cNvSpPr>
          <p:nvPr>
            <p:ph type="sldNum" idx="20"/>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F5A2C5FD-0AD5-48AC-A4A8-A475B5DAE55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sldImg"/>
          </p:nvPr>
        </p:nvSpPr>
        <p:spPr>
          <a:xfrm>
            <a:off x="1143000" y="685800"/>
            <a:ext cx="4571280" cy="3428280"/>
          </a:xfrm>
          <a:prstGeom prst="rect">
            <a:avLst/>
          </a:prstGeom>
          <a:ln w="0">
            <a:noFill/>
          </a:ln>
        </p:spPr>
      </p:sp>
      <p:sp>
        <p:nvSpPr>
          <p:cNvPr id="462"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r>
              <a:t>Τρίτο μέρος: Τα ευρήματα.</a:t>
            </a:r>
          </a:p>
        </p:txBody>
      </p:sp>
      <p:sp>
        <p:nvSpPr>
          <p:cNvPr id="463" name="PlaceHolder 3"/>
          <p:cNvSpPr>
            <a:spLocks noGrp="1"/>
          </p:cNvSpPr>
          <p:nvPr>
            <p:ph type="sldNum" idx="21"/>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E8D36920-7D4B-48FB-A25A-100E2D214FF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4" name="PlaceHolder 1"/>
          <p:cNvSpPr>
            <a:spLocks noGrp="1"/>
          </p:cNvSpPr>
          <p:nvPr>
            <p:ph type="sldImg"/>
          </p:nvPr>
        </p:nvSpPr>
        <p:spPr>
          <a:xfrm>
            <a:off x="1143000" y="685800"/>
            <a:ext cx="4571280" cy="3428280"/>
          </a:xfrm>
          <a:prstGeom prst="rect">
            <a:avLst/>
          </a:prstGeom>
          <a:ln w="0">
            <a:noFill/>
          </a:ln>
        </p:spPr>
      </p:sp>
      <p:sp>
        <p:nvSpPr>
          <p:cNvPr id="465"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Αυτό είναι το πείραμα πάνω στο οποίο δοκιμάστηκε όλο το σύστημα. Πραγματικές πωλήσεις ενός βρετανικού καταστήματος χονδρικής, από το 2009 ως το 2011, πάνω από ένα εκατομμύριο γραμμές.</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αυτό το σύνολο δεδομένων;» Είναι δημόσιο, το έχει χρησιμοποιήσει ήδη άλλη επιστημονική εργασία, και έχει επιστροφές. Χωρίς επιστροφές, το πέμπτο από τα επτά ερωτήματα δεν απαντιέται.</a:t>
            </a:r>
            <a:endParaRPr lang="en-US" sz="2000" b="0" u="none" strike="noStrike">
              <a:solidFill>
                <a:srgbClr val="000000"/>
              </a:solidFill>
              <a:effectLst/>
              <a:uFillTx/>
              <a:latin typeface="Arial"/>
            </a:endParaRPr>
          </a:p>
        </p:txBody>
      </p:sp>
      <p:sp>
        <p:nvSpPr>
          <p:cNvPr id="466" name="PlaceHolder 3"/>
          <p:cNvSpPr>
            <a:spLocks noGrp="1"/>
          </p:cNvSpPr>
          <p:nvPr>
            <p:ph type="sldNum" idx="22"/>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282CE300-6CC0-462B-A13A-1DFD33B948E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7" name="PlaceHolder 1"/>
          <p:cNvSpPr>
            <a:spLocks noGrp="1"/>
          </p:cNvSpPr>
          <p:nvPr>
            <p:ph type="sldImg"/>
          </p:nvPr>
        </p:nvSpPr>
        <p:spPr>
          <a:xfrm>
            <a:off x="1143000" y="685800"/>
            <a:ext cx="4571280" cy="3428280"/>
          </a:xfrm>
          <a:prstGeom prst="rect">
            <a:avLst/>
          </a:prstGeom>
          <a:ln w="0">
            <a:noFill/>
          </a:ln>
        </p:spPr>
      </p:sp>
      <p:sp>
        <p:nvSpPr>
          <p:cNvPr id="468"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Δύο απλά γραφήματα: ποια προϊόντα έφεραν τα περισσότερα έσοδα και ποιες χώρες αγόρασαν τα περισσότερα. Η έκπληξη είναι ότι το προϊόν με τα περισσότερα κομμάτια δεν είναι αυτό με τα περισσότερα έσοδα. Ένα ακριβότερο προϊόν μπορεί να πουλάει λιγότερα κομμάτια και να φέρνει περισσότερα χρήματα.</a:t>
            </a:r>
            <a:endParaRPr lang="en-US" sz="2000" b="0" u="none" strike="noStrike">
              <a:solidFill>
                <a:srgbClr val="000000"/>
              </a:solidFill>
              <a:effectLst/>
              <a:uFillTx/>
              <a:latin typeface="Arial"/>
            </a:endParaRPr>
          </a:p>
        </p:txBody>
      </p:sp>
      <p:sp>
        <p:nvSpPr>
          <p:cNvPr id="469" name="PlaceHolder 3"/>
          <p:cNvSpPr>
            <a:spLocks noGrp="1"/>
          </p:cNvSpPr>
          <p:nvPr>
            <p:ph type="sldNum" idx="23"/>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64DDF089-C05A-47F7-919A-A2C303ABE47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0" name="PlaceHolder 1"/>
          <p:cNvSpPr>
            <a:spLocks noGrp="1"/>
          </p:cNvSpPr>
          <p:nvPr>
            <p:ph type="sldImg"/>
          </p:nvPr>
        </p:nvSpPr>
        <p:spPr>
          <a:xfrm>
            <a:off x="1143000" y="685800"/>
            <a:ext cx="4571280" cy="3428280"/>
          </a:xfrm>
          <a:prstGeom prst="rect">
            <a:avLst/>
          </a:prstGeom>
          <a:ln w="0">
            <a:noFill/>
          </a:ln>
        </p:spPr>
      </p:sp>
      <p:sp>
        <p:nvSpPr>
          <p:cNvPr id="471"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Πότε μέσα στον χρόνο γίνονται οι πωλήσεις και σε τι τιμές. Ο Νοέμβριος κορυφώνει και τις δύο </a:t>
            </a:r>
            <a:r>
              <a:rPr lang="en-US" sz="2000" b="0" u="none" strike="noStrike">
                <a:solidFill>
                  <a:srgbClr val="000000"/>
                </a:solidFill>
                <a:effectLst/>
                <a:uFillTx/>
                <a:latin typeface="Arial"/>
              </a:rPr>
              <a:t>χρονιές. Τα φθηνά προϊόντα κάνουν τα δύο τρίτα των εσόδων.</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Το τίμιο σημείο εδώ είναι το 38,9%. Δεν μπορέσαμε να κατηγοριοποιήσουμε τόσα </a:t>
            </a:r>
            <a:r>
              <a:rPr lang="en-US" sz="2000" b="0" u="none" strike="noStrike">
                <a:solidFill>
                  <a:srgbClr val="000000"/>
                </a:solidFill>
                <a:effectLst/>
                <a:uFillTx/>
                <a:latin typeface="Arial"/>
              </a:rPr>
              <a:t>έσοδα, γιατί στα δεδομένα δεν υπάρχει κατηγορία προϊόντος, μόνο η περιγραφή σε ελεύθερο </a:t>
            </a:r>
            <a:r>
              <a:rPr lang="en-US" sz="2000" b="0" u="none" strike="noStrike">
                <a:solidFill>
                  <a:srgbClr val="000000"/>
                </a:solidFill>
                <a:effectLst/>
                <a:uFillTx/>
                <a:latin typeface="Arial"/>
              </a:rPr>
              <a:t>κείμενο. Το ποσοστό που μένει αταξινόμητο είναι το πραγματικό μέτρο ακρίβειας της μεθόδου, </a:t>
            </a:r>
            <a:r>
              <a:rPr lang="en-US" sz="2000" b="0" u="none" strike="noStrike">
                <a:solidFill>
                  <a:srgbClr val="000000"/>
                </a:solidFill>
                <a:effectLst/>
                <a:uFillTx/>
                <a:latin typeface="Arial"/>
              </a:rPr>
              <a:t>οπότε δηλώνεται ανοιχτά.</a:t>
            </a:r>
            <a:endParaRPr lang="en-US" sz="2000" b="0" u="none" strike="noStrike">
              <a:solidFill>
                <a:srgbClr val="000000"/>
              </a:solidFill>
              <a:effectLst/>
              <a:uFillTx/>
              <a:latin typeface="Arial"/>
            </a:endParaRPr>
          </a:p>
        </p:txBody>
      </p:sp>
      <p:sp>
        <p:nvSpPr>
          <p:cNvPr id="472" name="PlaceHolder 3"/>
          <p:cNvSpPr>
            <a:spLocks noGrp="1"/>
          </p:cNvSpPr>
          <p:nvPr>
            <p:ph type="sldNum" idx="24"/>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4249DA1-3CDE-477D-A070-3D5ADE343C1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3" name="PlaceHolder 1"/>
          <p:cNvSpPr>
            <a:spLocks noGrp="1"/>
          </p:cNvSpPr>
          <p:nvPr>
            <p:ph type="sldImg"/>
          </p:nvPr>
        </p:nvSpPr>
        <p:spPr>
          <a:xfrm>
            <a:off x="1143000" y="685800"/>
            <a:ext cx="4571280" cy="3428280"/>
          </a:xfrm>
          <a:prstGeom prst="rect">
            <a:avLst/>
          </a:prstGeom>
          <a:ln w="0">
            <a:noFill/>
          </a:ln>
        </p:spPr>
      </p:sp>
      <p:sp>
        <p:nvSpPr>
          <p:cNvPr id="474"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Φανταστεί</a:t>
            </a:r>
            <a:r>
              <a:rPr lang="en-US" sz="2000" b="0" u="none" strike="noStrike">
                <a:solidFill>
                  <a:srgbClr val="000000"/>
                </a:solidFill>
                <a:effectLst/>
                <a:uFillTx/>
                <a:latin typeface="Arial"/>
              </a:rPr>
              <a:t>τε χιλιάδες </a:t>
            </a:r>
            <a:r>
              <a:rPr lang="en-US" sz="2000" b="0" u="none" strike="noStrike">
                <a:solidFill>
                  <a:srgbClr val="000000"/>
                </a:solidFill>
                <a:effectLst/>
                <a:uFillTx/>
                <a:latin typeface="Arial"/>
              </a:rPr>
              <a:t>αποδείξεις </a:t>
            </a:r>
            <a:r>
              <a:rPr lang="en-US" sz="2000" b="0" u="none" strike="noStrike">
                <a:solidFill>
                  <a:srgbClr val="000000"/>
                </a:solidFill>
                <a:effectLst/>
                <a:uFillTx/>
                <a:latin typeface="Arial"/>
              </a:rPr>
              <a:t>από ένα </a:t>
            </a:r>
            <a:r>
              <a:rPr lang="en-US" sz="2000" b="0" u="none" strike="noStrike">
                <a:solidFill>
                  <a:srgbClr val="000000"/>
                </a:solidFill>
                <a:effectLst/>
                <a:uFillTx/>
                <a:latin typeface="Arial"/>
              </a:rPr>
              <a:t>μαγαζί. </a:t>
            </a:r>
            <a:r>
              <a:rPr lang="en-US" sz="2000" b="0" u="none" strike="noStrike">
                <a:solidFill>
                  <a:srgbClr val="000000"/>
                </a:solidFill>
                <a:effectLst/>
                <a:uFillTx/>
                <a:latin typeface="Arial"/>
              </a:rPr>
              <a:t>Θέλουμε </a:t>
            </a:r>
            <a:r>
              <a:rPr lang="en-US" sz="2000" b="0" u="none" strike="noStrike">
                <a:solidFill>
                  <a:srgbClr val="000000"/>
                </a:solidFill>
                <a:effectLst/>
                <a:uFillTx/>
                <a:latin typeface="Arial"/>
              </a:rPr>
              <a:t>να βρούμε </a:t>
            </a:r>
            <a:r>
              <a:rPr lang="en-US" sz="2000" b="0" u="none" strike="noStrike">
                <a:solidFill>
                  <a:srgbClr val="000000"/>
                </a:solidFill>
                <a:effectLst/>
                <a:uFillTx/>
                <a:latin typeface="Arial"/>
              </a:rPr>
              <a:t>ποια </a:t>
            </a:r>
            <a:r>
              <a:rPr lang="en-US" sz="2000" b="0" u="none" strike="noStrike">
                <a:solidFill>
                  <a:srgbClr val="000000"/>
                </a:solidFill>
                <a:effectLst/>
                <a:uFillTx/>
                <a:latin typeface="Arial"/>
              </a:rPr>
              <a:t>προϊόντα </a:t>
            </a:r>
            <a:r>
              <a:rPr lang="en-US" sz="2000" b="0" u="none" strike="noStrike">
                <a:solidFill>
                  <a:srgbClr val="000000"/>
                </a:solidFill>
                <a:effectLst/>
                <a:uFillTx/>
                <a:latin typeface="Arial"/>
              </a:rPr>
              <a:t>αγοράζοντ</a:t>
            </a:r>
            <a:r>
              <a:rPr lang="en-US" sz="2000" b="0" u="none" strike="noStrike">
                <a:solidFill>
                  <a:srgbClr val="000000"/>
                </a:solidFill>
                <a:effectLst/>
                <a:uFillTx/>
                <a:latin typeface="Arial"/>
              </a:rPr>
              <a:t>αι μαζί πιο </a:t>
            </a:r>
            <a:r>
              <a:rPr lang="en-US" sz="2000" b="0" u="none" strike="noStrike">
                <a:solidFill>
                  <a:srgbClr val="000000"/>
                </a:solidFill>
                <a:effectLst/>
                <a:uFillTx/>
                <a:latin typeface="Arial"/>
              </a:rPr>
              <a:t>συχνά απ' </a:t>
            </a:r>
            <a:r>
              <a:rPr lang="en-US" sz="2000" b="0" u="none" strike="noStrike">
                <a:solidFill>
                  <a:srgbClr val="000000"/>
                </a:solidFill>
                <a:effectLst/>
                <a:uFillTx/>
                <a:latin typeface="Arial"/>
              </a:rPr>
              <a:t>ό,τι θα </a:t>
            </a:r>
            <a:r>
              <a:rPr lang="en-US" sz="2000" b="0" u="none" strike="noStrike">
                <a:solidFill>
                  <a:srgbClr val="000000"/>
                </a:solidFill>
                <a:effectLst/>
                <a:uFillTx/>
                <a:latin typeface="Arial"/>
              </a:rPr>
              <a:t>περιμέναμ</a:t>
            </a:r>
            <a:r>
              <a:rPr lang="en-US" sz="2000" b="0" u="none" strike="noStrike">
                <a:solidFill>
                  <a:srgbClr val="000000"/>
                </a:solidFill>
                <a:effectLst/>
                <a:uFillTx/>
                <a:latin typeface="Arial"/>
              </a:rPr>
              <a:t>ε στην </a:t>
            </a:r>
            <a:r>
              <a:rPr lang="en-US" sz="2000" b="0" u="none" strike="noStrike">
                <a:solidFill>
                  <a:srgbClr val="000000"/>
                </a:solidFill>
                <a:effectLst/>
                <a:uFillTx/>
                <a:latin typeface="Arial"/>
              </a:rPr>
              <a:t>τύχη.</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a:t>
            </a:r>
            <a:r>
              <a:rPr lang="en-US" sz="2000" b="0" u="none" strike="noStrike">
                <a:solidFill>
                  <a:srgbClr val="000000"/>
                </a:solidFill>
                <a:effectLst/>
                <a:uFillTx/>
                <a:latin typeface="Arial"/>
              </a:rPr>
              <a:t>ΤΙΚΑ: </a:t>
            </a:r>
            <a:r>
              <a:rPr lang="en-US" sz="2000" b="0" u="none" strike="noStrike">
                <a:solidFill>
                  <a:srgbClr val="000000"/>
                </a:solidFill>
                <a:effectLst/>
                <a:uFillTx/>
                <a:latin typeface="Arial"/>
              </a:rPr>
              <a:t>Παράδειγμ</a:t>
            </a:r>
            <a:r>
              <a:rPr lang="en-US" sz="2000" b="0" u="none" strike="noStrike">
                <a:solidFill>
                  <a:srgbClr val="000000"/>
                </a:solidFill>
                <a:effectLst/>
                <a:uFillTx/>
                <a:latin typeface="Arial"/>
              </a:rPr>
              <a:t>α με δέκα </a:t>
            </a:r>
            <a:r>
              <a:rPr lang="en-US" sz="2000" b="0" u="none" strike="noStrike">
                <a:solidFill>
                  <a:srgbClr val="000000"/>
                </a:solidFill>
                <a:effectLst/>
                <a:uFillTx/>
                <a:latin typeface="Arial"/>
              </a:rPr>
              <a:t>αποδείξεις</a:t>
            </a:r>
            <a:r>
              <a:rPr lang="en-US" sz="2000" b="0" u="none" strike="noStrike">
                <a:solidFill>
                  <a:srgbClr val="000000"/>
                </a:solidFill>
                <a:effectLst/>
                <a:uFillTx/>
                <a:latin typeface="Arial"/>
              </a:rPr>
              <a:t>, όπου οι </a:t>
            </a:r>
            <a:r>
              <a:rPr lang="en-US" sz="2000" b="0" u="none" strike="noStrike">
                <a:solidFill>
                  <a:srgbClr val="000000"/>
                </a:solidFill>
                <a:effectLst/>
                <a:uFillTx/>
                <a:latin typeface="Arial"/>
              </a:rPr>
              <a:t>τρεις </a:t>
            </a:r>
            <a:r>
              <a:rPr lang="en-US" sz="2000" b="0" u="none" strike="noStrike">
                <a:solidFill>
                  <a:srgbClr val="000000"/>
                </a:solidFill>
                <a:effectLst/>
                <a:uFillTx/>
                <a:latin typeface="Arial"/>
              </a:rPr>
              <a:t>έχουν </a:t>
            </a:r>
            <a:r>
              <a:rPr lang="en-US" sz="2000" b="0" u="none" strike="noStrike">
                <a:solidFill>
                  <a:srgbClr val="000000"/>
                </a:solidFill>
                <a:effectLst/>
                <a:uFillTx/>
                <a:latin typeface="Arial"/>
              </a:rPr>
              <a:t>ψωμί και </a:t>
            </a:r>
            <a:r>
              <a:rPr lang="en-US" sz="2000" b="0" u="none" strike="noStrike">
                <a:solidFill>
                  <a:srgbClr val="000000"/>
                </a:solidFill>
                <a:effectLst/>
                <a:uFillTx/>
                <a:latin typeface="Arial"/>
              </a:rPr>
              <a:t>βούτυρο </a:t>
            </a:r>
            <a:r>
              <a:rPr lang="en-US" sz="2000" b="0" u="none" strike="noStrike">
                <a:solidFill>
                  <a:srgbClr val="000000"/>
                </a:solidFill>
                <a:effectLst/>
                <a:uFillTx/>
                <a:latin typeface="Arial"/>
              </a:rPr>
              <a:t>μαζί. </a:t>
            </a:r>
            <a:r>
              <a:rPr lang="en-US" sz="2000" b="0" u="none" strike="noStrike">
                <a:solidFill>
                  <a:srgbClr val="000000"/>
                </a:solidFill>
                <a:effectLst/>
                <a:uFillTx/>
                <a:latin typeface="Arial"/>
              </a:rPr>
              <a:t>Support </a:t>
            </a:r>
            <a:r>
              <a:rPr lang="en-US" sz="2000" b="0" u="none" strike="noStrike">
                <a:solidFill>
                  <a:srgbClr val="000000"/>
                </a:solidFill>
                <a:effectLst/>
                <a:uFillTx/>
                <a:latin typeface="Arial"/>
              </a:rPr>
              <a:t>ίσον τρία </a:t>
            </a:r>
            <a:r>
              <a:rPr lang="en-US" sz="2000" b="0" u="none" strike="noStrike">
                <a:solidFill>
                  <a:srgbClr val="000000"/>
                </a:solidFill>
                <a:effectLst/>
                <a:uFillTx/>
                <a:latin typeface="Arial"/>
              </a:rPr>
              <a:t>δέκατα, </a:t>
            </a:r>
            <a:r>
              <a:rPr lang="en-US" sz="2000" b="0" u="none" strike="noStrike">
                <a:solidFill>
                  <a:srgbClr val="000000"/>
                </a:solidFill>
                <a:effectLst/>
                <a:uFillTx/>
                <a:latin typeface="Arial"/>
              </a:rPr>
              <a:t>δηλαδή </a:t>
            </a:r>
            <a:r>
              <a:rPr lang="en-US" sz="2000" b="0" u="none" strike="noStrike">
                <a:solidFill>
                  <a:srgbClr val="000000"/>
                </a:solidFill>
                <a:effectLst/>
                <a:uFillTx/>
                <a:latin typeface="Arial"/>
              </a:rPr>
              <a:t>0,3. Αν το </a:t>
            </a:r>
            <a:r>
              <a:rPr lang="en-US" sz="2000" b="0" u="none" strike="noStrike">
                <a:solidFill>
                  <a:srgbClr val="000000"/>
                </a:solidFill>
                <a:effectLst/>
                <a:uFillTx/>
                <a:latin typeface="Arial"/>
              </a:rPr>
              <a:t>ψωμί </a:t>
            </a:r>
            <a:r>
              <a:rPr lang="en-US" sz="2000" b="0" u="none" strike="noStrike">
                <a:solidFill>
                  <a:srgbClr val="000000"/>
                </a:solidFill>
                <a:effectLst/>
                <a:uFillTx/>
                <a:latin typeface="Arial"/>
              </a:rPr>
              <a:t>υπάρχει </a:t>
            </a:r>
            <a:r>
              <a:rPr lang="en-US" sz="2000" b="0" u="none" strike="noStrike">
                <a:solidFill>
                  <a:srgbClr val="000000"/>
                </a:solidFill>
                <a:effectLst/>
                <a:uFillTx/>
                <a:latin typeface="Arial"/>
              </a:rPr>
              <a:t>σε πέντε </a:t>
            </a:r>
            <a:r>
              <a:rPr lang="en-US" sz="2000" b="0" u="none" strike="noStrike">
                <a:solidFill>
                  <a:srgbClr val="000000"/>
                </a:solidFill>
                <a:effectLst/>
                <a:uFillTx/>
                <a:latin typeface="Arial"/>
              </a:rPr>
              <a:t>αποδείξεις</a:t>
            </a:r>
            <a:r>
              <a:rPr lang="en-US" sz="2000" b="0" u="none" strike="noStrike">
                <a:solidFill>
                  <a:srgbClr val="000000"/>
                </a:solidFill>
                <a:effectLst/>
                <a:uFillTx/>
                <a:latin typeface="Arial"/>
              </a:rPr>
              <a:t>, το </a:t>
            </a:r>
            <a:r>
              <a:rPr lang="en-US" sz="2000" b="0" u="none" strike="noStrike">
                <a:solidFill>
                  <a:srgbClr val="000000"/>
                </a:solidFill>
                <a:effectLst/>
                <a:uFillTx/>
                <a:latin typeface="Arial"/>
              </a:rPr>
              <a:t>confidenc</a:t>
            </a:r>
            <a:r>
              <a:rPr lang="en-US" sz="2000" b="0" u="none" strike="noStrike">
                <a:solidFill>
                  <a:srgbClr val="000000"/>
                </a:solidFill>
                <a:effectLst/>
                <a:uFillTx/>
                <a:latin typeface="Arial"/>
              </a:rPr>
              <a:t>e είναι </a:t>
            </a:r>
            <a:r>
              <a:rPr lang="en-US" sz="2000" b="0" u="none" strike="noStrike">
                <a:solidFill>
                  <a:srgbClr val="000000"/>
                </a:solidFill>
                <a:effectLst/>
                <a:uFillTx/>
                <a:latin typeface="Arial"/>
              </a:rPr>
              <a:t>τρία </a:t>
            </a:r>
            <a:r>
              <a:rPr lang="en-US" sz="2000" b="0" u="none" strike="noStrike">
                <a:solidFill>
                  <a:srgbClr val="000000"/>
                </a:solidFill>
                <a:effectLst/>
                <a:uFillTx/>
                <a:latin typeface="Arial"/>
              </a:rPr>
              <a:t>πέμπτα, </a:t>
            </a:r>
            <a:r>
              <a:rPr lang="en-US" sz="2000" b="0" u="none" strike="noStrike">
                <a:solidFill>
                  <a:srgbClr val="000000"/>
                </a:solidFill>
                <a:effectLst/>
                <a:uFillTx/>
                <a:latin typeface="Arial"/>
              </a:rPr>
              <a:t>δηλαδή </a:t>
            </a:r>
            <a:r>
              <a:rPr lang="en-US" sz="2000" b="0" u="none" strike="noStrike">
                <a:solidFill>
                  <a:srgbClr val="000000"/>
                </a:solidFill>
                <a:effectLst/>
                <a:uFillTx/>
                <a:latin typeface="Arial"/>
              </a:rPr>
              <a:t>0,6. Τώρα </a:t>
            </a:r>
            <a:r>
              <a:rPr lang="en-US" sz="2000" b="0" u="none" strike="noStrike">
                <a:solidFill>
                  <a:srgbClr val="000000"/>
                </a:solidFill>
                <a:effectLst/>
                <a:uFillTx/>
                <a:latin typeface="Arial"/>
              </a:rPr>
              <a:t>το </a:t>
            </a:r>
            <a:r>
              <a:rPr lang="en-US" sz="2000" b="0" u="none" strike="noStrike">
                <a:solidFill>
                  <a:srgbClr val="000000"/>
                </a:solidFill>
                <a:effectLst/>
                <a:uFillTx/>
                <a:latin typeface="Arial"/>
              </a:rPr>
              <a:t>κρίσιμο. </a:t>
            </a:r>
            <a:r>
              <a:rPr lang="en-US" sz="2000" b="0" u="none" strike="noStrike">
                <a:solidFill>
                  <a:srgbClr val="000000"/>
                </a:solidFill>
                <a:effectLst/>
                <a:uFillTx/>
                <a:latin typeface="Arial"/>
              </a:rPr>
              <a:t>Αν το </a:t>
            </a:r>
            <a:r>
              <a:rPr lang="en-US" sz="2000" b="0" u="none" strike="noStrike">
                <a:solidFill>
                  <a:srgbClr val="000000"/>
                </a:solidFill>
                <a:effectLst/>
                <a:uFillTx/>
                <a:latin typeface="Arial"/>
              </a:rPr>
              <a:t>βούτυρο </a:t>
            </a:r>
            <a:r>
              <a:rPr lang="en-US" sz="2000" b="0" u="none" strike="noStrike">
                <a:solidFill>
                  <a:srgbClr val="000000"/>
                </a:solidFill>
                <a:effectLst/>
                <a:uFillTx/>
                <a:latin typeface="Arial"/>
              </a:rPr>
              <a:t>είναι </a:t>
            </a:r>
            <a:r>
              <a:rPr lang="en-US" sz="2000" b="0" u="none" strike="noStrike">
                <a:solidFill>
                  <a:srgbClr val="000000"/>
                </a:solidFill>
                <a:effectLst/>
                <a:uFillTx/>
                <a:latin typeface="Arial"/>
              </a:rPr>
              <a:t>ούτως ή </a:t>
            </a:r>
            <a:r>
              <a:rPr lang="en-US" sz="2000" b="0" u="none" strike="noStrike">
                <a:solidFill>
                  <a:srgbClr val="000000"/>
                </a:solidFill>
                <a:effectLst/>
                <a:uFillTx/>
                <a:latin typeface="Arial"/>
              </a:rPr>
              <a:t>άλλως </a:t>
            </a:r>
            <a:r>
              <a:rPr lang="en-US" sz="2000" b="0" u="none" strike="noStrike">
                <a:solidFill>
                  <a:srgbClr val="000000"/>
                </a:solidFill>
                <a:effectLst/>
                <a:uFillTx/>
                <a:latin typeface="Arial"/>
              </a:rPr>
              <a:t>δημοφιλές</a:t>
            </a:r>
            <a:r>
              <a:rPr lang="en-US" sz="2000" b="0" u="none" strike="noStrike">
                <a:solidFill>
                  <a:srgbClr val="000000"/>
                </a:solidFill>
                <a:effectLst/>
                <a:uFillTx/>
                <a:latin typeface="Arial"/>
              </a:rPr>
              <a:t>, με </a:t>
            </a:r>
            <a:r>
              <a:rPr lang="en-US" sz="2000" b="0" u="none" strike="noStrike">
                <a:solidFill>
                  <a:srgbClr val="000000"/>
                </a:solidFill>
                <a:effectLst/>
                <a:uFillTx/>
                <a:latin typeface="Arial"/>
              </a:rPr>
              <a:t>support </a:t>
            </a:r>
            <a:r>
              <a:rPr lang="en-US" sz="2000" b="0" u="none" strike="noStrike">
                <a:solidFill>
                  <a:srgbClr val="000000"/>
                </a:solidFill>
                <a:effectLst/>
                <a:uFillTx/>
                <a:latin typeface="Arial"/>
              </a:rPr>
              <a:t>0,8, τότε </a:t>
            </a:r>
            <a:r>
              <a:rPr lang="en-US" sz="2000" b="0" u="none" strike="noStrike">
                <a:solidFill>
                  <a:srgbClr val="000000"/>
                </a:solidFill>
                <a:effectLst/>
                <a:uFillTx/>
                <a:latin typeface="Arial"/>
              </a:rPr>
              <a:t>το lift είναι </a:t>
            </a:r>
            <a:r>
              <a:rPr lang="en-US" sz="2000" b="0" u="none" strike="noStrike">
                <a:solidFill>
                  <a:srgbClr val="000000"/>
                </a:solidFill>
                <a:effectLst/>
                <a:uFillTx/>
                <a:latin typeface="Arial"/>
              </a:rPr>
              <a:t>0,6 διά </a:t>
            </a:r>
            <a:r>
              <a:rPr lang="en-US" sz="2000" b="0" u="none" strike="noStrike">
                <a:solidFill>
                  <a:srgbClr val="000000"/>
                </a:solidFill>
                <a:effectLst/>
                <a:uFillTx/>
                <a:latin typeface="Arial"/>
              </a:rPr>
              <a:t>0,8, ίσον </a:t>
            </a:r>
            <a:r>
              <a:rPr lang="en-US" sz="2000" b="0" u="none" strike="noStrike">
                <a:solidFill>
                  <a:srgbClr val="000000"/>
                </a:solidFill>
                <a:effectLst/>
                <a:uFillTx/>
                <a:latin typeface="Arial"/>
              </a:rPr>
              <a:t>0,75, κάτω </a:t>
            </a:r>
            <a:r>
              <a:rPr lang="en-US" sz="2000" b="0" u="none" strike="noStrike">
                <a:solidFill>
                  <a:srgbClr val="000000"/>
                </a:solidFill>
                <a:effectLst/>
                <a:uFillTx/>
                <a:latin typeface="Arial"/>
              </a:rPr>
              <a:t>από ένα, </a:t>
            </a:r>
            <a:r>
              <a:rPr lang="en-US" sz="2000" b="0" u="none" strike="noStrike">
                <a:solidFill>
                  <a:srgbClr val="000000"/>
                </a:solidFill>
                <a:effectLst/>
                <a:uFillTx/>
                <a:latin typeface="Arial"/>
              </a:rPr>
              <a:t>καμία </a:t>
            </a:r>
            <a:r>
              <a:rPr lang="en-US" sz="2000" b="0" u="none" strike="noStrike">
                <a:solidFill>
                  <a:srgbClr val="000000"/>
                </a:solidFill>
                <a:effectLst/>
                <a:uFillTx/>
                <a:latin typeface="Arial"/>
              </a:rPr>
              <a:t>πραγματικ</a:t>
            </a:r>
            <a:r>
              <a:rPr lang="en-US" sz="2000" b="0" u="none" strike="noStrike">
                <a:solidFill>
                  <a:srgbClr val="000000"/>
                </a:solidFill>
                <a:effectLst/>
                <a:uFillTx/>
                <a:latin typeface="Arial"/>
              </a:rPr>
              <a:t>ή σχέση. </a:t>
            </a:r>
            <a:r>
              <a:rPr lang="en-US" sz="2000" b="0" u="none" strike="noStrike">
                <a:solidFill>
                  <a:srgbClr val="000000"/>
                </a:solidFill>
                <a:effectLst/>
                <a:uFillTx/>
                <a:latin typeface="Arial"/>
              </a:rPr>
              <a:t>Αν το </a:t>
            </a:r>
            <a:r>
              <a:rPr lang="en-US" sz="2000" b="0" u="none" strike="noStrike">
                <a:solidFill>
                  <a:srgbClr val="000000"/>
                </a:solidFill>
                <a:effectLst/>
                <a:uFillTx/>
                <a:latin typeface="Arial"/>
              </a:rPr>
              <a:t>βούτυρο </a:t>
            </a:r>
            <a:r>
              <a:rPr lang="en-US" sz="2000" b="0" u="none" strike="noStrike">
                <a:solidFill>
                  <a:srgbClr val="000000"/>
                </a:solidFill>
                <a:effectLst/>
                <a:uFillTx/>
                <a:latin typeface="Arial"/>
              </a:rPr>
              <a:t>είναι </a:t>
            </a:r>
            <a:r>
              <a:rPr lang="en-US" sz="2000" b="0" u="none" strike="noStrike">
                <a:solidFill>
                  <a:srgbClr val="000000"/>
                </a:solidFill>
                <a:effectLst/>
                <a:uFillTx/>
                <a:latin typeface="Arial"/>
              </a:rPr>
              <a:t>σπάνιο, με </a:t>
            </a:r>
            <a:r>
              <a:rPr lang="en-US" sz="2000" b="0" u="none" strike="noStrike">
                <a:solidFill>
                  <a:srgbClr val="000000"/>
                </a:solidFill>
                <a:effectLst/>
                <a:uFillTx/>
                <a:latin typeface="Arial"/>
              </a:rPr>
              <a:t>support </a:t>
            </a:r>
            <a:r>
              <a:rPr lang="en-US" sz="2000" b="0" u="none" strike="noStrike">
                <a:solidFill>
                  <a:srgbClr val="000000"/>
                </a:solidFill>
                <a:effectLst/>
                <a:uFillTx/>
                <a:latin typeface="Arial"/>
              </a:rPr>
              <a:t>0,2, τότε </a:t>
            </a:r>
            <a:r>
              <a:rPr lang="en-US" sz="2000" b="0" u="none" strike="noStrike">
                <a:solidFill>
                  <a:srgbClr val="000000"/>
                </a:solidFill>
                <a:effectLst/>
                <a:uFillTx/>
                <a:latin typeface="Arial"/>
              </a:rPr>
              <a:t>το lift είναι </a:t>
            </a:r>
            <a:r>
              <a:rPr lang="en-US" sz="2000" b="0" u="none" strike="noStrike">
                <a:solidFill>
                  <a:srgbClr val="000000"/>
                </a:solidFill>
                <a:effectLst/>
                <a:uFillTx/>
                <a:latin typeface="Arial"/>
              </a:rPr>
              <a:t>3, </a:t>
            </a:r>
            <a:r>
              <a:rPr lang="en-US" sz="2000" b="0" u="none" strike="noStrike">
                <a:solidFill>
                  <a:srgbClr val="000000"/>
                </a:solidFill>
                <a:effectLst/>
                <a:uFillTx/>
                <a:latin typeface="Arial"/>
              </a:rPr>
              <a:t>τριπλάσια </a:t>
            </a:r>
            <a:r>
              <a:rPr lang="en-US" sz="2000" b="0" u="none" strike="noStrike">
                <a:solidFill>
                  <a:srgbClr val="000000"/>
                </a:solidFill>
                <a:effectLst/>
                <a:uFillTx/>
                <a:latin typeface="Arial"/>
              </a:rPr>
              <a:t>πιθανότητ</a:t>
            </a:r>
            <a:r>
              <a:rPr lang="en-US" sz="2000" b="0" u="none" strike="noStrike">
                <a:solidFill>
                  <a:srgbClr val="000000"/>
                </a:solidFill>
                <a:effectLst/>
                <a:uFillTx/>
                <a:latin typeface="Arial"/>
              </a:rPr>
              <a:t>α από την </a:t>
            </a:r>
            <a:r>
              <a:rPr lang="en-US" sz="2000" b="0" u="none" strike="noStrike">
                <a:solidFill>
                  <a:srgbClr val="000000"/>
                </a:solidFill>
                <a:effectLst/>
                <a:uFillTx/>
                <a:latin typeface="Arial"/>
              </a:rPr>
              <a:t>τύχη. Οι </a:t>
            </a:r>
            <a:r>
              <a:rPr lang="en-US" sz="2000" b="0" u="none" strike="noStrike">
                <a:solidFill>
                  <a:srgbClr val="000000"/>
                </a:solidFill>
                <a:effectLst/>
                <a:uFillTx/>
                <a:latin typeface="Arial"/>
              </a:rPr>
              <a:t>τύποι είναι </a:t>
            </a:r>
            <a:r>
              <a:rPr lang="en-US" sz="2000" b="0" u="none" strike="noStrike">
                <a:solidFill>
                  <a:srgbClr val="000000"/>
                </a:solidFill>
                <a:effectLst/>
                <a:uFillTx/>
                <a:latin typeface="Arial"/>
              </a:rPr>
              <a:t>στις </a:t>
            </a:r>
            <a:r>
              <a:rPr lang="en-US" sz="2000" b="0" u="none" strike="noStrike">
                <a:solidFill>
                  <a:srgbClr val="000000"/>
                </a:solidFill>
                <a:effectLst/>
                <a:uFillTx/>
                <a:latin typeface="Arial"/>
              </a:rPr>
              <a:t>εφεδρικές </a:t>
            </a:r>
            <a:r>
              <a:rPr lang="en-US" sz="2000" b="0" u="none" strike="noStrike">
                <a:solidFill>
                  <a:srgbClr val="000000"/>
                </a:solidFill>
                <a:effectLst/>
                <a:uFillTx/>
                <a:latin typeface="Arial"/>
              </a:rPr>
              <a:t>διαφάνειες</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a:t>
            </a:r>
            <a:r>
              <a:rPr lang="en-US" sz="2000" b="0" u="none" strike="noStrike">
                <a:solidFill>
                  <a:srgbClr val="000000"/>
                </a:solidFill>
                <a:effectLst/>
                <a:uFillTx/>
                <a:latin typeface="Arial"/>
              </a:rPr>
              <a:t>ΕΡΩΤΗΣΗ</a:t>
            </a:r>
            <a:r>
              <a:rPr lang="en-US" sz="2000" b="0" u="none" strike="noStrike">
                <a:solidFill>
                  <a:srgbClr val="000000"/>
                </a:solidFill>
                <a:effectLst/>
                <a:uFillTx/>
                <a:latin typeface="Arial"/>
              </a:rPr>
              <a:t>: «Γιατί </a:t>
            </a:r>
            <a:r>
              <a:rPr lang="en-US" sz="2000" b="0" u="none" strike="noStrike">
                <a:solidFill>
                  <a:srgbClr val="000000"/>
                </a:solidFill>
                <a:effectLst/>
                <a:uFillTx/>
                <a:latin typeface="Arial"/>
              </a:rPr>
              <a:t>δύο </a:t>
            </a:r>
            <a:r>
              <a:rPr lang="en-US" sz="2000" b="0" u="none" strike="noStrike">
                <a:solidFill>
                  <a:srgbClr val="000000"/>
                </a:solidFill>
                <a:effectLst/>
                <a:uFillTx/>
                <a:latin typeface="Arial"/>
              </a:rPr>
              <a:t>αλγόριθμο</a:t>
            </a:r>
            <a:r>
              <a:rPr lang="en-US" sz="2000" b="0" u="none" strike="noStrike">
                <a:solidFill>
                  <a:srgbClr val="000000"/>
                </a:solidFill>
                <a:effectLst/>
                <a:uFillTx/>
                <a:latin typeface="Arial"/>
              </a:rPr>
              <a:t>ι για το </a:t>
            </a:r>
            <a:r>
              <a:rPr lang="en-US" sz="2000" b="0" u="none" strike="noStrike">
                <a:solidFill>
                  <a:srgbClr val="000000"/>
                </a:solidFill>
                <a:effectLst/>
                <a:uFillTx/>
                <a:latin typeface="Arial"/>
              </a:rPr>
              <a:t>ίδιο </a:t>
            </a:r>
            <a:r>
              <a:rPr lang="en-US" sz="2000" b="0" u="none" strike="noStrike">
                <a:solidFill>
                  <a:srgbClr val="000000"/>
                </a:solidFill>
                <a:effectLst/>
                <a:uFillTx/>
                <a:latin typeface="Arial"/>
              </a:rPr>
              <a:t>πράγμα;» </a:t>
            </a:r>
            <a:r>
              <a:rPr lang="en-US" sz="2000" b="0" u="none" strike="noStrike">
                <a:solidFill>
                  <a:srgbClr val="000000"/>
                </a:solidFill>
                <a:effectLst/>
                <a:uFillTx/>
                <a:latin typeface="Arial"/>
              </a:rPr>
              <a:t>Το ζήτησε </a:t>
            </a:r>
            <a:r>
              <a:rPr lang="en-US" sz="2000" b="0" u="none" strike="noStrike">
                <a:solidFill>
                  <a:srgbClr val="000000"/>
                </a:solidFill>
                <a:effectLst/>
                <a:uFillTx/>
                <a:latin typeface="Arial"/>
              </a:rPr>
              <a:t>η </a:t>
            </a:r>
            <a:r>
              <a:rPr lang="en-US" sz="2000" b="0" u="none" strike="noStrike">
                <a:solidFill>
                  <a:srgbClr val="000000"/>
                </a:solidFill>
                <a:effectLst/>
                <a:uFillTx/>
                <a:latin typeface="Arial"/>
              </a:rPr>
              <a:t>επίβλεψη, </a:t>
            </a:r>
            <a:r>
              <a:rPr lang="en-US" sz="2000" b="0" u="none" strike="noStrike">
                <a:solidFill>
                  <a:srgbClr val="000000"/>
                </a:solidFill>
                <a:effectLst/>
                <a:uFillTx/>
                <a:latin typeface="Arial"/>
              </a:rPr>
              <a:t>και </a:t>
            </a:r>
            <a:r>
              <a:rPr lang="en-US" sz="2000" b="0" u="none" strike="noStrike">
                <a:solidFill>
                  <a:srgbClr val="000000"/>
                </a:solidFill>
                <a:effectLst/>
                <a:uFillTx/>
                <a:latin typeface="Arial"/>
              </a:rPr>
              <a:t>επέτρεψε </a:t>
            </a:r>
            <a:r>
              <a:rPr lang="en-US" sz="2000" b="0" u="none" strike="noStrike">
                <a:solidFill>
                  <a:srgbClr val="000000"/>
                </a:solidFill>
                <a:effectLst/>
                <a:uFillTx/>
                <a:latin typeface="Arial"/>
              </a:rPr>
              <a:t>να </a:t>
            </a:r>
            <a:r>
              <a:rPr lang="en-US" sz="2000" b="0" u="none" strike="noStrike">
                <a:solidFill>
                  <a:srgbClr val="000000"/>
                </a:solidFill>
                <a:effectLst/>
                <a:uFillTx/>
                <a:latin typeface="Arial"/>
              </a:rPr>
              <a:t>δείξουμε </a:t>
            </a:r>
            <a:r>
              <a:rPr lang="en-US" sz="2000" b="0" u="none" strike="noStrike">
                <a:solidFill>
                  <a:srgbClr val="000000"/>
                </a:solidFill>
                <a:effectLst/>
                <a:uFillTx/>
                <a:latin typeface="Arial"/>
              </a:rPr>
              <a:t>πειραματι</a:t>
            </a:r>
            <a:r>
              <a:rPr lang="en-US" sz="2000" b="0" u="none" strike="noStrike">
                <a:solidFill>
                  <a:srgbClr val="000000"/>
                </a:solidFill>
                <a:effectLst/>
                <a:uFillTx/>
                <a:latin typeface="Arial"/>
              </a:rPr>
              <a:t>κά ότι </a:t>
            </a:r>
            <a:r>
              <a:rPr lang="en-US" sz="2000" b="0" u="none" strike="noStrike">
                <a:solidFill>
                  <a:srgbClr val="000000"/>
                </a:solidFill>
                <a:effectLst/>
                <a:uFillTx/>
                <a:latin typeface="Arial"/>
              </a:rPr>
              <a:t>δίνουν </a:t>
            </a:r>
            <a:r>
              <a:rPr lang="en-US" sz="2000" b="0" u="none" strike="noStrike">
                <a:solidFill>
                  <a:srgbClr val="000000"/>
                </a:solidFill>
                <a:effectLst/>
                <a:uFillTx/>
                <a:latin typeface="Arial"/>
              </a:rPr>
              <a:t>ταυτόσημ</a:t>
            </a:r>
            <a:r>
              <a:rPr lang="en-US" sz="2000" b="0" u="none" strike="noStrike">
                <a:solidFill>
                  <a:srgbClr val="000000"/>
                </a:solidFill>
                <a:effectLst/>
                <a:uFillTx/>
                <a:latin typeface="Arial"/>
              </a:rPr>
              <a:t>ο </a:t>
            </a:r>
            <a:r>
              <a:rPr lang="en-US" sz="2000" b="0" u="none" strike="noStrike">
                <a:solidFill>
                  <a:srgbClr val="000000"/>
                </a:solidFill>
                <a:effectLst/>
                <a:uFillTx/>
                <a:latin typeface="Arial"/>
              </a:rPr>
              <a:t>αποτέλεσ</a:t>
            </a:r>
            <a:r>
              <a:rPr lang="en-US" sz="2000" b="0" u="none" strike="noStrike">
                <a:solidFill>
                  <a:srgbClr val="000000"/>
                </a:solidFill>
                <a:effectLst/>
                <a:uFillTx/>
                <a:latin typeface="Arial"/>
              </a:rPr>
              <a:t>μα. Η </a:t>
            </a:r>
            <a:r>
              <a:rPr lang="en-US" sz="2000" b="0" u="none" strike="noStrike">
                <a:solidFill>
                  <a:srgbClr val="000000"/>
                </a:solidFill>
                <a:effectLst/>
                <a:uFillTx/>
                <a:latin typeface="Arial"/>
              </a:rPr>
              <a:t>επιλογή </a:t>
            </a:r>
            <a:r>
              <a:rPr lang="en-US" sz="2000" b="0" u="none" strike="noStrike">
                <a:solidFill>
                  <a:srgbClr val="000000"/>
                </a:solidFill>
                <a:effectLst/>
                <a:uFillTx/>
                <a:latin typeface="Arial"/>
              </a:rPr>
              <a:t>ανάμεσά </a:t>
            </a:r>
            <a:r>
              <a:rPr lang="en-US" sz="2000" b="0" u="none" strike="noStrike">
                <a:solidFill>
                  <a:srgbClr val="000000"/>
                </a:solidFill>
                <a:effectLst/>
                <a:uFillTx/>
                <a:latin typeface="Arial"/>
              </a:rPr>
              <a:t>τους είναι </a:t>
            </a:r>
            <a:r>
              <a:rPr lang="en-US" sz="2000" b="0" u="none" strike="noStrike">
                <a:solidFill>
                  <a:srgbClr val="000000"/>
                </a:solidFill>
                <a:effectLst/>
                <a:uFillTx/>
                <a:latin typeface="Arial"/>
              </a:rPr>
              <a:t>θέμα </a:t>
            </a:r>
            <a:r>
              <a:rPr lang="en-US" sz="2000" b="0" u="none" strike="noStrike">
                <a:solidFill>
                  <a:srgbClr val="000000"/>
                </a:solidFill>
                <a:effectLst/>
                <a:uFillTx/>
                <a:latin typeface="Arial"/>
              </a:rPr>
              <a:t>χρόνου </a:t>
            </a:r>
            <a:r>
              <a:rPr lang="en-US" sz="2000" b="0" u="none" strike="noStrike">
                <a:solidFill>
                  <a:srgbClr val="000000"/>
                </a:solidFill>
                <a:effectLst/>
                <a:uFillTx/>
                <a:latin typeface="Arial"/>
              </a:rPr>
              <a:t>εκτέλεσης, </a:t>
            </a:r>
            <a:r>
              <a:rPr lang="en-US" sz="2000" b="0" u="none" strike="noStrike">
                <a:solidFill>
                  <a:srgbClr val="000000"/>
                </a:solidFill>
                <a:effectLst/>
                <a:uFillTx/>
                <a:latin typeface="Arial"/>
              </a:rPr>
              <a:t>όχι </a:t>
            </a:r>
            <a:r>
              <a:rPr lang="en-US" sz="2000" b="0" u="none" strike="noStrike">
                <a:solidFill>
                  <a:srgbClr val="000000"/>
                </a:solidFill>
                <a:effectLst/>
                <a:uFillTx/>
                <a:latin typeface="Arial"/>
              </a:rPr>
              <a:t>ευρήματος</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p:txBody>
      </p:sp>
      <p:sp>
        <p:nvSpPr>
          <p:cNvPr id="475" name="PlaceHolder 3"/>
          <p:cNvSpPr>
            <a:spLocks noGrp="1"/>
          </p:cNvSpPr>
          <p:nvPr>
            <p:ph type="sldNum" idx="25"/>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ADD3FB5-ECD7-4FAB-AB7F-5712C99BD9F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6" name="PlaceHolder 1"/>
          <p:cNvSpPr>
            <a:spLocks noGrp="1"/>
          </p:cNvSpPr>
          <p:nvPr>
            <p:ph type="sldImg"/>
          </p:nvPr>
        </p:nvSpPr>
        <p:spPr>
          <a:xfrm>
            <a:off x="1143000" y="685800"/>
            <a:ext cx="4571280" cy="3428280"/>
          </a:xfrm>
          <a:prstGeom prst="rect">
            <a:avLst/>
          </a:prstGeom>
          <a:ln w="0">
            <a:noFill/>
          </a:ln>
        </p:spPr>
      </p:sp>
      <p:sp>
        <p:nvSpPr>
          <p:cNvPr id="477"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Καλάθι σημαίνει όλα τα προϊόντα μιας παραγγελίας μαζί. Ο πελάτης στη μέση έβαζε δεκαεπτά </a:t>
            </a:r>
            <a:r>
              <a:rPr lang="en-US" sz="2000" b="0" u="none" strike="noStrike">
                <a:solidFill>
                  <a:srgbClr val="000000"/>
                </a:solidFill>
                <a:effectLst/>
                <a:uFillTx/>
                <a:latin typeface="Arial"/>
              </a:rPr>
              <a:t>διαφορετικά προϊόντα σε ένα καλάθι. Σε λιανική θα περιμέναμε δύο ή τρία.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Το πείραμα: ίδιο κατώφλι support 0,02, ίδια δεδομένα, δύο αλγόριθμοι. Και οι δύο </a:t>
            </a:r>
            <a:r>
              <a:rPr lang="en-US" sz="2000" b="0" u="none" strike="noStrike">
                <a:solidFill>
                  <a:srgbClr val="000000"/>
                </a:solidFill>
                <a:effectLst/>
                <a:uFillTx/>
                <a:latin typeface="Arial"/>
              </a:rPr>
              <a:t>βγάζουν 385 συχνά σύνολα και 134 κανόνες, ταυτόσημα. Η μόνη διαφορά είναι ο χρόνος, 5,14 </a:t>
            </a:r>
            <a:r>
              <a:rPr lang="en-US" sz="2000" b="0" u="none" strike="noStrike">
                <a:solidFill>
                  <a:srgbClr val="000000"/>
                </a:solidFill>
                <a:effectLst/>
                <a:uFillTx/>
                <a:latin typeface="Arial"/>
              </a:rPr>
              <a:t>δευτερόλεπτα ο Apriori έναντι 1,96 του FP-Growth.</a:t>
            </a:r>
            <a:endParaRPr lang="en-US" sz="2000" b="0" u="none" strike="noStrike">
              <a:solidFill>
                <a:srgbClr val="000000"/>
              </a:solidFill>
              <a:effectLst/>
              <a:uFillTx/>
              <a:latin typeface="Arial"/>
            </a:endParaRPr>
          </a:p>
        </p:txBody>
      </p:sp>
      <p:sp>
        <p:nvSpPr>
          <p:cNvPr id="478" name="PlaceHolder 3"/>
          <p:cNvSpPr>
            <a:spLocks noGrp="1"/>
          </p:cNvSpPr>
          <p:nvPr>
            <p:ph type="sldNum" idx="26"/>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9EF2F6B3-92E2-46BE-AF85-B19C54A5D83D}"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9" name="PlaceHolder 1"/>
          <p:cNvSpPr>
            <a:spLocks noGrp="1"/>
          </p:cNvSpPr>
          <p:nvPr>
            <p:ph type="sldImg"/>
          </p:nvPr>
        </p:nvSpPr>
        <p:spPr>
          <a:xfrm>
            <a:off x="1143000" y="685800"/>
            <a:ext cx="4571280" cy="3428280"/>
          </a:xfrm>
          <a:prstGeom prst="rect">
            <a:avLst/>
          </a:prstGeom>
          <a:ln w="0">
            <a:noFill/>
          </a:ln>
        </p:spPr>
      </p:sp>
      <p:sp>
        <p:nvSpPr>
          <p:cNvPr id="480"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Κάθε </a:t>
            </a:r>
            <a:r>
              <a:rPr lang="en-US" sz="2000" b="0" u="none" strike="noStrike">
                <a:solidFill>
                  <a:srgbClr val="000000"/>
                </a:solidFill>
                <a:effectLst/>
                <a:uFillTx/>
                <a:latin typeface="Arial"/>
              </a:rPr>
              <a:t>τελίτσα </a:t>
            </a:r>
            <a:r>
              <a:rPr lang="en-US" sz="2000" b="0" u="none" strike="noStrike">
                <a:solidFill>
                  <a:srgbClr val="000000"/>
                </a:solidFill>
                <a:effectLst/>
                <a:uFillTx/>
                <a:latin typeface="Arial"/>
              </a:rPr>
              <a:t>στο </a:t>
            </a:r>
            <a:r>
              <a:rPr lang="en-US" sz="2000" b="0" u="none" strike="noStrike">
                <a:solidFill>
                  <a:srgbClr val="000000"/>
                </a:solidFill>
                <a:effectLst/>
                <a:uFillTx/>
                <a:latin typeface="Arial"/>
              </a:rPr>
              <a:t>αριστερ</a:t>
            </a:r>
            <a:r>
              <a:rPr lang="en-US" sz="2000" b="0" u="none" strike="noStrike">
                <a:solidFill>
                  <a:srgbClr val="000000"/>
                </a:solidFill>
                <a:effectLst/>
                <a:uFillTx/>
                <a:latin typeface="Arial"/>
              </a:rPr>
              <a:t>ό </a:t>
            </a:r>
            <a:r>
              <a:rPr lang="en-US" sz="2000" b="0" u="none" strike="noStrike">
                <a:solidFill>
                  <a:srgbClr val="000000"/>
                </a:solidFill>
                <a:effectLst/>
                <a:uFillTx/>
                <a:latin typeface="Arial"/>
              </a:rPr>
              <a:t>γράφημ</a:t>
            </a:r>
            <a:r>
              <a:rPr lang="en-US" sz="2000" b="0" u="none" strike="noStrike">
                <a:solidFill>
                  <a:srgbClr val="000000"/>
                </a:solidFill>
                <a:effectLst/>
                <a:uFillTx/>
                <a:latin typeface="Arial"/>
              </a:rPr>
              <a:t>α είναι </a:t>
            </a:r>
            <a:r>
              <a:rPr lang="en-US" sz="2000" b="0" u="none" strike="noStrike">
                <a:solidFill>
                  <a:srgbClr val="000000"/>
                </a:solidFill>
                <a:effectLst/>
                <a:uFillTx/>
                <a:latin typeface="Arial"/>
              </a:rPr>
              <a:t>ένας </a:t>
            </a:r>
            <a:r>
              <a:rPr lang="en-US" sz="2000" b="0" u="none" strike="noStrike">
                <a:solidFill>
                  <a:srgbClr val="000000"/>
                </a:solidFill>
                <a:effectLst/>
                <a:uFillTx/>
                <a:latin typeface="Arial"/>
              </a:rPr>
              <a:t>κανόνας</a:t>
            </a:r>
            <a:r>
              <a:rPr lang="en-US" sz="2000" b="0" u="none" strike="noStrike">
                <a:solidFill>
                  <a:srgbClr val="000000"/>
                </a:solidFill>
                <a:effectLst/>
                <a:uFillTx/>
                <a:latin typeface="Arial"/>
              </a:rPr>
              <a:t>. Ο πιο </a:t>
            </a:r>
            <a:r>
              <a:rPr lang="en-US" sz="2000" b="0" u="none" strike="noStrike">
                <a:solidFill>
                  <a:srgbClr val="000000"/>
                </a:solidFill>
                <a:effectLst/>
                <a:uFillTx/>
                <a:latin typeface="Arial"/>
              </a:rPr>
              <a:t>δυνατός </a:t>
            </a:r>
            <a:r>
              <a:rPr lang="en-US" sz="2000" b="0" u="none" strike="noStrike">
                <a:solidFill>
                  <a:srgbClr val="000000"/>
                </a:solidFill>
                <a:effectLst/>
                <a:uFillTx/>
                <a:latin typeface="Arial"/>
              </a:rPr>
              <a:t>λέει ότι </a:t>
            </a:r>
            <a:r>
              <a:rPr lang="en-US" sz="2000" b="0" u="none" strike="noStrike">
                <a:solidFill>
                  <a:srgbClr val="000000"/>
                </a:solidFill>
                <a:effectLst/>
                <a:uFillTx/>
                <a:latin typeface="Arial"/>
              </a:rPr>
              <a:t>τρία </a:t>
            </a:r>
            <a:r>
              <a:rPr lang="en-US" sz="2000" b="0" u="none" strike="noStrike">
                <a:solidFill>
                  <a:srgbClr val="000000"/>
                </a:solidFill>
                <a:effectLst/>
                <a:uFillTx/>
                <a:latin typeface="Arial"/>
              </a:rPr>
              <a:t>χρώματ</a:t>
            </a:r>
            <a:r>
              <a:rPr lang="en-US" sz="2000" b="0" u="none" strike="noStrike">
                <a:solidFill>
                  <a:srgbClr val="000000"/>
                </a:solidFill>
                <a:effectLst/>
                <a:uFillTx/>
                <a:latin typeface="Arial"/>
              </a:rPr>
              <a:t>α του </a:t>
            </a:r>
            <a:r>
              <a:rPr lang="en-US" sz="2000" b="0" u="none" strike="noStrike">
                <a:solidFill>
                  <a:srgbClr val="000000"/>
                </a:solidFill>
                <a:effectLst/>
                <a:uFillTx/>
                <a:latin typeface="Arial"/>
              </a:rPr>
              <a:t>ίδιου σετ </a:t>
            </a:r>
            <a:r>
              <a:rPr lang="en-US" sz="2000" b="0" u="none" strike="noStrike">
                <a:solidFill>
                  <a:srgbClr val="000000"/>
                </a:solidFill>
                <a:effectLst/>
                <a:uFillTx/>
                <a:latin typeface="Arial"/>
              </a:rPr>
              <a:t>τσαγιού </a:t>
            </a:r>
            <a:r>
              <a:rPr lang="en-US" sz="2000" b="0" u="none" strike="noStrike">
                <a:solidFill>
                  <a:srgbClr val="000000"/>
                </a:solidFill>
                <a:effectLst/>
                <a:uFillTx/>
                <a:latin typeface="Arial"/>
              </a:rPr>
              <a:t>αγοράζο</a:t>
            </a:r>
            <a:r>
              <a:rPr lang="en-US" sz="2000" b="0" u="none" strike="noStrike">
                <a:solidFill>
                  <a:srgbClr val="000000"/>
                </a:solidFill>
                <a:effectLst/>
                <a:uFillTx/>
                <a:latin typeface="Arial"/>
              </a:rPr>
              <a:t>νται μαζί </a:t>
            </a:r>
            <a:r>
              <a:rPr lang="en-US" sz="2000" b="0" u="none" strike="noStrike">
                <a:solidFill>
                  <a:srgbClr val="000000"/>
                </a:solidFill>
                <a:effectLst/>
                <a:uFillTx/>
                <a:latin typeface="Arial"/>
              </a:rPr>
              <a:t>εικοσιπέ</a:t>
            </a:r>
            <a:r>
              <a:rPr lang="en-US" sz="2000" b="0" u="none" strike="noStrike">
                <a:solidFill>
                  <a:srgbClr val="000000"/>
                </a:solidFill>
                <a:effectLst/>
                <a:uFillTx/>
                <a:latin typeface="Arial"/>
              </a:rPr>
              <a:t>ντε </a:t>
            </a:r>
            <a:r>
              <a:rPr lang="en-US" sz="2000" b="0" u="none" strike="noStrike">
                <a:solidFill>
                  <a:srgbClr val="000000"/>
                </a:solidFill>
                <a:effectLst/>
                <a:uFillTx/>
                <a:latin typeface="Arial"/>
              </a:rPr>
              <a:t>φορές </a:t>
            </a:r>
            <a:r>
              <a:rPr lang="en-US" sz="2000" b="0" u="none" strike="noStrike">
                <a:solidFill>
                  <a:srgbClr val="000000"/>
                </a:solidFill>
                <a:effectLst/>
                <a:uFillTx/>
                <a:latin typeface="Arial"/>
              </a:rPr>
              <a:t>πιο </a:t>
            </a:r>
            <a:r>
              <a:rPr lang="en-US" sz="2000" b="0" u="none" strike="noStrike">
                <a:solidFill>
                  <a:srgbClr val="000000"/>
                </a:solidFill>
                <a:effectLst/>
                <a:uFillTx/>
                <a:latin typeface="Arial"/>
              </a:rPr>
              <a:t>συχνά </a:t>
            </a:r>
            <a:r>
              <a:rPr lang="en-US" sz="2000" b="0" u="none" strike="noStrike">
                <a:solidFill>
                  <a:srgbClr val="000000"/>
                </a:solidFill>
                <a:effectLst/>
                <a:uFillTx/>
                <a:latin typeface="Arial"/>
              </a:rPr>
              <a:t>απ' ό,τι </a:t>
            </a:r>
            <a:r>
              <a:rPr lang="en-US" sz="2000" b="0" u="none" strike="noStrike">
                <a:solidFill>
                  <a:srgbClr val="000000"/>
                </a:solidFill>
                <a:effectLst/>
                <a:uFillTx/>
                <a:latin typeface="Arial"/>
              </a:rPr>
              <a:t>τυχαία.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a:t>
            </a:r>
            <a:r>
              <a:rPr lang="en-US" sz="2000" b="0" u="none" strike="noStrike">
                <a:solidFill>
                  <a:srgbClr val="000000"/>
                </a:solidFill>
                <a:effectLst/>
                <a:uFillTx/>
                <a:latin typeface="Arial"/>
              </a:rPr>
              <a:t>ΑΤΙΚΑ: </a:t>
            </a:r>
            <a:r>
              <a:rPr lang="en-US" sz="2000" b="0" u="none" strike="noStrike">
                <a:solidFill>
                  <a:srgbClr val="000000"/>
                </a:solidFill>
                <a:effectLst/>
                <a:uFillTx/>
                <a:latin typeface="Arial"/>
              </a:rPr>
              <a:t>Το δεξιό </a:t>
            </a:r>
            <a:r>
              <a:rPr lang="en-US" sz="2000" b="0" u="none" strike="noStrike">
                <a:solidFill>
                  <a:srgbClr val="000000"/>
                </a:solidFill>
                <a:effectLst/>
                <a:uFillTx/>
                <a:latin typeface="Arial"/>
              </a:rPr>
              <a:t>γράφημ</a:t>
            </a:r>
            <a:r>
              <a:rPr lang="en-US" sz="2000" b="0" u="none" strike="noStrike">
                <a:solidFill>
                  <a:srgbClr val="000000"/>
                </a:solidFill>
                <a:effectLst/>
                <a:uFillTx/>
                <a:latin typeface="Arial"/>
              </a:rPr>
              <a:t>α δείχνει </a:t>
            </a:r>
            <a:r>
              <a:rPr lang="en-US" sz="2000" b="0" u="none" strike="noStrike">
                <a:solidFill>
                  <a:srgbClr val="000000"/>
                </a:solidFill>
                <a:effectLst/>
                <a:uFillTx/>
                <a:latin typeface="Arial"/>
              </a:rPr>
              <a:t>τι γίνεται </a:t>
            </a:r>
            <a:r>
              <a:rPr lang="en-US" sz="2000" b="0" u="none" strike="noStrike">
                <a:solidFill>
                  <a:srgbClr val="000000"/>
                </a:solidFill>
                <a:effectLst/>
                <a:uFillTx/>
                <a:latin typeface="Arial"/>
              </a:rPr>
              <a:t>αν </a:t>
            </a:r>
            <a:r>
              <a:rPr lang="en-US" sz="2000" b="0" u="none" strike="noStrike">
                <a:solidFill>
                  <a:srgbClr val="000000"/>
                </a:solidFill>
                <a:effectLst/>
                <a:uFillTx/>
                <a:latin typeface="Arial"/>
              </a:rPr>
              <a:t>αλλάξεις </a:t>
            </a:r>
            <a:r>
              <a:rPr lang="en-US" sz="2000" b="0" u="none" strike="noStrike">
                <a:solidFill>
                  <a:srgbClr val="000000"/>
                </a:solidFill>
                <a:effectLst/>
                <a:uFillTx/>
                <a:latin typeface="Arial"/>
              </a:rPr>
              <a:t>το </a:t>
            </a:r>
            <a:r>
              <a:rPr lang="en-US" sz="2000" b="0" u="none" strike="noStrike">
                <a:solidFill>
                  <a:srgbClr val="000000"/>
                </a:solidFill>
                <a:effectLst/>
                <a:uFillTx/>
                <a:latin typeface="Arial"/>
              </a:rPr>
              <a:t>κατώφλι, </a:t>
            </a:r>
            <a:r>
              <a:rPr lang="en-US" sz="2000" b="0" u="none" strike="noStrike">
                <a:solidFill>
                  <a:srgbClr val="000000"/>
                </a:solidFill>
                <a:effectLst/>
                <a:uFillTx/>
                <a:latin typeface="Arial"/>
              </a:rPr>
              <a:t>δηλαδή </a:t>
            </a:r>
            <a:r>
              <a:rPr lang="en-US" sz="2000" b="0" u="none" strike="noStrike">
                <a:solidFill>
                  <a:srgbClr val="000000"/>
                </a:solidFill>
                <a:effectLst/>
                <a:uFillTx/>
                <a:latin typeface="Arial"/>
              </a:rPr>
              <a:t>πόσο </a:t>
            </a:r>
            <a:r>
              <a:rPr lang="en-US" sz="2000" b="0" u="none" strike="noStrike">
                <a:solidFill>
                  <a:srgbClr val="000000"/>
                </a:solidFill>
                <a:effectLst/>
                <a:uFillTx/>
                <a:latin typeface="Arial"/>
              </a:rPr>
              <a:t>σπάνιο </a:t>
            </a:r>
            <a:r>
              <a:rPr lang="en-US" sz="2000" b="0" u="none" strike="noStrike">
                <a:solidFill>
                  <a:srgbClr val="000000"/>
                </a:solidFill>
                <a:effectLst/>
                <a:uFillTx/>
                <a:latin typeface="Arial"/>
              </a:rPr>
              <a:t>επιτρέπε</a:t>
            </a:r>
            <a:r>
              <a:rPr lang="en-US" sz="2000" b="0" u="none" strike="noStrike">
                <a:solidFill>
                  <a:srgbClr val="000000"/>
                </a:solidFill>
                <a:effectLst/>
                <a:uFillTx/>
                <a:latin typeface="Arial"/>
              </a:rPr>
              <a:t>ις να </a:t>
            </a:r>
            <a:r>
              <a:rPr lang="en-US" sz="2000" b="0" u="none" strike="noStrike">
                <a:solidFill>
                  <a:srgbClr val="000000"/>
                </a:solidFill>
                <a:effectLst/>
                <a:uFillTx/>
                <a:latin typeface="Arial"/>
              </a:rPr>
              <a:t>είναι ένα </a:t>
            </a:r>
            <a:r>
              <a:rPr lang="en-US" sz="2000" b="0" u="none" strike="noStrike">
                <a:solidFill>
                  <a:srgbClr val="000000"/>
                </a:solidFill>
                <a:effectLst/>
                <a:uFillTx/>
                <a:latin typeface="Arial"/>
              </a:rPr>
              <a:t>σύνολο </a:t>
            </a:r>
            <a:r>
              <a:rPr lang="en-US" sz="2000" b="0" u="none" strike="noStrike">
                <a:solidFill>
                  <a:srgbClr val="000000"/>
                </a:solidFill>
                <a:effectLst/>
                <a:uFillTx/>
                <a:latin typeface="Arial"/>
              </a:rPr>
              <a:t>για να το </a:t>
            </a:r>
            <a:r>
              <a:rPr lang="en-US" sz="2000" b="0" u="none" strike="noStrike">
                <a:solidFill>
                  <a:srgbClr val="000000"/>
                </a:solidFill>
                <a:effectLst/>
                <a:uFillTx/>
                <a:latin typeface="Arial"/>
              </a:rPr>
              <a:t>μετρήσο</a:t>
            </a:r>
            <a:r>
              <a:rPr lang="en-US" sz="2000" b="0" u="none" strike="noStrike">
                <a:solidFill>
                  <a:srgbClr val="000000"/>
                </a:solidFill>
                <a:effectLst/>
                <a:uFillTx/>
                <a:latin typeface="Arial"/>
              </a:rPr>
              <a:t>υμε. Στο </a:t>
            </a:r>
            <a:r>
              <a:rPr lang="en-US" sz="2000" b="0" u="none" strike="noStrike">
                <a:solidFill>
                  <a:srgbClr val="000000"/>
                </a:solidFill>
                <a:effectLst/>
                <a:uFillTx/>
                <a:latin typeface="Arial"/>
              </a:rPr>
              <a:t>1% </a:t>
            </a:r>
            <a:r>
              <a:rPr lang="en-US" sz="2000" b="0" u="none" strike="noStrike">
                <a:solidFill>
                  <a:srgbClr val="000000"/>
                </a:solidFill>
                <a:effectLst/>
                <a:uFillTx/>
                <a:latin typeface="Arial"/>
              </a:rPr>
              <a:t>βγαίνου</a:t>
            </a:r>
            <a:r>
              <a:rPr lang="en-US" sz="2000" b="0" u="none" strike="noStrike">
                <a:solidFill>
                  <a:srgbClr val="000000"/>
                </a:solidFill>
                <a:effectLst/>
                <a:uFillTx/>
                <a:latin typeface="Arial"/>
              </a:rPr>
              <a:t>ν 1.556 </a:t>
            </a:r>
            <a:r>
              <a:rPr lang="en-US" sz="2000" b="0" u="none" strike="noStrike">
                <a:solidFill>
                  <a:srgbClr val="000000"/>
                </a:solidFill>
                <a:effectLst/>
                <a:uFillTx/>
                <a:latin typeface="Arial"/>
              </a:rPr>
              <a:t>σύνολα, </a:t>
            </a:r>
            <a:r>
              <a:rPr lang="en-US" sz="2000" b="0" u="none" strike="noStrike">
                <a:solidFill>
                  <a:srgbClr val="000000"/>
                </a:solidFill>
                <a:effectLst/>
                <a:uFillTx/>
                <a:latin typeface="Arial"/>
              </a:rPr>
              <a:t>στο 2% </a:t>
            </a:r>
            <a:r>
              <a:rPr lang="en-US" sz="2000" b="0" u="none" strike="noStrike">
                <a:solidFill>
                  <a:srgbClr val="000000"/>
                </a:solidFill>
                <a:effectLst/>
                <a:uFillTx/>
                <a:latin typeface="Arial"/>
              </a:rPr>
              <a:t>βγαίνου</a:t>
            </a:r>
            <a:r>
              <a:rPr lang="en-US" sz="2000" b="0" u="none" strike="noStrike">
                <a:solidFill>
                  <a:srgbClr val="000000"/>
                </a:solidFill>
                <a:effectLst/>
                <a:uFillTx/>
                <a:latin typeface="Arial"/>
              </a:rPr>
              <a:t>ν 385, </a:t>
            </a:r>
            <a:r>
              <a:rPr lang="en-US" sz="2000" b="0" u="none" strike="noStrike">
                <a:solidFill>
                  <a:srgbClr val="000000"/>
                </a:solidFill>
                <a:effectLst/>
                <a:uFillTx/>
                <a:latin typeface="Arial"/>
              </a:rPr>
              <a:t>στο 5% </a:t>
            </a:r>
            <a:r>
              <a:rPr lang="en-US" sz="2000" b="0" u="none" strike="noStrike">
                <a:solidFill>
                  <a:srgbClr val="000000"/>
                </a:solidFill>
                <a:effectLst/>
                <a:uFillTx/>
                <a:latin typeface="Arial"/>
              </a:rPr>
              <a:t>μένουν </a:t>
            </a:r>
            <a:r>
              <a:rPr lang="en-US" sz="2000" b="0" u="none" strike="noStrike">
                <a:solidFill>
                  <a:srgbClr val="000000"/>
                </a:solidFill>
                <a:effectLst/>
                <a:uFillTx/>
                <a:latin typeface="Arial"/>
              </a:rPr>
              <a:t>35 </a:t>
            </a:r>
            <a:r>
              <a:rPr lang="en-US" sz="2000" b="0" u="none" strike="noStrike">
                <a:solidFill>
                  <a:srgbClr val="000000"/>
                </a:solidFill>
                <a:effectLst/>
                <a:uFillTx/>
                <a:latin typeface="Arial"/>
              </a:rPr>
              <a:t>σύνολα </a:t>
            </a:r>
            <a:r>
              <a:rPr lang="en-US" sz="2000" b="0" u="none" strike="noStrike">
                <a:solidFill>
                  <a:srgbClr val="000000"/>
                </a:solidFill>
                <a:effectLst/>
                <a:uFillTx/>
                <a:latin typeface="Arial"/>
              </a:rPr>
              <a:t>και </a:t>
            </a:r>
            <a:r>
              <a:rPr lang="en-US" sz="2000" b="0" u="none" strike="noStrike">
                <a:solidFill>
                  <a:srgbClr val="000000"/>
                </a:solidFill>
                <a:effectLst/>
                <a:uFillTx/>
                <a:latin typeface="Arial"/>
              </a:rPr>
              <a:t>κανένας </a:t>
            </a:r>
            <a:r>
              <a:rPr lang="en-US" sz="2000" b="0" u="none" strike="noStrike">
                <a:solidFill>
                  <a:srgbClr val="000000"/>
                </a:solidFill>
                <a:effectLst/>
                <a:uFillTx/>
                <a:latin typeface="Arial"/>
              </a:rPr>
              <a:t>κανόνας</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p:txBody>
      </p:sp>
      <p:sp>
        <p:nvSpPr>
          <p:cNvPr id="481" name="PlaceHolder 3"/>
          <p:cNvSpPr>
            <a:spLocks noGrp="1"/>
          </p:cNvSpPr>
          <p:nvPr>
            <p:ph type="sldNum" idx="27"/>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1A0F3C0A-7DA9-47EC-AF1A-1226202B1E8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2" name="PlaceHolder 1"/>
          <p:cNvSpPr>
            <a:spLocks noGrp="1"/>
          </p:cNvSpPr>
          <p:nvPr>
            <p:ph type="sldImg"/>
          </p:nvPr>
        </p:nvSpPr>
        <p:spPr>
          <a:xfrm>
            <a:off x="1143000" y="685800"/>
            <a:ext cx="4571280" cy="3428280"/>
          </a:xfrm>
          <a:prstGeom prst="rect">
            <a:avLst/>
          </a:prstGeom>
          <a:ln w="0">
            <a:noFill/>
          </a:ln>
        </p:spPr>
      </p:sp>
      <p:sp>
        <p:nvSpPr>
          <p:cNvPr id="483"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Έχουμε </a:t>
            </a:r>
            <a:r>
              <a:rPr lang="en-US" sz="2000" b="0" u="none" strike="noStrike">
                <a:solidFill>
                  <a:srgbClr val="000000"/>
                </a:solidFill>
                <a:effectLst/>
                <a:uFillTx/>
                <a:latin typeface="Arial"/>
              </a:rPr>
              <a:t>έναν </a:t>
            </a:r>
            <a:r>
              <a:rPr lang="en-US" sz="2000" b="0" u="none" strike="noStrike">
                <a:solidFill>
                  <a:srgbClr val="000000"/>
                </a:solidFill>
                <a:effectLst/>
                <a:uFillTx/>
                <a:latin typeface="Arial"/>
              </a:rPr>
              <a:t>σωρό </a:t>
            </a:r>
            <a:r>
              <a:rPr lang="en-US" sz="2000" b="0" u="none" strike="noStrike">
                <a:solidFill>
                  <a:srgbClr val="000000"/>
                </a:solidFill>
                <a:effectLst/>
                <a:uFillTx/>
                <a:latin typeface="Arial"/>
              </a:rPr>
              <a:t>στοιχεία, </a:t>
            </a:r>
            <a:r>
              <a:rPr lang="en-US" sz="2000" b="0" u="none" strike="noStrike">
                <a:solidFill>
                  <a:srgbClr val="000000"/>
                </a:solidFill>
                <a:effectLst/>
                <a:uFillTx/>
                <a:latin typeface="Arial"/>
              </a:rPr>
              <a:t>χώρες ή </a:t>
            </a:r>
            <a:r>
              <a:rPr lang="en-US" sz="2000" b="0" u="none" strike="noStrike">
                <a:solidFill>
                  <a:srgbClr val="000000"/>
                </a:solidFill>
                <a:effectLst/>
                <a:uFillTx/>
                <a:latin typeface="Arial"/>
              </a:rPr>
              <a:t>πελάτες, </a:t>
            </a:r>
            <a:r>
              <a:rPr lang="en-US" sz="2000" b="0" u="none" strike="noStrike">
                <a:solidFill>
                  <a:srgbClr val="000000"/>
                </a:solidFill>
                <a:effectLst/>
                <a:uFillTx/>
                <a:latin typeface="Arial"/>
              </a:rPr>
              <a:t>και </a:t>
            </a:r>
            <a:r>
              <a:rPr lang="en-US" sz="2000" b="0" u="none" strike="noStrike">
                <a:solidFill>
                  <a:srgbClr val="000000"/>
                </a:solidFill>
                <a:effectLst/>
                <a:uFillTx/>
                <a:latin typeface="Arial"/>
              </a:rPr>
              <a:t>θέλουμε </a:t>
            </a:r>
            <a:r>
              <a:rPr lang="en-US" sz="2000" b="0" u="none" strike="noStrike">
                <a:solidFill>
                  <a:srgbClr val="000000"/>
                </a:solidFill>
                <a:effectLst/>
                <a:uFillTx/>
                <a:latin typeface="Arial"/>
              </a:rPr>
              <a:t>να τα </a:t>
            </a:r>
            <a:r>
              <a:rPr lang="en-US" sz="2000" b="0" u="none" strike="noStrike">
                <a:solidFill>
                  <a:srgbClr val="000000"/>
                </a:solidFill>
                <a:effectLst/>
                <a:uFillTx/>
                <a:latin typeface="Arial"/>
              </a:rPr>
              <a:t>χωρίσουμ</a:t>
            </a:r>
            <a:r>
              <a:rPr lang="en-US" sz="2000" b="0" u="none" strike="noStrike">
                <a:solidFill>
                  <a:srgbClr val="000000"/>
                </a:solidFill>
                <a:effectLst/>
                <a:uFillTx/>
                <a:latin typeface="Arial"/>
              </a:rPr>
              <a:t>ε σε </a:t>
            </a:r>
            <a:r>
              <a:rPr lang="en-US" sz="2000" b="0" u="none" strike="noStrike">
                <a:solidFill>
                  <a:srgbClr val="000000"/>
                </a:solidFill>
                <a:effectLst/>
                <a:uFillTx/>
                <a:latin typeface="Arial"/>
              </a:rPr>
              <a:t>ομάδες </a:t>
            </a:r>
            <a:r>
              <a:rPr lang="en-US" sz="2000" b="0" u="none" strike="noStrike">
                <a:solidFill>
                  <a:srgbClr val="000000"/>
                </a:solidFill>
                <a:effectLst/>
                <a:uFillTx/>
                <a:latin typeface="Arial"/>
              </a:rPr>
              <a:t>όπου τα </a:t>
            </a:r>
            <a:r>
              <a:rPr lang="en-US" sz="2000" b="0" u="none" strike="noStrike">
                <a:solidFill>
                  <a:srgbClr val="000000"/>
                </a:solidFill>
                <a:effectLst/>
                <a:uFillTx/>
                <a:latin typeface="Arial"/>
              </a:rPr>
              <a:t>μέλη </a:t>
            </a:r>
            <a:r>
              <a:rPr lang="en-US" sz="2000" b="0" u="none" strike="noStrike">
                <a:solidFill>
                  <a:srgbClr val="000000"/>
                </a:solidFill>
                <a:effectLst/>
                <a:uFillTx/>
                <a:latin typeface="Arial"/>
              </a:rPr>
              <a:t>μοιάζουν </a:t>
            </a:r>
            <a:r>
              <a:rPr lang="en-US" sz="2000" b="0" u="none" strike="noStrike">
                <a:solidFill>
                  <a:srgbClr val="000000"/>
                </a:solidFill>
                <a:effectLst/>
                <a:uFillTx/>
                <a:latin typeface="Arial"/>
              </a:rPr>
              <a:t>μεταξύ </a:t>
            </a:r>
            <a:r>
              <a:rPr lang="en-US" sz="2000" b="0" u="none" strike="noStrike">
                <a:solidFill>
                  <a:srgbClr val="000000"/>
                </a:solidFill>
                <a:effectLst/>
                <a:uFillTx/>
                <a:latin typeface="Arial"/>
              </a:rPr>
              <a:t>τους. Το </a:t>
            </a:r>
            <a:r>
              <a:rPr lang="en-US" sz="2000" b="0" u="none" strike="noStrike">
                <a:solidFill>
                  <a:srgbClr val="000000"/>
                </a:solidFill>
                <a:effectLst/>
                <a:uFillTx/>
                <a:latin typeface="Arial"/>
              </a:rPr>
              <a:t>RFM είναι </a:t>
            </a:r>
            <a:r>
              <a:rPr lang="en-US" sz="2000" b="0" u="none" strike="noStrike">
                <a:solidFill>
                  <a:srgbClr val="000000"/>
                </a:solidFill>
                <a:effectLst/>
                <a:uFillTx/>
                <a:latin typeface="Arial"/>
              </a:rPr>
              <a:t>τρία απλά </a:t>
            </a:r>
            <a:r>
              <a:rPr lang="en-US" sz="2000" b="0" u="none" strike="noStrike">
                <a:solidFill>
                  <a:srgbClr val="000000"/>
                </a:solidFill>
                <a:effectLst/>
                <a:uFillTx/>
                <a:latin typeface="Arial"/>
              </a:rPr>
              <a:t>νούμερα </a:t>
            </a:r>
            <a:r>
              <a:rPr lang="en-US" sz="2000" b="0" u="none" strike="noStrike">
                <a:solidFill>
                  <a:srgbClr val="000000"/>
                </a:solidFill>
                <a:effectLst/>
                <a:uFillTx/>
                <a:latin typeface="Arial"/>
              </a:rPr>
              <a:t>για κάθε </a:t>
            </a:r>
            <a:r>
              <a:rPr lang="en-US" sz="2000" b="0" u="none" strike="noStrike">
                <a:solidFill>
                  <a:srgbClr val="000000"/>
                </a:solidFill>
                <a:effectLst/>
                <a:uFillTx/>
                <a:latin typeface="Arial"/>
              </a:rPr>
              <a:t>πελάτη: </a:t>
            </a:r>
            <a:r>
              <a:rPr lang="en-US" sz="2000" b="0" u="none" strike="noStrike">
                <a:solidFill>
                  <a:srgbClr val="000000"/>
                </a:solidFill>
                <a:effectLst/>
                <a:uFillTx/>
                <a:latin typeface="Arial"/>
              </a:rPr>
              <a:t>πόσο </a:t>
            </a:r>
            <a:r>
              <a:rPr lang="en-US" sz="2000" b="0" u="none" strike="noStrike">
                <a:solidFill>
                  <a:srgbClr val="000000"/>
                </a:solidFill>
                <a:effectLst/>
                <a:uFillTx/>
                <a:latin typeface="Arial"/>
              </a:rPr>
              <a:t>πρόσφατα </a:t>
            </a:r>
            <a:r>
              <a:rPr lang="en-US" sz="2000" b="0" u="none" strike="noStrike">
                <a:solidFill>
                  <a:srgbClr val="000000"/>
                </a:solidFill>
                <a:effectLst/>
                <a:uFillTx/>
                <a:latin typeface="Arial"/>
              </a:rPr>
              <a:t>αγόρασε, </a:t>
            </a:r>
            <a:r>
              <a:rPr lang="en-US" sz="2000" b="0" u="none" strike="noStrike">
                <a:solidFill>
                  <a:srgbClr val="000000"/>
                </a:solidFill>
                <a:effectLst/>
                <a:uFillTx/>
                <a:latin typeface="Arial"/>
              </a:rPr>
              <a:t>πόσο </a:t>
            </a:r>
            <a:r>
              <a:rPr lang="en-US" sz="2000" b="0" u="none" strike="noStrike">
                <a:solidFill>
                  <a:srgbClr val="000000"/>
                </a:solidFill>
                <a:effectLst/>
                <a:uFillTx/>
                <a:latin typeface="Arial"/>
              </a:rPr>
              <a:t>συχνά </a:t>
            </a:r>
            <a:r>
              <a:rPr lang="en-US" sz="2000" b="0" u="none" strike="noStrike">
                <a:solidFill>
                  <a:srgbClr val="000000"/>
                </a:solidFill>
                <a:effectLst/>
                <a:uFillTx/>
                <a:latin typeface="Arial"/>
              </a:rPr>
              <a:t>αγοράζει, </a:t>
            </a:r>
            <a:r>
              <a:rPr lang="en-US" sz="2000" b="0" u="none" strike="noStrike">
                <a:solidFill>
                  <a:srgbClr val="000000"/>
                </a:solidFill>
                <a:effectLst/>
                <a:uFillTx/>
                <a:latin typeface="Arial"/>
              </a:rPr>
              <a:t>πόσα έχει </a:t>
            </a:r>
            <a:r>
              <a:rPr lang="en-US" sz="2000" b="0" u="none" strike="noStrike">
                <a:solidFill>
                  <a:srgbClr val="000000"/>
                </a:solidFill>
                <a:effectLst/>
                <a:uFillTx/>
                <a:latin typeface="Arial"/>
              </a:rPr>
              <a:t>ξοδέψει.</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a:t>
            </a:r>
            <a:r>
              <a:rPr lang="en-US" sz="2000" b="0" u="none" strike="noStrike">
                <a:solidFill>
                  <a:srgbClr val="000000"/>
                </a:solidFill>
                <a:effectLst/>
                <a:uFillTx/>
                <a:latin typeface="Arial"/>
              </a:rPr>
              <a:t>ΤΙΚΑ: Το </a:t>
            </a:r>
            <a:r>
              <a:rPr lang="en-US" sz="2000" b="0" u="none" strike="noStrike">
                <a:solidFill>
                  <a:srgbClr val="000000"/>
                </a:solidFill>
                <a:effectLst/>
                <a:uFillTx/>
                <a:latin typeface="Arial"/>
              </a:rPr>
              <a:t>silhouette </a:t>
            </a:r>
            <a:r>
              <a:rPr lang="en-US" sz="2000" b="0" u="none" strike="noStrike">
                <a:solidFill>
                  <a:srgbClr val="000000"/>
                </a:solidFill>
                <a:effectLst/>
                <a:uFillTx/>
                <a:latin typeface="Arial"/>
              </a:rPr>
              <a:t>συγκρίνει </a:t>
            </a:r>
            <a:r>
              <a:rPr lang="en-US" sz="2000" b="0" u="none" strike="noStrike">
                <a:solidFill>
                  <a:srgbClr val="000000"/>
                </a:solidFill>
                <a:effectLst/>
                <a:uFillTx/>
                <a:latin typeface="Arial"/>
              </a:rPr>
              <a:t>πόσο </a:t>
            </a:r>
            <a:r>
              <a:rPr lang="en-US" sz="2000" b="0" u="none" strike="noStrike">
                <a:solidFill>
                  <a:srgbClr val="000000"/>
                </a:solidFill>
                <a:effectLst/>
                <a:uFillTx/>
                <a:latin typeface="Arial"/>
              </a:rPr>
              <a:t>κοντά είναι </a:t>
            </a:r>
            <a:r>
              <a:rPr lang="en-US" sz="2000" b="0" u="none" strike="noStrike">
                <a:solidFill>
                  <a:srgbClr val="000000"/>
                </a:solidFill>
                <a:effectLst/>
                <a:uFillTx/>
                <a:latin typeface="Arial"/>
              </a:rPr>
              <a:t>κάθε </a:t>
            </a:r>
            <a:r>
              <a:rPr lang="en-US" sz="2000" b="0" u="none" strike="noStrike">
                <a:solidFill>
                  <a:srgbClr val="000000"/>
                </a:solidFill>
                <a:effectLst/>
                <a:uFillTx/>
                <a:latin typeface="Arial"/>
              </a:rPr>
              <a:t>σημείο </a:t>
            </a:r>
            <a:r>
              <a:rPr lang="en-US" sz="2000" b="0" u="none" strike="noStrike">
                <a:solidFill>
                  <a:srgbClr val="000000"/>
                </a:solidFill>
                <a:effectLst/>
                <a:uFillTx/>
                <a:latin typeface="Arial"/>
              </a:rPr>
              <a:t>στη δική </a:t>
            </a:r>
            <a:r>
              <a:rPr lang="en-US" sz="2000" b="0" u="none" strike="noStrike">
                <a:solidFill>
                  <a:srgbClr val="000000"/>
                </a:solidFill>
                <a:effectLst/>
                <a:uFillTx/>
                <a:latin typeface="Arial"/>
              </a:rPr>
              <a:t>του ομάδα </a:t>
            </a:r>
            <a:r>
              <a:rPr lang="en-US" sz="2000" b="0" u="none" strike="noStrike">
                <a:solidFill>
                  <a:srgbClr val="000000"/>
                </a:solidFill>
                <a:effectLst/>
                <a:uFillTx/>
                <a:latin typeface="Arial"/>
              </a:rPr>
              <a:t>σε σχέση </a:t>
            </a:r>
            <a:r>
              <a:rPr lang="en-US" sz="2000" b="0" u="none" strike="noStrike">
                <a:solidFill>
                  <a:srgbClr val="000000"/>
                </a:solidFill>
                <a:effectLst/>
                <a:uFillTx/>
                <a:latin typeface="Arial"/>
              </a:rPr>
              <a:t>με την πιο </a:t>
            </a:r>
            <a:r>
              <a:rPr lang="en-US" sz="2000" b="0" u="none" strike="noStrike">
                <a:solidFill>
                  <a:srgbClr val="000000"/>
                </a:solidFill>
                <a:effectLst/>
                <a:uFillTx/>
                <a:latin typeface="Arial"/>
              </a:rPr>
              <a:t>κοντινή </a:t>
            </a:r>
            <a:r>
              <a:rPr lang="en-US" sz="2000" b="0" u="none" strike="noStrike">
                <a:solidFill>
                  <a:srgbClr val="000000"/>
                </a:solidFill>
                <a:effectLst/>
                <a:uFillTx/>
                <a:latin typeface="Arial"/>
              </a:rPr>
              <a:t>άλλη. </a:t>
            </a:r>
            <a:r>
              <a:rPr lang="en-US" sz="2000" b="0" u="none" strike="noStrike">
                <a:solidFill>
                  <a:srgbClr val="000000"/>
                </a:solidFill>
                <a:effectLst/>
                <a:uFillTx/>
                <a:latin typeface="Arial"/>
              </a:rPr>
              <a:t>Κοντά στο </a:t>
            </a:r>
            <a:r>
              <a:rPr lang="en-US" sz="2000" b="0" u="none" strike="noStrike">
                <a:solidFill>
                  <a:srgbClr val="000000"/>
                </a:solidFill>
                <a:effectLst/>
                <a:uFillTx/>
                <a:latin typeface="Arial"/>
              </a:rPr>
              <a:t>συν ένα </a:t>
            </a:r>
            <a:r>
              <a:rPr lang="en-US" sz="2000" b="0" u="none" strike="noStrike">
                <a:solidFill>
                  <a:srgbClr val="000000"/>
                </a:solidFill>
                <a:effectLst/>
                <a:uFillTx/>
                <a:latin typeface="Arial"/>
              </a:rPr>
              <a:t>είναι καλό, </a:t>
            </a:r>
            <a:r>
              <a:rPr lang="en-US" sz="2000" b="0" u="none" strike="noStrike">
                <a:solidFill>
                  <a:srgbClr val="000000"/>
                </a:solidFill>
                <a:effectLst/>
                <a:uFillTx/>
                <a:latin typeface="Arial"/>
              </a:rPr>
              <a:t>στο μηδέν </a:t>
            </a:r>
            <a:r>
              <a:rPr lang="en-US" sz="2000" b="0" u="none" strike="noStrike">
                <a:solidFill>
                  <a:srgbClr val="000000"/>
                </a:solidFill>
                <a:effectLst/>
                <a:uFillTx/>
                <a:latin typeface="Arial"/>
              </a:rPr>
              <a:t>μπερδεμέ</a:t>
            </a:r>
            <a:r>
              <a:rPr lang="en-US" sz="2000" b="0" u="none" strike="noStrike">
                <a:solidFill>
                  <a:srgbClr val="000000"/>
                </a:solidFill>
                <a:effectLst/>
                <a:uFillTx/>
                <a:latin typeface="Arial"/>
              </a:rPr>
              <a:t>νο, στο </a:t>
            </a:r>
            <a:r>
              <a:rPr lang="en-US" sz="2000" b="0" u="none" strike="noStrike">
                <a:solidFill>
                  <a:srgbClr val="000000"/>
                </a:solidFill>
                <a:effectLst/>
                <a:uFillTx/>
                <a:latin typeface="Arial"/>
              </a:rPr>
              <a:t>μείον ένα </a:t>
            </a:r>
            <a:r>
              <a:rPr lang="en-US" sz="2000" b="0" u="none" strike="noStrike">
                <a:solidFill>
                  <a:srgbClr val="000000"/>
                </a:solidFill>
                <a:effectLst/>
                <a:uFillTx/>
                <a:latin typeface="Arial"/>
              </a:rPr>
              <a:t>λάθος </a:t>
            </a:r>
            <a:r>
              <a:rPr lang="en-US" sz="2000" b="0" u="none" strike="noStrike">
                <a:solidFill>
                  <a:srgbClr val="000000"/>
                </a:solidFill>
                <a:effectLst/>
                <a:uFillTx/>
                <a:latin typeface="Arial"/>
              </a:rPr>
              <a:t>ομάδα. </a:t>
            </a:r>
            <a:r>
              <a:rPr lang="en-US" sz="2000" b="0" u="none" strike="noStrike">
                <a:solidFill>
                  <a:srgbClr val="000000"/>
                </a:solidFill>
                <a:effectLst/>
                <a:uFillTx/>
                <a:latin typeface="Arial"/>
              </a:rPr>
              <a:t>Δοκιμάζου</a:t>
            </a:r>
            <a:r>
              <a:rPr lang="en-US" sz="2000" b="0" u="none" strike="noStrike">
                <a:solidFill>
                  <a:srgbClr val="000000"/>
                </a:solidFill>
                <a:effectLst/>
                <a:uFillTx/>
                <a:latin typeface="Arial"/>
              </a:rPr>
              <a:t>με πολλά </a:t>
            </a:r>
            <a:r>
              <a:rPr lang="en-US" sz="2000" b="0" u="none" strike="noStrike">
                <a:solidFill>
                  <a:srgbClr val="000000"/>
                </a:solidFill>
                <a:effectLst/>
                <a:uFillTx/>
                <a:latin typeface="Arial"/>
              </a:rPr>
              <a:t>k και </a:t>
            </a:r>
            <a:r>
              <a:rPr lang="en-US" sz="2000" b="0" u="none" strike="noStrike">
                <a:solidFill>
                  <a:srgbClr val="000000"/>
                </a:solidFill>
                <a:effectLst/>
                <a:uFillTx/>
                <a:latin typeface="Arial"/>
              </a:rPr>
              <a:t>κρατάμε </a:t>
            </a:r>
            <a:r>
              <a:rPr lang="en-US" sz="2000" b="0" u="none" strike="noStrike">
                <a:solidFill>
                  <a:srgbClr val="000000"/>
                </a:solidFill>
                <a:effectLst/>
                <a:uFillTx/>
                <a:latin typeface="Arial"/>
              </a:rPr>
              <a:t>το </a:t>
            </a:r>
            <a:r>
              <a:rPr lang="en-US" sz="2000" b="0" u="none" strike="noStrike">
                <a:solidFill>
                  <a:srgbClr val="000000"/>
                </a:solidFill>
                <a:effectLst/>
                <a:uFillTx/>
                <a:latin typeface="Arial"/>
              </a:rPr>
              <a:t>καλύτερο </a:t>
            </a:r>
            <a:r>
              <a:rPr lang="en-US" sz="2000" b="0" u="none" strike="noStrike">
                <a:solidFill>
                  <a:srgbClr val="000000"/>
                </a:solidFill>
                <a:effectLst/>
                <a:uFillTx/>
                <a:latin typeface="Arial"/>
              </a:rPr>
              <a:t>μέσο </a:t>
            </a:r>
            <a:r>
              <a:rPr lang="en-US" sz="2000" b="0" u="none" strike="noStrike">
                <a:solidFill>
                  <a:srgbClr val="000000"/>
                </a:solidFill>
                <a:effectLst/>
                <a:uFillTx/>
                <a:latin typeface="Arial"/>
              </a:rPr>
              <a:t>σκορ. Οι </a:t>
            </a:r>
            <a:r>
              <a:rPr lang="en-US" sz="2000" b="0" u="none" strike="noStrike">
                <a:solidFill>
                  <a:srgbClr val="000000"/>
                </a:solidFill>
                <a:effectLst/>
                <a:uFillTx/>
                <a:latin typeface="Arial"/>
              </a:rPr>
              <a:t>τύποι είναι </a:t>
            </a:r>
            <a:r>
              <a:rPr lang="en-US" sz="2000" b="0" u="none" strike="noStrike">
                <a:solidFill>
                  <a:srgbClr val="000000"/>
                </a:solidFill>
                <a:effectLst/>
                <a:uFillTx/>
                <a:latin typeface="Arial"/>
              </a:rPr>
              <a:t>στις </a:t>
            </a:r>
            <a:r>
              <a:rPr lang="en-US" sz="2000" b="0" u="none" strike="noStrike">
                <a:solidFill>
                  <a:srgbClr val="000000"/>
                </a:solidFill>
                <a:effectLst/>
                <a:uFillTx/>
                <a:latin typeface="Arial"/>
              </a:rPr>
              <a:t>εφεδρικές </a:t>
            </a:r>
            <a:r>
              <a:rPr lang="en-US" sz="2000" b="0" u="none" strike="noStrike">
                <a:solidFill>
                  <a:srgbClr val="000000"/>
                </a:solidFill>
                <a:effectLst/>
                <a:uFillTx/>
                <a:latin typeface="Arial"/>
              </a:rPr>
              <a:t>διαφάνειες</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a:t>
            </a:r>
            <a:r>
              <a:rPr lang="en-US" sz="2000" b="0" u="none" strike="noStrike">
                <a:solidFill>
                  <a:srgbClr val="000000"/>
                </a:solidFill>
                <a:effectLst/>
                <a:uFillTx/>
                <a:latin typeface="Arial"/>
              </a:rPr>
              <a:t>ΕΡΩΤΗΣΗ</a:t>
            </a:r>
            <a:r>
              <a:rPr lang="en-US" sz="2000" b="0" u="none" strike="noStrike">
                <a:solidFill>
                  <a:srgbClr val="000000"/>
                </a:solidFill>
                <a:effectLst/>
                <a:uFillTx/>
                <a:latin typeface="Arial"/>
              </a:rPr>
              <a:t>: «Γιατί </a:t>
            </a:r>
            <a:r>
              <a:rPr lang="en-US" sz="2000" b="0" u="none" strike="noStrike">
                <a:solidFill>
                  <a:srgbClr val="000000"/>
                </a:solidFill>
                <a:effectLst/>
                <a:uFillTx/>
                <a:latin typeface="Arial"/>
              </a:rPr>
              <a:t>δύο </a:t>
            </a:r>
            <a:r>
              <a:rPr lang="en-US" sz="2000" b="0" u="none" strike="noStrike">
                <a:solidFill>
                  <a:srgbClr val="000000"/>
                </a:solidFill>
                <a:effectLst/>
                <a:uFillTx/>
                <a:latin typeface="Arial"/>
              </a:rPr>
              <a:t>επίπεδα;» </a:t>
            </a:r>
            <a:r>
              <a:rPr lang="en-US" sz="2000" b="0" u="none" strike="noStrike">
                <a:solidFill>
                  <a:srgbClr val="000000"/>
                </a:solidFill>
                <a:effectLst/>
                <a:uFillTx/>
                <a:latin typeface="Arial"/>
              </a:rPr>
              <a:t>Το ζήτησε </a:t>
            </a:r>
            <a:r>
              <a:rPr lang="en-US" sz="2000" b="0" u="none" strike="noStrike">
                <a:solidFill>
                  <a:srgbClr val="000000"/>
                </a:solidFill>
                <a:effectLst/>
                <a:uFillTx/>
                <a:latin typeface="Arial"/>
              </a:rPr>
              <a:t>η </a:t>
            </a:r>
            <a:r>
              <a:rPr lang="en-US" sz="2000" b="0" u="none" strike="noStrike">
                <a:solidFill>
                  <a:srgbClr val="000000"/>
                </a:solidFill>
                <a:effectLst/>
                <a:uFillTx/>
                <a:latin typeface="Arial"/>
              </a:rPr>
              <a:t>επίβλεψη: </a:t>
            </a:r>
            <a:r>
              <a:rPr lang="en-US" sz="2000" b="0" u="none" strike="noStrike">
                <a:solidFill>
                  <a:srgbClr val="000000"/>
                </a:solidFill>
                <a:effectLst/>
                <a:uFillTx/>
                <a:latin typeface="Arial"/>
              </a:rPr>
              <a:t>πρώτα </a:t>
            </a:r>
            <a:r>
              <a:rPr lang="en-US" sz="2000" b="0" u="none" strike="noStrike">
                <a:solidFill>
                  <a:srgbClr val="000000"/>
                </a:solidFill>
                <a:effectLst/>
                <a:uFillTx/>
                <a:latin typeface="Arial"/>
              </a:rPr>
              <a:t>ομαδοποί</a:t>
            </a:r>
            <a:r>
              <a:rPr lang="en-US" sz="2000" b="0" u="none" strike="noStrike">
                <a:solidFill>
                  <a:srgbClr val="000000"/>
                </a:solidFill>
                <a:effectLst/>
                <a:uFillTx/>
                <a:latin typeface="Arial"/>
              </a:rPr>
              <a:t>ηση στις </a:t>
            </a:r>
            <a:r>
              <a:rPr lang="en-US" sz="2000" b="0" u="none" strike="noStrike">
                <a:solidFill>
                  <a:srgbClr val="000000"/>
                </a:solidFill>
                <a:effectLst/>
                <a:uFillTx/>
                <a:latin typeface="Arial"/>
              </a:rPr>
              <a:t>πιο </a:t>
            </a:r>
            <a:r>
              <a:rPr lang="en-US" sz="2000" b="0" u="none" strike="noStrike">
                <a:solidFill>
                  <a:srgbClr val="000000"/>
                </a:solidFill>
                <a:effectLst/>
                <a:uFillTx/>
                <a:latin typeface="Arial"/>
              </a:rPr>
              <a:t>σημαντικέ</a:t>
            </a:r>
            <a:r>
              <a:rPr lang="en-US" sz="2000" b="0" u="none" strike="noStrike">
                <a:solidFill>
                  <a:srgbClr val="000000"/>
                </a:solidFill>
                <a:effectLst/>
                <a:uFillTx/>
                <a:latin typeface="Arial"/>
              </a:rPr>
              <a:t>ς </a:t>
            </a:r>
            <a:r>
              <a:rPr lang="en-US" sz="2000" b="0" u="none" strike="noStrike">
                <a:solidFill>
                  <a:srgbClr val="000000"/>
                </a:solidFill>
                <a:effectLst/>
                <a:uFillTx/>
                <a:latin typeface="Arial"/>
              </a:rPr>
              <a:t>παραμέτρ</a:t>
            </a:r>
            <a:r>
              <a:rPr lang="en-US" sz="2000" b="0" u="none" strike="noStrike">
                <a:solidFill>
                  <a:srgbClr val="000000"/>
                </a:solidFill>
                <a:effectLst/>
                <a:uFillTx/>
                <a:latin typeface="Arial"/>
              </a:rPr>
              <a:t>ους, </a:t>
            </a:r>
            <a:r>
              <a:rPr lang="en-US" sz="2000" b="0" u="none" strike="noStrike">
                <a:solidFill>
                  <a:srgbClr val="000000"/>
                </a:solidFill>
                <a:effectLst/>
                <a:uFillTx/>
                <a:latin typeface="Arial"/>
              </a:rPr>
              <a:t>περιοχή </a:t>
            </a:r>
            <a:r>
              <a:rPr lang="en-US" sz="2000" b="0" u="none" strike="noStrike">
                <a:solidFill>
                  <a:srgbClr val="000000"/>
                </a:solidFill>
                <a:effectLst/>
                <a:uFillTx/>
                <a:latin typeface="Arial"/>
              </a:rPr>
              <a:t>και χρόνο, </a:t>
            </a:r>
            <a:r>
              <a:rPr lang="en-US" sz="2000" b="0" u="none" strike="noStrike">
                <a:solidFill>
                  <a:srgbClr val="000000"/>
                </a:solidFill>
                <a:effectLst/>
                <a:uFillTx/>
                <a:latin typeface="Arial"/>
              </a:rPr>
              <a:t>και μετά </a:t>
            </a:r>
            <a:r>
              <a:rPr lang="en-US" sz="2000" b="0" u="none" strike="noStrike">
                <a:solidFill>
                  <a:srgbClr val="000000"/>
                </a:solidFill>
                <a:effectLst/>
                <a:uFillTx/>
                <a:latin typeface="Arial"/>
              </a:rPr>
              <a:t>μέσα σε </a:t>
            </a:r>
            <a:r>
              <a:rPr lang="en-US" sz="2000" b="0" u="none" strike="noStrike">
                <a:solidFill>
                  <a:srgbClr val="000000"/>
                </a:solidFill>
                <a:effectLst/>
                <a:uFillTx/>
                <a:latin typeface="Arial"/>
              </a:rPr>
              <a:t>κάθε </a:t>
            </a:r>
            <a:r>
              <a:rPr lang="en-US" sz="2000" b="0" u="none" strike="noStrike">
                <a:solidFill>
                  <a:srgbClr val="000000"/>
                </a:solidFill>
                <a:effectLst/>
                <a:uFillTx/>
                <a:latin typeface="Arial"/>
              </a:rPr>
              <a:t>ομάδα </a:t>
            </a:r>
            <a:r>
              <a:rPr lang="en-US" sz="2000" b="0" u="none" strike="noStrike">
                <a:solidFill>
                  <a:srgbClr val="000000"/>
                </a:solidFill>
                <a:effectLst/>
                <a:uFillTx/>
                <a:latin typeface="Arial"/>
              </a:rPr>
              <a:t>ξανά με </a:t>
            </a:r>
            <a:r>
              <a:rPr lang="en-US" sz="2000" b="0" u="none" strike="noStrike">
                <a:solidFill>
                  <a:srgbClr val="000000"/>
                </a:solidFill>
                <a:effectLst/>
                <a:uFillTx/>
                <a:latin typeface="Arial"/>
              </a:rPr>
              <a:t>RFM. </a:t>
            </a:r>
            <a:r>
              <a:rPr lang="en-US" sz="2000" b="0" u="none" strike="noStrike">
                <a:solidFill>
                  <a:srgbClr val="000000"/>
                </a:solidFill>
                <a:effectLst/>
                <a:uFillTx/>
                <a:latin typeface="Arial"/>
              </a:rPr>
              <a:t>Παίρνουμε </a:t>
            </a:r>
            <a:r>
              <a:rPr lang="en-US" sz="2000" b="0" u="none" strike="noStrike">
                <a:solidFill>
                  <a:srgbClr val="000000"/>
                </a:solidFill>
                <a:effectLst/>
                <a:uFillTx/>
                <a:latin typeface="Arial"/>
              </a:rPr>
              <a:t>πληροφορ</a:t>
            </a:r>
            <a:r>
              <a:rPr lang="en-US" sz="2000" b="0" u="none" strike="noStrike">
                <a:solidFill>
                  <a:srgbClr val="000000"/>
                </a:solidFill>
                <a:effectLst/>
                <a:uFillTx/>
                <a:latin typeface="Arial"/>
              </a:rPr>
              <a:t>ία σε δύο </a:t>
            </a:r>
            <a:r>
              <a:rPr lang="en-US" sz="2000" b="0" u="none" strike="noStrike">
                <a:solidFill>
                  <a:srgbClr val="000000"/>
                </a:solidFill>
                <a:effectLst/>
                <a:uFillTx/>
                <a:latin typeface="Arial"/>
              </a:rPr>
              <a:t>επίπεδα </a:t>
            </a:r>
            <a:r>
              <a:rPr lang="en-US" sz="2000" b="0" u="none" strike="noStrike">
                <a:solidFill>
                  <a:srgbClr val="000000"/>
                </a:solidFill>
                <a:effectLst/>
                <a:uFillTx/>
                <a:latin typeface="Arial"/>
              </a:rPr>
              <a:t>αντί για </a:t>
            </a:r>
            <a:r>
              <a:rPr lang="en-US" sz="2000" b="0" u="none" strike="noStrike">
                <a:solidFill>
                  <a:srgbClr val="000000"/>
                </a:solidFill>
                <a:effectLst/>
                <a:uFillTx/>
                <a:latin typeface="Arial"/>
              </a:rPr>
              <a:t>ένα. </a:t>
            </a:r>
            <a:r>
              <a:rPr lang="en-US" sz="2000" b="0" u="none" strike="noStrike">
                <a:solidFill>
                  <a:srgbClr val="000000"/>
                </a:solidFill>
                <a:effectLst/>
                <a:uFillTx/>
                <a:latin typeface="Arial"/>
              </a:rPr>
              <a:t>Επίσης, η </a:t>
            </a:r>
            <a:r>
              <a:rPr lang="en-US" sz="2000" b="0" u="none" strike="noStrike">
                <a:solidFill>
                  <a:srgbClr val="000000"/>
                </a:solidFill>
                <a:effectLst/>
                <a:uFillTx/>
                <a:latin typeface="Arial"/>
              </a:rPr>
              <a:t>τυποποίη</a:t>
            </a:r>
            <a:r>
              <a:rPr lang="en-US" sz="2000" b="0" u="none" strike="noStrike">
                <a:solidFill>
                  <a:srgbClr val="000000"/>
                </a:solidFill>
                <a:effectLst/>
                <a:uFillTx/>
                <a:latin typeface="Arial"/>
              </a:rPr>
              <a:t>ση των </a:t>
            </a:r>
            <a:r>
              <a:rPr lang="en-US" sz="2000" b="0" u="none" strike="noStrike">
                <a:solidFill>
                  <a:srgbClr val="000000"/>
                </a:solidFill>
                <a:effectLst/>
                <a:uFillTx/>
                <a:latin typeface="Arial"/>
              </a:rPr>
              <a:t>μεταβλητ</a:t>
            </a:r>
            <a:r>
              <a:rPr lang="en-US" sz="2000" b="0" u="none" strike="noStrike">
                <a:solidFill>
                  <a:srgbClr val="000000"/>
                </a:solidFill>
                <a:effectLst/>
                <a:uFillTx/>
                <a:latin typeface="Arial"/>
              </a:rPr>
              <a:t>ών πριν το </a:t>
            </a:r>
            <a:r>
              <a:rPr lang="en-US" sz="2000" b="0" u="none" strike="noStrike">
                <a:solidFill>
                  <a:srgbClr val="000000"/>
                </a:solidFill>
                <a:effectLst/>
                <a:uFillTx/>
                <a:latin typeface="Arial"/>
              </a:rPr>
              <a:t>clustering </a:t>
            </a:r>
            <a:r>
              <a:rPr lang="en-US" sz="2000" b="0" u="none" strike="noStrike">
                <a:solidFill>
                  <a:srgbClr val="000000"/>
                </a:solidFill>
                <a:effectLst/>
                <a:uFillTx/>
                <a:latin typeface="Arial"/>
              </a:rPr>
              <a:t>δεν είναι </a:t>
            </a:r>
            <a:r>
              <a:rPr lang="en-US" sz="2000" b="0" u="none" strike="noStrike">
                <a:solidFill>
                  <a:srgbClr val="000000"/>
                </a:solidFill>
                <a:effectLst/>
                <a:uFillTx/>
                <a:latin typeface="Arial"/>
              </a:rPr>
              <a:t>βελτίωση, </a:t>
            </a:r>
            <a:r>
              <a:rPr lang="en-US" sz="2000" b="0" u="none" strike="noStrike">
                <a:solidFill>
                  <a:srgbClr val="000000"/>
                </a:solidFill>
                <a:effectLst/>
                <a:uFillTx/>
                <a:latin typeface="Arial"/>
              </a:rPr>
              <a:t>είναι </a:t>
            </a:r>
            <a:r>
              <a:rPr lang="en-US" sz="2000" b="0" u="none" strike="noStrike">
                <a:solidFill>
                  <a:srgbClr val="000000"/>
                </a:solidFill>
                <a:effectLst/>
                <a:uFillTx/>
                <a:latin typeface="Arial"/>
              </a:rPr>
              <a:t>προϋπόθε</a:t>
            </a:r>
            <a:r>
              <a:rPr lang="en-US" sz="2000" b="0" u="none" strike="noStrike">
                <a:solidFill>
                  <a:srgbClr val="000000"/>
                </a:solidFill>
                <a:effectLst/>
                <a:uFillTx/>
                <a:latin typeface="Arial"/>
              </a:rPr>
              <a:t>ση, </a:t>
            </a:r>
            <a:r>
              <a:rPr lang="en-US" sz="2000" b="0" u="none" strike="noStrike">
                <a:solidFill>
                  <a:srgbClr val="000000"/>
                </a:solidFill>
                <a:effectLst/>
                <a:uFillTx/>
                <a:latin typeface="Arial"/>
              </a:rPr>
              <a:t>αλλιώς η </a:t>
            </a:r>
            <a:r>
              <a:rPr lang="en-US" sz="2000" b="0" u="none" strike="noStrike">
                <a:solidFill>
                  <a:srgbClr val="000000"/>
                </a:solidFill>
                <a:effectLst/>
                <a:uFillTx/>
                <a:latin typeface="Arial"/>
              </a:rPr>
              <a:t>μεταβλητή </a:t>
            </a:r>
            <a:r>
              <a:rPr lang="en-US" sz="2000" b="0" u="none" strike="noStrike">
                <a:solidFill>
                  <a:srgbClr val="000000"/>
                </a:solidFill>
                <a:effectLst/>
                <a:uFillTx/>
                <a:latin typeface="Arial"/>
              </a:rPr>
              <a:t>με τη </a:t>
            </a:r>
            <a:r>
              <a:rPr lang="en-US" sz="2000" b="0" u="none" strike="noStrike">
                <a:solidFill>
                  <a:srgbClr val="000000"/>
                </a:solidFill>
                <a:effectLst/>
                <a:uFillTx/>
                <a:latin typeface="Arial"/>
              </a:rPr>
              <a:t>μεγαλύτερ</a:t>
            </a:r>
            <a:r>
              <a:rPr lang="en-US" sz="2000" b="0" u="none" strike="noStrike">
                <a:solidFill>
                  <a:srgbClr val="000000"/>
                </a:solidFill>
                <a:effectLst/>
                <a:uFillTx/>
                <a:latin typeface="Arial"/>
              </a:rPr>
              <a:t>η κλίμακα </a:t>
            </a:r>
            <a:r>
              <a:rPr lang="en-US" sz="2000" b="0" u="none" strike="noStrike">
                <a:solidFill>
                  <a:srgbClr val="000000"/>
                </a:solidFill>
                <a:effectLst/>
                <a:uFillTx/>
                <a:latin typeface="Arial"/>
              </a:rPr>
              <a:t>κυριαρχεί.</a:t>
            </a:r>
            <a:endParaRPr lang="en-US" sz="2000" b="0" u="none" strike="noStrike">
              <a:solidFill>
                <a:srgbClr val="000000"/>
              </a:solidFill>
              <a:effectLst/>
              <a:uFillTx/>
              <a:latin typeface="Arial"/>
            </a:endParaRPr>
          </a:p>
        </p:txBody>
      </p:sp>
      <p:sp>
        <p:nvSpPr>
          <p:cNvPr id="484" name="PlaceHolder 3"/>
          <p:cNvSpPr>
            <a:spLocks noGrp="1"/>
          </p:cNvSpPr>
          <p:nvPr>
            <p:ph type="sldNum" idx="28"/>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616DD2B7-29E3-4BC4-A7FB-2A28B86B8F2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5" name="PlaceHolder 1"/>
          <p:cNvSpPr>
            <a:spLocks noGrp="1"/>
          </p:cNvSpPr>
          <p:nvPr>
            <p:ph type="sldImg"/>
          </p:nvPr>
        </p:nvSpPr>
        <p:spPr>
          <a:xfrm>
            <a:off x="1143000" y="685800"/>
            <a:ext cx="4571280" cy="3428280"/>
          </a:xfrm>
          <a:prstGeom prst="rect">
            <a:avLst/>
          </a:prstGeom>
          <a:ln w="0">
            <a:noFill/>
          </a:ln>
        </p:spPr>
      </p:sp>
      <p:sp>
        <p:nvSpPr>
          <p:cNvPr id="486"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Το πρώτο επίπεδο χωρίζει τις χώρες. Βγαίνουν μόνο δύο ομάδες. Το Ηνωμένο Βασίλειο μόνο του, γιατί αγοράζει και τους εικοσιπέντε μήνες, και οι υπόλοιπες σαράντα δύο χώρες μαζί, γιατί αγοράζουν σποραδικά, κατά μέσο όρο σε δώδεκα μήνες.</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Το δεύτερο επίπεδο μπαίνει μέσα σε κάθε ομάδα χωρών και χωρίζει τους πελάτες. Και στις δύο αγορές βγαίνει το ίδιο μοτίβο: μια πολυπληθής ομάδα τακτικών που αγοράζουν πέντε φορές, και μια μικρή ομάδα, οι λεγόμενοι whales, που αγοράζουν εκατόν είκοσι ως διακόσιες είκοσι φορές και ξοδεύουν εκατονταπλάσια ποσά.</a:t>
            </a:r>
            <a:endParaRPr lang="en-US" sz="2000" b="0" u="none" strike="noStrike">
              <a:solidFill>
                <a:srgbClr val="000000"/>
              </a:solidFill>
              <a:effectLst/>
              <a:uFillTx/>
              <a:latin typeface="Arial"/>
            </a:endParaRPr>
          </a:p>
        </p:txBody>
      </p:sp>
      <p:sp>
        <p:nvSpPr>
          <p:cNvPr id="487" name="PlaceHolder 3"/>
          <p:cNvSpPr>
            <a:spLocks noGrp="1"/>
          </p:cNvSpPr>
          <p:nvPr>
            <p:ph type="sldNum" idx="29"/>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D4962F9F-99EF-4543-97CF-A3B82059C3A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8" name="PlaceHolder 1"/>
          <p:cNvSpPr>
            <a:spLocks noGrp="1"/>
          </p:cNvSpPr>
          <p:nvPr>
            <p:ph type="sldImg"/>
          </p:nvPr>
        </p:nvSpPr>
        <p:spPr>
          <a:xfrm>
            <a:off x="1143000" y="685800"/>
            <a:ext cx="4571280" cy="3428280"/>
          </a:xfrm>
          <a:prstGeom prst="rect">
            <a:avLst/>
          </a:prstGeom>
          <a:ln w="0">
            <a:noFill/>
          </a:ln>
        </p:spPr>
      </p:sp>
      <p:sp>
        <p:nvSpPr>
          <p:cNvPr id="489"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Η πρόβλεψη μαντεύει τις πωλήσεις των επόμενων μηνών από το ιστορικό. Εδώ όμως το ενδιαφέρον δεν είναι το νούμερο, είναι η ιστορία. Το πρώτο αποτέλεσμα φαινόταν χειρότερο από το χαζό μάντεμα.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Skill score ίσον ένα μείον το δικό μας σφάλμα διά το σφάλμα της απλοϊκής εκτίμησης. Θετικό σημαίνει ότι νικάμε την απλοϊκή εκτίμηση, αρνητικό ότι χάνουμε. Ο τελευταίος μήνας είχε εννιά μέρες αντί για τριάντα, οπότε έμοιαζε με κατάρρευση ενώ ήταν απλώς κομμένος. Μόλις εξαιρέθηκε, το πρόσημο άλλαξε. Το μεθοδολογικό σημείο είναι πιο σημαντικό από τα νούμερα: μια κομμένη περίοδος δεν χαλάει απλώς την ακρίβεια, αντιστρέφει το συμπέρασμα.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Holt-Winters και όχι ARIMA ή νευρωνικά δίκτυα;» Είναι διαφανές, έχει λίγες παραμέτρους και δουλεύει με λίγο ιστορικό. Έχουμε μόλις εικοσιπέντε μήνες. Δηλώνουμε ρητά ότι δεν είναι η ακριβέστερη μέθοδος, και το skill score δείχνει ακριβώς πού είναι το όριο.</a:t>
            </a:r>
            <a:endParaRPr lang="en-US" sz="2000" b="0" u="none" strike="noStrike">
              <a:solidFill>
                <a:srgbClr val="000000"/>
              </a:solidFill>
              <a:effectLst/>
              <a:uFillTx/>
              <a:latin typeface="Arial"/>
            </a:endParaRPr>
          </a:p>
        </p:txBody>
      </p:sp>
      <p:sp>
        <p:nvSpPr>
          <p:cNvPr id="490" name="PlaceHolder 3"/>
          <p:cNvSpPr>
            <a:spLocks noGrp="1"/>
          </p:cNvSpPr>
          <p:nvPr>
            <p:ph type="sldNum" idx="30"/>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8AB0997-EA37-4D4D-89B1-3487CBC2812D}"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1" name="PlaceHolder 1"/>
          <p:cNvSpPr>
            <a:spLocks noGrp="1"/>
          </p:cNvSpPr>
          <p:nvPr>
            <p:ph type="sldImg"/>
          </p:nvPr>
        </p:nvSpPr>
        <p:spPr>
          <a:xfrm>
            <a:off x="1143000" y="685800"/>
            <a:ext cx="4571280" cy="3428280"/>
          </a:xfrm>
          <a:prstGeom prst="rect">
            <a:avLst/>
          </a:prstGeom>
          <a:ln w="0">
            <a:noFill/>
          </a:ln>
        </p:spPr>
      </p:sp>
      <p:sp>
        <p:nvSpPr>
          <p:cNvPr id="492"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Το </a:t>
            </a:r>
            <a:r>
              <a:rPr lang="en-US" sz="2000" b="0" u="none" strike="noStrike">
                <a:solidFill>
                  <a:srgbClr val="000000"/>
                </a:solidFill>
                <a:effectLst/>
                <a:uFillTx/>
                <a:latin typeface="Arial"/>
              </a:rPr>
              <a:t>Growth </a:t>
            </a:r>
            <a:r>
              <a:rPr lang="en-US" sz="2000" b="0" u="none" strike="noStrike">
                <a:solidFill>
                  <a:srgbClr val="000000"/>
                </a:solidFill>
                <a:effectLst/>
                <a:uFillTx/>
                <a:latin typeface="Arial"/>
              </a:rPr>
              <a:t>Accoun</a:t>
            </a:r>
            <a:r>
              <a:rPr lang="en-US" sz="2000" b="0" u="none" strike="noStrike">
                <a:solidFill>
                  <a:srgbClr val="000000"/>
                </a:solidFill>
                <a:effectLst/>
                <a:uFillTx/>
                <a:latin typeface="Arial"/>
              </a:rPr>
              <a:t>ting </a:t>
            </a:r>
            <a:r>
              <a:rPr lang="en-US" sz="2000" b="0" u="none" strike="noStrike">
                <a:solidFill>
                  <a:srgbClr val="000000"/>
                </a:solidFill>
                <a:effectLst/>
                <a:uFillTx/>
                <a:latin typeface="Arial"/>
              </a:rPr>
              <a:t>σπάει </a:t>
            </a:r>
            <a:r>
              <a:rPr lang="en-US" sz="2000" b="0" u="none" strike="noStrike">
                <a:solidFill>
                  <a:srgbClr val="000000"/>
                </a:solidFill>
                <a:effectLst/>
                <a:uFillTx/>
                <a:latin typeface="Arial"/>
              </a:rPr>
              <a:t>τη </a:t>
            </a:r>
            <a:r>
              <a:rPr lang="en-US" sz="2000" b="0" u="none" strike="noStrike">
                <a:solidFill>
                  <a:srgbClr val="000000"/>
                </a:solidFill>
                <a:effectLst/>
                <a:uFillTx/>
                <a:latin typeface="Arial"/>
              </a:rPr>
              <a:t>μεταβο</a:t>
            </a:r>
            <a:r>
              <a:rPr lang="en-US" sz="2000" b="0" u="none" strike="noStrike">
                <a:solidFill>
                  <a:srgbClr val="000000"/>
                </a:solidFill>
                <a:effectLst/>
                <a:uFillTx/>
                <a:latin typeface="Arial"/>
              </a:rPr>
              <a:t>λή των </a:t>
            </a:r>
            <a:r>
              <a:rPr lang="en-US" sz="2000" b="0" u="none" strike="noStrike">
                <a:solidFill>
                  <a:srgbClr val="000000"/>
                </a:solidFill>
                <a:effectLst/>
                <a:uFillTx/>
                <a:latin typeface="Arial"/>
              </a:rPr>
              <a:t>εσόδων </a:t>
            </a:r>
            <a:r>
              <a:rPr lang="en-US" sz="2000" b="0" u="none" strike="noStrike">
                <a:solidFill>
                  <a:srgbClr val="000000"/>
                </a:solidFill>
                <a:effectLst/>
                <a:uFillTx/>
                <a:latin typeface="Arial"/>
              </a:rPr>
              <a:t>κάθε </a:t>
            </a:r>
            <a:r>
              <a:rPr lang="en-US" sz="2000" b="0" u="none" strike="noStrike">
                <a:solidFill>
                  <a:srgbClr val="000000"/>
                </a:solidFill>
                <a:effectLst/>
                <a:uFillTx/>
                <a:latin typeface="Arial"/>
              </a:rPr>
              <a:t>μήνα </a:t>
            </a:r>
            <a:r>
              <a:rPr lang="en-US" sz="2000" b="0" u="none" strike="noStrike">
                <a:solidFill>
                  <a:srgbClr val="000000"/>
                </a:solidFill>
                <a:effectLst/>
                <a:uFillTx/>
                <a:latin typeface="Arial"/>
              </a:rPr>
              <a:t>σε έξι </a:t>
            </a:r>
            <a:r>
              <a:rPr lang="en-US" sz="2000" b="0" u="none" strike="noStrike">
                <a:solidFill>
                  <a:srgbClr val="000000"/>
                </a:solidFill>
                <a:effectLst/>
                <a:uFillTx/>
                <a:latin typeface="Arial"/>
              </a:rPr>
              <a:t>κουβάδ</a:t>
            </a:r>
            <a:r>
              <a:rPr lang="en-US" sz="2000" b="0" u="none" strike="noStrike">
                <a:solidFill>
                  <a:srgbClr val="000000"/>
                </a:solidFill>
                <a:effectLst/>
                <a:uFillTx/>
                <a:latin typeface="Arial"/>
              </a:rPr>
              <a:t>ες: </a:t>
            </a:r>
            <a:r>
              <a:rPr lang="en-US" sz="2000" b="0" u="none" strike="noStrike">
                <a:solidFill>
                  <a:srgbClr val="000000"/>
                </a:solidFill>
                <a:effectLst/>
                <a:uFillTx/>
                <a:latin typeface="Arial"/>
              </a:rPr>
              <a:t>πόσα </a:t>
            </a:r>
            <a:r>
              <a:rPr lang="en-US" sz="2000" b="0" u="none" strike="noStrike">
                <a:solidFill>
                  <a:srgbClr val="000000"/>
                </a:solidFill>
                <a:effectLst/>
                <a:uFillTx/>
                <a:latin typeface="Arial"/>
              </a:rPr>
              <a:t>έφεραν </a:t>
            </a:r>
            <a:r>
              <a:rPr lang="en-US" sz="2000" b="0" u="none" strike="noStrike">
                <a:solidFill>
                  <a:srgbClr val="000000"/>
                </a:solidFill>
                <a:effectLst/>
                <a:uFillTx/>
                <a:latin typeface="Arial"/>
              </a:rPr>
              <a:t>νέοι </a:t>
            </a:r>
            <a:r>
              <a:rPr lang="en-US" sz="2000" b="0" u="none" strike="noStrike">
                <a:solidFill>
                  <a:srgbClr val="000000"/>
                </a:solidFill>
                <a:effectLst/>
                <a:uFillTx/>
                <a:latin typeface="Arial"/>
              </a:rPr>
              <a:t>πελάτε</a:t>
            </a:r>
            <a:r>
              <a:rPr lang="en-US" sz="2000" b="0" u="none" strike="noStrike">
                <a:solidFill>
                  <a:srgbClr val="000000"/>
                </a:solidFill>
                <a:effectLst/>
                <a:uFillTx/>
                <a:latin typeface="Arial"/>
              </a:rPr>
              <a:t>ς, πόσα </a:t>
            </a:r>
            <a:r>
              <a:rPr lang="en-US" sz="2000" b="0" u="none" strike="noStrike">
                <a:solidFill>
                  <a:srgbClr val="000000"/>
                </a:solidFill>
                <a:effectLst/>
                <a:uFillTx/>
                <a:latin typeface="Arial"/>
              </a:rPr>
              <a:t>παλιοί </a:t>
            </a:r>
            <a:r>
              <a:rPr lang="en-US" sz="2000" b="0" u="none" strike="noStrike">
                <a:solidFill>
                  <a:srgbClr val="000000"/>
                </a:solidFill>
                <a:effectLst/>
                <a:uFillTx/>
                <a:latin typeface="Arial"/>
              </a:rPr>
              <a:t>που </a:t>
            </a:r>
            <a:r>
              <a:rPr lang="en-US" sz="2000" b="0" u="none" strike="noStrike">
                <a:solidFill>
                  <a:srgbClr val="000000"/>
                </a:solidFill>
                <a:effectLst/>
                <a:uFillTx/>
                <a:latin typeface="Arial"/>
              </a:rPr>
              <a:t>ξαναγύ</a:t>
            </a:r>
            <a:r>
              <a:rPr lang="en-US" sz="2000" b="0" u="none" strike="noStrike">
                <a:solidFill>
                  <a:srgbClr val="000000"/>
                </a:solidFill>
                <a:effectLst/>
                <a:uFillTx/>
                <a:latin typeface="Arial"/>
              </a:rPr>
              <a:t>ρισαν, </a:t>
            </a:r>
            <a:r>
              <a:rPr lang="en-US" sz="2000" b="0" u="none" strike="noStrike">
                <a:solidFill>
                  <a:srgbClr val="000000"/>
                </a:solidFill>
                <a:effectLst/>
                <a:uFillTx/>
                <a:latin typeface="Arial"/>
              </a:rPr>
              <a:t>πόσα </a:t>
            </a:r>
            <a:r>
              <a:rPr lang="en-US" sz="2000" b="0" u="none" strike="noStrike">
                <a:solidFill>
                  <a:srgbClr val="000000"/>
                </a:solidFill>
                <a:effectLst/>
                <a:uFillTx/>
                <a:latin typeface="Arial"/>
              </a:rPr>
              <a:t>έμειναν </a:t>
            </a:r>
            <a:r>
              <a:rPr lang="en-US" sz="2000" b="0" u="none" strike="noStrike">
                <a:solidFill>
                  <a:srgbClr val="000000"/>
                </a:solidFill>
                <a:effectLst/>
                <a:uFillTx/>
                <a:latin typeface="Arial"/>
              </a:rPr>
              <a:t>ίδια, </a:t>
            </a:r>
            <a:r>
              <a:rPr lang="en-US" sz="2000" b="0" u="none" strike="noStrike">
                <a:solidFill>
                  <a:srgbClr val="000000"/>
                </a:solidFill>
                <a:effectLst/>
                <a:uFillTx/>
                <a:latin typeface="Arial"/>
              </a:rPr>
              <a:t>πόσα </a:t>
            </a:r>
            <a:r>
              <a:rPr lang="en-US" sz="2000" b="0" u="none" strike="noStrike">
                <a:solidFill>
                  <a:srgbClr val="000000"/>
                </a:solidFill>
                <a:effectLst/>
                <a:uFillTx/>
                <a:latin typeface="Arial"/>
              </a:rPr>
              <a:t>κέρδισα</a:t>
            </a:r>
            <a:r>
              <a:rPr lang="en-US" sz="2000" b="0" u="none" strike="noStrike">
                <a:solidFill>
                  <a:srgbClr val="000000"/>
                </a:solidFill>
                <a:effectLst/>
                <a:uFillTx/>
                <a:latin typeface="Arial"/>
              </a:rPr>
              <a:t>ν από </a:t>
            </a:r>
            <a:r>
              <a:rPr lang="en-US" sz="2000" b="0" u="none" strike="noStrike">
                <a:solidFill>
                  <a:srgbClr val="000000"/>
                </a:solidFill>
                <a:effectLst/>
                <a:uFillTx/>
                <a:latin typeface="Arial"/>
              </a:rPr>
              <a:t>πελάτε</a:t>
            </a:r>
            <a:r>
              <a:rPr lang="en-US" sz="2000" b="0" u="none" strike="noStrike">
                <a:solidFill>
                  <a:srgbClr val="000000"/>
                </a:solidFill>
                <a:effectLst/>
                <a:uFillTx/>
                <a:latin typeface="Arial"/>
              </a:rPr>
              <a:t>ς που </a:t>
            </a:r>
            <a:r>
              <a:rPr lang="en-US" sz="2000" b="0" u="none" strike="noStrike">
                <a:solidFill>
                  <a:srgbClr val="000000"/>
                </a:solidFill>
                <a:effectLst/>
                <a:uFillTx/>
                <a:latin typeface="Arial"/>
              </a:rPr>
              <a:t>ξόδεψα</a:t>
            </a:r>
            <a:r>
              <a:rPr lang="en-US" sz="2000" b="0" u="none" strike="noStrike">
                <a:solidFill>
                  <a:srgbClr val="000000"/>
                </a:solidFill>
                <a:effectLst/>
                <a:uFillTx/>
                <a:latin typeface="Arial"/>
              </a:rPr>
              <a:t>ν </a:t>
            </a:r>
            <a:r>
              <a:rPr lang="en-US" sz="2000" b="0" u="none" strike="noStrike">
                <a:solidFill>
                  <a:srgbClr val="000000"/>
                </a:solidFill>
                <a:effectLst/>
                <a:uFillTx/>
                <a:latin typeface="Arial"/>
              </a:rPr>
              <a:t>παραπ</a:t>
            </a:r>
            <a:r>
              <a:rPr lang="en-US" sz="2000" b="0" u="none" strike="noStrike">
                <a:solidFill>
                  <a:srgbClr val="000000"/>
                </a:solidFill>
                <a:effectLst/>
                <a:uFillTx/>
                <a:latin typeface="Arial"/>
              </a:rPr>
              <a:t>άνω, </a:t>
            </a:r>
            <a:r>
              <a:rPr lang="en-US" sz="2000" b="0" u="none" strike="noStrike">
                <a:solidFill>
                  <a:srgbClr val="000000"/>
                </a:solidFill>
                <a:effectLst/>
                <a:uFillTx/>
                <a:latin typeface="Arial"/>
              </a:rPr>
              <a:t>πόσα </a:t>
            </a:r>
            <a:r>
              <a:rPr lang="en-US" sz="2000" b="0" u="none" strike="noStrike">
                <a:solidFill>
                  <a:srgbClr val="000000"/>
                </a:solidFill>
                <a:effectLst/>
                <a:uFillTx/>
                <a:latin typeface="Arial"/>
              </a:rPr>
              <a:t>χάθηκα</a:t>
            </a:r>
            <a:r>
              <a:rPr lang="en-US" sz="2000" b="0" u="none" strike="noStrike">
                <a:solidFill>
                  <a:srgbClr val="000000"/>
                </a:solidFill>
                <a:effectLst/>
                <a:uFillTx/>
                <a:latin typeface="Arial"/>
              </a:rPr>
              <a:t>ν από </a:t>
            </a:r>
            <a:r>
              <a:rPr lang="en-US" sz="2000" b="0" u="none" strike="noStrike">
                <a:solidFill>
                  <a:srgbClr val="000000"/>
                </a:solidFill>
                <a:effectLst/>
                <a:uFillTx/>
                <a:latin typeface="Arial"/>
              </a:rPr>
              <a:t>πελάτε</a:t>
            </a:r>
            <a:r>
              <a:rPr lang="en-US" sz="2000" b="0" u="none" strike="noStrike">
                <a:solidFill>
                  <a:srgbClr val="000000"/>
                </a:solidFill>
                <a:effectLst/>
                <a:uFillTx/>
                <a:latin typeface="Arial"/>
              </a:rPr>
              <a:t>ς που </a:t>
            </a:r>
            <a:r>
              <a:rPr lang="en-US" sz="2000" b="0" u="none" strike="noStrike">
                <a:solidFill>
                  <a:srgbClr val="000000"/>
                </a:solidFill>
                <a:effectLst/>
                <a:uFillTx/>
                <a:latin typeface="Arial"/>
              </a:rPr>
              <a:t>ξόδεψα</a:t>
            </a:r>
            <a:r>
              <a:rPr lang="en-US" sz="2000" b="0" u="none" strike="noStrike">
                <a:solidFill>
                  <a:srgbClr val="000000"/>
                </a:solidFill>
                <a:effectLst/>
                <a:uFillTx/>
                <a:latin typeface="Arial"/>
              </a:rPr>
              <a:t>ν </a:t>
            </a:r>
            <a:r>
              <a:rPr lang="en-US" sz="2000" b="0" u="none" strike="noStrike">
                <a:solidFill>
                  <a:srgbClr val="000000"/>
                </a:solidFill>
                <a:effectLst/>
                <a:uFillTx/>
                <a:latin typeface="Arial"/>
              </a:rPr>
              <a:t>λιγότερ</a:t>
            </a:r>
            <a:r>
              <a:rPr lang="en-US" sz="2000" b="0" u="none" strike="noStrike">
                <a:solidFill>
                  <a:srgbClr val="000000"/>
                </a:solidFill>
                <a:effectLst/>
                <a:uFillTx/>
                <a:latin typeface="Arial"/>
              </a:rPr>
              <a:t>α, και </a:t>
            </a:r>
            <a:r>
              <a:rPr lang="en-US" sz="2000" b="0" u="none" strike="noStrike">
                <a:solidFill>
                  <a:srgbClr val="000000"/>
                </a:solidFill>
                <a:effectLst/>
                <a:uFillTx/>
                <a:latin typeface="Arial"/>
              </a:rPr>
              <a:t>πόσα </a:t>
            </a:r>
            <a:r>
              <a:rPr lang="en-US" sz="2000" b="0" u="none" strike="noStrike">
                <a:solidFill>
                  <a:srgbClr val="000000"/>
                </a:solidFill>
                <a:effectLst/>
                <a:uFillTx/>
                <a:latin typeface="Arial"/>
              </a:rPr>
              <a:t>χάθηκα</a:t>
            </a:r>
            <a:r>
              <a:rPr lang="en-US" sz="2000" b="0" u="none" strike="noStrike">
                <a:solidFill>
                  <a:srgbClr val="000000"/>
                </a:solidFill>
                <a:effectLst/>
                <a:uFillTx/>
                <a:latin typeface="Arial"/>
              </a:rPr>
              <a:t>ν </a:t>
            </a:r>
            <a:r>
              <a:rPr lang="en-US" sz="2000" b="0" u="none" strike="noStrike">
                <a:solidFill>
                  <a:srgbClr val="000000"/>
                </a:solidFill>
                <a:effectLst/>
                <a:uFillTx/>
                <a:latin typeface="Arial"/>
              </a:rPr>
              <a:t>εντελώ</a:t>
            </a:r>
            <a:r>
              <a:rPr lang="en-US" sz="2000" b="0" u="none" strike="noStrike">
                <a:solidFill>
                  <a:srgbClr val="000000"/>
                </a:solidFill>
                <a:effectLst/>
                <a:uFillTx/>
                <a:latin typeface="Arial"/>
              </a:rPr>
              <a:t>ς.</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a:t>
            </a:r>
            <a:r>
              <a:rPr lang="en-US" sz="2000" b="0" u="none" strike="noStrike">
                <a:solidFill>
                  <a:srgbClr val="000000"/>
                </a:solidFill>
                <a:effectLst/>
                <a:uFillTx/>
                <a:latin typeface="Arial"/>
              </a:rPr>
              <a:t>ΜΑΤΙΚ</a:t>
            </a:r>
            <a:r>
              <a:rPr lang="en-US" sz="2000" b="0" u="none" strike="noStrike">
                <a:solidFill>
                  <a:srgbClr val="000000"/>
                </a:solidFill>
                <a:effectLst/>
                <a:uFillTx/>
                <a:latin typeface="Arial"/>
              </a:rPr>
              <a:t>Α: </a:t>
            </a:r>
            <a:r>
              <a:rPr lang="en-US" sz="2000" b="0" u="none" strike="noStrike">
                <a:solidFill>
                  <a:srgbClr val="000000"/>
                </a:solidFill>
                <a:effectLst/>
                <a:uFillTx/>
                <a:latin typeface="Arial"/>
              </a:rPr>
              <a:t>Quick </a:t>
            </a:r>
            <a:r>
              <a:rPr lang="en-US" sz="2000" b="0" u="none" strike="noStrike">
                <a:solidFill>
                  <a:srgbClr val="000000"/>
                </a:solidFill>
                <a:effectLst/>
                <a:uFillTx/>
                <a:latin typeface="Arial"/>
              </a:rPr>
              <a:t>ratio </a:t>
            </a:r>
            <a:r>
              <a:rPr lang="en-US" sz="2000" b="0" u="none" strike="noStrike">
                <a:solidFill>
                  <a:srgbClr val="000000"/>
                </a:solidFill>
                <a:effectLst/>
                <a:uFillTx/>
                <a:latin typeface="Arial"/>
              </a:rPr>
              <a:t>ίσον τα </a:t>
            </a:r>
            <a:r>
              <a:rPr lang="en-US" sz="2000" b="0" u="none" strike="noStrike">
                <a:solidFill>
                  <a:srgbClr val="000000"/>
                </a:solidFill>
                <a:effectLst/>
                <a:uFillTx/>
                <a:latin typeface="Arial"/>
              </a:rPr>
              <a:t>καλά </a:t>
            </a:r>
            <a:r>
              <a:rPr lang="en-US" sz="2000" b="0" u="none" strike="noStrike">
                <a:solidFill>
                  <a:srgbClr val="000000"/>
                </a:solidFill>
                <a:effectLst/>
                <a:uFillTx/>
                <a:latin typeface="Arial"/>
              </a:rPr>
              <a:t>διά τα </a:t>
            </a:r>
            <a:r>
              <a:rPr lang="en-US" sz="2000" b="0" u="none" strike="noStrike">
                <a:solidFill>
                  <a:srgbClr val="000000"/>
                </a:solidFill>
                <a:effectLst/>
                <a:uFillTx/>
                <a:latin typeface="Arial"/>
              </a:rPr>
              <a:t>κακά, </a:t>
            </a:r>
            <a:r>
              <a:rPr lang="en-US" sz="2000" b="0" u="none" strike="noStrike">
                <a:solidFill>
                  <a:srgbClr val="000000"/>
                </a:solidFill>
                <a:effectLst/>
                <a:uFillTx/>
                <a:latin typeface="Arial"/>
              </a:rPr>
              <a:t>δηλαδή </a:t>
            </a:r>
            <a:r>
              <a:rPr lang="en-US" sz="2000" b="0" u="none" strike="noStrike">
                <a:solidFill>
                  <a:srgbClr val="000000"/>
                </a:solidFill>
                <a:effectLst/>
                <a:uFillTx/>
                <a:latin typeface="Arial"/>
              </a:rPr>
              <a:t>νέα συν </a:t>
            </a:r>
            <a:r>
              <a:rPr lang="en-US" sz="2000" b="0" u="none" strike="noStrike">
                <a:solidFill>
                  <a:srgbClr val="000000"/>
                </a:solidFill>
                <a:effectLst/>
                <a:uFillTx/>
                <a:latin typeface="Arial"/>
              </a:rPr>
              <a:t>αναβιω</a:t>
            </a:r>
            <a:r>
              <a:rPr lang="en-US" sz="2000" b="0" u="none" strike="noStrike">
                <a:solidFill>
                  <a:srgbClr val="000000"/>
                </a:solidFill>
                <a:effectLst/>
                <a:uFillTx/>
                <a:latin typeface="Arial"/>
              </a:rPr>
              <a:t>μένα </a:t>
            </a:r>
            <a:r>
              <a:rPr lang="en-US" sz="2000" b="0" u="none" strike="noStrike">
                <a:solidFill>
                  <a:srgbClr val="000000"/>
                </a:solidFill>
                <a:effectLst/>
                <a:uFillTx/>
                <a:latin typeface="Arial"/>
              </a:rPr>
              <a:t>συν </a:t>
            </a:r>
            <a:r>
              <a:rPr lang="en-US" sz="2000" b="0" u="none" strike="noStrike">
                <a:solidFill>
                  <a:srgbClr val="000000"/>
                </a:solidFill>
                <a:effectLst/>
                <a:uFillTx/>
                <a:latin typeface="Arial"/>
              </a:rPr>
              <a:t>επέκτα</a:t>
            </a:r>
            <a:r>
              <a:rPr lang="en-US" sz="2000" b="0" u="none" strike="noStrike">
                <a:solidFill>
                  <a:srgbClr val="000000"/>
                </a:solidFill>
                <a:effectLst/>
                <a:uFillTx/>
                <a:latin typeface="Arial"/>
              </a:rPr>
              <a:t>ση, διά </a:t>
            </a:r>
            <a:r>
              <a:rPr lang="en-US" sz="2000" b="0" u="none" strike="noStrike">
                <a:solidFill>
                  <a:srgbClr val="000000"/>
                </a:solidFill>
                <a:effectLst/>
                <a:uFillTx/>
                <a:latin typeface="Arial"/>
              </a:rPr>
              <a:t>συρρίκ</a:t>
            </a:r>
            <a:r>
              <a:rPr lang="en-US" sz="2000" b="0" u="none" strike="noStrike">
                <a:solidFill>
                  <a:srgbClr val="000000"/>
                </a:solidFill>
                <a:effectLst/>
                <a:uFillTx/>
                <a:latin typeface="Arial"/>
              </a:rPr>
              <a:t>νωση </a:t>
            </a:r>
            <a:r>
              <a:rPr lang="en-US" sz="2000" b="0" u="none" strike="noStrike">
                <a:solidFill>
                  <a:srgbClr val="000000"/>
                </a:solidFill>
                <a:effectLst/>
                <a:uFillTx/>
                <a:latin typeface="Arial"/>
              </a:rPr>
              <a:t>συν </a:t>
            </a:r>
            <a:r>
              <a:rPr lang="en-US" sz="2000" b="0" u="none" strike="noStrike">
                <a:solidFill>
                  <a:srgbClr val="000000"/>
                </a:solidFill>
                <a:effectLst/>
                <a:uFillTx/>
                <a:latin typeface="Arial"/>
              </a:rPr>
              <a:t>απώλει</a:t>
            </a:r>
            <a:r>
              <a:rPr lang="en-US" sz="2000" b="0" u="none" strike="noStrike">
                <a:solidFill>
                  <a:srgbClr val="000000"/>
                </a:solidFill>
                <a:effectLst/>
                <a:uFillTx/>
                <a:latin typeface="Arial"/>
              </a:rPr>
              <a:t>α. </a:t>
            </a:r>
            <a:r>
              <a:rPr lang="en-US" sz="2000" b="0" u="none" strike="noStrike">
                <a:solidFill>
                  <a:srgbClr val="000000"/>
                </a:solidFill>
                <a:effectLst/>
                <a:uFillTx/>
                <a:latin typeface="Arial"/>
              </a:rPr>
              <a:t>Πάνω </a:t>
            </a:r>
            <a:r>
              <a:rPr lang="en-US" sz="2000" b="0" u="none" strike="noStrike">
                <a:solidFill>
                  <a:srgbClr val="000000"/>
                </a:solidFill>
                <a:effectLst/>
                <a:uFillTx/>
                <a:latin typeface="Arial"/>
              </a:rPr>
              <a:t>από </a:t>
            </a:r>
            <a:r>
              <a:rPr lang="en-US" sz="2000" b="0" u="none" strike="noStrike">
                <a:solidFill>
                  <a:srgbClr val="000000"/>
                </a:solidFill>
                <a:effectLst/>
                <a:uFillTx/>
                <a:latin typeface="Arial"/>
              </a:rPr>
              <a:t>ένα η </a:t>
            </a:r>
            <a:r>
              <a:rPr lang="en-US" sz="2000" b="0" u="none" strike="noStrike">
                <a:solidFill>
                  <a:srgbClr val="000000"/>
                </a:solidFill>
                <a:effectLst/>
                <a:uFillTx/>
                <a:latin typeface="Arial"/>
              </a:rPr>
              <a:t>επιχείρ</a:t>
            </a:r>
            <a:r>
              <a:rPr lang="en-US" sz="2000" b="0" u="none" strike="noStrike">
                <a:solidFill>
                  <a:srgbClr val="000000"/>
                </a:solidFill>
                <a:effectLst/>
                <a:uFillTx/>
                <a:latin typeface="Arial"/>
              </a:rPr>
              <a:t>ηση </a:t>
            </a:r>
            <a:r>
              <a:rPr lang="en-US" sz="2000" b="0" u="none" strike="noStrike">
                <a:solidFill>
                  <a:srgbClr val="000000"/>
                </a:solidFill>
                <a:effectLst/>
                <a:uFillTx/>
                <a:latin typeface="Arial"/>
              </a:rPr>
              <a:t>μεγαλώ</a:t>
            </a:r>
            <a:r>
              <a:rPr lang="en-US" sz="2000" b="0" u="none" strike="noStrike">
                <a:solidFill>
                  <a:srgbClr val="000000"/>
                </a:solidFill>
                <a:effectLst/>
                <a:uFillTx/>
                <a:latin typeface="Arial"/>
              </a:rPr>
              <a:t>νει, </a:t>
            </a:r>
            <a:r>
              <a:rPr lang="en-US" sz="2000" b="0" u="none" strike="noStrike">
                <a:solidFill>
                  <a:srgbClr val="000000"/>
                </a:solidFill>
                <a:effectLst/>
                <a:uFillTx/>
                <a:latin typeface="Arial"/>
              </a:rPr>
              <a:t>κάτω </a:t>
            </a:r>
            <a:r>
              <a:rPr lang="en-US" sz="2000" b="0" u="none" strike="noStrike">
                <a:solidFill>
                  <a:srgbClr val="000000"/>
                </a:solidFill>
                <a:effectLst/>
                <a:uFillTx/>
                <a:latin typeface="Arial"/>
              </a:rPr>
              <a:t>από </a:t>
            </a:r>
            <a:r>
              <a:rPr lang="en-US" sz="2000" b="0" u="none" strike="noStrike">
                <a:solidFill>
                  <a:srgbClr val="000000"/>
                </a:solidFill>
                <a:effectLst/>
                <a:uFillTx/>
                <a:latin typeface="Arial"/>
              </a:rPr>
              <a:t>ένα </a:t>
            </a:r>
            <a:r>
              <a:rPr lang="en-US" sz="2000" b="0" u="none" strike="noStrike">
                <a:solidFill>
                  <a:srgbClr val="000000"/>
                </a:solidFill>
                <a:effectLst/>
                <a:uFillTx/>
                <a:latin typeface="Arial"/>
              </a:rPr>
              <a:t>μικραίν</a:t>
            </a:r>
            <a:r>
              <a:rPr lang="en-US" sz="2000" b="0" u="none" strike="noStrike">
                <a:solidFill>
                  <a:srgbClr val="000000"/>
                </a:solidFill>
                <a:effectLst/>
                <a:uFillTx/>
                <a:latin typeface="Arial"/>
              </a:rPr>
              <a:t>ει. Ο </a:t>
            </a:r>
            <a:r>
              <a:rPr lang="en-US" sz="2000" b="0" u="none" strike="noStrike">
                <a:solidFill>
                  <a:srgbClr val="000000"/>
                </a:solidFill>
                <a:effectLst/>
                <a:uFillTx/>
                <a:latin typeface="Arial"/>
              </a:rPr>
              <a:t>συντελε</a:t>
            </a:r>
            <a:r>
              <a:rPr lang="en-US" sz="2000" b="0" u="none" strike="noStrike">
                <a:solidFill>
                  <a:srgbClr val="000000"/>
                </a:solidFill>
                <a:effectLst/>
                <a:uFillTx/>
                <a:latin typeface="Arial"/>
              </a:rPr>
              <a:t>στής </a:t>
            </a:r>
            <a:r>
              <a:rPr lang="en-US" sz="2000" b="0" u="none" strike="noStrike">
                <a:solidFill>
                  <a:srgbClr val="000000"/>
                </a:solidFill>
                <a:effectLst/>
                <a:uFillTx/>
                <a:latin typeface="Arial"/>
              </a:rPr>
              <a:t>Gini: </a:t>
            </a:r>
            <a:r>
              <a:rPr lang="en-US" sz="2000" b="0" u="none" strike="noStrike">
                <a:solidFill>
                  <a:srgbClr val="000000"/>
                </a:solidFill>
                <a:effectLst/>
                <a:uFillTx/>
                <a:latin typeface="Arial"/>
              </a:rPr>
              <a:t>φαντασ</a:t>
            </a:r>
            <a:r>
              <a:rPr lang="en-US" sz="2000" b="0" u="none" strike="noStrike">
                <a:solidFill>
                  <a:srgbClr val="000000"/>
                </a:solidFill>
                <a:effectLst/>
                <a:uFillTx/>
                <a:latin typeface="Arial"/>
              </a:rPr>
              <a:t>τείτε </a:t>
            </a:r>
            <a:r>
              <a:rPr lang="en-US" sz="2000" b="0" u="none" strike="noStrike">
                <a:solidFill>
                  <a:srgbClr val="000000"/>
                </a:solidFill>
                <a:effectLst/>
                <a:uFillTx/>
                <a:latin typeface="Arial"/>
              </a:rPr>
              <a:t>εκατό </a:t>
            </a:r>
            <a:r>
              <a:rPr lang="en-US" sz="2000" b="0" u="none" strike="noStrike">
                <a:solidFill>
                  <a:srgbClr val="000000"/>
                </a:solidFill>
                <a:effectLst/>
                <a:uFillTx/>
                <a:latin typeface="Arial"/>
              </a:rPr>
              <a:t>ανθρώ</a:t>
            </a:r>
            <a:r>
              <a:rPr lang="en-US" sz="2000" b="0" u="none" strike="noStrike">
                <a:solidFill>
                  <a:srgbClr val="000000"/>
                </a:solidFill>
                <a:effectLst/>
                <a:uFillTx/>
                <a:latin typeface="Arial"/>
              </a:rPr>
              <a:t>πους. </a:t>
            </a:r>
            <a:r>
              <a:rPr lang="en-US" sz="2000" b="0" u="none" strike="noStrike">
                <a:solidFill>
                  <a:srgbClr val="000000"/>
                </a:solidFill>
                <a:effectLst/>
                <a:uFillTx/>
                <a:latin typeface="Arial"/>
              </a:rPr>
              <a:t>Αν </a:t>
            </a:r>
            <a:r>
              <a:rPr lang="en-US" sz="2000" b="0" u="none" strike="noStrike">
                <a:solidFill>
                  <a:srgbClr val="000000"/>
                </a:solidFill>
                <a:effectLst/>
                <a:uFillTx/>
                <a:latin typeface="Arial"/>
              </a:rPr>
              <a:t>έχουν </a:t>
            </a:r>
            <a:r>
              <a:rPr lang="en-US" sz="2000" b="0" u="none" strike="noStrike">
                <a:solidFill>
                  <a:srgbClr val="000000"/>
                </a:solidFill>
                <a:effectLst/>
                <a:uFillTx/>
                <a:latin typeface="Arial"/>
              </a:rPr>
              <a:t>ακριβώ</a:t>
            </a:r>
            <a:r>
              <a:rPr lang="en-US" sz="2000" b="0" u="none" strike="noStrike">
                <a:solidFill>
                  <a:srgbClr val="000000"/>
                </a:solidFill>
                <a:effectLst/>
                <a:uFillTx/>
                <a:latin typeface="Arial"/>
              </a:rPr>
              <a:t>ς τα </a:t>
            </a:r>
            <a:r>
              <a:rPr lang="en-US" sz="2000" b="0" u="none" strike="noStrike">
                <a:solidFill>
                  <a:srgbClr val="000000"/>
                </a:solidFill>
                <a:effectLst/>
                <a:uFillTx/>
                <a:latin typeface="Arial"/>
              </a:rPr>
              <a:t>ίδια, </a:t>
            </a:r>
            <a:r>
              <a:rPr lang="en-US" sz="2000" b="0" u="none" strike="noStrike">
                <a:solidFill>
                  <a:srgbClr val="000000"/>
                </a:solidFill>
                <a:effectLst/>
                <a:uFillTx/>
                <a:latin typeface="Arial"/>
              </a:rPr>
              <a:t>Gini </a:t>
            </a:r>
            <a:r>
              <a:rPr lang="en-US" sz="2000" b="0" u="none" strike="noStrike">
                <a:solidFill>
                  <a:srgbClr val="000000"/>
                </a:solidFill>
                <a:effectLst/>
                <a:uFillTx/>
                <a:latin typeface="Arial"/>
              </a:rPr>
              <a:t>μηδέν. </a:t>
            </a:r>
            <a:r>
              <a:rPr lang="en-US" sz="2000" b="0" u="none" strike="noStrike">
                <a:solidFill>
                  <a:srgbClr val="000000"/>
                </a:solidFill>
                <a:effectLst/>
                <a:uFillTx/>
                <a:latin typeface="Arial"/>
              </a:rPr>
              <a:t>Αν ένας </a:t>
            </a:r>
            <a:r>
              <a:rPr lang="en-US" sz="2000" b="0" u="none" strike="noStrike">
                <a:solidFill>
                  <a:srgbClr val="000000"/>
                </a:solidFill>
                <a:effectLst/>
                <a:uFillTx/>
                <a:latin typeface="Arial"/>
              </a:rPr>
              <a:t>τα έχει </a:t>
            </a:r>
            <a:r>
              <a:rPr lang="en-US" sz="2000" b="0" u="none" strike="noStrike">
                <a:solidFill>
                  <a:srgbClr val="000000"/>
                </a:solidFill>
                <a:effectLst/>
                <a:uFillTx/>
                <a:latin typeface="Arial"/>
              </a:rPr>
              <a:t>όλα, </a:t>
            </a:r>
            <a:r>
              <a:rPr lang="en-US" sz="2000" b="0" u="none" strike="noStrike">
                <a:solidFill>
                  <a:srgbClr val="000000"/>
                </a:solidFill>
                <a:effectLst/>
                <a:uFillTx/>
                <a:latin typeface="Arial"/>
              </a:rPr>
              <a:t>Gini </a:t>
            </a:r>
            <a:r>
              <a:rPr lang="en-US" sz="2000" b="0" u="none" strike="noStrike">
                <a:solidFill>
                  <a:srgbClr val="000000"/>
                </a:solidFill>
                <a:effectLst/>
                <a:uFillTx/>
                <a:latin typeface="Arial"/>
              </a:rPr>
              <a:t>ένα. Το </a:t>
            </a:r>
            <a:r>
              <a:rPr lang="en-US" sz="2000" b="0" u="none" strike="noStrike">
                <a:solidFill>
                  <a:srgbClr val="000000"/>
                </a:solidFill>
                <a:effectLst/>
                <a:uFillTx/>
                <a:latin typeface="Arial"/>
              </a:rPr>
              <a:t>0,740 </a:t>
            </a:r>
            <a:r>
              <a:rPr lang="en-US" sz="2000" b="0" u="none" strike="noStrike">
                <a:solidFill>
                  <a:srgbClr val="000000"/>
                </a:solidFill>
                <a:effectLst/>
                <a:uFillTx/>
                <a:latin typeface="Arial"/>
              </a:rPr>
              <a:t>είναι </a:t>
            </a:r>
            <a:r>
              <a:rPr lang="en-US" sz="2000" b="0" u="none" strike="noStrike">
                <a:solidFill>
                  <a:srgbClr val="000000"/>
                </a:solidFill>
                <a:effectLst/>
                <a:uFillTx/>
                <a:latin typeface="Arial"/>
              </a:rPr>
              <a:t>κοντά </a:t>
            </a:r>
            <a:r>
              <a:rPr lang="en-US" sz="2000" b="0" u="none" strike="noStrike">
                <a:solidFill>
                  <a:srgbClr val="000000"/>
                </a:solidFill>
                <a:effectLst/>
                <a:uFillTx/>
                <a:latin typeface="Arial"/>
              </a:rPr>
              <a:t>στο </a:t>
            </a:r>
            <a:r>
              <a:rPr lang="en-US" sz="2000" b="0" u="none" strike="noStrike">
                <a:solidFill>
                  <a:srgbClr val="000000"/>
                </a:solidFill>
                <a:effectLst/>
                <a:uFillTx/>
                <a:latin typeface="Arial"/>
              </a:rPr>
              <a:t>άνισο </a:t>
            </a:r>
            <a:r>
              <a:rPr lang="en-US" sz="2000" b="0" u="none" strike="noStrike">
                <a:solidFill>
                  <a:srgbClr val="000000"/>
                </a:solidFill>
                <a:effectLst/>
                <a:uFillTx/>
                <a:latin typeface="Arial"/>
              </a:rPr>
              <a:t>άκρο. </a:t>
            </a:r>
            <a:r>
              <a:rPr lang="en-US" sz="2000" b="0" u="none" strike="noStrike">
                <a:solidFill>
                  <a:srgbClr val="000000"/>
                </a:solidFill>
                <a:effectLst/>
                <a:uFillTx/>
                <a:latin typeface="Arial"/>
              </a:rPr>
              <a:t>Το </a:t>
            </a:r>
            <a:r>
              <a:rPr lang="en-US" sz="2000" b="0" u="none" strike="noStrike">
                <a:solidFill>
                  <a:srgbClr val="000000"/>
                </a:solidFill>
                <a:effectLst/>
                <a:uFillTx/>
                <a:latin typeface="Arial"/>
              </a:rPr>
              <a:t>κρίσιμο </a:t>
            </a:r>
            <a:r>
              <a:rPr lang="en-US" sz="2000" b="0" u="none" strike="noStrike">
                <a:solidFill>
                  <a:srgbClr val="000000"/>
                </a:solidFill>
                <a:effectLst/>
                <a:uFillTx/>
                <a:latin typeface="Arial"/>
              </a:rPr>
              <a:t>όμως </a:t>
            </a:r>
            <a:r>
              <a:rPr lang="en-US" sz="2000" b="0" u="none" strike="noStrike">
                <a:solidFill>
                  <a:srgbClr val="000000"/>
                </a:solidFill>
                <a:effectLst/>
                <a:uFillTx/>
                <a:latin typeface="Arial"/>
              </a:rPr>
              <a:t>είναι το </a:t>
            </a:r>
            <a:r>
              <a:rPr lang="en-US" sz="2000" b="0" u="none" strike="noStrike">
                <a:solidFill>
                  <a:srgbClr val="000000"/>
                </a:solidFill>
                <a:effectLst/>
                <a:uFillTx/>
                <a:latin typeface="Arial"/>
              </a:rPr>
              <a:t>3,3%: </a:t>
            </a:r>
            <a:r>
              <a:rPr lang="en-US" sz="2000" b="0" u="none" strike="noStrike">
                <a:solidFill>
                  <a:srgbClr val="000000"/>
                </a:solidFill>
                <a:effectLst/>
                <a:uFillTx/>
                <a:latin typeface="Arial"/>
              </a:rPr>
              <a:t>αν </a:t>
            </a:r>
            <a:r>
              <a:rPr lang="en-US" sz="2000" b="0" u="none" strike="noStrike">
                <a:solidFill>
                  <a:srgbClr val="000000"/>
                </a:solidFill>
                <a:effectLst/>
                <a:uFillTx/>
                <a:latin typeface="Arial"/>
              </a:rPr>
              <a:t>έφευγε </a:t>
            </a:r>
            <a:r>
              <a:rPr lang="en-US" sz="2000" b="0" u="none" strike="noStrike">
                <a:solidFill>
                  <a:srgbClr val="000000"/>
                </a:solidFill>
                <a:effectLst/>
                <a:uFillTx/>
                <a:latin typeface="Arial"/>
              </a:rPr>
              <a:t>ο </a:t>
            </a:r>
            <a:r>
              <a:rPr lang="en-US" sz="2000" b="0" u="none" strike="noStrike">
                <a:solidFill>
                  <a:srgbClr val="000000"/>
                </a:solidFill>
                <a:effectLst/>
                <a:uFillTx/>
                <a:latin typeface="Arial"/>
              </a:rPr>
              <a:t>μεγαλύ</a:t>
            </a:r>
            <a:r>
              <a:rPr lang="en-US" sz="2000" b="0" u="none" strike="noStrike">
                <a:solidFill>
                  <a:srgbClr val="000000"/>
                </a:solidFill>
                <a:effectLst/>
                <a:uFillTx/>
                <a:latin typeface="Arial"/>
              </a:rPr>
              <a:t>τερος </a:t>
            </a:r>
            <a:r>
              <a:rPr lang="en-US" sz="2000" b="0" u="none" strike="noStrike">
                <a:solidFill>
                  <a:srgbClr val="000000"/>
                </a:solidFill>
                <a:effectLst/>
                <a:uFillTx/>
                <a:latin typeface="Arial"/>
              </a:rPr>
              <a:t>πελάτη</a:t>
            </a:r>
            <a:r>
              <a:rPr lang="en-US" sz="2000" b="0" u="none" strike="noStrike">
                <a:solidFill>
                  <a:srgbClr val="000000"/>
                </a:solidFill>
                <a:effectLst/>
                <a:uFillTx/>
                <a:latin typeface="Arial"/>
              </a:rPr>
              <a:t>ς, η </a:t>
            </a:r>
            <a:r>
              <a:rPr lang="en-US" sz="2000" b="0" u="none" strike="noStrike">
                <a:solidFill>
                  <a:srgbClr val="000000"/>
                </a:solidFill>
                <a:effectLst/>
                <a:uFillTx/>
                <a:latin typeface="Arial"/>
              </a:rPr>
              <a:t>επιχείρ</a:t>
            </a:r>
            <a:r>
              <a:rPr lang="en-US" sz="2000" b="0" u="none" strike="noStrike">
                <a:solidFill>
                  <a:srgbClr val="000000"/>
                </a:solidFill>
                <a:effectLst/>
                <a:uFillTx/>
                <a:latin typeface="Arial"/>
              </a:rPr>
              <a:t>ηση </a:t>
            </a:r>
            <a:r>
              <a:rPr lang="en-US" sz="2000" b="0" u="none" strike="noStrike">
                <a:solidFill>
                  <a:srgbClr val="000000"/>
                </a:solidFill>
                <a:effectLst/>
                <a:uFillTx/>
                <a:latin typeface="Arial"/>
              </a:rPr>
              <a:t>δεν θα </a:t>
            </a:r>
            <a:r>
              <a:rPr lang="en-US" sz="2000" b="0" u="none" strike="noStrike">
                <a:solidFill>
                  <a:srgbClr val="000000"/>
                </a:solidFill>
                <a:effectLst/>
                <a:uFillTx/>
                <a:latin typeface="Arial"/>
              </a:rPr>
              <a:t>κατέρρε</a:t>
            </a:r>
            <a:r>
              <a:rPr lang="en-US" sz="2000" b="0" u="none" strike="noStrike">
                <a:solidFill>
                  <a:srgbClr val="000000"/>
                </a:solidFill>
                <a:effectLst/>
                <a:uFillTx/>
                <a:latin typeface="Arial"/>
              </a:rPr>
              <a:t>ε.</a:t>
            </a:r>
            <a:endParaRPr lang="en-US" sz="2000" b="0" u="none" strike="noStrike">
              <a:solidFill>
                <a:srgbClr val="000000"/>
              </a:solidFill>
              <a:effectLst/>
              <a:uFillTx/>
              <a:latin typeface="Arial"/>
            </a:endParaRPr>
          </a:p>
        </p:txBody>
      </p:sp>
      <p:sp>
        <p:nvSpPr>
          <p:cNvPr id="493" name="PlaceHolder 3"/>
          <p:cNvSpPr>
            <a:spLocks noGrp="1"/>
          </p:cNvSpPr>
          <p:nvPr>
            <p:ph type="sldNum" idx="31"/>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69A9C318-914C-465D-9D77-A780412D538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4" name="PlaceHolder 1"/>
          <p:cNvSpPr>
            <a:spLocks noGrp="1"/>
          </p:cNvSpPr>
          <p:nvPr>
            <p:ph type="sldImg"/>
          </p:nvPr>
        </p:nvSpPr>
        <p:spPr>
          <a:xfrm>
            <a:off x="1143000" y="685800"/>
            <a:ext cx="4571280" cy="3428280"/>
          </a:xfrm>
          <a:prstGeom prst="rect">
            <a:avLst/>
          </a:prstGeom>
          <a:ln w="0">
            <a:noFill/>
          </a:ln>
        </p:spPr>
      </p:sp>
      <p:sp>
        <p:nvSpPr>
          <p:cNvPr id="495"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Αυτή είναι ίσως η πιο σημαντική διαφάνεια για την ειλικρίνεια της δουλειάς. Δεν ξέρουμε το πραγματικό κόστος του μαγαζιού, οπότε δεν λέμε «κερδίζει τόσα». Λέμε: αν το περιθώριο είναι τόσο και το κόστος απόκτησης πελάτη τόσο, τότε βγαίνει αυτό. Και δείχνουμε όλους τους συνδυασμούς.</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LTV προς CAC ίσον πόσα φέρνει συνολικά ένας πελάτης διά πόσο κόστισε να τον αποκτήσεις. Πληρώνεις εκατό και σου φέρνει τριακόσια: τρία προς ένα, καλή επένδυση. Σου φέρνει ενενήντα: έχασες. Το πλέγμα δοκιμάζει περιθώρια από 15% ως 60% και κόστος απόκτησης από 100 ως 900.</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δεν υποθέτετε ένα λογικό περιθώριο για μια τελική απάντηση;» Γιατί θα ήταν υπόθεση ντυμένη σαν εύρημα. Δηλώνουμε τις παραδοχές και δείχνουμε πώς αλλάζει το συμπέρασμα όταν αλλάζουν.</a:t>
            </a:r>
            <a:endParaRPr lang="en-US" sz="2000" b="0" u="none" strike="noStrike">
              <a:solidFill>
                <a:srgbClr val="000000"/>
              </a:solidFill>
              <a:effectLst/>
              <a:uFillTx/>
              <a:latin typeface="Arial"/>
            </a:endParaRPr>
          </a:p>
        </p:txBody>
      </p:sp>
      <p:sp>
        <p:nvSpPr>
          <p:cNvPr id="496" name="PlaceHolder 3"/>
          <p:cNvSpPr>
            <a:spLocks noGrp="1"/>
          </p:cNvSpPr>
          <p:nvPr>
            <p:ph type="sldNum" idx="32"/>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97EF9F62-E7B4-4F56-8B19-8D294741B15D}"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7" name="PlaceHolder 1"/>
          <p:cNvSpPr>
            <a:spLocks noGrp="1"/>
          </p:cNvSpPr>
          <p:nvPr>
            <p:ph type="sldImg"/>
          </p:nvPr>
        </p:nvSpPr>
        <p:spPr>
          <a:xfrm>
            <a:off x="1143000" y="685800"/>
            <a:ext cx="4571280" cy="3428280"/>
          </a:xfrm>
          <a:prstGeom prst="rect">
            <a:avLst/>
          </a:prstGeom>
          <a:ln w="0">
            <a:noFill/>
          </a:ln>
        </p:spPr>
      </p:sp>
      <p:sp>
        <p:nvSpPr>
          <p:cNvPr id="498"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r>
              <a:t>Τέταρτο μέρος: Συμπεράσματα.</a:t>
            </a:r>
          </a:p>
        </p:txBody>
      </p:sp>
      <p:sp>
        <p:nvSpPr>
          <p:cNvPr id="499" name="PlaceHolder 3"/>
          <p:cNvSpPr>
            <a:spLocks noGrp="1"/>
          </p:cNvSpPr>
          <p:nvPr>
            <p:ph type="sldNum" idx="33"/>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175CCD7-689D-43C1-8648-535FA6E4336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0" name="PlaceHolder 1"/>
          <p:cNvSpPr>
            <a:spLocks noGrp="1"/>
          </p:cNvSpPr>
          <p:nvPr>
            <p:ph type="sldImg"/>
          </p:nvPr>
        </p:nvSpPr>
        <p:spPr>
          <a:xfrm>
            <a:off x="1143000" y="685800"/>
            <a:ext cx="4571280" cy="3428280"/>
          </a:xfrm>
          <a:prstGeom prst="rect">
            <a:avLst/>
          </a:prstGeom>
          <a:ln w="0">
            <a:noFill/>
          </a:ln>
        </p:spPr>
      </p:sp>
      <p:sp>
        <p:nvSpPr>
          <p:cNvPr id="501"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Αν κρατήσετε μία διαφάνεια από όλη την παρουσίαση, ας είναι αυτή. Αριστερά τι απαντήθηκε, δεξιά τι κάνει ο ιδιοκτήτης του μαγαζιού με τις απαντήσεις.</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Δύο ακόμα σημεία που αξίζουν αναφορά. Οι κατηγοριοποιήσεις ανά εύρος τιμής και ανά είδος μοιράζουν όλα τα έσοδα, χωρίς διπλομέτρηση και χωρίς απώλεια, και αυτό ελέγχεται αυτόματα με τεστ. Και το Growth Accounting είναι η πιο ισχυρή μετρήσιμη ένδειξη για την υγεία μιας επιχείρησης, χωρίς καμία παραδοχή στη μέση.</a:t>
            </a:r>
            <a:endParaRPr lang="en-US" sz="2000" b="0" u="none" strike="noStrike">
              <a:solidFill>
                <a:srgbClr val="000000"/>
              </a:solidFill>
              <a:effectLst/>
              <a:uFillTx/>
              <a:latin typeface="Arial"/>
            </a:endParaRPr>
          </a:p>
        </p:txBody>
      </p:sp>
      <p:sp>
        <p:nvSpPr>
          <p:cNvPr id="502" name="PlaceHolder 3"/>
          <p:cNvSpPr>
            <a:spLocks noGrp="1"/>
          </p:cNvSpPr>
          <p:nvPr>
            <p:ph type="sldNum" idx="34"/>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8CC6CA9-AF30-4861-AD43-27581F7B520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3" name="PlaceHolder 1"/>
          <p:cNvSpPr>
            <a:spLocks noGrp="1"/>
          </p:cNvSpPr>
          <p:nvPr>
            <p:ph type="sldImg"/>
          </p:nvPr>
        </p:nvSpPr>
        <p:spPr>
          <a:xfrm>
            <a:off x="1143000" y="685800"/>
            <a:ext cx="4571280" cy="3428280"/>
          </a:xfrm>
          <a:prstGeom prst="rect">
            <a:avLst/>
          </a:prstGeom>
          <a:ln w="0">
            <a:noFill/>
          </a:ln>
        </p:spPr>
      </p:sp>
      <p:sp>
        <p:nvSpPr>
          <p:cNvPr id="504"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Το μήνυμα όλης της δουλειάς σε μία πρόταση: να απαντηθεί ό,τι ζήτησε η επιχείρηση, και να μην προσποιηθούμε ότι απαντάμε σε πράγματα που τα δεδομένα δεν επιτρέπουν. Ευχαριστώ πολύ.</a:t>
            </a:r>
            <a:endParaRPr lang="en-US" sz="2000" b="0" u="none" strike="noStrike">
              <a:solidFill>
                <a:srgbClr val="000000"/>
              </a:solidFill>
              <a:effectLst/>
              <a:uFillTx/>
              <a:latin typeface="Arial"/>
            </a:endParaRPr>
          </a:p>
        </p:txBody>
      </p:sp>
      <p:sp>
        <p:nvSpPr>
          <p:cNvPr id="505" name="PlaceHolder 3"/>
          <p:cNvSpPr>
            <a:spLocks noGrp="1"/>
          </p:cNvSpPr>
          <p:nvPr>
            <p:ph type="sldNum" idx="35"/>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A8D69BDD-8C10-4C8E-8F0A-7D3AA307ADA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ftr" idx="1"/>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 name="PlaceHolder 2"/>
          <p:cNvSpPr>
            <a:spLocks noGrp="1"/>
          </p:cNvSpPr>
          <p:nvPr>
            <p:ph type="sldNum" idx="2"/>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5E3A02C2-AD2F-491B-9D51-FCAD5E09E24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 name="PlaceHolder 3"/>
          <p:cNvSpPr>
            <a:spLocks noGrp="1"/>
          </p:cNvSpPr>
          <p:nvPr>
            <p:ph type="dt" idx="3"/>
          </p:nvPr>
        </p:nvSpPr>
        <p:spPr>
          <a:xfrm>
            <a:off x="457200" y="6356520"/>
            <a:ext cx="213300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5"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ctr" defTabSz="457200">
              <a:buNone/>
              <a:tabLst>
                <a:tab pos="0" algn="l"/>
              </a:tabLst>
              <a:defRPr lang="en-US" sz="4400" b="0" u="none" strike="noStrike">
                <a:solidFill>
                  <a:schemeClr val="dk1"/>
                </a:solidFill>
                <a:effectLst/>
                <a:uFillTx/>
                <a:latin typeface="Calibri"/>
              </a:defRPr>
            </a:lvl1pPr>
          </a:lstStyle>
          <a:p>
            <a:pPr indent="0" algn="ctr" defTabSz="457200">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6"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indent="-32400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510480"/>
            <a:ext cx="10971720" cy="670680"/>
          </a:xfrm>
          <a:prstGeom prst="rect">
            <a:avLst/>
          </a:prstGeom>
          <a:noFill/>
          <a:ln w="0">
            <a:noFill/>
          </a:ln>
        </p:spPr>
        <p:txBody>
          <a:bodyPr lIns="0" tIns="0" rIns="0" bIns="0" anchor="ctr">
            <a:spAutoFit/>
          </a:bodyPr>
          <a:lstStyle>
            <a:lvl1pPr indent="0" algn="l" defTabSz="457200">
              <a:buNone/>
              <a:tabLst>
                <a:tab pos="0" algn="l"/>
              </a:tabLst>
              <a:defRPr lang="en-US" sz="4400" b="0" u="none" strike="noStrike">
                <a:solidFill>
                  <a:schemeClr val="dk1"/>
                </a:solidFill>
                <a:effectLst/>
                <a:uFillTx/>
                <a:latin typeface="Calibri"/>
              </a:defRPr>
            </a:lvl1pPr>
          </a:lstStyle>
          <a:p>
            <a:pPr indent="0" algn="l" defTabSz="457200">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8" name="PlaceHolder 2"/>
          <p:cNvSpPr>
            <a:spLocks noGrp="1"/>
          </p:cNvSpPr>
          <p:nvPr>
            <p:ph type="ftr" idx="4"/>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9" name="PlaceHolder 3"/>
          <p:cNvSpPr>
            <a:spLocks noGrp="1"/>
          </p:cNvSpPr>
          <p:nvPr>
            <p:ph type="sldNum" idx="5"/>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CDCD0177-F1B7-4AEA-9CAB-3C1018C33E17}"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10" name="PlaceHolder 4"/>
          <p:cNvSpPr>
            <a:spLocks noGrp="1"/>
          </p:cNvSpPr>
          <p:nvPr>
            <p:ph type="dt" idx="6"/>
          </p:nvPr>
        </p:nvSpPr>
        <p:spPr>
          <a:xfrm>
            <a:off x="457200" y="6356520"/>
            <a:ext cx="213300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1"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indent="-32400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 name="Rectangle 1"/>
          <p:cNvSpPr/>
          <p:nvPr/>
        </p:nvSpPr>
        <p:spPr>
          <a:xfrm>
            <a:off x="0" y="0"/>
            <a:ext cx="12191040" cy="250056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9" name="TextBox 2"/>
          <p:cNvSpPr/>
          <p:nvPr/>
        </p:nvSpPr>
        <p:spPr>
          <a:xfrm>
            <a:off x="548640" y="50292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ΔΙΠΛΩΜΑΤΙΚΗ ΕΡΓΑΣΙΑ</a:t>
            </a:r>
            <a:endParaRPr lang="en-US" sz="1200" b="0" u="none" strike="noStrike">
              <a:solidFill>
                <a:srgbClr val="000000"/>
              </a:solidFill>
              <a:effectLst/>
              <a:uFillTx/>
              <a:latin typeface="Arial"/>
            </a:endParaRPr>
          </a:p>
        </p:txBody>
      </p:sp>
      <p:sp>
        <p:nvSpPr>
          <p:cNvPr id="20" name="TextBox 3"/>
          <p:cNvSpPr/>
          <p:nvPr/>
        </p:nvSpPr>
        <p:spPr>
          <a:xfrm>
            <a:off x="548640" y="868680"/>
            <a:ext cx="11090880" cy="11527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100" b="1" u="none" strike="noStrike">
                <a:solidFill>
                  <a:srgbClr val="FFFFFF"/>
                </a:solidFill>
                <a:effectLst/>
                <a:uFillTx/>
                <a:latin typeface="Cambria"/>
                <a:ea typeface="DejaVu Sans"/>
              </a:rPr>
              <a:t>Εξαγωγή Ευφυών Αναλύσεων </a:t>
            </a:r>
            <a:endParaRPr lang="en-US" sz="3100" b="0" u="none" strike="noStrike">
              <a:solidFill>
                <a:srgbClr val="000000"/>
              </a:solidFill>
              <a:effectLst/>
              <a:uFillTx/>
              <a:latin typeface="Arial"/>
            </a:endParaRPr>
          </a:p>
          <a:p>
            <a:pPr defTabSz="457200">
              <a:lnSpc>
                <a:spcPct val="122000"/>
              </a:lnSpc>
            </a:pPr>
            <a:r>
              <a:rPr lang="en-US" sz="3100" b="1" u="none" strike="noStrike">
                <a:solidFill>
                  <a:srgbClr val="FFFFFF"/>
                </a:solidFill>
                <a:effectLst/>
                <a:uFillTx/>
                <a:latin typeface="Cambria"/>
                <a:ea typeface="DejaVu Sans"/>
              </a:rPr>
              <a:t>από Δεδομένα Ηλεκτρονικού Εμπορίου</a:t>
            </a:r>
            <a:endParaRPr lang="en-US" sz="3100" b="0" u="none" strike="noStrike">
              <a:solidFill>
                <a:srgbClr val="000000"/>
              </a:solidFill>
              <a:effectLst/>
              <a:uFillTx/>
              <a:latin typeface="Arial"/>
            </a:endParaRPr>
          </a:p>
        </p:txBody>
      </p:sp>
      <p:sp>
        <p:nvSpPr>
          <p:cNvPr id="21" name="TextBox 4"/>
          <p:cNvSpPr/>
          <p:nvPr/>
        </p:nvSpPr>
        <p:spPr>
          <a:xfrm>
            <a:off x="548640" y="2240280"/>
            <a:ext cx="11090880" cy="26028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22" name="TextBox 5"/>
          <p:cNvSpPr/>
          <p:nvPr/>
        </p:nvSpPr>
        <p:spPr>
          <a:xfrm>
            <a:off x="548640" y="3063240"/>
            <a:ext cx="11090880" cy="4086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2200" b="1" u="none" strike="noStrike">
                <a:solidFill>
                  <a:srgbClr val="2C5530"/>
                </a:solidFill>
                <a:effectLst/>
                <a:uFillTx/>
                <a:latin typeface="Cambria"/>
                <a:ea typeface="DejaVu Sans"/>
              </a:rPr>
              <a:t>Μουρτογιάννης Χρήστος</a:t>
            </a:r>
            <a:endParaRPr lang="en-US" sz="2200" b="0" u="none" strike="noStrike">
              <a:solidFill>
                <a:srgbClr val="000000"/>
              </a:solidFill>
              <a:effectLst/>
              <a:uFillTx/>
              <a:latin typeface="Arial"/>
            </a:endParaRPr>
          </a:p>
        </p:txBody>
      </p:sp>
      <p:sp>
        <p:nvSpPr>
          <p:cNvPr id="23" name="TextBox 6"/>
          <p:cNvSpPr/>
          <p:nvPr/>
        </p:nvSpPr>
        <p:spPr>
          <a:xfrm>
            <a:off x="548640" y="3736440"/>
            <a:ext cx="11090880" cy="49644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400"/>
              </a:spcAft>
            </a:pPr>
            <a:r>
              <a:rPr lang="en-US" sz="1200" b="0" u="none" strike="noStrike">
                <a:solidFill>
                  <a:srgbClr val="6B6259"/>
                </a:solidFill>
                <a:effectLst/>
                <a:uFillTx/>
                <a:latin typeface="Calibri"/>
                <a:ea typeface="DejaVu Sans"/>
              </a:rPr>
              <a:t>Διατμηματικό ΠΜΣ «Διοίκηση και Οικονομική </a:t>
            </a:r>
            <a:r>
              <a:rPr lang="en-US" sz="1200" b="0" u="none" strike="noStrike">
                <a:solidFill>
                  <a:srgbClr val="6B6259"/>
                </a:solidFill>
                <a:effectLst/>
                <a:uFillTx/>
                <a:latin typeface="Calibri"/>
                <a:ea typeface="DejaVu Sans"/>
              </a:rPr>
              <a:t>Τηλεπικοινωνιακών Δικτύων και Πληροφοριακών </a:t>
            </a:r>
            <a:r>
              <a:rPr lang="en-US" sz="1200" b="0" u="none" strike="noStrike">
                <a:solidFill>
                  <a:srgbClr val="6B6259"/>
                </a:solidFill>
                <a:effectLst/>
                <a:uFillTx/>
                <a:latin typeface="Calibri"/>
                <a:ea typeface="DejaVu Sans"/>
              </a:rPr>
              <a:t>Συστημάτων»</a:t>
            </a:r>
            <a:endParaRPr lang="en-US" sz="1200" b="0" u="none" strike="noStrike">
              <a:solidFill>
                <a:srgbClr val="000000"/>
              </a:solidFill>
              <a:effectLst/>
              <a:uFillTx/>
              <a:latin typeface="Arial"/>
            </a:endParaRPr>
          </a:p>
          <a:p>
            <a:pPr defTabSz="457200">
              <a:lnSpc>
                <a:spcPct val="122000"/>
              </a:lnSpc>
              <a:spcAft>
                <a:spcPts val="400"/>
              </a:spcAft>
            </a:pPr>
            <a:r>
              <a:rPr lang="en-US" sz="1200" b="0" u="none" strike="noStrike">
                <a:solidFill>
                  <a:srgbClr val="6B6259"/>
                </a:solidFill>
                <a:effectLst/>
                <a:uFillTx/>
                <a:latin typeface="Calibri"/>
                <a:ea typeface="DejaVu Sans"/>
              </a:rPr>
              <a:t>Εθνικό και Καποδιστριακό Πανεπιστήμιο Αθηνών, Τμήμα </a:t>
            </a:r>
            <a:r>
              <a:rPr lang="en-US" sz="1200" b="0" u="none" strike="noStrike">
                <a:solidFill>
                  <a:srgbClr val="6B6259"/>
                </a:solidFill>
                <a:effectLst/>
                <a:uFillTx/>
                <a:latin typeface="Calibri"/>
                <a:ea typeface="DejaVu Sans"/>
              </a:rPr>
              <a:t>Πληροφορικής και Τηλεπικοινωνιών</a:t>
            </a:r>
            <a:endParaRPr lang="en-US" sz="1200" b="0" u="none" strike="noStrike">
              <a:solidFill>
                <a:srgbClr val="000000"/>
              </a:solidFill>
              <a:effectLst/>
              <a:uFillTx/>
              <a:latin typeface="Arial"/>
            </a:endParaRPr>
          </a:p>
        </p:txBody>
      </p:sp>
      <p:sp>
        <p:nvSpPr>
          <p:cNvPr id="24" name="Rounded Rectangle 7"/>
          <p:cNvSpPr/>
          <p:nvPr/>
        </p:nvSpPr>
        <p:spPr>
          <a:xfrm>
            <a:off x="4389840" y="4480560"/>
            <a:ext cx="6582960" cy="155376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5" name="TextBox 8"/>
          <p:cNvSpPr/>
          <p:nvPr/>
        </p:nvSpPr>
        <p:spPr>
          <a:xfrm>
            <a:off x="4664160" y="4645080"/>
            <a:ext cx="60343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1" u="none" strike="noStrike">
                <a:solidFill>
                  <a:srgbClr val="E8A33D"/>
                </a:solidFill>
                <a:effectLst/>
                <a:uFillTx/>
                <a:latin typeface="Calibri"/>
                <a:ea typeface="DejaVu Sans"/>
              </a:rPr>
              <a:t>ΤΡΙΜΕΛΗΣ ΕΞΕΤΑΣΤΙΚΗ ΕΠΙΤΡΟΠΗ</a:t>
            </a:r>
            <a:endParaRPr lang="en-US" sz="1100" b="0" u="none" strike="noStrike">
              <a:solidFill>
                <a:srgbClr val="000000"/>
              </a:solidFill>
              <a:effectLst/>
              <a:uFillTx/>
              <a:latin typeface="Arial"/>
            </a:endParaRPr>
          </a:p>
        </p:txBody>
      </p:sp>
      <p:sp>
        <p:nvSpPr>
          <p:cNvPr id="26" name="TextBox 9"/>
          <p:cNvSpPr/>
          <p:nvPr/>
        </p:nvSpPr>
        <p:spPr>
          <a:xfrm>
            <a:off x="4664160" y="4992480"/>
            <a:ext cx="109656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Επιβλέπων:</a:t>
            </a:r>
            <a:endParaRPr lang="en-US" sz="1200" b="0" u="none" strike="noStrike">
              <a:solidFill>
                <a:srgbClr val="000000"/>
              </a:solidFill>
              <a:effectLst/>
              <a:uFillTx/>
              <a:latin typeface="Arial"/>
            </a:endParaRPr>
          </a:p>
        </p:txBody>
      </p:sp>
      <p:sp>
        <p:nvSpPr>
          <p:cNvPr id="27" name="TextBox 10"/>
          <p:cNvSpPr/>
          <p:nvPr/>
        </p:nvSpPr>
        <p:spPr>
          <a:xfrm>
            <a:off x="5807160" y="4992480"/>
            <a:ext cx="484560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241F1B"/>
                </a:solidFill>
                <a:effectLst/>
                <a:uFillTx/>
                <a:latin typeface="Calibri"/>
                <a:ea typeface="DejaVu Sans"/>
              </a:rPr>
              <a:t>Ευστάθιος </a:t>
            </a:r>
            <a:r>
              <a:rPr lang="en-US" sz="1200" b="0" u="none" strike="noStrike">
                <a:solidFill>
                  <a:srgbClr val="241F1B"/>
                </a:solidFill>
                <a:effectLst/>
                <a:uFillTx/>
                <a:latin typeface="Calibri"/>
                <a:ea typeface="DejaVu Sans"/>
              </a:rPr>
              <a:t>Χατζηευθυμιάδης, </a:t>
            </a:r>
            <a:r>
              <a:rPr lang="en-US" sz="1200" b="0" u="none" strike="noStrike">
                <a:solidFill>
                  <a:srgbClr val="241F1B"/>
                </a:solidFill>
                <a:effectLst/>
                <a:uFillTx/>
                <a:latin typeface="Calibri"/>
                <a:ea typeface="DejaVu Sans"/>
              </a:rPr>
              <a:t>Καθηγητής, ΕΚΠΑ</a:t>
            </a:r>
            <a:endParaRPr lang="en-US" sz="1200" b="0" u="none" strike="noStrike">
              <a:solidFill>
                <a:srgbClr val="000000"/>
              </a:solidFill>
              <a:effectLst/>
              <a:uFillTx/>
              <a:latin typeface="Arial"/>
            </a:endParaRPr>
          </a:p>
        </p:txBody>
      </p:sp>
      <p:sp>
        <p:nvSpPr>
          <p:cNvPr id="28" name="TextBox 11"/>
          <p:cNvSpPr/>
          <p:nvPr/>
        </p:nvSpPr>
        <p:spPr>
          <a:xfrm>
            <a:off x="4664160" y="5303520"/>
            <a:ext cx="109656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Εξεταστής:</a:t>
            </a:r>
            <a:endParaRPr lang="en-US" sz="1200" b="0" u="none" strike="noStrike">
              <a:solidFill>
                <a:srgbClr val="000000"/>
              </a:solidFill>
              <a:effectLst/>
              <a:uFillTx/>
              <a:latin typeface="Arial"/>
            </a:endParaRPr>
          </a:p>
        </p:txBody>
      </p:sp>
      <p:sp>
        <p:nvSpPr>
          <p:cNvPr id="29" name="TextBox 12"/>
          <p:cNvSpPr/>
          <p:nvPr/>
        </p:nvSpPr>
        <p:spPr>
          <a:xfrm>
            <a:off x="5807160" y="5303520"/>
            <a:ext cx="484560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241F1B"/>
                </a:solidFill>
                <a:effectLst/>
                <a:uFillTx/>
                <a:latin typeface="Calibri"/>
                <a:ea typeface="DejaVu Sans"/>
              </a:rPr>
              <a:t>Κωνσταντίνος Κολομβάτσος, Πανεπιστήμιο Θεσσαλίας</a:t>
            </a:r>
            <a:endParaRPr lang="en-US" sz="1200" b="0" u="none" strike="noStrike">
              <a:solidFill>
                <a:srgbClr val="000000"/>
              </a:solidFill>
              <a:effectLst/>
              <a:uFillTx/>
              <a:latin typeface="Arial"/>
            </a:endParaRPr>
          </a:p>
        </p:txBody>
      </p:sp>
      <p:sp>
        <p:nvSpPr>
          <p:cNvPr id="30" name="TextBox 13"/>
          <p:cNvSpPr/>
          <p:nvPr/>
        </p:nvSpPr>
        <p:spPr>
          <a:xfrm>
            <a:off x="4664160" y="5614560"/>
            <a:ext cx="109656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Εξεταστ</a:t>
            </a:r>
            <a:r>
              <a:rPr lang="en-US" sz="1200" b="1" u="none" strike="noStrike">
                <a:solidFill>
                  <a:srgbClr val="2C5530"/>
                </a:solidFill>
                <a:effectLst/>
                <a:uFillTx/>
                <a:latin typeface="Calibri"/>
                <a:ea typeface="DejaVu Sans"/>
              </a:rPr>
              <a:t>ής:</a:t>
            </a:r>
            <a:endParaRPr lang="en-US" sz="1200" b="0" u="none" strike="noStrike">
              <a:solidFill>
                <a:srgbClr val="000000"/>
              </a:solidFill>
              <a:effectLst/>
              <a:uFillTx/>
              <a:latin typeface="Arial"/>
            </a:endParaRPr>
          </a:p>
        </p:txBody>
      </p:sp>
      <p:sp>
        <p:nvSpPr>
          <p:cNvPr id="31" name="TextBox 14"/>
          <p:cNvSpPr/>
          <p:nvPr/>
        </p:nvSpPr>
        <p:spPr>
          <a:xfrm>
            <a:off x="5807160" y="5614560"/>
            <a:ext cx="484560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241F1B"/>
                </a:solidFill>
                <a:effectLst/>
                <a:uFillTx/>
                <a:latin typeface="Calibri"/>
                <a:ea typeface="DejaVu Sans"/>
              </a:rPr>
              <a:t>Μιλτιάδης Κυριακάκος, ΕΔΙΠ, ΕΚΠΑ</a:t>
            </a:r>
            <a:endParaRPr lang="en-US" sz="1200" b="0" u="none" strike="noStrike">
              <a:solidFill>
                <a:srgbClr val="000000"/>
              </a:solidFill>
              <a:effectLst/>
              <a:uFillTx/>
              <a:latin typeface="Arial"/>
            </a:endParaRPr>
          </a:p>
        </p:txBody>
      </p:sp>
      <p:sp>
        <p:nvSpPr>
          <p:cNvPr id="32" name="TextBox 15"/>
          <p:cNvSpPr/>
          <p:nvPr/>
        </p:nvSpPr>
        <p:spPr>
          <a:xfrm>
            <a:off x="548640" y="6263640"/>
            <a:ext cx="11090880" cy="222840"/>
          </a:xfrm>
          <a:prstGeom prst="rect">
            <a:avLst/>
          </a:prstGeom>
          <a:noFill/>
          <a:ln w="0">
            <a:noFill/>
          </a:ln>
        </p:spPr>
        <p:style>
          <a:lnRef idx="0"/>
          <a:fillRef idx="0"/>
          <a:effectRef idx="0"/>
          <a:fontRef idx="minor"/>
        </p:style>
        <p:txBody>
          <a:bodyPr lIns="0" tIns="0" rIns="0" bIns="0" anchor="t" anchorCtr="1">
            <a:spAutoFit/>
          </a:bodyPr>
          <a:p>
            <a:pPr algn="r" defTabSz="457200">
              <a:lnSpc>
                <a:spcPct val="122000"/>
              </a:lnSpc>
            </a:pPr>
            <a:r>
              <a:rPr lang="en-US" sz="1200" b="0" u="none" strike="noStrike">
                <a:solidFill>
                  <a:srgbClr val="6B6259"/>
                </a:solidFill>
                <a:effectLst/>
                <a:uFillTx/>
                <a:latin typeface="Calibri"/>
                <a:ea typeface="DejaVu Sans"/>
              </a:rPr>
              <a:t>Αθήνα, Σεπτέμβριος 2026</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ΠΕΡΙΕΧΟΜΕΝΑ</a:t>
            </a:r>
            <a:endParaRPr lang="en-US" sz="1200" b="0" u="none" strike="noStrike">
              <a:solidFill>
                <a:srgbClr val="000000"/>
              </a:solidFill>
              <a:effectLst/>
              <a:uFillTx/>
              <a:latin typeface="Arial"/>
            </a:endParaRPr>
          </a:p>
        </p:txBody>
      </p:sp>
      <p:sp>
        <p:nvSpPr>
          <p:cNvPr id="34"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Τέσσερα μέρη</a:t>
            </a:r>
            <a:endParaRPr lang="en-US" sz="3000" b="0" u="none" strike="noStrike">
              <a:solidFill>
                <a:srgbClr val="000000"/>
              </a:solidFill>
              <a:effectLst/>
              <a:uFillTx/>
              <a:latin typeface="Arial"/>
            </a:endParaRPr>
          </a:p>
        </p:txBody>
      </p:sp>
      <p:sp>
        <p:nvSpPr>
          <p:cNvPr id="35" name="TextBox 3"/>
          <p:cNvSpPr/>
          <p:nvPr/>
        </p:nvSpPr>
        <p:spPr>
          <a:xfrm>
            <a:off x="548640" y="6473880"/>
            <a:ext cx="3656880" cy="2736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36"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a:t>
            </a:r>
            <a:endParaRPr lang="en-US" sz="900" b="0" u="none" strike="noStrike">
              <a:solidFill>
                <a:srgbClr val="000000"/>
              </a:solidFill>
              <a:effectLst/>
              <a:uFillTx/>
              <a:latin typeface="Arial"/>
            </a:endParaRPr>
          </a:p>
        </p:txBody>
      </p:sp>
      <p:sp>
        <p:nvSpPr>
          <p:cNvPr id="37" name="Rounded Rectangle 5"/>
          <p:cNvSpPr/>
          <p:nvPr/>
        </p:nvSpPr>
        <p:spPr>
          <a:xfrm>
            <a:off x="548640" y="1920240"/>
            <a:ext cx="2607480" cy="283392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8" name="Rectangle 6"/>
          <p:cNvSpPr/>
          <p:nvPr/>
        </p:nvSpPr>
        <p:spPr>
          <a:xfrm>
            <a:off x="548640" y="1920240"/>
            <a:ext cx="2607480" cy="8172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37440" rIns="90000" bIns="37440" anchor="ctr">
            <a:noAutofit/>
          </a:bodyPr>
          <a:p>
            <a:pPr/>
            <a:endParaRPr lang="en-US" sz="1800" b="0" u="none" strike="noStrike">
              <a:solidFill>
                <a:schemeClr val="lt1"/>
              </a:solidFill>
              <a:effectLst/>
              <a:uFillTx/>
              <a:latin typeface="Calibri"/>
            </a:endParaRPr>
          </a:p>
        </p:txBody>
      </p:sp>
      <p:sp>
        <p:nvSpPr>
          <p:cNvPr id="39" name="TextBox 7"/>
          <p:cNvSpPr/>
          <p:nvPr/>
        </p:nvSpPr>
        <p:spPr>
          <a:xfrm>
            <a:off x="804600" y="2240280"/>
            <a:ext cx="2095560" cy="74340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4000" b="1" u="none" strike="noStrike">
                <a:solidFill>
                  <a:srgbClr val="D7E5D2"/>
                </a:solidFill>
                <a:effectLst/>
                <a:uFillTx/>
                <a:latin typeface="Cambria"/>
                <a:ea typeface="DejaVu Sans"/>
              </a:rPr>
              <a:t>1</a:t>
            </a:r>
            <a:endParaRPr lang="en-US" sz="4000" b="0" u="none" strike="noStrike">
              <a:solidFill>
                <a:srgbClr val="000000"/>
              </a:solidFill>
              <a:effectLst/>
              <a:uFillTx/>
              <a:latin typeface="Arial"/>
            </a:endParaRPr>
          </a:p>
        </p:txBody>
      </p:sp>
      <p:sp>
        <p:nvSpPr>
          <p:cNvPr id="40" name="TextBox 8"/>
          <p:cNvSpPr/>
          <p:nvPr/>
        </p:nvSpPr>
        <p:spPr>
          <a:xfrm>
            <a:off x="804600" y="2971800"/>
            <a:ext cx="2095560" cy="3160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700" b="1" u="none" strike="noStrike">
                <a:solidFill>
                  <a:srgbClr val="2C5530"/>
                </a:solidFill>
                <a:effectLst/>
                <a:uFillTx/>
                <a:latin typeface="Cambria"/>
                <a:ea typeface="DejaVu Sans"/>
              </a:rPr>
              <a:t>Το πρόβλημα</a:t>
            </a:r>
            <a:endParaRPr lang="en-US" sz="1700" b="0" u="none" strike="noStrike">
              <a:solidFill>
                <a:srgbClr val="000000"/>
              </a:solidFill>
              <a:effectLst/>
              <a:uFillTx/>
              <a:latin typeface="Arial"/>
            </a:endParaRPr>
          </a:p>
        </p:txBody>
      </p:sp>
      <p:sp>
        <p:nvSpPr>
          <p:cNvPr id="41" name="TextBox 9"/>
          <p:cNvSpPr/>
          <p:nvPr/>
        </p:nvSpPr>
        <p:spPr>
          <a:xfrm>
            <a:off x="804600" y="3520440"/>
            <a:ext cx="2095560" cy="22284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200" b="0" u="none" strike="noStrike">
                <a:solidFill>
                  <a:srgbClr val="6B6259"/>
                </a:solidFill>
                <a:effectLst/>
                <a:uFillTx/>
                <a:latin typeface="Calibri"/>
                <a:ea typeface="DejaVu Sans"/>
              </a:rPr>
              <a:t>Δεδομένα, στρατηγική </a:t>
            </a:r>
            <a:r>
              <a:rPr lang="en-US" sz="1200" b="0" u="none" strike="noStrike">
                <a:solidFill>
                  <a:srgbClr val="6B6259"/>
                </a:solidFill>
                <a:effectLst/>
                <a:uFillTx/>
                <a:latin typeface="Calibri"/>
                <a:ea typeface="DejaVu Sans"/>
              </a:rPr>
              <a:t>ανάπτυξη</a:t>
            </a:r>
            <a:endParaRPr lang="en-US" sz="1200" b="0" u="none" strike="noStrike">
              <a:solidFill>
                <a:srgbClr val="000000"/>
              </a:solidFill>
              <a:effectLst/>
              <a:uFillTx/>
              <a:latin typeface="Arial"/>
            </a:endParaRPr>
          </a:p>
        </p:txBody>
      </p:sp>
      <p:sp>
        <p:nvSpPr>
          <p:cNvPr id="42" name="Rounded Rectangle 10"/>
          <p:cNvSpPr/>
          <p:nvPr/>
        </p:nvSpPr>
        <p:spPr>
          <a:xfrm>
            <a:off x="3376440" y="1920240"/>
            <a:ext cx="2607480" cy="283392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43" name="Rectangle 11"/>
          <p:cNvSpPr/>
          <p:nvPr/>
        </p:nvSpPr>
        <p:spPr>
          <a:xfrm>
            <a:off x="3376440" y="1920240"/>
            <a:ext cx="2607480" cy="8172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37440" rIns="90000" bIns="37440" anchor="ctr">
            <a:noAutofit/>
          </a:bodyPr>
          <a:p>
            <a:pPr/>
            <a:endParaRPr lang="en-US" sz="1800" b="0" u="none" strike="noStrike">
              <a:solidFill>
                <a:schemeClr val="lt1"/>
              </a:solidFill>
              <a:effectLst/>
              <a:uFillTx/>
              <a:latin typeface="Calibri"/>
            </a:endParaRPr>
          </a:p>
        </p:txBody>
      </p:sp>
      <p:sp>
        <p:nvSpPr>
          <p:cNvPr id="44" name="TextBox 12"/>
          <p:cNvSpPr/>
          <p:nvPr/>
        </p:nvSpPr>
        <p:spPr>
          <a:xfrm>
            <a:off x="3632400" y="2240280"/>
            <a:ext cx="2095560" cy="74340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4000" b="1" u="none" strike="noStrike">
                <a:solidFill>
                  <a:srgbClr val="D7E5D2"/>
                </a:solidFill>
                <a:effectLst/>
                <a:uFillTx/>
                <a:latin typeface="Cambria"/>
                <a:ea typeface="DejaVu Sans"/>
              </a:rPr>
              <a:t>2</a:t>
            </a:r>
            <a:endParaRPr lang="en-US" sz="4000" b="0" u="none" strike="noStrike">
              <a:solidFill>
                <a:srgbClr val="000000"/>
              </a:solidFill>
              <a:effectLst/>
              <a:uFillTx/>
              <a:latin typeface="Arial"/>
            </a:endParaRPr>
          </a:p>
        </p:txBody>
      </p:sp>
      <p:sp>
        <p:nvSpPr>
          <p:cNvPr id="45" name="TextBox 13"/>
          <p:cNvSpPr/>
          <p:nvPr/>
        </p:nvSpPr>
        <p:spPr>
          <a:xfrm>
            <a:off x="3632400" y="2971800"/>
            <a:ext cx="2095560" cy="3160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700" b="1" u="none" strike="noStrike">
                <a:solidFill>
                  <a:srgbClr val="2C5530"/>
                </a:solidFill>
                <a:effectLst/>
                <a:uFillTx/>
                <a:latin typeface="Cambria"/>
                <a:ea typeface="DejaVu Sans"/>
              </a:rPr>
              <a:t>Το σύστημα</a:t>
            </a:r>
            <a:endParaRPr lang="en-US" sz="1700" b="0" u="none" strike="noStrike">
              <a:solidFill>
                <a:srgbClr val="000000"/>
              </a:solidFill>
              <a:effectLst/>
              <a:uFillTx/>
              <a:latin typeface="Arial"/>
            </a:endParaRPr>
          </a:p>
        </p:txBody>
      </p:sp>
      <p:sp>
        <p:nvSpPr>
          <p:cNvPr id="46" name="TextBox 14"/>
          <p:cNvSpPr/>
          <p:nvPr/>
        </p:nvSpPr>
        <p:spPr>
          <a:xfrm>
            <a:off x="3632400" y="3520440"/>
            <a:ext cx="2095560" cy="22284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200" b="0" u="none" strike="noStrike">
                <a:solidFill>
                  <a:srgbClr val="6B6259"/>
                </a:solidFill>
                <a:effectLst/>
                <a:uFillTx/>
                <a:latin typeface="Calibri"/>
                <a:ea typeface="DejaVu Sans"/>
              </a:rPr>
              <a:t>Δομή, αρχιτεκτονική, λειτουργία</a:t>
            </a:r>
            <a:endParaRPr lang="en-US" sz="1200" b="0" u="none" strike="noStrike">
              <a:solidFill>
                <a:srgbClr val="000000"/>
              </a:solidFill>
              <a:effectLst/>
              <a:uFillTx/>
              <a:latin typeface="Arial"/>
            </a:endParaRPr>
          </a:p>
        </p:txBody>
      </p:sp>
      <p:sp>
        <p:nvSpPr>
          <p:cNvPr id="47" name="Rounded Rectangle 15"/>
          <p:cNvSpPr/>
          <p:nvPr/>
        </p:nvSpPr>
        <p:spPr>
          <a:xfrm>
            <a:off x="6204240" y="1920240"/>
            <a:ext cx="2607480" cy="283392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48" name="Rectangle 16"/>
          <p:cNvSpPr/>
          <p:nvPr/>
        </p:nvSpPr>
        <p:spPr>
          <a:xfrm>
            <a:off x="6204240" y="1920240"/>
            <a:ext cx="2607480" cy="8172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37440" rIns="90000" bIns="37440" anchor="ctr">
            <a:noAutofit/>
          </a:bodyPr>
          <a:p>
            <a:pPr/>
            <a:endParaRPr lang="en-US" sz="1800" b="0" u="none" strike="noStrike">
              <a:solidFill>
                <a:schemeClr val="lt1"/>
              </a:solidFill>
              <a:effectLst/>
              <a:uFillTx/>
              <a:latin typeface="Calibri"/>
            </a:endParaRPr>
          </a:p>
        </p:txBody>
      </p:sp>
      <p:sp>
        <p:nvSpPr>
          <p:cNvPr id="49" name="TextBox 17"/>
          <p:cNvSpPr/>
          <p:nvPr/>
        </p:nvSpPr>
        <p:spPr>
          <a:xfrm>
            <a:off x="6460200" y="2240280"/>
            <a:ext cx="2095560" cy="74340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4000" b="1" u="none" strike="noStrike">
                <a:solidFill>
                  <a:srgbClr val="D7E5D2"/>
                </a:solidFill>
                <a:effectLst/>
                <a:uFillTx/>
                <a:latin typeface="Cambria"/>
                <a:ea typeface="DejaVu Sans"/>
              </a:rPr>
              <a:t>3</a:t>
            </a:r>
            <a:endParaRPr lang="en-US" sz="4000" b="0" u="none" strike="noStrike">
              <a:solidFill>
                <a:srgbClr val="000000"/>
              </a:solidFill>
              <a:effectLst/>
              <a:uFillTx/>
              <a:latin typeface="Arial"/>
            </a:endParaRPr>
          </a:p>
        </p:txBody>
      </p:sp>
      <p:sp>
        <p:nvSpPr>
          <p:cNvPr id="50" name="TextBox 18"/>
          <p:cNvSpPr/>
          <p:nvPr/>
        </p:nvSpPr>
        <p:spPr>
          <a:xfrm>
            <a:off x="6460200" y="2971800"/>
            <a:ext cx="2095560" cy="3160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700" b="1" u="none" strike="noStrike">
                <a:solidFill>
                  <a:srgbClr val="2C5530"/>
                </a:solidFill>
                <a:effectLst/>
                <a:uFillTx/>
                <a:latin typeface="Cambria"/>
                <a:ea typeface="DejaVu Sans"/>
              </a:rPr>
              <a:t>Τα ευρήματα</a:t>
            </a:r>
            <a:endParaRPr lang="en-US" sz="1700" b="0" u="none" strike="noStrike">
              <a:solidFill>
                <a:srgbClr val="000000"/>
              </a:solidFill>
              <a:effectLst/>
              <a:uFillTx/>
              <a:latin typeface="Arial"/>
            </a:endParaRPr>
          </a:p>
        </p:txBody>
      </p:sp>
      <p:sp>
        <p:nvSpPr>
          <p:cNvPr id="51" name="TextBox 19"/>
          <p:cNvSpPr/>
          <p:nvPr/>
        </p:nvSpPr>
        <p:spPr>
          <a:xfrm>
            <a:off x="6460200" y="3520440"/>
            <a:ext cx="2095560" cy="22284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200" b="0" u="none" strike="noStrike">
                <a:solidFill>
                  <a:srgbClr val="6B6259"/>
                </a:solidFill>
                <a:effectLst/>
                <a:uFillTx/>
                <a:latin typeface="Calibri"/>
                <a:ea typeface="DejaVu Sans"/>
              </a:rPr>
              <a:t>Παρουσίαση και αξιολόγηση</a:t>
            </a:r>
            <a:endParaRPr lang="en-US" sz="1200" b="0" u="none" strike="noStrike">
              <a:solidFill>
                <a:srgbClr val="000000"/>
              </a:solidFill>
              <a:effectLst/>
              <a:uFillTx/>
              <a:latin typeface="Arial"/>
            </a:endParaRPr>
          </a:p>
        </p:txBody>
      </p:sp>
      <p:sp>
        <p:nvSpPr>
          <p:cNvPr id="52" name="Rounded Rectangle 20"/>
          <p:cNvSpPr/>
          <p:nvPr/>
        </p:nvSpPr>
        <p:spPr>
          <a:xfrm>
            <a:off x="9032040" y="1920240"/>
            <a:ext cx="2607480" cy="283392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53" name="Rectangle 21"/>
          <p:cNvSpPr/>
          <p:nvPr/>
        </p:nvSpPr>
        <p:spPr>
          <a:xfrm>
            <a:off x="9032040" y="1920240"/>
            <a:ext cx="2607480" cy="8172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37440" rIns="90000" bIns="37440" anchor="ctr">
            <a:noAutofit/>
          </a:bodyPr>
          <a:p>
            <a:pPr/>
            <a:endParaRPr lang="en-US" sz="1800" b="0" u="none" strike="noStrike">
              <a:solidFill>
                <a:schemeClr val="lt1"/>
              </a:solidFill>
              <a:effectLst/>
              <a:uFillTx/>
              <a:latin typeface="Calibri"/>
            </a:endParaRPr>
          </a:p>
        </p:txBody>
      </p:sp>
      <p:sp>
        <p:nvSpPr>
          <p:cNvPr id="54" name="TextBox 22"/>
          <p:cNvSpPr/>
          <p:nvPr/>
        </p:nvSpPr>
        <p:spPr>
          <a:xfrm>
            <a:off x="9288000" y="2240280"/>
            <a:ext cx="2095560" cy="74340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4000" b="1" u="none" strike="noStrike">
                <a:solidFill>
                  <a:srgbClr val="D7E5D2"/>
                </a:solidFill>
                <a:effectLst/>
                <a:uFillTx/>
                <a:latin typeface="Cambria"/>
                <a:ea typeface="DejaVu Sans"/>
              </a:rPr>
              <a:t>4</a:t>
            </a:r>
            <a:endParaRPr lang="en-US" sz="4000" b="0" u="none" strike="noStrike">
              <a:solidFill>
                <a:srgbClr val="000000"/>
              </a:solidFill>
              <a:effectLst/>
              <a:uFillTx/>
              <a:latin typeface="Arial"/>
            </a:endParaRPr>
          </a:p>
        </p:txBody>
      </p:sp>
      <p:sp>
        <p:nvSpPr>
          <p:cNvPr id="55" name="TextBox 23"/>
          <p:cNvSpPr/>
          <p:nvPr/>
        </p:nvSpPr>
        <p:spPr>
          <a:xfrm>
            <a:off x="9288000" y="2971800"/>
            <a:ext cx="2095560" cy="3160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700" b="1" u="none" strike="noStrike">
                <a:solidFill>
                  <a:srgbClr val="2C5530"/>
                </a:solidFill>
                <a:effectLst/>
                <a:uFillTx/>
                <a:latin typeface="Cambria"/>
                <a:ea typeface="DejaVu Sans"/>
              </a:rPr>
              <a:t>Συμπεράσματα</a:t>
            </a:r>
            <a:endParaRPr lang="en-US" sz="1700" b="0" u="none" strike="noStrike">
              <a:solidFill>
                <a:srgbClr val="000000"/>
              </a:solidFill>
              <a:effectLst/>
              <a:uFillTx/>
              <a:latin typeface="Arial"/>
            </a:endParaRPr>
          </a:p>
        </p:txBody>
      </p:sp>
      <p:sp>
        <p:nvSpPr>
          <p:cNvPr id="56" name="TextBox 24"/>
          <p:cNvSpPr/>
          <p:nvPr/>
        </p:nvSpPr>
        <p:spPr>
          <a:xfrm>
            <a:off x="9288000" y="3520440"/>
            <a:ext cx="2095560" cy="22284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200" b="0" u="none" strike="noStrike">
                <a:solidFill>
                  <a:srgbClr val="6B6259"/>
                </a:solidFill>
                <a:effectLst/>
                <a:uFillTx/>
                <a:latin typeface="Calibri"/>
                <a:ea typeface="DejaVu Sans"/>
              </a:rPr>
              <a:t>Προστιθέμενη αξία</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 name="Rectangle 1"/>
          <p:cNvSpPr/>
          <p:nvPr/>
        </p:nvSpPr>
        <p:spPr>
          <a:xfrm>
            <a:off x="0" y="0"/>
            <a:ext cx="12191040" cy="685728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58" name="TextBox 2"/>
          <p:cNvSpPr/>
          <p:nvPr/>
        </p:nvSpPr>
        <p:spPr>
          <a:xfrm>
            <a:off x="548640" y="1600200"/>
            <a:ext cx="11090880" cy="178416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59" name="TextBox 3"/>
          <p:cNvSpPr/>
          <p:nvPr/>
        </p:nvSpPr>
        <p:spPr>
          <a:xfrm>
            <a:off x="548640" y="2971800"/>
            <a:ext cx="11090880" cy="7434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000" b="1" u="none" strike="noStrike">
                <a:solidFill>
                  <a:srgbClr val="E8A33D"/>
                </a:solidFill>
                <a:effectLst/>
                <a:uFillTx/>
                <a:latin typeface="Calibri"/>
                <a:ea typeface="DejaVu Sans"/>
              </a:rPr>
              <a:t>1η ΕΝΟΤΗΤΑ</a:t>
            </a:r>
            <a:endParaRPr lang="en-US" sz="4000" b="0" u="none" strike="noStrike">
              <a:solidFill>
                <a:srgbClr val="000000"/>
              </a:solidFill>
              <a:effectLst/>
              <a:uFillTx/>
              <a:latin typeface="Arial"/>
            </a:endParaRPr>
          </a:p>
        </p:txBody>
      </p:sp>
      <p:sp>
        <p:nvSpPr>
          <p:cNvPr id="60" name="TextBox 4"/>
          <p:cNvSpPr/>
          <p:nvPr/>
        </p:nvSpPr>
        <p:spPr>
          <a:xfrm>
            <a:off x="548640" y="3803760"/>
            <a:ext cx="11090880" cy="817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Το </a:t>
            </a:r>
            <a:r>
              <a:rPr lang="en-US" sz="4400" b="1" u="none" strike="noStrike">
                <a:solidFill>
                  <a:srgbClr val="FFFFFF"/>
                </a:solidFill>
                <a:effectLst/>
                <a:uFillTx/>
                <a:latin typeface="Cambria"/>
                <a:ea typeface="DejaVu Sans"/>
              </a:rPr>
              <a:t>πρόβ</a:t>
            </a:r>
            <a:r>
              <a:rPr lang="en-US" sz="4400" b="1" u="none" strike="noStrike">
                <a:solidFill>
                  <a:srgbClr val="FFFFFF"/>
                </a:solidFill>
                <a:effectLst/>
                <a:uFillTx/>
                <a:latin typeface="Cambria"/>
                <a:ea typeface="DejaVu Sans"/>
              </a:rPr>
              <a:t>λημα</a:t>
            </a:r>
            <a:endParaRPr lang="en-US" sz="4400" b="0" u="none" strike="noStrike">
              <a:solidFill>
                <a:srgbClr val="000000"/>
              </a:solidFill>
              <a:effectLst/>
              <a:uFillTx/>
              <a:latin typeface="Arial"/>
            </a:endParaRPr>
          </a:p>
        </p:txBody>
      </p:sp>
      <p:sp>
        <p:nvSpPr>
          <p:cNvPr id="61" name="TextBox 5"/>
          <p:cNvSpPr/>
          <p:nvPr/>
        </p:nvSpPr>
        <p:spPr>
          <a:xfrm>
            <a:off x="548640" y="4645080"/>
            <a:ext cx="11090880" cy="2786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62" name="TextBox 6"/>
          <p:cNvSpPr/>
          <p:nvPr/>
        </p:nvSpPr>
        <p:spPr>
          <a:xfrm>
            <a:off x="548640" y="6473880"/>
            <a:ext cx="5485680" cy="16776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63" name="TextBox 7"/>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3</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ΤΟ ΠΡΟΒΛΗΜΑ</a:t>
            </a:r>
            <a:endParaRPr lang="en-US" sz="1200" b="0" u="none" strike="noStrike">
              <a:solidFill>
                <a:srgbClr val="000000"/>
              </a:solidFill>
              <a:effectLst/>
              <a:uFillTx/>
              <a:latin typeface="Arial"/>
            </a:endParaRPr>
          </a:p>
        </p:txBody>
      </p:sp>
      <p:sp>
        <p:nvSpPr>
          <p:cNvPr id="65"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Αξιο</a:t>
            </a:r>
            <a:r>
              <a:rPr lang="en-US" sz="3000" b="1" u="none" strike="noStrike">
                <a:solidFill>
                  <a:srgbClr val="2C5530"/>
                </a:solidFill>
                <a:effectLst/>
                <a:uFillTx/>
                <a:latin typeface="Cambria"/>
                <a:ea typeface="DejaVu Sans"/>
              </a:rPr>
              <a:t>ποίη</a:t>
            </a:r>
            <a:r>
              <a:rPr lang="en-US" sz="3000" b="1" u="none" strike="noStrike">
                <a:solidFill>
                  <a:srgbClr val="2C5530"/>
                </a:solidFill>
                <a:effectLst/>
                <a:uFillTx/>
                <a:latin typeface="Cambria"/>
                <a:ea typeface="DejaVu Sans"/>
              </a:rPr>
              <a:t>ση </a:t>
            </a:r>
            <a:r>
              <a:rPr lang="en-US" sz="3000" b="1" u="none" strike="noStrike">
                <a:solidFill>
                  <a:srgbClr val="2C5530"/>
                </a:solidFill>
                <a:effectLst/>
                <a:uFillTx/>
                <a:latin typeface="Cambria"/>
                <a:ea typeface="DejaVu Sans"/>
              </a:rPr>
              <a:t>των </a:t>
            </a:r>
            <a:r>
              <a:rPr lang="en-US" sz="3000" b="1" u="none" strike="noStrike">
                <a:solidFill>
                  <a:srgbClr val="2C5530"/>
                </a:solidFill>
                <a:effectLst/>
                <a:uFillTx/>
                <a:latin typeface="Cambria"/>
                <a:ea typeface="DejaVu Sans"/>
              </a:rPr>
              <a:t>δεδο</a:t>
            </a:r>
            <a:r>
              <a:rPr lang="en-US" sz="3000" b="1" u="none" strike="noStrike">
                <a:solidFill>
                  <a:srgbClr val="2C5530"/>
                </a:solidFill>
                <a:effectLst/>
                <a:uFillTx/>
                <a:latin typeface="Cambria"/>
                <a:ea typeface="DejaVu Sans"/>
              </a:rPr>
              <a:t>μένω</a:t>
            </a:r>
            <a:r>
              <a:rPr lang="en-US" sz="3000" b="1" u="none" strike="noStrike">
                <a:solidFill>
                  <a:srgbClr val="2C5530"/>
                </a:solidFill>
                <a:effectLst/>
                <a:uFillTx/>
                <a:latin typeface="Cambria"/>
                <a:ea typeface="DejaVu Sans"/>
              </a:rPr>
              <a:t>ν</a:t>
            </a:r>
            <a:endParaRPr lang="en-US" sz="3000" b="0" u="none" strike="noStrike">
              <a:solidFill>
                <a:srgbClr val="000000"/>
              </a:solidFill>
              <a:effectLst/>
              <a:uFillTx/>
              <a:latin typeface="Arial"/>
            </a:endParaRPr>
          </a:p>
        </p:txBody>
      </p:sp>
      <p:sp>
        <p:nvSpPr>
          <p:cNvPr id="66" name="TextBox 3"/>
          <p:cNvSpPr/>
          <p:nvPr/>
        </p:nvSpPr>
        <p:spPr>
          <a:xfrm>
            <a:off x="548640" y="6473880"/>
            <a:ext cx="3656880" cy="2736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67"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4</a:t>
            </a:r>
            <a:endParaRPr lang="en-US" sz="900" b="0" u="none" strike="noStrike">
              <a:solidFill>
                <a:srgbClr val="000000"/>
              </a:solidFill>
              <a:effectLst/>
              <a:uFillTx/>
              <a:latin typeface="Arial"/>
            </a:endParaRPr>
          </a:p>
        </p:txBody>
      </p:sp>
      <p:sp>
        <p:nvSpPr>
          <p:cNvPr id="68" name="TextBox 5"/>
          <p:cNvSpPr/>
          <p:nvPr/>
        </p:nvSpPr>
        <p:spPr>
          <a:xfrm>
            <a:off x="548640" y="2286000"/>
            <a:ext cx="5348520" cy="2876760"/>
          </a:xfrm>
          <a:prstGeom prst="rect">
            <a:avLst/>
          </a:prstGeom>
          <a:noFill/>
          <a:ln w="0">
            <a:noFill/>
          </a:ln>
        </p:spPr>
        <p:style>
          <a:lnRef idx="0"/>
          <a:fillRef idx="0"/>
          <a:effectRef idx="0"/>
          <a:fontRef idx="minor"/>
        </p:style>
        <p:txBody>
          <a:bodyPr lIns="0" tIns="0" rIns="0" bIns="0" anchor="t">
            <a:spAutoFit/>
          </a:bodyPr>
          <a:p>
            <a:pPr defTabSz="457200">
              <a:lnSpc>
                <a:spcPts val="2599"/>
              </a:lnSpc>
              <a:spcAft>
                <a:spcPts val="799"/>
              </a:spcAft>
            </a:pPr>
            <a:r>
              <a:rPr lang="en-US" sz="2000" b="0" u="none" strike="noStrike">
                <a:solidFill>
                  <a:srgbClr val="224B12"/>
                </a:solidFill>
                <a:effectLst/>
                <a:uFillTx/>
                <a:latin typeface="Calibri"/>
                <a:ea typeface="DejaVu Sans"/>
              </a:rPr>
              <a:t>- </a:t>
            </a:r>
            <a:r>
              <a:rPr lang="en-US" sz="2589" b="0" u="none" strike="noStrike" baseline="7000">
                <a:solidFill>
                  <a:srgbClr val="241F1B"/>
                </a:solidFill>
                <a:effectLst/>
                <a:uFillTx/>
                <a:latin typeface="Calibri"/>
                <a:ea typeface="GoogleSansFlex-Regular_opsz110000_wdth5C0000_wght1540000_GRAD_ROND_slnt"/>
              </a:rPr>
              <a:t>Τα e-shops καταγράφουν τεράστιους όγκους δεδομένων, παραγγελίες, προϊόντα, επιστροφές.</a:t>
            </a:r>
            <a:endParaRPr lang="en-US" sz="2590" b="0" u="none" strike="noStrike">
              <a:solidFill>
                <a:srgbClr val="000000"/>
              </a:solidFill>
              <a:effectLst/>
              <a:uFillTx/>
              <a:latin typeface="Arial"/>
            </a:endParaRPr>
          </a:p>
          <a:p>
            <a:pPr defTabSz="457200">
              <a:lnSpc>
                <a:spcPts val="2599"/>
              </a:lnSpc>
              <a:spcAft>
                <a:spcPts val="799"/>
              </a:spcAft>
            </a:pPr>
            <a:r>
              <a:rPr lang="en-US" sz="2000" b="0" u="none" strike="noStrike">
                <a:solidFill>
                  <a:srgbClr val="224B12"/>
                </a:solidFill>
                <a:effectLst/>
                <a:uFillTx/>
                <a:latin typeface="Calibri"/>
                <a:ea typeface="DejaVu Sans"/>
              </a:rPr>
              <a:t>- </a:t>
            </a:r>
            <a:r>
              <a:rPr lang="en-US" sz="2589" b="0" u="none" strike="noStrike" baseline="7000">
                <a:solidFill>
                  <a:srgbClr val="241F1B"/>
                </a:solidFill>
                <a:effectLst/>
                <a:uFillTx/>
                <a:latin typeface="Calibri"/>
                <a:ea typeface="GoogleSansFlex-Regular_opsz110000_wdth5C0000_wght1540000_GRAD_ROND_slnt"/>
              </a:rPr>
              <a:t>Τα τμήματα marketing και πωλήσεων συχνά δεν αξιοποιούν αυτή την πληροφορία στη λήψη αποφάσεων.</a:t>
            </a:r>
            <a:endParaRPr lang="en-US" sz="259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2589" b="1" u="none" strike="noStrike" baseline="7000">
                <a:solidFill>
                  <a:srgbClr val="241F1B"/>
                </a:solidFill>
                <a:effectLst/>
                <a:uFillTx/>
                <a:latin typeface="Calibri"/>
                <a:ea typeface="GoogleSansFlex-Regular_opsz110000_wdth5C0000_wght1540000_GRAD_ROND_slnt"/>
              </a:rPr>
              <a:t>Η παρούσα διπλωματική εργασία προτείνει έναν γρήγορο, αποδοτικό και προσιτό τρόπο αξιοποίησης αυτών των δεδομένων.</a:t>
            </a:r>
            <a:endParaRPr lang="en-US" sz="2590" b="0" u="none" strike="noStrike">
              <a:solidFill>
                <a:srgbClr val="000000"/>
              </a:solidFill>
              <a:effectLst/>
              <a:uFillTx/>
              <a:latin typeface="Arial"/>
            </a:endParaRPr>
          </a:p>
          <a:p>
            <a:pPr defTabSz="457200">
              <a:lnSpc>
                <a:spcPct val="122000"/>
              </a:lnSpc>
              <a:spcAft>
                <a:spcPts val="901"/>
              </a:spcAft>
            </a:pPr>
            <a:endParaRPr lang="en-US" sz="1500" b="0" u="none" strike="noStrike">
              <a:solidFill>
                <a:srgbClr val="000000"/>
              </a:solidFill>
              <a:effectLst/>
              <a:uFillTx/>
              <a:latin typeface="Arial"/>
            </a:endParaRPr>
          </a:p>
        </p:txBody>
      </p:sp>
      <p:sp>
        <p:nvSpPr>
          <p:cNvPr id="69" name="Rounded Rectangle 6"/>
          <p:cNvSpPr/>
          <p:nvPr/>
        </p:nvSpPr>
        <p:spPr>
          <a:xfrm>
            <a:off x="6291000" y="2116800"/>
            <a:ext cx="5348520" cy="10508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70" name="TextBox 7"/>
          <p:cNvSpPr/>
          <p:nvPr/>
        </p:nvSpPr>
        <p:spPr>
          <a:xfrm>
            <a:off x="6519600" y="2281320"/>
            <a:ext cx="4891320" cy="25056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350" b="1" u="none" strike="noStrike">
                <a:solidFill>
                  <a:srgbClr val="2C5530"/>
                </a:solidFill>
                <a:effectLst/>
                <a:uFillTx/>
                <a:latin typeface="Cambria"/>
                <a:ea typeface="DejaVu Sans"/>
              </a:rPr>
              <a:t>Τ</a:t>
            </a:r>
            <a:r>
              <a:rPr lang="en-US" sz="1350" b="1" u="none" strike="noStrike">
                <a:solidFill>
                  <a:srgbClr val="2C5530"/>
                </a:solidFill>
                <a:effectLst/>
                <a:uFillTx/>
                <a:latin typeface="Cambria"/>
                <a:ea typeface="DejaVu Sans"/>
              </a:rPr>
              <a:t>Ι</a:t>
            </a:r>
            <a:r>
              <a:rPr lang="en-US" sz="1350" b="1" u="none" strike="noStrike">
                <a:solidFill>
                  <a:srgbClr val="2C5530"/>
                </a:solidFill>
                <a:effectLst/>
                <a:uFillTx/>
                <a:latin typeface="Cambria"/>
                <a:ea typeface="DejaVu Sans"/>
              </a:rPr>
              <a:t> </a:t>
            </a:r>
            <a:r>
              <a:rPr lang="en-US" sz="1350" b="1" u="none" strike="noStrike">
                <a:solidFill>
                  <a:srgbClr val="2C5530"/>
                </a:solidFill>
                <a:effectLst/>
                <a:uFillTx/>
                <a:latin typeface="Cambria"/>
                <a:ea typeface="DejaVu Sans"/>
              </a:rPr>
              <a:t>Ε</a:t>
            </a:r>
            <a:r>
              <a:rPr lang="en-US" sz="1350" b="1" u="none" strike="noStrike">
                <a:solidFill>
                  <a:srgbClr val="2C5530"/>
                </a:solidFill>
                <a:effectLst/>
                <a:uFillTx/>
                <a:latin typeface="Cambria"/>
                <a:ea typeface="DejaVu Sans"/>
              </a:rPr>
              <a:t>Χ</a:t>
            </a:r>
            <a:r>
              <a:rPr lang="en-US" sz="1350" b="1" u="none" strike="noStrike">
                <a:solidFill>
                  <a:srgbClr val="2C5530"/>
                </a:solidFill>
                <a:effectLst/>
                <a:uFillTx/>
                <a:latin typeface="Cambria"/>
                <a:ea typeface="DejaVu Sans"/>
              </a:rPr>
              <a:t>Ο</a:t>
            </a:r>
            <a:r>
              <a:rPr lang="en-US" sz="1350" b="1" u="none" strike="noStrike">
                <a:solidFill>
                  <a:srgbClr val="2C5530"/>
                </a:solidFill>
                <a:effectLst/>
                <a:uFillTx/>
                <a:latin typeface="Cambria"/>
                <a:ea typeface="DejaVu Sans"/>
              </a:rPr>
              <a:t>Υ</a:t>
            </a:r>
            <a:r>
              <a:rPr lang="en-US" sz="1350" b="1" u="none" strike="noStrike">
                <a:solidFill>
                  <a:srgbClr val="2C5530"/>
                </a:solidFill>
                <a:effectLst/>
                <a:uFillTx/>
                <a:latin typeface="Cambria"/>
                <a:ea typeface="DejaVu Sans"/>
              </a:rPr>
              <a:t>Μ</a:t>
            </a:r>
            <a:r>
              <a:rPr lang="en-US" sz="1350" b="1" u="none" strike="noStrike">
                <a:solidFill>
                  <a:srgbClr val="2C5530"/>
                </a:solidFill>
                <a:effectLst/>
                <a:uFillTx/>
                <a:latin typeface="Cambria"/>
                <a:ea typeface="DejaVu Sans"/>
              </a:rPr>
              <a:t>Ε</a:t>
            </a:r>
            <a:endParaRPr lang="en-US" sz="1350" b="0" u="none" strike="noStrike">
              <a:solidFill>
                <a:srgbClr val="000000"/>
              </a:solidFill>
              <a:effectLst/>
              <a:uFillTx/>
              <a:latin typeface="Arial"/>
            </a:endParaRPr>
          </a:p>
        </p:txBody>
      </p:sp>
      <p:sp>
        <p:nvSpPr>
          <p:cNvPr id="71" name="TextBox 8"/>
          <p:cNvSpPr/>
          <p:nvPr/>
        </p:nvSpPr>
        <p:spPr>
          <a:xfrm>
            <a:off x="6519600" y="2619720"/>
            <a:ext cx="4891320" cy="2602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400" b="0" u="none" strike="noStrike">
                <a:solidFill>
                  <a:srgbClr val="241F1B"/>
                </a:solidFill>
                <a:effectLst/>
                <a:uFillTx/>
                <a:latin typeface="Calibri"/>
                <a:ea typeface="DejaVu Sans"/>
              </a:rPr>
              <a:t>Πλήρεςιστορικό και δεδομένα πωλήσεων/επιστροφών</a:t>
            </a:r>
            <a:endParaRPr lang="en-US" sz="1400" b="0" u="none" strike="noStrike">
              <a:solidFill>
                <a:srgbClr val="000000"/>
              </a:solidFill>
              <a:effectLst/>
              <a:uFillTx/>
              <a:latin typeface="Arial"/>
            </a:endParaRPr>
          </a:p>
        </p:txBody>
      </p:sp>
      <p:sp>
        <p:nvSpPr>
          <p:cNvPr id="72" name="Rounded Rectangle 9"/>
          <p:cNvSpPr/>
          <p:nvPr/>
        </p:nvSpPr>
        <p:spPr>
          <a:xfrm>
            <a:off x="6291000" y="3351240"/>
            <a:ext cx="5348520" cy="1050840"/>
          </a:xfrm>
          <a:prstGeom prst="roundRect">
            <a:avLst>
              <a:gd name="adj" fmla="val 16667"/>
            </a:avLst>
          </a:prstGeom>
          <a:solidFill>
            <a:srgbClr val="FFFFFF"/>
          </a:solid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73" name="TextBox 10"/>
          <p:cNvSpPr/>
          <p:nvPr/>
        </p:nvSpPr>
        <p:spPr>
          <a:xfrm>
            <a:off x="6519600" y="3515760"/>
            <a:ext cx="4891320" cy="25056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350" b="1" u="none" strike="noStrike">
                <a:solidFill>
                  <a:srgbClr val="B0413E"/>
                </a:solidFill>
                <a:effectLst/>
                <a:uFillTx/>
                <a:latin typeface="Cambria"/>
                <a:ea typeface="DejaVu Sans"/>
              </a:rPr>
              <a:t>ΤΟ ΚΕΝΟ</a:t>
            </a:r>
            <a:endParaRPr lang="en-US" sz="1350" b="0" u="none" strike="noStrike">
              <a:solidFill>
                <a:srgbClr val="000000"/>
              </a:solidFill>
              <a:effectLst/>
              <a:uFillTx/>
              <a:latin typeface="Arial"/>
            </a:endParaRPr>
          </a:p>
        </p:txBody>
      </p:sp>
      <p:sp>
        <p:nvSpPr>
          <p:cNvPr id="74" name="TextBox 11"/>
          <p:cNvSpPr/>
          <p:nvPr/>
        </p:nvSpPr>
        <p:spPr>
          <a:xfrm>
            <a:off x="6519600" y="3854160"/>
            <a:ext cx="4891320" cy="2602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400" b="0" u="none" strike="noStrike">
                <a:solidFill>
                  <a:srgbClr val="B0413E"/>
                </a:solidFill>
                <a:effectLst/>
                <a:uFillTx/>
                <a:latin typeface="Calibri"/>
                <a:ea typeface="DejaVu Sans"/>
              </a:rPr>
              <a:t>Αποφάσεις χωρίς αξιοποίηση των πληροφοριών</a:t>
            </a:r>
            <a:endParaRPr lang="en-US" sz="1400" b="0" u="none" strike="noStrike">
              <a:solidFill>
                <a:srgbClr val="000000"/>
              </a:solidFill>
              <a:effectLst/>
              <a:uFillTx/>
              <a:latin typeface="Arial"/>
            </a:endParaRPr>
          </a:p>
        </p:txBody>
      </p:sp>
      <p:sp>
        <p:nvSpPr>
          <p:cNvPr id="75" name="Rounded Rectangle 12"/>
          <p:cNvSpPr/>
          <p:nvPr/>
        </p:nvSpPr>
        <p:spPr>
          <a:xfrm>
            <a:off x="6291000" y="4585680"/>
            <a:ext cx="5348520" cy="1050840"/>
          </a:xfrm>
          <a:prstGeom prst="roundRect">
            <a:avLst>
              <a:gd name="adj" fmla="val 16667"/>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76" name="TextBox 13"/>
          <p:cNvSpPr/>
          <p:nvPr/>
        </p:nvSpPr>
        <p:spPr>
          <a:xfrm>
            <a:off x="6519600" y="4750200"/>
            <a:ext cx="4891320" cy="25056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350" b="1" u="none" strike="noStrike">
                <a:solidFill>
                  <a:srgbClr val="FFFFFF"/>
                </a:solidFill>
                <a:effectLst/>
                <a:uFillTx/>
                <a:latin typeface="Cambria"/>
                <a:ea typeface="DejaVu Sans"/>
              </a:rPr>
              <a:t>ΤΙ ΘΕΛΟΥΜΕ</a:t>
            </a:r>
            <a:endParaRPr lang="en-US" sz="1350" b="0" u="none" strike="noStrike">
              <a:solidFill>
                <a:srgbClr val="000000"/>
              </a:solidFill>
              <a:effectLst/>
              <a:uFillTx/>
              <a:latin typeface="Arial"/>
            </a:endParaRPr>
          </a:p>
        </p:txBody>
      </p:sp>
      <p:sp>
        <p:nvSpPr>
          <p:cNvPr id="77" name="TextBox 14"/>
          <p:cNvSpPr/>
          <p:nvPr/>
        </p:nvSpPr>
        <p:spPr>
          <a:xfrm>
            <a:off x="6519600" y="5088600"/>
            <a:ext cx="4891320" cy="2602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400" b="0" u="none" strike="noStrike">
                <a:solidFill>
                  <a:srgbClr val="D7E5D2"/>
                </a:solidFill>
                <a:effectLst/>
                <a:uFillTx/>
                <a:latin typeface="Calibri"/>
                <a:ea typeface="DejaVu Sans"/>
              </a:rPr>
              <a:t>Αποφάσεις που στηρίζονται στα δεδομένα</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ΟΙ ΣΤΟΧΟΙ</a:t>
            </a:r>
            <a:endParaRPr lang="en-US" sz="1200" b="0" u="none" strike="noStrike">
              <a:solidFill>
                <a:srgbClr val="000000"/>
              </a:solidFill>
              <a:effectLst/>
              <a:uFillTx/>
              <a:latin typeface="Arial"/>
            </a:endParaRPr>
          </a:p>
        </p:txBody>
      </p:sp>
      <p:sp>
        <p:nvSpPr>
          <p:cNvPr id="79"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7 ερωτήματα που καλούνται να απαντήσουν οι επιχειρήσεις</a:t>
            </a:r>
            <a:endParaRPr lang="en-US" sz="3000" b="0" u="none" strike="noStrike">
              <a:solidFill>
                <a:srgbClr val="000000"/>
              </a:solidFill>
              <a:effectLst/>
              <a:uFillTx/>
              <a:latin typeface="Arial"/>
            </a:endParaRPr>
          </a:p>
        </p:txBody>
      </p:sp>
      <p:sp>
        <p:nvSpPr>
          <p:cNvPr id="80" name="TextBox 3"/>
          <p:cNvSpPr/>
          <p:nvPr/>
        </p:nvSpPr>
        <p:spPr>
          <a:xfrm>
            <a:off x="548640" y="6473880"/>
            <a:ext cx="3656880" cy="16776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81"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5</a:t>
            </a:r>
            <a:endParaRPr lang="en-US" sz="900" b="0" u="none" strike="noStrike">
              <a:solidFill>
                <a:srgbClr val="000000"/>
              </a:solidFill>
              <a:effectLst/>
              <a:uFillTx/>
              <a:latin typeface="Arial"/>
            </a:endParaRPr>
          </a:p>
        </p:txBody>
      </p:sp>
      <p:sp>
        <p:nvSpPr>
          <p:cNvPr id="82" name="TextBox 5"/>
          <p:cNvSpPr/>
          <p:nvPr/>
        </p:nvSpPr>
        <p:spPr>
          <a:xfrm>
            <a:off x="548640" y="6157080"/>
            <a:ext cx="11090880" cy="2610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83" name="TextBox 7"/>
          <p:cNvSpPr/>
          <p:nvPr/>
        </p:nvSpPr>
        <p:spPr>
          <a:xfrm>
            <a:off x="548640" y="2191680"/>
            <a:ext cx="493200" cy="29700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600" b="1" u="none" strike="noStrike">
                <a:solidFill>
                  <a:srgbClr val="FFFFFF"/>
                </a:solidFill>
                <a:effectLst/>
                <a:uFillTx/>
                <a:latin typeface="Cambria"/>
                <a:ea typeface="DejaVu Sans"/>
              </a:rPr>
              <a:t>1</a:t>
            </a:r>
            <a:endParaRPr lang="en-US" sz="1600" b="0" u="none" strike="noStrike">
              <a:solidFill>
                <a:srgbClr val="000000"/>
              </a:solidFill>
              <a:effectLst/>
              <a:uFillTx/>
              <a:latin typeface="Arial"/>
            </a:endParaRPr>
          </a:p>
        </p:txBody>
      </p:sp>
      <p:sp>
        <p:nvSpPr>
          <p:cNvPr id="84" name="TextBox 8"/>
          <p:cNvSpPr/>
          <p:nvPr/>
        </p:nvSpPr>
        <p:spPr>
          <a:xfrm>
            <a:off x="581040" y="1907280"/>
            <a:ext cx="7648200" cy="3643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2800" b="0" u="none" strike="noStrike">
                <a:solidFill>
                  <a:srgbClr val="224B12"/>
                </a:solidFill>
                <a:effectLst/>
                <a:uFillTx/>
                <a:latin typeface="Calibri"/>
                <a:ea typeface="DejaVu Sans"/>
              </a:rPr>
              <a:t>1.</a:t>
            </a:r>
            <a:r>
              <a:rPr lang="en-US" sz="2000" b="0" u="none" strike="noStrike">
                <a:solidFill>
                  <a:srgbClr val="241F1B"/>
                </a:solidFill>
                <a:effectLst/>
                <a:uFillTx/>
                <a:latin typeface="Calibri"/>
                <a:ea typeface="DejaVu Sans"/>
              </a:rPr>
              <a:t> Ποια προϊόντα φέρνουν τα περισσότερα έσοδα?</a:t>
            </a:r>
            <a:endParaRPr lang="en-US" sz="2000" b="0" u="none" strike="noStrike">
              <a:solidFill>
                <a:srgbClr val="000000"/>
              </a:solidFill>
              <a:effectLst/>
              <a:uFillTx/>
              <a:latin typeface="Arial"/>
            </a:endParaRPr>
          </a:p>
          <a:p>
            <a:pPr defTabSz="457200">
              <a:lnSpc>
                <a:spcPct val="122000"/>
              </a:lnSpc>
            </a:pPr>
            <a:r>
              <a:rPr lang="en-US" sz="2800" b="0" u="none" strike="noStrike">
                <a:solidFill>
                  <a:srgbClr val="224B12"/>
                </a:solidFill>
                <a:effectLst/>
                <a:uFillTx/>
                <a:latin typeface="Calibri"/>
                <a:ea typeface="DejaVu Sans"/>
              </a:rPr>
              <a:t>2.</a:t>
            </a:r>
            <a:r>
              <a:rPr lang="en-US" sz="2000" b="0" u="none" strike="noStrike">
                <a:solidFill>
                  <a:srgbClr val="241F1B"/>
                </a:solidFill>
                <a:effectLst/>
                <a:uFillTx/>
                <a:latin typeface="Calibri"/>
                <a:ea typeface="DejaVu Sans"/>
              </a:rPr>
              <a:t> Ποιοι πελάτες αγοράζουν τα περισσότερα?</a:t>
            </a:r>
            <a:endParaRPr lang="en-US" sz="2000" b="0" u="none" strike="noStrike">
              <a:solidFill>
                <a:srgbClr val="000000"/>
              </a:solidFill>
              <a:effectLst/>
              <a:uFillTx/>
              <a:latin typeface="Arial"/>
            </a:endParaRPr>
          </a:p>
          <a:p>
            <a:pPr defTabSz="457200">
              <a:lnSpc>
                <a:spcPct val="122000"/>
              </a:lnSpc>
            </a:pPr>
            <a:r>
              <a:rPr lang="en-US" sz="2800" b="0" u="none" strike="noStrike">
                <a:solidFill>
                  <a:srgbClr val="224B12"/>
                </a:solidFill>
                <a:effectLst/>
                <a:uFillTx/>
                <a:latin typeface="Calibri"/>
                <a:ea typeface="DejaVu Sans"/>
              </a:rPr>
              <a:t>3</a:t>
            </a:r>
            <a:r>
              <a:rPr lang="en-US" sz="2800" b="0" u="none" strike="noStrike">
                <a:solidFill>
                  <a:srgbClr val="241F1B"/>
                </a:solidFill>
                <a:effectLst/>
                <a:uFillTx/>
                <a:latin typeface="Calibri"/>
                <a:ea typeface="DejaVu Sans"/>
              </a:rPr>
              <a:t>.</a:t>
            </a:r>
            <a:r>
              <a:rPr lang="en-US" sz="2000" b="0" u="none" strike="noStrike">
                <a:solidFill>
                  <a:srgbClr val="241F1B"/>
                </a:solidFill>
                <a:effectLst/>
                <a:uFillTx/>
                <a:latin typeface="Calibri"/>
                <a:ea typeface="DejaVu Sans"/>
              </a:rPr>
              <a:t> Ποιες περιοχές αγοράζουν τα περισσότερα?</a:t>
            </a:r>
            <a:endParaRPr lang="en-US" sz="2000" b="0" u="none" strike="noStrike">
              <a:solidFill>
                <a:srgbClr val="000000"/>
              </a:solidFill>
              <a:effectLst/>
              <a:uFillTx/>
              <a:latin typeface="Arial"/>
            </a:endParaRPr>
          </a:p>
          <a:p>
            <a:pPr defTabSz="457200">
              <a:lnSpc>
                <a:spcPct val="122000"/>
              </a:lnSpc>
            </a:pPr>
            <a:r>
              <a:rPr lang="en-US" sz="2800" b="0" u="none" strike="noStrike">
                <a:solidFill>
                  <a:srgbClr val="224B12"/>
                </a:solidFill>
                <a:effectLst/>
                <a:uFillTx/>
                <a:latin typeface="Calibri"/>
                <a:ea typeface="DejaVu Sans"/>
              </a:rPr>
              <a:t>4.</a:t>
            </a:r>
            <a:r>
              <a:rPr lang="en-US" sz="2000" b="0" u="none" strike="noStrike">
                <a:solidFill>
                  <a:srgbClr val="241F1B"/>
                </a:solidFill>
                <a:effectLst/>
                <a:uFillTx/>
                <a:latin typeface="Calibri"/>
                <a:ea typeface="DejaVu Sans"/>
              </a:rPr>
              <a:t> Πότε μέσα στον χρόνο γίνονται οι περισσότερες πωλήσεις?</a:t>
            </a:r>
            <a:endParaRPr lang="en-US" sz="2000" b="0" u="none" strike="noStrike">
              <a:solidFill>
                <a:srgbClr val="000000"/>
              </a:solidFill>
              <a:effectLst/>
              <a:uFillTx/>
              <a:latin typeface="Arial"/>
            </a:endParaRPr>
          </a:p>
          <a:p>
            <a:pPr defTabSz="457200">
              <a:lnSpc>
                <a:spcPct val="122000"/>
              </a:lnSpc>
            </a:pPr>
            <a:r>
              <a:rPr lang="en-US" sz="2800" b="0" u="none" strike="noStrike">
                <a:solidFill>
                  <a:srgbClr val="224B12"/>
                </a:solidFill>
                <a:effectLst/>
                <a:uFillTx/>
                <a:latin typeface="Calibri"/>
                <a:ea typeface="Arial Unicode MS"/>
              </a:rPr>
              <a:t>5.</a:t>
            </a:r>
            <a:r>
              <a:rPr lang="en-US" sz="2000" b="0" u="none" strike="noStrike">
                <a:solidFill>
                  <a:srgbClr val="241F1B"/>
                </a:solidFill>
                <a:effectLst/>
                <a:uFillTx/>
                <a:latin typeface="Calibri"/>
                <a:ea typeface="Arial Unicode MS"/>
              </a:rPr>
              <a:t> Ποια προϊόντα επιστρέφονται πιο συχνά?</a:t>
            </a:r>
            <a:br>
              <a:rPr sz="2000"/>
            </a:br>
            <a:r>
              <a:rPr lang="en-US" sz="2800" b="0" u="none" strike="noStrike">
                <a:solidFill>
                  <a:srgbClr val="224B12"/>
                </a:solidFill>
                <a:effectLst/>
                <a:uFillTx/>
                <a:latin typeface="Calibri"/>
                <a:ea typeface="DejaVu Sans"/>
              </a:rPr>
              <a:t>6.</a:t>
            </a:r>
            <a:r>
              <a:rPr lang="en-US" sz="2000" b="0" u="none" strike="noStrike">
                <a:solidFill>
                  <a:srgbClr val="241F1B"/>
                </a:solidFill>
                <a:effectLst/>
                <a:uFillTx/>
                <a:latin typeface="Calibri"/>
                <a:ea typeface="DejaVu Sans"/>
              </a:rPr>
              <a:t> Πώς μοιράζονται οι πωλήσεις ανά τιμή?</a:t>
            </a:r>
            <a:endParaRPr lang="en-US" sz="2000" b="0" u="none" strike="noStrike">
              <a:solidFill>
                <a:srgbClr val="000000"/>
              </a:solidFill>
              <a:effectLst/>
              <a:uFillTx/>
              <a:latin typeface="Arial"/>
            </a:endParaRPr>
          </a:p>
          <a:p>
            <a:pPr defTabSz="457200">
              <a:lnSpc>
                <a:spcPct val="122000"/>
              </a:lnSpc>
            </a:pPr>
            <a:r>
              <a:rPr lang="en-US" sz="2800" b="0" u="none" strike="noStrike">
                <a:solidFill>
                  <a:srgbClr val="224B12"/>
                </a:solidFill>
                <a:effectLst/>
                <a:uFillTx/>
                <a:latin typeface="Calibri"/>
                <a:ea typeface="DejaVu Sans"/>
              </a:rPr>
              <a:t>7.</a:t>
            </a:r>
            <a:r>
              <a:rPr lang="en-US" sz="2000" b="0" u="none" strike="noStrike">
                <a:solidFill>
                  <a:srgbClr val="241F1B"/>
                </a:solidFill>
                <a:effectLst/>
                <a:uFillTx/>
                <a:latin typeface="Calibri"/>
                <a:ea typeface="DejaVu Sans"/>
              </a:rPr>
              <a:t> Πώς μοιράζονται οι πωλήσεις ανά είδος προϊόντος</a:t>
            </a:r>
            <a:endParaRPr lang="en-US" sz="2000" b="0" u="none" strike="noStrike">
              <a:solidFill>
                <a:srgbClr val="000000"/>
              </a:solidFill>
              <a:effectLst/>
              <a:uFillTx/>
              <a:latin typeface="Arial"/>
            </a:endParaRPr>
          </a:p>
        </p:txBody>
      </p:sp>
      <p:sp>
        <p:nvSpPr>
          <p:cNvPr id="85" name="TextBox 10"/>
          <p:cNvSpPr/>
          <p:nvPr/>
        </p:nvSpPr>
        <p:spPr>
          <a:xfrm>
            <a:off x="6231600" y="2191680"/>
            <a:ext cx="493200" cy="29700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600" b="1" u="none" strike="noStrike">
                <a:solidFill>
                  <a:srgbClr val="FFFFFF"/>
                </a:solidFill>
                <a:effectLst/>
                <a:uFillTx/>
                <a:latin typeface="Cambria"/>
                <a:ea typeface="DejaVu Sans"/>
              </a:rPr>
              <a:t>2</a:t>
            </a:r>
            <a:endParaRPr lang="en-US" sz="1600" b="0" u="none" strike="noStrike">
              <a:solidFill>
                <a:srgbClr val="000000"/>
              </a:solidFill>
              <a:effectLst/>
              <a:uFillTx/>
              <a:latin typeface="Arial"/>
            </a:endParaRPr>
          </a:p>
        </p:txBody>
      </p:sp>
      <p:sp>
        <p:nvSpPr>
          <p:cNvPr id="86" name="TextBox 13"/>
          <p:cNvSpPr/>
          <p:nvPr/>
        </p:nvSpPr>
        <p:spPr>
          <a:xfrm>
            <a:off x="548640" y="3033000"/>
            <a:ext cx="493200" cy="29628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87" name="TextBox 14"/>
          <p:cNvSpPr/>
          <p:nvPr/>
        </p:nvSpPr>
        <p:spPr>
          <a:xfrm>
            <a:off x="1225440" y="3042000"/>
            <a:ext cx="4676400" cy="2970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88" name="TextBox 16"/>
          <p:cNvSpPr/>
          <p:nvPr/>
        </p:nvSpPr>
        <p:spPr>
          <a:xfrm>
            <a:off x="6231600" y="3033000"/>
            <a:ext cx="493200" cy="29700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600" b="1" u="none" strike="noStrike">
                <a:solidFill>
                  <a:srgbClr val="FFFFFF"/>
                </a:solidFill>
                <a:effectLst/>
                <a:uFillTx/>
                <a:latin typeface="Cambria"/>
                <a:ea typeface="DejaVu Sans"/>
              </a:rPr>
              <a:t>4</a:t>
            </a:r>
            <a:endParaRPr lang="en-US" sz="1600" b="0" u="none" strike="noStrike">
              <a:solidFill>
                <a:srgbClr val="000000"/>
              </a:solidFill>
              <a:effectLst/>
              <a:uFillTx/>
              <a:latin typeface="Arial"/>
            </a:endParaRPr>
          </a:p>
        </p:txBody>
      </p:sp>
      <p:sp>
        <p:nvSpPr>
          <p:cNvPr id="89" name="TextBox 17"/>
          <p:cNvSpPr/>
          <p:nvPr/>
        </p:nvSpPr>
        <p:spPr>
          <a:xfrm>
            <a:off x="6908400" y="3042000"/>
            <a:ext cx="4676400" cy="59328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90" name="TextBox 19"/>
          <p:cNvSpPr/>
          <p:nvPr/>
        </p:nvSpPr>
        <p:spPr>
          <a:xfrm>
            <a:off x="548640" y="3873960"/>
            <a:ext cx="493200" cy="29700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600" b="1" u="none" strike="noStrike">
                <a:solidFill>
                  <a:srgbClr val="FFFFFF"/>
                </a:solidFill>
                <a:effectLst/>
                <a:uFillTx/>
                <a:latin typeface="Cambria"/>
                <a:ea typeface="DejaVu Sans"/>
              </a:rPr>
              <a:t>5</a:t>
            </a:r>
            <a:endParaRPr lang="en-US" sz="1600" b="0" u="none" strike="noStrike">
              <a:solidFill>
                <a:srgbClr val="000000"/>
              </a:solidFill>
              <a:effectLst/>
              <a:uFillTx/>
              <a:latin typeface="Arial"/>
            </a:endParaRPr>
          </a:p>
        </p:txBody>
      </p:sp>
      <p:sp>
        <p:nvSpPr>
          <p:cNvPr id="91" name="TextBox 20"/>
          <p:cNvSpPr/>
          <p:nvPr/>
        </p:nvSpPr>
        <p:spPr>
          <a:xfrm>
            <a:off x="1225440" y="3883320"/>
            <a:ext cx="4676400" cy="2970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92" name="TextBox 26"/>
          <p:cNvSpPr/>
          <p:nvPr/>
        </p:nvSpPr>
        <p:spPr>
          <a:xfrm>
            <a:off x="1225440" y="4724640"/>
            <a:ext cx="4676400" cy="2970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ΑΡΧΕΣ ΣΧΕΔΙΑΣΗΣ</a:t>
            </a:r>
            <a:endParaRPr lang="en-US" sz="1200" b="0" u="none" strike="noStrike">
              <a:solidFill>
                <a:srgbClr val="000000"/>
              </a:solidFill>
              <a:effectLst/>
              <a:uFillTx/>
              <a:latin typeface="Arial"/>
            </a:endParaRPr>
          </a:p>
        </p:txBody>
      </p:sp>
      <p:sp>
        <p:nvSpPr>
          <p:cNvPr id="94"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Δύο κανόνες</a:t>
            </a:r>
            <a:endParaRPr lang="en-US" sz="3000" b="0" u="none" strike="noStrike">
              <a:solidFill>
                <a:srgbClr val="000000"/>
              </a:solidFill>
              <a:effectLst/>
              <a:uFillTx/>
              <a:latin typeface="Arial"/>
            </a:endParaRPr>
          </a:p>
        </p:txBody>
      </p:sp>
      <p:sp>
        <p:nvSpPr>
          <p:cNvPr id="95" name="TextBox 3"/>
          <p:cNvSpPr/>
          <p:nvPr/>
        </p:nvSpPr>
        <p:spPr>
          <a:xfrm>
            <a:off x="548640" y="6473880"/>
            <a:ext cx="3656880" cy="2736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96"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6</a:t>
            </a:r>
            <a:endParaRPr lang="en-US" sz="900" b="0" u="none" strike="noStrike">
              <a:solidFill>
                <a:srgbClr val="000000"/>
              </a:solidFill>
              <a:effectLst/>
              <a:uFillTx/>
              <a:latin typeface="Arial"/>
            </a:endParaRPr>
          </a:p>
        </p:txBody>
      </p:sp>
      <p:sp>
        <p:nvSpPr>
          <p:cNvPr id="97" name="TextBox 5"/>
          <p:cNvSpPr/>
          <p:nvPr/>
        </p:nvSpPr>
        <p:spPr>
          <a:xfrm>
            <a:off x="548640" y="6157080"/>
            <a:ext cx="11090880" cy="2610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98" name="Rounded Rectangle 6"/>
          <p:cNvSpPr/>
          <p:nvPr/>
        </p:nvSpPr>
        <p:spPr>
          <a:xfrm>
            <a:off x="548640" y="2234880"/>
            <a:ext cx="5453640" cy="2102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99" name="TextBox 7"/>
          <p:cNvSpPr/>
          <p:nvPr/>
        </p:nvSpPr>
        <p:spPr>
          <a:xfrm>
            <a:off x="777240" y="2423160"/>
            <a:ext cx="4996440" cy="3344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800" b="1" u="none" strike="noStrike">
                <a:solidFill>
                  <a:srgbClr val="2C5530"/>
                </a:solidFill>
                <a:effectLst/>
                <a:uFillTx/>
                <a:latin typeface="Cambria"/>
                <a:ea typeface="DejaVu Sans"/>
              </a:rPr>
              <a:t>ΚΑΘΟΛΙΚΟΤΗΤΑ</a:t>
            </a:r>
            <a:endParaRPr lang="en-US" sz="1800" b="0" u="none" strike="noStrike">
              <a:solidFill>
                <a:srgbClr val="000000"/>
              </a:solidFill>
              <a:effectLst/>
              <a:uFillTx/>
              <a:latin typeface="Arial"/>
            </a:endParaRPr>
          </a:p>
        </p:txBody>
      </p:sp>
      <p:sp>
        <p:nvSpPr>
          <p:cNvPr id="100" name="TextBox 8"/>
          <p:cNvSpPr/>
          <p:nvPr/>
        </p:nvSpPr>
        <p:spPr>
          <a:xfrm>
            <a:off x="718200" y="3044160"/>
            <a:ext cx="4996440" cy="7682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2000" b="0" u="none" strike="noStrike">
                <a:solidFill>
                  <a:srgbClr val="241F1B"/>
                </a:solidFill>
                <a:effectLst/>
                <a:uFillTx/>
                <a:latin typeface="Calibri"/>
                <a:ea typeface="DejaVu Sans"/>
              </a:rPr>
              <a:t>-</a:t>
            </a:r>
            <a:r>
              <a:rPr lang="en-US" sz="1600" b="0" u="none" strike="noStrike">
                <a:solidFill>
                  <a:srgbClr val="241F1B"/>
                </a:solidFill>
                <a:effectLst/>
                <a:uFillTx/>
                <a:latin typeface="Calibri"/>
                <a:ea typeface="DejaVu Sans"/>
              </a:rPr>
              <a:t> Πρόκειται </a:t>
            </a:r>
            <a:r>
              <a:rPr lang="en-US" sz="1600" b="0" u="none" strike="noStrike">
                <a:solidFill>
                  <a:srgbClr val="241F1B"/>
                </a:solidFill>
                <a:effectLst/>
                <a:uFillTx/>
                <a:latin typeface="Calibri"/>
                <a:ea typeface="DejaVu Sans"/>
              </a:rPr>
              <a:t>για ένα </a:t>
            </a:r>
            <a:r>
              <a:rPr lang="en-US" sz="1600" b="0" u="none" strike="noStrike">
                <a:solidFill>
                  <a:srgbClr val="241F1B"/>
                </a:solidFill>
                <a:effectLst/>
                <a:uFillTx/>
                <a:latin typeface="Calibri"/>
                <a:ea typeface="DejaVu Sans"/>
              </a:rPr>
              <a:t>σύστημα </a:t>
            </a:r>
            <a:r>
              <a:rPr lang="en-US" sz="1600" b="0" u="none" strike="noStrike">
                <a:solidFill>
                  <a:srgbClr val="241F1B"/>
                </a:solidFill>
                <a:effectLst/>
                <a:uFillTx/>
                <a:latin typeface="Calibri"/>
                <a:ea typeface="DejaVu Sans"/>
              </a:rPr>
              <a:t>γενικής </a:t>
            </a:r>
            <a:r>
              <a:rPr lang="en-US" sz="1600" b="0" u="none" strike="noStrike">
                <a:solidFill>
                  <a:srgbClr val="241F1B"/>
                </a:solidFill>
                <a:effectLst/>
                <a:uFillTx/>
                <a:latin typeface="Calibri"/>
                <a:ea typeface="DejaVu Sans"/>
              </a:rPr>
              <a:t>εφαρμογής.</a:t>
            </a:r>
            <a:endParaRPr lang="en-US" sz="1600" b="0" u="none" strike="noStrike">
              <a:solidFill>
                <a:srgbClr val="000000"/>
              </a:solidFill>
              <a:effectLst/>
              <a:uFillTx/>
              <a:latin typeface="Arial"/>
            </a:endParaRPr>
          </a:p>
          <a:p>
            <a:pPr defTabSz="457200">
              <a:lnSpc>
                <a:spcPct val="122000"/>
              </a:lnSpc>
            </a:pPr>
            <a:r>
              <a:rPr lang="en-US" sz="3450" b="0" u="none" strike="noStrike" baseline="8000">
                <a:solidFill>
                  <a:srgbClr val="241F1B"/>
                </a:solidFill>
                <a:effectLst/>
                <a:uFillTx/>
                <a:latin typeface="Calibri"/>
                <a:ea typeface="GoogleSansFlex-Regular_opsz110000_wdth5C0000_wght1540000_GRAD_ROND_slnt"/>
              </a:rPr>
              <a:t>-</a:t>
            </a:r>
            <a:r>
              <a:rPr lang="en-US" sz="2758" b="0" u="none" strike="noStrike" baseline="8000">
                <a:solidFill>
                  <a:srgbClr val="241F1B"/>
                </a:solidFill>
                <a:effectLst/>
                <a:uFillTx/>
                <a:latin typeface="Calibri"/>
                <a:ea typeface="GoogleSansFlex-Regular_opsz110000_wdth5C0000_wght1540000_GRAD_ROND_slnt"/>
              </a:rPr>
              <a:t> Δεν είναι </a:t>
            </a:r>
            <a:r>
              <a:rPr lang="en-US" sz="2758" b="0" u="none" strike="noStrike" baseline="8000">
                <a:solidFill>
                  <a:srgbClr val="241F1B"/>
                </a:solidFill>
                <a:effectLst/>
                <a:uFillTx/>
                <a:latin typeface="Calibri"/>
                <a:ea typeface="GoogleSansFlex-Regular_opsz110000_wdth5C0000_wght1540000_GRAD_ROND_slnt"/>
              </a:rPr>
              <a:t>περιορισμέν</a:t>
            </a:r>
            <a:r>
              <a:rPr lang="en-US" sz="2758" b="0" u="none" strike="noStrike" baseline="8000">
                <a:solidFill>
                  <a:srgbClr val="241F1B"/>
                </a:solidFill>
                <a:effectLst/>
                <a:uFillTx/>
                <a:latin typeface="Calibri"/>
                <a:ea typeface="GoogleSansFlex-Regular_opsz110000_wdth5C0000_wght1540000_GRAD_ROND_slnt"/>
              </a:rPr>
              <a:t>ο σε ένα </a:t>
            </a:r>
            <a:r>
              <a:rPr lang="en-US" sz="2758" b="0" u="none" strike="noStrike" baseline="8000">
                <a:solidFill>
                  <a:srgbClr val="241F1B"/>
                </a:solidFill>
                <a:effectLst/>
                <a:uFillTx/>
                <a:latin typeface="Calibri"/>
                <a:ea typeface="GoogleSansFlex-Regular_opsz110000_wdth5C0000_wght1540000_GRAD_ROND_slnt"/>
              </a:rPr>
              <a:t>μόνο </a:t>
            </a:r>
            <a:r>
              <a:rPr lang="en-US" sz="2758" b="0" u="none" strike="noStrike" baseline="8000">
                <a:solidFill>
                  <a:srgbClr val="241F1B"/>
                </a:solidFill>
                <a:effectLst/>
                <a:uFillTx/>
                <a:latin typeface="Calibri"/>
                <a:ea typeface="GoogleSansFlex-Regular_opsz110000_wdth5C0000_wght1540000_GRAD_ROND_slnt"/>
              </a:rPr>
              <a:t>κατάστημα.</a:t>
            </a:r>
            <a:endParaRPr lang="en-US" sz="2760" b="0" u="none" strike="noStrike">
              <a:solidFill>
                <a:srgbClr val="000000"/>
              </a:solidFill>
              <a:effectLst/>
              <a:uFillTx/>
              <a:latin typeface="Arial"/>
            </a:endParaRPr>
          </a:p>
        </p:txBody>
      </p:sp>
      <p:sp>
        <p:nvSpPr>
          <p:cNvPr id="101" name="Rounded Rectangle 9"/>
          <p:cNvSpPr/>
          <p:nvPr/>
        </p:nvSpPr>
        <p:spPr>
          <a:xfrm>
            <a:off x="6185880" y="2258640"/>
            <a:ext cx="5453640" cy="2102400"/>
          </a:xfrm>
          <a:prstGeom prst="roundRect">
            <a:avLst>
              <a:gd name="adj" fmla="val 16667"/>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02" name="TextBox 10"/>
          <p:cNvSpPr/>
          <p:nvPr/>
        </p:nvSpPr>
        <p:spPr>
          <a:xfrm>
            <a:off x="6414480" y="2423160"/>
            <a:ext cx="4996440" cy="3344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800" b="1" u="none" strike="noStrike">
                <a:solidFill>
                  <a:srgbClr val="FFFFFF"/>
                </a:solidFill>
                <a:effectLst/>
                <a:uFillTx/>
                <a:latin typeface="Cambria"/>
                <a:ea typeface="DejaVu Sans"/>
              </a:rPr>
              <a:t>ΕΙΛΙΚΡΙΝΕΙΑ</a:t>
            </a:r>
            <a:endParaRPr lang="en-US" sz="1800" b="0" u="none" strike="noStrike">
              <a:solidFill>
                <a:srgbClr val="000000"/>
              </a:solidFill>
              <a:effectLst/>
              <a:uFillTx/>
              <a:latin typeface="Arial"/>
            </a:endParaRPr>
          </a:p>
        </p:txBody>
      </p:sp>
      <p:sp>
        <p:nvSpPr>
          <p:cNvPr id="103" name="TextBox 11"/>
          <p:cNvSpPr/>
          <p:nvPr/>
        </p:nvSpPr>
        <p:spPr>
          <a:xfrm>
            <a:off x="6400800" y="2976120"/>
            <a:ext cx="4996440" cy="681840"/>
          </a:xfrm>
          <a:prstGeom prst="rect">
            <a:avLst/>
          </a:prstGeom>
          <a:noFill/>
          <a:ln w="0">
            <a:noFill/>
          </a:ln>
        </p:spPr>
        <p:style>
          <a:lnRef idx="0"/>
          <a:fillRef idx="0"/>
          <a:effectRef idx="0"/>
          <a:fontRef idx="minor"/>
        </p:style>
        <p:txBody>
          <a:bodyPr lIns="0" tIns="0" rIns="0" bIns="0" anchor="t">
            <a:spAutoFit/>
          </a:bodyPr>
          <a:p>
            <a:pPr defTabSz="457200">
              <a:lnSpc>
                <a:spcPct val="100000"/>
              </a:lnSpc>
              <a:spcBef>
                <a:spcPts val="283"/>
              </a:spcBef>
              <a:spcAft>
                <a:spcPts val="283"/>
              </a:spcAft>
            </a:pPr>
            <a:r>
              <a:rPr lang="en-US" sz="2000" b="0" u="none" strike="noStrike">
                <a:solidFill>
                  <a:srgbClr val="D7E5D2"/>
                </a:solidFill>
                <a:effectLst/>
                <a:uFillTx/>
                <a:latin typeface="Calibri"/>
                <a:ea typeface="GoogleSansFlex-Regular_opsz110000_wdth5C0000_wght1540000_GRAD_ROND_slnt"/>
              </a:rPr>
              <a:t>-</a:t>
            </a:r>
            <a:r>
              <a:rPr lang="en-US" sz="1800" b="0" u="none" strike="noStrike">
                <a:solidFill>
                  <a:srgbClr val="D7E5D2"/>
                </a:solidFill>
                <a:effectLst/>
                <a:uFillTx/>
                <a:latin typeface="Calibri"/>
                <a:ea typeface="GoogleSansFlex-Regular_opsz110000_wdth5C0000_wght1540000_GRAD_ROND_slnt"/>
              </a:rPr>
              <a:t> </a:t>
            </a:r>
            <a:r>
              <a:rPr lang="en-US" sz="1600" b="0" u="none" strike="noStrike">
                <a:solidFill>
                  <a:srgbClr val="D7E5D2"/>
                </a:solidFill>
                <a:effectLst/>
                <a:uFillTx/>
                <a:latin typeface="Calibri"/>
                <a:ea typeface="GoogleSansFlex-Regular_opsz110000_wdth5C0000_wght1540000_GRAD_ROND_slnt"/>
              </a:rPr>
              <a:t>Αυστηρή μέτρηση όσων δεδομένων είναι διαθέσιμα.</a:t>
            </a:r>
            <a:endParaRPr lang="en-US" sz="1600" b="0" u="none" strike="noStrike">
              <a:solidFill>
                <a:srgbClr val="000000"/>
              </a:solidFill>
              <a:effectLst/>
              <a:uFillTx/>
              <a:latin typeface="Arial"/>
            </a:endParaRPr>
          </a:p>
          <a:p>
            <a:pPr defTabSz="457200">
              <a:lnSpc>
                <a:spcPct val="100000"/>
              </a:lnSpc>
              <a:spcBef>
                <a:spcPts val="283"/>
              </a:spcBef>
              <a:spcAft>
                <a:spcPts val="283"/>
              </a:spcAft>
            </a:pPr>
            <a:r>
              <a:rPr lang="en-US" sz="2000" b="0" u="none" strike="noStrike">
                <a:solidFill>
                  <a:srgbClr val="D7E5D2"/>
                </a:solidFill>
                <a:effectLst/>
                <a:uFillTx/>
                <a:latin typeface="Calibri"/>
                <a:ea typeface="Arial Unicode MS"/>
              </a:rPr>
              <a:t>-</a:t>
            </a:r>
            <a:r>
              <a:rPr lang="en-US" sz="1600" b="0" u="none" strike="noStrike">
                <a:solidFill>
                  <a:srgbClr val="D7E5D2"/>
                </a:solidFill>
                <a:effectLst/>
                <a:uFillTx/>
                <a:latin typeface="Calibri"/>
                <a:ea typeface="Arial Unicode MS"/>
              </a:rPr>
              <a:t> Χ</a:t>
            </a:r>
            <a:r>
              <a:rPr lang="en-US" sz="1600" b="0" u="none" strike="noStrike">
                <a:solidFill>
                  <a:srgbClr val="D7E5D2"/>
                </a:solidFill>
                <a:effectLst/>
                <a:uFillTx/>
                <a:latin typeface="Calibri"/>
                <a:ea typeface="GoogleSansFlex-Regular_opsz110000_wdth5C0000_wght1540000_GRAD_ROND_slnt"/>
              </a:rPr>
              <a:t>ωρίς εικασίες.</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Rectangle 1"/>
          <p:cNvSpPr/>
          <p:nvPr/>
        </p:nvSpPr>
        <p:spPr>
          <a:xfrm>
            <a:off x="0" y="0"/>
            <a:ext cx="12191040" cy="6857280"/>
          </a:xfrm>
          <a:prstGeom prst="rect">
            <a:avLst/>
          </a:prstGeom>
          <a:solidFill>
            <a:schemeClr val="accent1"/>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05" name="TextBox 2"/>
          <p:cNvSpPr/>
          <p:nvPr/>
        </p:nvSpPr>
        <p:spPr>
          <a:xfrm>
            <a:off x="548640" y="1600200"/>
            <a:ext cx="11090880" cy="16452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06" name="TextBox 3"/>
          <p:cNvSpPr/>
          <p:nvPr/>
        </p:nvSpPr>
        <p:spPr>
          <a:xfrm>
            <a:off x="548640" y="2971800"/>
            <a:ext cx="11090880" cy="7434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000" b="1" u="none" strike="noStrike">
                <a:solidFill>
                  <a:srgbClr val="E8A33D"/>
                </a:solidFill>
                <a:effectLst/>
                <a:uFillTx/>
                <a:latin typeface="Calibri"/>
                <a:ea typeface="DejaVu Sans"/>
              </a:rPr>
              <a:t>2η ΕΝΟΤΗΤΑ</a:t>
            </a:r>
            <a:endParaRPr lang="en-US" sz="4000" b="0" u="none" strike="noStrike">
              <a:solidFill>
                <a:srgbClr val="000000"/>
              </a:solidFill>
              <a:effectLst/>
              <a:uFillTx/>
              <a:latin typeface="Arial"/>
            </a:endParaRPr>
          </a:p>
        </p:txBody>
      </p:sp>
      <p:sp>
        <p:nvSpPr>
          <p:cNvPr id="107" name="TextBox 4"/>
          <p:cNvSpPr/>
          <p:nvPr/>
        </p:nvSpPr>
        <p:spPr>
          <a:xfrm>
            <a:off x="548640" y="3803760"/>
            <a:ext cx="11090880" cy="817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Το σύστημα</a:t>
            </a:r>
            <a:endParaRPr lang="en-US" sz="4400" b="0" u="none" strike="noStrike">
              <a:solidFill>
                <a:srgbClr val="000000"/>
              </a:solidFill>
              <a:effectLst/>
              <a:uFillTx/>
              <a:latin typeface="Arial"/>
            </a:endParaRPr>
          </a:p>
        </p:txBody>
      </p:sp>
      <p:sp>
        <p:nvSpPr>
          <p:cNvPr id="108" name="TextBox 5"/>
          <p:cNvSpPr/>
          <p:nvPr/>
        </p:nvSpPr>
        <p:spPr>
          <a:xfrm>
            <a:off x="548640" y="4645080"/>
            <a:ext cx="11090880" cy="3650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09" name="TextBox 6"/>
          <p:cNvSpPr/>
          <p:nvPr/>
        </p:nvSpPr>
        <p:spPr>
          <a:xfrm>
            <a:off x="548640" y="6473880"/>
            <a:ext cx="5485680" cy="2736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10" name="TextBox 7"/>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7</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ΤΟ ΣΥΣΤΗΜΑ</a:t>
            </a:r>
            <a:endParaRPr lang="en-US" sz="1200" b="0" u="none" strike="noStrike">
              <a:solidFill>
                <a:srgbClr val="000000"/>
              </a:solidFill>
              <a:effectLst/>
              <a:uFillTx/>
              <a:latin typeface="Arial"/>
            </a:endParaRPr>
          </a:p>
        </p:txBody>
      </p:sp>
      <p:sp>
        <p:nvSpPr>
          <p:cNvPr id="119"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Interfaces και outputs</a:t>
            </a:r>
            <a:endParaRPr lang="en-US" sz="3000" b="0" u="none" strike="noStrike">
              <a:solidFill>
                <a:srgbClr val="000000"/>
              </a:solidFill>
              <a:effectLst/>
              <a:uFillTx/>
              <a:latin typeface="Arial"/>
            </a:endParaRPr>
          </a:p>
        </p:txBody>
      </p:sp>
      <p:sp>
        <p:nvSpPr>
          <p:cNvPr id="120"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8</a:t>
            </a:r>
            <a:endParaRPr lang="en-US" sz="900" b="0" u="none" strike="noStrike">
              <a:solidFill>
                <a:srgbClr val="000000"/>
              </a:solidFill>
              <a:effectLst/>
              <a:uFillTx/>
              <a:latin typeface="Arial"/>
            </a:endParaRPr>
          </a:p>
        </p:txBody>
      </p:sp>
      <p:sp>
        <p:nvSpPr>
          <p:cNvPr id="121" name="Rounded Rectangle 6"/>
          <p:cNvSpPr/>
          <p:nvPr/>
        </p:nvSpPr>
        <p:spPr>
          <a:xfrm>
            <a:off x="512640" y="2452680"/>
            <a:ext cx="5348520" cy="56628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22" name="Rectangle 7"/>
          <p:cNvSpPr/>
          <p:nvPr/>
        </p:nvSpPr>
        <p:spPr>
          <a:xfrm>
            <a:off x="512640" y="2452680"/>
            <a:ext cx="81720" cy="56628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41040" tIns="45000" rIns="41040" bIns="45000" anchor="ctr">
            <a:noAutofit/>
          </a:bodyPr>
          <a:p>
            <a:pPr/>
            <a:endParaRPr lang="en-US" sz="1800" b="0" u="none" strike="noStrike">
              <a:solidFill>
                <a:schemeClr val="lt1"/>
              </a:solidFill>
              <a:effectLst/>
              <a:uFillTx/>
              <a:latin typeface="Calibri"/>
            </a:endParaRPr>
          </a:p>
        </p:txBody>
      </p:sp>
      <p:sp>
        <p:nvSpPr>
          <p:cNvPr id="123" name="TextBox 8"/>
          <p:cNvSpPr/>
          <p:nvPr/>
        </p:nvSpPr>
        <p:spPr>
          <a:xfrm>
            <a:off x="768600" y="2535120"/>
            <a:ext cx="1828080" cy="241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00" b="1" u="none" strike="noStrike">
                <a:solidFill>
                  <a:srgbClr val="2C5530"/>
                </a:solidFill>
                <a:effectLst/>
                <a:uFillTx/>
                <a:latin typeface="Cambria"/>
                <a:ea typeface="DejaVu Sans"/>
              </a:rPr>
              <a:t>API</a:t>
            </a:r>
            <a:endParaRPr lang="en-US" sz="1300" b="0" u="none" strike="noStrike">
              <a:solidFill>
                <a:srgbClr val="000000"/>
              </a:solidFill>
              <a:effectLst/>
              <a:uFillTx/>
              <a:latin typeface="Arial"/>
            </a:endParaRPr>
          </a:p>
        </p:txBody>
      </p:sp>
      <p:sp>
        <p:nvSpPr>
          <p:cNvPr id="124" name="TextBox 9"/>
          <p:cNvSpPr/>
          <p:nvPr/>
        </p:nvSpPr>
        <p:spPr>
          <a:xfrm>
            <a:off x="2615760" y="2553480"/>
            <a:ext cx="301680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6B6259"/>
                </a:solidFill>
                <a:effectLst/>
                <a:uFillTx/>
                <a:latin typeface="Calibri"/>
                <a:ea typeface="DejaVu Sans"/>
              </a:rPr>
              <a:t>Δέχεται τα αιτήματα</a:t>
            </a:r>
            <a:endParaRPr lang="en-US" sz="1200" b="0" u="none" strike="noStrike">
              <a:solidFill>
                <a:srgbClr val="000000"/>
              </a:solidFill>
              <a:effectLst/>
              <a:uFillTx/>
              <a:latin typeface="Arial"/>
            </a:endParaRPr>
          </a:p>
        </p:txBody>
      </p:sp>
      <p:sp>
        <p:nvSpPr>
          <p:cNvPr id="125" name="Rounded Rectangle 10"/>
          <p:cNvSpPr/>
          <p:nvPr/>
        </p:nvSpPr>
        <p:spPr>
          <a:xfrm>
            <a:off x="512640" y="3129480"/>
            <a:ext cx="5348520" cy="56628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26" name="Rectangle 11"/>
          <p:cNvSpPr/>
          <p:nvPr/>
        </p:nvSpPr>
        <p:spPr>
          <a:xfrm>
            <a:off x="512640" y="3129480"/>
            <a:ext cx="81720" cy="56628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41040" tIns="45000" rIns="41040" bIns="45000" anchor="ctr">
            <a:noAutofit/>
          </a:bodyPr>
          <a:p>
            <a:pPr/>
            <a:endParaRPr lang="en-US" sz="1800" b="0" u="none" strike="noStrike">
              <a:solidFill>
                <a:schemeClr val="lt1"/>
              </a:solidFill>
              <a:effectLst/>
              <a:uFillTx/>
              <a:latin typeface="Calibri"/>
            </a:endParaRPr>
          </a:p>
        </p:txBody>
      </p:sp>
      <p:sp>
        <p:nvSpPr>
          <p:cNvPr id="127" name="TextBox 12"/>
          <p:cNvSpPr/>
          <p:nvPr/>
        </p:nvSpPr>
        <p:spPr>
          <a:xfrm>
            <a:off x="768600" y="3211560"/>
            <a:ext cx="1828080" cy="241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00" b="1" u="none" strike="noStrike">
                <a:solidFill>
                  <a:srgbClr val="2C5530"/>
                </a:solidFill>
                <a:effectLst/>
                <a:uFillTx/>
                <a:latin typeface="Cambria"/>
                <a:ea typeface="DejaVu Sans"/>
              </a:rPr>
              <a:t>Services</a:t>
            </a:r>
            <a:endParaRPr lang="en-US" sz="1300" b="0" u="none" strike="noStrike">
              <a:solidFill>
                <a:srgbClr val="000000"/>
              </a:solidFill>
              <a:effectLst/>
              <a:uFillTx/>
              <a:latin typeface="Arial"/>
            </a:endParaRPr>
          </a:p>
        </p:txBody>
      </p:sp>
      <p:sp>
        <p:nvSpPr>
          <p:cNvPr id="128" name="TextBox 13"/>
          <p:cNvSpPr/>
          <p:nvPr/>
        </p:nvSpPr>
        <p:spPr>
          <a:xfrm>
            <a:off x="2615760" y="3229920"/>
            <a:ext cx="301680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spcBef>
                <a:spcPts val="1191"/>
              </a:spcBef>
              <a:spcAft>
                <a:spcPts val="992"/>
              </a:spcAft>
            </a:pPr>
            <a:r>
              <a:rPr lang="en-US" sz="1200" b="0" u="none" strike="noStrike">
                <a:solidFill>
                  <a:srgbClr val="6B6259"/>
                </a:solidFill>
                <a:effectLst/>
                <a:uFillTx/>
                <a:latin typeface="Calibri"/>
                <a:ea typeface="DejaVu Sans"/>
              </a:rPr>
              <a:t>Επιχειρη</a:t>
            </a:r>
            <a:r>
              <a:rPr lang="en-US" sz="1200" b="0" u="none" strike="noStrike">
                <a:solidFill>
                  <a:srgbClr val="6B6259"/>
                </a:solidFill>
                <a:effectLst/>
                <a:uFillTx/>
                <a:latin typeface="Calibri"/>
                <a:ea typeface="DejaVu Sans"/>
              </a:rPr>
              <a:t>σιακή </a:t>
            </a:r>
            <a:r>
              <a:rPr lang="en-US" sz="1200" b="0" u="none" strike="noStrike">
                <a:solidFill>
                  <a:srgbClr val="6B6259"/>
                </a:solidFill>
                <a:effectLst/>
                <a:uFillTx/>
                <a:latin typeface="Calibri"/>
                <a:ea typeface="DejaVu Sans"/>
              </a:rPr>
              <a:t>λογική</a:t>
            </a:r>
            <a:endParaRPr lang="en-US" sz="1200" b="0" u="none" strike="noStrike">
              <a:solidFill>
                <a:srgbClr val="000000"/>
              </a:solidFill>
              <a:effectLst/>
              <a:uFillTx/>
              <a:latin typeface="Arial"/>
            </a:endParaRPr>
          </a:p>
        </p:txBody>
      </p:sp>
      <p:sp>
        <p:nvSpPr>
          <p:cNvPr id="129" name="Rounded Rectangle 14"/>
          <p:cNvSpPr/>
          <p:nvPr/>
        </p:nvSpPr>
        <p:spPr>
          <a:xfrm>
            <a:off x="512640" y="3805920"/>
            <a:ext cx="5348520" cy="56628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0" name="Rectangle 15"/>
          <p:cNvSpPr/>
          <p:nvPr/>
        </p:nvSpPr>
        <p:spPr>
          <a:xfrm>
            <a:off x="512640" y="3805920"/>
            <a:ext cx="81720" cy="56628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41040" tIns="45000" rIns="41040" bIns="45000" anchor="ctr">
            <a:noAutofit/>
          </a:bodyPr>
          <a:p>
            <a:pPr/>
            <a:endParaRPr lang="en-US" sz="1800" b="0" u="none" strike="noStrike">
              <a:solidFill>
                <a:schemeClr val="lt1"/>
              </a:solidFill>
              <a:effectLst/>
              <a:uFillTx/>
              <a:latin typeface="Calibri"/>
            </a:endParaRPr>
          </a:p>
        </p:txBody>
      </p:sp>
      <p:sp>
        <p:nvSpPr>
          <p:cNvPr id="131" name="TextBox 16"/>
          <p:cNvSpPr/>
          <p:nvPr/>
        </p:nvSpPr>
        <p:spPr>
          <a:xfrm>
            <a:off x="768600" y="3888360"/>
            <a:ext cx="1828080" cy="241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00" b="1" u="none" strike="noStrike">
                <a:solidFill>
                  <a:srgbClr val="2C5530"/>
                </a:solidFill>
                <a:effectLst/>
                <a:uFillTx/>
                <a:latin typeface="Cambria"/>
                <a:ea typeface="DejaVu Sans"/>
              </a:rPr>
              <a:t>Repositories</a:t>
            </a:r>
            <a:endParaRPr lang="en-US" sz="1300" b="0" u="none" strike="noStrike">
              <a:solidFill>
                <a:srgbClr val="000000"/>
              </a:solidFill>
              <a:effectLst/>
              <a:uFillTx/>
              <a:latin typeface="Arial"/>
            </a:endParaRPr>
          </a:p>
        </p:txBody>
      </p:sp>
      <p:sp>
        <p:nvSpPr>
          <p:cNvPr id="132" name="TextBox 17"/>
          <p:cNvSpPr/>
          <p:nvPr/>
        </p:nvSpPr>
        <p:spPr>
          <a:xfrm>
            <a:off x="2615760" y="3906720"/>
            <a:ext cx="301680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6B6259"/>
                </a:solidFill>
                <a:effectLst/>
                <a:uFillTx/>
                <a:latin typeface="Calibri"/>
                <a:ea typeface="DejaVu Sans"/>
              </a:rPr>
              <a:t>SQL queries</a:t>
            </a:r>
            <a:endParaRPr lang="en-US" sz="1200" b="0" u="none" strike="noStrike">
              <a:solidFill>
                <a:srgbClr val="000000"/>
              </a:solidFill>
              <a:effectLst/>
              <a:uFillTx/>
              <a:latin typeface="Arial"/>
            </a:endParaRPr>
          </a:p>
        </p:txBody>
      </p:sp>
      <p:sp>
        <p:nvSpPr>
          <p:cNvPr id="133" name="Rounded Rectangle 18"/>
          <p:cNvSpPr/>
          <p:nvPr/>
        </p:nvSpPr>
        <p:spPr>
          <a:xfrm>
            <a:off x="512640" y="4482720"/>
            <a:ext cx="5348520" cy="56628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4" name="Rectangle 19"/>
          <p:cNvSpPr/>
          <p:nvPr/>
        </p:nvSpPr>
        <p:spPr>
          <a:xfrm>
            <a:off x="512640" y="4482720"/>
            <a:ext cx="81720" cy="56628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41040" tIns="45000" rIns="41040" bIns="45000" anchor="ctr">
            <a:noAutofit/>
          </a:bodyPr>
          <a:p>
            <a:pPr/>
            <a:endParaRPr lang="en-US" sz="1800" b="0" u="none" strike="noStrike">
              <a:solidFill>
                <a:schemeClr val="lt1"/>
              </a:solidFill>
              <a:effectLst/>
              <a:uFillTx/>
              <a:latin typeface="Calibri"/>
            </a:endParaRPr>
          </a:p>
        </p:txBody>
      </p:sp>
      <p:sp>
        <p:nvSpPr>
          <p:cNvPr id="135" name="TextBox 20"/>
          <p:cNvSpPr/>
          <p:nvPr/>
        </p:nvSpPr>
        <p:spPr>
          <a:xfrm>
            <a:off x="768600" y="4565160"/>
            <a:ext cx="1828080" cy="241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00" b="1" u="none" strike="noStrike">
                <a:solidFill>
                  <a:srgbClr val="2C5530"/>
                </a:solidFill>
                <a:effectLst/>
                <a:uFillTx/>
                <a:latin typeface="Cambria"/>
                <a:ea typeface="DejaVu Sans"/>
              </a:rPr>
              <a:t>PostgreSQL</a:t>
            </a:r>
            <a:endParaRPr lang="en-US" sz="1300" b="0" u="none" strike="noStrike">
              <a:solidFill>
                <a:srgbClr val="000000"/>
              </a:solidFill>
              <a:effectLst/>
              <a:uFillTx/>
              <a:latin typeface="Arial"/>
            </a:endParaRPr>
          </a:p>
        </p:txBody>
      </p:sp>
      <p:sp>
        <p:nvSpPr>
          <p:cNvPr id="136" name="TextBox 21"/>
          <p:cNvSpPr/>
          <p:nvPr/>
        </p:nvSpPr>
        <p:spPr>
          <a:xfrm>
            <a:off x="2615760" y="4583160"/>
            <a:ext cx="301680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6B6259"/>
                </a:solidFill>
                <a:effectLst/>
                <a:uFillTx/>
                <a:latin typeface="Calibri"/>
                <a:ea typeface="DejaVu Sans"/>
              </a:rPr>
              <a:t>Βάση δεδομένων</a:t>
            </a:r>
            <a:endParaRPr lang="en-US" sz="1200" b="0" u="none" strike="noStrike">
              <a:solidFill>
                <a:srgbClr val="000000"/>
              </a:solidFill>
              <a:effectLst/>
              <a:uFillTx/>
              <a:latin typeface="Arial"/>
            </a:endParaRPr>
          </a:p>
        </p:txBody>
      </p:sp>
      <p:sp>
        <p:nvSpPr>
          <p:cNvPr id="137" name="Rounded Rectangle 25"/>
          <p:cNvSpPr/>
          <p:nvPr/>
        </p:nvSpPr>
        <p:spPr>
          <a:xfrm>
            <a:off x="6291000" y="1928520"/>
            <a:ext cx="5348520" cy="10508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8" name="TextBox 26"/>
          <p:cNvSpPr/>
          <p:nvPr/>
        </p:nvSpPr>
        <p:spPr>
          <a:xfrm>
            <a:off x="6519600" y="2093040"/>
            <a:ext cx="4891320" cy="250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REST API</a:t>
            </a:r>
            <a:endParaRPr lang="en-US" sz="1350" b="0" u="none" strike="noStrike">
              <a:solidFill>
                <a:srgbClr val="000000"/>
              </a:solidFill>
              <a:effectLst/>
              <a:uFillTx/>
              <a:latin typeface="Arial"/>
            </a:endParaRPr>
          </a:p>
        </p:txBody>
      </p:sp>
      <p:sp>
        <p:nvSpPr>
          <p:cNvPr id="139" name="TextBox 27"/>
          <p:cNvSpPr/>
          <p:nvPr/>
        </p:nvSpPr>
        <p:spPr>
          <a:xfrm>
            <a:off x="6519600" y="2431440"/>
            <a:ext cx="4891320" cy="260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JSON </a:t>
            </a:r>
            <a:r>
              <a:rPr lang="en-US" sz="1400" b="0" u="none" strike="noStrike">
                <a:solidFill>
                  <a:srgbClr val="241F1B"/>
                </a:solidFill>
                <a:effectLst/>
                <a:uFillTx/>
                <a:latin typeface="Calibri"/>
                <a:ea typeface="DejaVu Sans"/>
              </a:rPr>
              <a:t>respon</a:t>
            </a:r>
            <a:r>
              <a:rPr lang="en-US" sz="1400" b="0" u="none" strike="noStrike">
                <a:solidFill>
                  <a:srgbClr val="241F1B"/>
                </a:solidFill>
                <a:effectLst/>
                <a:uFillTx/>
                <a:latin typeface="Calibri"/>
                <a:ea typeface="DejaVu Sans"/>
              </a:rPr>
              <a:t>se with </a:t>
            </a:r>
            <a:r>
              <a:rPr lang="en-US" sz="1400" b="0" u="none" strike="noStrike">
                <a:solidFill>
                  <a:srgbClr val="241F1B"/>
                </a:solidFill>
                <a:effectLst/>
                <a:uFillTx/>
                <a:latin typeface="Calibri"/>
                <a:ea typeface="DejaVu Sans"/>
              </a:rPr>
              <a:t>version</a:t>
            </a:r>
            <a:r>
              <a:rPr lang="en-US" sz="1400" b="0" u="none" strike="noStrike">
                <a:solidFill>
                  <a:srgbClr val="241F1B"/>
                </a:solidFill>
                <a:effectLst/>
                <a:uFillTx/>
                <a:latin typeface="Calibri"/>
                <a:ea typeface="DejaVu Sans"/>
              </a:rPr>
              <a:t>ing</a:t>
            </a:r>
            <a:endParaRPr lang="en-US" sz="1400" b="0" u="none" strike="noStrike">
              <a:solidFill>
                <a:srgbClr val="000000"/>
              </a:solidFill>
              <a:effectLst/>
              <a:uFillTx/>
              <a:latin typeface="Arial"/>
            </a:endParaRPr>
          </a:p>
        </p:txBody>
      </p:sp>
      <p:sp>
        <p:nvSpPr>
          <p:cNvPr id="140" name="Rounded Rectangle 28"/>
          <p:cNvSpPr/>
          <p:nvPr/>
        </p:nvSpPr>
        <p:spPr>
          <a:xfrm>
            <a:off x="6291000" y="3162960"/>
            <a:ext cx="5348520" cy="10508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41" name="TextBox 29"/>
          <p:cNvSpPr/>
          <p:nvPr/>
        </p:nvSpPr>
        <p:spPr>
          <a:xfrm>
            <a:off x="6519600" y="3327480"/>
            <a:ext cx="4891320" cy="250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METABASE</a:t>
            </a:r>
            <a:endParaRPr lang="en-US" sz="1350" b="0" u="none" strike="noStrike">
              <a:solidFill>
                <a:srgbClr val="000000"/>
              </a:solidFill>
              <a:effectLst/>
              <a:uFillTx/>
              <a:latin typeface="Arial"/>
            </a:endParaRPr>
          </a:p>
        </p:txBody>
      </p:sp>
      <p:sp>
        <p:nvSpPr>
          <p:cNvPr id="142" name="TextBox 30"/>
          <p:cNvSpPr/>
          <p:nvPr/>
        </p:nvSpPr>
        <p:spPr>
          <a:xfrm>
            <a:off x="6519600" y="3665880"/>
            <a:ext cx="4891320" cy="260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Έτοιμοι πίνακες με στατιστικά και αναλύσεις</a:t>
            </a:r>
            <a:endParaRPr lang="en-US" sz="1400" b="0" u="none" strike="noStrike">
              <a:solidFill>
                <a:srgbClr val="000000"/>
              </a:solidFill>
              <a:effectLst/>
              <a:uFillTx/>
              <a:latin typeface="Arial"/>
            </a:endParaRPr>
          </a:p>
        </p:txBody>
      </p:sp>
      <p:sp>
        <p:nvSpPr>
          <p:cNvPr id="143" name="Rounded Rectangle 31"/>
          <p:cNvSpPr/>
          <p:nvPr/>
        </p:nvSpPr>
        <p:spPr>
          <a:xfrm>
            <a:off x="6291000" y="4397400"/>
            <a:ext cx="5348520" cy="10508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44" name="TextBox 32"/>
          <p:cNvSpPr/>
          <p:nvPr/>
        </p:nvSpPr>
        <p:spPr>
          <a:xfrm>
            <a:off x="6519600" y="4561920"/>
            <a:ext cx="4891320" cy="250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JUP</a:t>
            </a:r>
            <a:r>
              <a:rPr lang="en-US" sz="1350" b="1" u="none" strike="noStrike">
                <a:solidFill>
                  <a:srgbClr val="2C5530"/>
                </a:solidFill>
                <a:effectLst/>
                <a:uFillTx/>
                <a:latin typeface="Cambria"/>
                <a:ea typeface="DejaVu Sans"/>
              </a:rPr>
              <a:t>YT</a:t>
            </a:r>
            <a:r>
              <a:rPr lang="en-US" sz="1350" b="1" u="none" strike="noStrike">
                <a:solidFill>
                  <a:srgbClr val="2C5530"/>
                </a:solidFill>
                <a:effectLst/>
                <a:uFillTx/>
                <a:latin typeface="Cambria"/>
                <a:ea typeface="DejaVu Sans"/>
              </a:rPr>
              <a:t>ER</a:t>
            </a:r>
            <a:endParaRPr lang="en-US" sz="1350" b="0" u="none" strike="noStrike">
              <a:solidFill>
                <a:srgbClr val="000000"/>
              </a:solidFill>
              <a:effectLst/>
              <a:uFillTx/>
              <a:latin typeface="Arial"/>
            </a:endParaRPr>
          </a:p>
        </p:txBody>
      </p:sp>
      <p:sp>
        <p:nvSpPr>
          <p:cNvPr id="145" name="TextBox 33"/>
          <p:cNvSpPr/>
          <p:nvPr/>
        </p:nvSpPr>
        <p:spPr>
          <a:xfrm>
            <a:off x="6519600" y="4900320"/>
            <a:ext cx="4891320" cy="260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Τα διαγράμματα της διπλωματικής</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ΤΟ ΣΥΣΤΗΜΑ</a:t>
            </a:r>
            <a:endParaRPr lang="en-US" sz="1200" b="0" u="none" strike="noStrike">
              <a:solidFill>
                <a:srgbClr val="000000"/>
              </a:solidFill>
              <a:effectLst/>
              <a:uFillTx/>
              <a:latin typeface="Arial"/>
            </a:endParaRPr>
          </a:p>
        </p:txBody>
      </p:sp>
      <p:sp>
        <p:nvSpPr>
          <p:cNvPr id="147"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Τρόποι εισαγωγής δεδομένων</a:t>
            </a:r>
            <a:endParaRPr lang="en-US" sz="3000" b="0" u="none" strike="noStrike">
              <a:solidFill>
                <a:srgbClr val="000000"/>
              </a:solidFill>
              <a:effectLst/>
              <a:uFillTx/>
              <a:latin typeface="Arial"/>
            </a:endParaRPr>
          </a:p>
        </p:txBody>
      </p:sp>
      <p:sp>
        <p:nvSpPr>
          <p:cNvPr id="148"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9</a:t>
            </a:r>
            <a:endParaRPr lang="en-US" sz="900" b="0" u="none" strike="noStrike">
              <a:solidFill>
                <a:srgbClr val="000000"/>
              </a:solidFill>
              <a:effectLst/>
              <a:uFillTx/>
              <a:latin typeface="Arial"/>
            </a:endParaRPr>
          </a:p>
        </p:txBody>
      </p:sp>
      <p:sp>
        <p:nvSpPr>
          <p:cNvPr id="149" name="Rectangle 6"/>
          <p:cNvSpPr/>
          <p:nvPr/>
        </p:nvSpPr>
        <p:spPr>
          <a:xfrm>
            <a:off x="5715000" y="3312360"/>
            <a:ext cx="4080240" cy="34668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50" name="TextBox 7"/>
          <p:cNvSpPr/>
          <p:nvPr/>
        </p:nvSpPr>
        <p:spPr>
          <a:xfrm>
            <a:off x="5806440" y="3394440"/>
            <a:ext cx="238392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 Επιλογές</a:t>
            </a:r>
            <a:endParaRPr lang="en-US" sz="1200" b="0" u="none" strike="noStrike">
              <a:solidFill>
                <a:srgbClr val="000000"/>
              </a:solidFill>
              <a:effectLst/>
              <a:uFillTx/>
              <a:latin typeface="Arial"/>
            </a:endParaRPr>
          </a:p>
        </p:txBody>
      </p:sp>
      <p:sp>
        <p:nvSpPr>
          <p:cNvPr id="151" name="TextBox 8"/>
          <p:cNvSpPr/>
          <p:nvPr/>
        </p:nvSpPr>
        <p:spPr>
          <a:xfrm>
            <a:off x="8373960" y="3394440"/>
            <a:ext cx="14212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Παραμετροποίση</a:t>
            </a:r>
            <a:endParaRPr lang="en-US" sz="1200" b="0" u="none" strike="noStrike">
              <a:solidFill>
                <a:srgbClr val="000000"/>
              </a:solidFill>
              <a:effectLst/>
              <a:uFillTx/>
              <a:latin typeface="Arial"/>
            </a:endParaRPr>
          </a:p>
        </p:txBody>
      </p:sp>
      <p:sp>
        <p:nvSpPr>
          <p:cNvPr id="152" name="TextBox 10"/>
          <p:cNvSpPr/>
          <p:nvPr/>
        </p:nvSpPr>
        <p:spPr>
          <a:xfrm>
            <a:off x="5806440" y="3751200"/>
            <a:ext cx="23839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Batch API requests</a:t>
            </a:r>
            <a:endParaRPr lang="en-US" sz="1250" b="0" u="none" strike="noStrike">
              <a:solidFill>
                <a:srgbClr val="000000"/>
              </a:solidFill>
              <a:effectLst/>
              <a:uFillTx/>
              <a:latin typeface="Arial"/>
            </a:endParaRPr>
          </a:p>
        </p:txBody>
      </p:sp>
      <p:sp>
        <p:nvSpPr>
          <p:cNvPr id="153" name="TextBox 11"/>
          <p:cNvSpPr/>
          <p:nvPr/>
        </p:nvSpPr>
        <p:spPr>
          <a:xfrm>
            <a:off x="8373960" y="3751200"/>
            <a:ext cx="14212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Όχι</a:t>
            </a:r>
            <a:endParaRPr lang="en-US" sz="1250" b="0" u="none" strike="noStrike">
              <a:solidFill>
                <a:srgbClr val="000000"/>
              </a:solidFill>
              <a:effectLst/>
              <a:uFillTx/>
              <a:latin typeface="Arial"/>
            </a:endParaRPr>
          </a:p>
        </p:txBody>
      </p:sp>
      <p:sp>
        <p:nvSpPr>
          <p:cNvPr id="154" name="TextBox 14"/>
          <p:cNvSpPr/>
          <p:nvPr/>
        </p:nvSpPr>
        <p:spPr>
          <a:xfrm>
            <a:off x="5806440" y="4116960"/>
            <a:ext cx="2383920" cy="232200"/>
          </a:xfrm>
          <a:prstGeom prst="rect">
            <a:avLst/>
          </a:prstGeom>
          <a:solidFill>
            <a:srgbClr val="FFFFFF"/>
          </a:solid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Database Reads</a:t>
            </a:r>
            <a:endParaRPr lang="en-US" sz="1250" b="0" u="none" strike="noStrike">
              <a:solidFill>
                <a:srgbClr val="000000"/>
              </a:solidFill>
              <a:effectLst/>
              <a:uFillTx/>
              <a:latin typeface="Arial"/>
            </a:endParaRPr>
          </a:p>
        </p:txBody>
      </p:sp>
      <p:sp>
        <p:nvSpPr>
          <p:cNvPr id="155" name="TextBox 15"/>
          <p:cNvSpPr/>
          <p:nvPr/>
        </p:nvSpPr>
        <p:spPr>
          <a:xfrm>
            <a:off x="8373960" y="4116960"/>
            <a:ext cx="1421280" cy="232200"/>
          </a:xfrm>
          <a:prstGeom prst="rect">
            <a:avLst/>
          </a:prstGeom>
          <a:solidFill>
            <a:srgbClr val="FFFFFF"/>
          </a:solid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Όχι</a:t>
            </a:r>
            <a:endParaRPr lang="en-US" sz="1250" b="0" u="none" strike="noStrike">
              <a:solidFill>
                <a:srgbClr val="000000"/>
              </a:solidFill>
              <a:effectLst/>
              <a:uFillTx/>
              <a:latin typeface="Arial"/>
            </a:endParaRPr>
          </a:p>
        </p:txBody>
      </p:sp>
      <p:sp>
        <p:nvSpPr>
          <p:cNvPr id="156" name="TextBox 17"/>
          <p:cNvSpPr/>
          <p:nvPr/>
        </p:nvSpPr>
        <p:spPr>
          <a:xfrm>
            <a:off x="5806440" y="4482720"/>
            <a:ext cx="23839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Export Αρχείο</a:t>
            </a:r>
            <a:endParaRPr lang="en-US" sz="1250" b="0" u="none" strike="noStrike">
              <a:solidFill>
                <a:srgbClr val="000000"/>
              </a:solidFill>
              <a:effectLst/>
              <a:uFillTx/>
              <a:latin typeface="Arial"/>
            </a:endParaRPr>
          </a:p>
        </p:txBody>
      </p:sp>
      <p:sp>
        <p:nvSpPr>
          <p:cNvPr id="157" name="TextBox 18"/>
          <p:cNvSpPr/>
          <p:nvPr/>
        </p:nvSpPr>
        <p:spPr>
          <a:xfrm>
            <a:off x="8373960" y="4482720"/>
            <a:ext cx="14212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Ναι</a:t>
            </a:r>
            <a:endParaRPr lang="en-US" sz="1250" b="0" u="none" strike="noStrike">
              <a:solidFill>
                <a:srgbClr val="000000"/>
              </a:solidFill>
              <a:effectLst/>
              <a:uFillTx/>
              <a:latin typeface="Arial"/>
            </a:endParaRPr>
          </a:p>
        </p:txBody>
      </p:sp>
      <p:sp>
        <p:nvSpPr>
          <p:cNvPr id="158" name="TextBox 23"/>
          <p:cNvSpPr/>
          <p:nvPr/>
        </p:nvSpPr>
        <p:spPr>
          <a:xfrm>
            <a:off x="457200" y="2057400"/>
            <a:ext cx="5348520" cy="2970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600" b="1" u="none" strike="noStrike">
                <a:solidFill>
                  <a:srgbClr val="E8A33D"/>
                </a:solidFill>
                <a:effectLst/>
                <a:uFillTx/>
                <a:latin typeface="Calibri"/>
                <a:ea typeface="DejaVu Sans"/>
              </a:rPr>
              <a:t>6 ΣΤΑΘΕΡΕΣ </a:t>
            </a:r>
            <a:r>
              <a:rPr lang="en-US" sz="1600" b="1" u="none" strike="noStrike">
                <a:solidFill>
                  <a:srgbClr val="E8A33D"/>
                </a:solidFill>
                <a:effectLst/>
                <a:uFillTx/>
                <a:latin typeface="Calibri"/>
                <a:ea typeface="DejaVu Sans"/>
              </a:rPr>
              <a:t>ΕΝΝΟΙΕΣ </a:t>
            </a:r>
            <a:r>
              <a:rPr lang="en-US" sz="1600" b="1" u="none" strike="noStrike">
                <a:solidFill>
                  <a:srgbClr val="E8A33D"/>
                </a:solidFill>
                <a:effectLst/>
                <a:uFillTx/>
                <a:latin typeface="Calibri"/>
                <a:ea typeface="DejaVu Sans"/>
              </a:rPr>
              <a:t>ΓΙΑ ΚΑΘΕ </a:t>
            </a:r>
            <a:r>
              <a:rPr lang="en-US" sz="1600" b="1" u="none" strike="noStrike">
                <a:solidFill>
                  <a:srgbClr val="E8A33D"/>
                </a:solidFill>
                <a:effectLst/>
                <a:uFillTx/>
                <a:latin typeface="Calibri"/>
                <a:ea typeface="DejaVu Sans"/>
              </a:rPr>
              <a:t>ΕΠΙΧΕΙΡΗΣ</a:t>
            </a:r>
            <a:r>
              <a:rPr lang="en-US" sz="1600" b="1" u="none" strike="noStrike">
                <a:solidFill>
                  <a:srgbClr val="E8A33D"/>
                </a:solidFill>
                <a:effectLst/>
                <a:uFillTx/>
                <a:latin typeface="Calibri"/>
                <a:ea typeface="DejaVu Sans"/>
              </a:rPr>
              <a:t>Η</a:t>
            </a:r>
            <a:endParaRPr lang="en-US" sz="1600" b="0" u="none" strike="noStrike">
              <a:solidFill>
                <a:srgbClr val="000000"/>
              </a:solidFill>
              <a:effectLst/>
              <a:uFillTx/>
              <a:latin typeface="Arial"/>
            </a:endParaRPr>
          </a:p>
        </p:txBody>
      </p:sp>
      <p:sp>
        <p:nvSpPr>
          <p:cNvPr id="159" name="Rounded Rectangle 24"/>
          <p:cNvSpPr/>
          <p:nvPr/>
        </p:nvSpPr>
        <p:spPr>
          <a:xfrm>
            <a:off x="914400" y="2514600"/>
            <a:ext cx="2610000" cy="383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60" name="TextBox 25"/>
          <p:cNvSpPr/>
          <p:nvPr/>
        </p:nvSpPr>
        <p:spPr>
          <a:xfrm>
            <a:off x="914400" y="2606040"/>
            <a:ext cx="2610000" cy="2228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Πελάτης</a:t>
            </a:r>
            <a:endParaRPr lang="en-US" sz="1200" b="0" u="none" strike="noStrike">
              <a:solidFill>
                <a:srgbClr val="000000"/>
              </a:solidFill>
              <a:effectLst/>
              <a:uFillTx/>
              <a:latin typeface="Arial"/>
            </a:endParaRPr>
          </a:p>
        </p:txBody>
      </p:sp>
      <p:sp>
        <p:nvSpPr>
          <p:cNvPr id="161" name="TextBox 37"/>
          <p:cNvSpPr/>
          <p:nvPr/>
        </p:nvSpPr>
        <p:spPr>
          <a:xfrm>
            <a:off x="6291000" y="3017160"/>
            <a:ext cx="4891320" cy="250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FFFFFF"/>
                </a:solidFill>
                <a:effectLst/>
                <a:uFillTx/>
                <a:latin typeface="Cambria"/>
                <a:ea typeface="DejaVu Sans"/>
              </a:rPr>
              <a:t>Η ΑΠΟΔΕΙΞΗ</a:t>
            </a:r>
            <a:endParaRPr lang="en-US" sz="1350" b="0" u="none" strike="noStrike">
              <a:solidFill>
                <a:srgbClr val="000000"/>
              </a:solidFill>
              <a:effectLst/>
              <a:uFillTx/>
              <a:latin typeface="Arial"/>
            </a:endParaRPr>
          </a:p>
        </p:txBody>
      </p:sp>
      <p:sp>
        <p:nvSpPr>
          <p:cNvPr id="162" name="Rounded Rectangle 1"/>
          <p:cNvSpPr/>
          <p:nvPr/>
        </p:nvSpPr>
        <p:spPr>
          <a:xfrm>
            <a:off x="914400" y="3045240"/>
            <a:ext cx="2610000" cy="383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63" name="TextBox 25"/>
          <p:cNvSpPr/>
          <p:nvPr/>
        </p:nvSpPr>
        <p:spPr>
          <a:xfrm>
            <a:off x="914400" y="3136680"/>
            <a:ext cx="2610000" cy="222840"/>
          </a:xfrm>
          <a:prstGeom prst="rect">
            <a:avLst/>
          </a:prstGeom>
          <a:solidFill>
            <a:srgbClr val="EEF3EC"/>
          </a:solid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Προ</a:t>
            </a:r>
            <a:r>
              <a:rPr lang="en-US" sz="1200" b="1" u="none" strike="noStrike">
                <a:solidFill>
                  <a:srgbClr val="2C5530"/>
                </a:solidFill>
                <a:effectLst/>
                <a:uFillTx/>
                <a:latin typeface="Calibri"/>
                <a:ea typeface="DejaVu Sans"/>
              </a:rPr>
              <a:t>ϊόν</a:t>
            </a:r>
            <a:endParaRPr lang="en-US" sz="1200" b="0" u="none" strike="noStrike">
              <a:solidFill>
                <a:srgbClr val="000000"/>
              </a:solidFill>
              <a:effectLst/>
              <a:uFillTx/>
              <a:latin typeface="Arial"/>
            </a:endParaRPr>
          </a:p>
        </p:txBody>
      </p:sp>
      <p:sp>
        <p:nvSpPr>
          <p:cNvPr id="164" name="Rounded Rectangle 2"/>
          <p:cNvSpPr/>
          <p:nvPr/>
        </p:nvSpPr>
        <p:spPr>
          <a:xfrm>
            <a:off x="914400" y="3657600"/>
            <a:ext cx="2610000" cy="383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65" name="TextBox 25"/>
          <p:cNvSpPr/>
          <p:nvPr/>
        </p:nvSpPr>
        <p:spPr>
          <a:xfrm>
            <a:off x="914400" y="3749040"/>
            <a:ext cx="2610000" cy="222840"/>
          </a:xfrm>
          <a:prstGeom prst="rect">
            <a:avLst/>
          </a:prstGeom>
          <a:solidFill>
            <a:srgbClr val="EEF3EC"/>
          </a:solid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Περιοχή</a:t>
            </a:r>
            <a:endParaRPr lang="en-US" sz="1200" b="0" u="none" strike="noStrike">
              <a:solidFill>
                <a:srgbClr val="000000"/>
              </a:solidFill>
              <a:effectLst/>
              <a:uFillTx/>
              <a:latin typeface="Arial"/>
            </a:endParaRPr>
          </a:p>
        </p:txBody>
      </p:sp>
      <p:sp>
        <p:nvSpPr>
          <p:cNvPr id="166" name="Rounded Rectangle 3"/>
          <p:cNvSpPr/>
          <p:nvPr/>
        </p:nvSpPr>
        <p:spPr>
          <a:xfrm>
            <a:off x="914400" y="4188240"/>
            <a:ext cx="2610000" cy="383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67" name="TextBox 25"/>
          <p:cNvSpPr/>
          <p:nvPr/>
        </p:nvSpPr>
        <p:spPr>
          <a:xfrm>
            <a:off x="914400" y="4279680"/>
            <a:ext cx="2610000" cy="222840"/>
          </a:xfrm>
          <a:prstGeom prst="rect">
            <a:avLst/>
          </a:prstGeom>
          <a:solidFill>
            <a:srgbClr val="EEF3EC"/>
          </a:solid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Παραγγελία</a:t>
            </a:r>
            <a:endParaRPr lang="en-US" sz="1200" b="0" u="none" strike="noStrike">
              <a:solidFill>
                <a:srgbClr val="000000"/>
              </a:solidFill>
              <a:effectLst/>
              <a:uFillTx/>
              <a:latin typeface="Arial"/>
            </a:endParaRPr>
          </a:p>
        </p:txBody>
      </p:sp>
      <p:sp>
        <p:nvSpPr>
          <p:cNvPr id="168" name="Rounded Rectangle 4"/>
          <p:cNvSpPr/>
          <p:nvPr/>
        </p:nvSpPr>
        <p:spPr>
          <a:xfrm>
            <a:off x="914400" y="4800600"/>
            <a:ext cx="2610000" cy="383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69" name="TextBox 25"/>
          <p:cNvSpPr/>
          <p:nvPr/>
        </p:nvSpPr>
        <p:spPr>
          <a:xfrm>
            <a:off x="914400" y="4892040"/>
            <a:ext cx="2610000" cy="222840"/>
          </a:xfrm>
          <a:prstGeom prst="rect">
            <a:avLst/>
          </a:prstGeom>
          <a:solidFill>
            <a:srgbClr val="EEF3EC"/>
          </a:solid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Γραμμή Παραγγελίας</a:t>
            </a:r>
            <a:endParaRPr lang="en-US" sz="1200" b="0" u="none" strike="noStrike">
              <a:solidFill>
                <a:srgbClr val="000000"/>
              </a:solidFill>
              <a:effectLst/>
              <a:uFillTx/>
              <a:latin typeface="Arial"/>
            </a:endParaRPr>
          </a:p>
        </p:txBody>
      </p:sp>
      <p:sp>
        <p:nvSpPr>
          <p:cNvPr id="170" name="Rounded Rectangle 8"/>
          <p:cNvSpPr/>
          <p:nvPr/>
        </p:nvSpPr>
        <p:spPr>
          <a:xfrm>
            <a:off x="914400" y="5331240"/>
            <a:ext cx="2610000" cy="383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71" name="TextBox 25"/>
          <p:cNvSpPr/>
          <p:nvPr/>
        </p:nvSpPr>
        <p:spPr>
          <a:xfrm>
            <a:off x="914400" y="5422680"/>
            <a:ext cx="2610000" cy="222840"/>
          </a:xfrm>
          <a:prstGeom prst="rect">
            <a:avLst/>
          </a:prstGeom>
          <a:solidFill>
            <a:srgbClr val="EEF3EC"/>
          </a:solid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Επιστροφή</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2"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ΤΟ ΣΥΣΤΗΜΑ</a:t>
            </a:r>
            <a:endParaRPr lang="en-US" sz="1200" b="0" u="none" strike="noStrike">
              <a:solidFill>
                <a:srgbClr val="000000"/>
              </a:solidFill>
              <a:effectLst/>
              <a:uFillTx/>
              <a:latin typeface="Arial"/>
            </a:endParaRPr>
          </a:p>
        </p:txBody>
      </p:sp>
      <p:sp>
        <p:nvSpPr>
          <p:cNvPr id="173"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API Responses</a:t>
            </a:r>
            <a:endParaRPr lang="en-US" sz="3000" b="0" u="none" strike="noStrike">
              <a:solidFill>
                <a:srgbClr val="000000"/>
              </a:solidFill>
              <a:effectLst/>
              <a:uFillTx/>
              <a:latin typeface="Arial"/>
            </a:endParaRPr>
          </a:p>
        </p:txBody>
      </p:sp>
      <p:sp>
        <p:nvSpPr>
          <p:cNvPr id="174"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10</a:t>
            </a:r>
            <a:endParaRPr lang="en-US" sz="900" b="0" u="none" strike="noStrike">
              <a:solidFill>
                <a:srgbClr val="000000"/>
              </a:solidFill>
              <a:effectLst/>
              <a:uFillTx/>
              <a:latin typeface="Arial"/>
            </a:endParaRPr>
          </a:p>
        </p:txBody>
      </p:sp>
      <p:sp>
        <p:nvSpPr>
          <p:cNvPr id="175" name="TextBox 5"/>
          <p:cNvSpPr/>
          <p:nvPr/>
        </p:nvSpPr>
        <p:spPr>
          <a:xfrm>
            <a:off x="548640" y="6157080"/>
            <a:ext cx="1109088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endParaRPr lang="en-US" sz="1800" b="0" u="none" strike="noStrike">
              <a:solidFill>
                <a:srgbClr val="000000"/>
              </a:solidFill>
              <a:effectLst/>
              <a:uFillTx/>
              <a:latin typeface="Arial"/>
            </a:endParaRPr>
          </a:p>
        </p:txBody>
      </p:sp>
      <p:sp>
        <p:nvSpPr>
          <p:cNvPr id="176" name="TextBox 6"/>
          <p:cNvSpPr/>
          <p:nvPr/>
        </p:nvSpPr>
        <p:spPr>
          <a:xfrm>
            <a:off x="548640" y="2095200"/>
            <a:ext cx="5348520" cy="213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1" u="none" strike="noStrike">
                <a:solidFill>
                  <a:srgbClr val="E8A33D"/>
                </a:solidFill>
                <a:effectLst/>
                <a:uFillTx/>
                <a:latin typeface="Consolas"/>
                <a:ea typeface="DejaVu Sans"/>
              </a:rPr>
              <a:t>GET /api/v1/forecasting/revenue?horizon=3</a:t>
            </a:r>
            <a:endParaRPr lang="en-US" sz="1150" b="0" u="none" strike="noStrike">
              <a:solidFill>
                <a:srgbClr val="000000"/>
              </a:solidFill>
              <a:effectLst/>
              <a:uFillTx/>
              <a:latin typeface="Arial"/>
            </a:endParaRPr>
          </a:p>
        </p:txBody>
      </p:sp>
      <p:sp>
        <p:nvSpPr>
          <p:cNvPr id="177" name="Rectangle 7"/>
          <p:cNvSpPr/>
          <p:nvPr/>
        </p:nvSpPr>
        <p:spPr>
          <a:xfrm>
            <a:off x="548640" y="2442600"/>
            <a:ext cx="5348520" cy="281520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78" name="TextBox 8"/>
          <p:cNvSpPr/>
          <p:nvPr/>
        </p:nvSpPr>
        <p:spPr>
          <a:xfrm>
            <a:off x="694800" y="2570760"/>
            <a:ext cx="5055840" cy="25657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0" u="none" strike="noStrike">
                <a:solidFill>
                  <a:srgbClr val="241F1B"/>
                </a:solidFill>
                <a:effectLst/>
                <a:uFillTx/>
                <a:latin typeface="Consolas"/>
                <a:ea typeface="DejaVu Sans"/>
              </a:rPr>
              <a:t>{</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"method": "exponential_smoothing",</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"horizon": 3,</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"history_length": 25,</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"forecast":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r>
              <a:rPr lang="en-US" sz="1150" b="0" u="none" strike="noStrike">
                <a:solidFill>
                  <a:srgbClr val="241F1B"/>
                </a:solidFill>
                <a:effectLst/>
                <a:uFillTx/>
                <a:latin typeface="Consolas"/>
                <a:ea typeface="DejaVu Sans"/>
              </a:rPr>
              <a:t>587222.83, 502905.56, 671261.41</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r>
              <a:rPr lang="en-US" sz="1150" b="0" u="none" strike="noStrike">
                <a:solidFill>
                  <a:srgbClr val="241F1B"/>
                </a:solidFill>
                <a:effectLst/>
                <a:uFillTx/>
                <a:latin typeface="Consolas"/>
                <a:ea typeface="DejaVu Sans"/>
              </a:rPr>
              <a:t>],</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"metrics":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"mean_absolute_percentage_error": 51.12</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"skill_score": -0.21</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a:t>
            </a:r>
            <a:endParaRPr lang="en-US" sz="1150" b="0" u="none" strike="noStrike">
              <a:solidFill>
                <a:srgbClr val="000000"/>
              </a:solidFill>
              <a:effectLst/>
              <a:uFillTx/>
              <a:latin typeface="Arial"/>
            </a:endParaRPr>
          </a:p>
        </p:txBody>
      </p:sp>
      <p:sp>
        <p:nvSpPr>
          <p:cNvPr id="179" name="TextBox 10"/>
          <p:cNvSpPr/>
          <p:nvPr/>
        </p:nvSpPr>
        <p:spPr>
          <a:xfrm>
            <a:off x="6291000" y="2095200"/>
            <a:ext cx="5348520" cy="213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1" u="none" strike="noStrike">
                <a:solidFill>
                  <a:srgbClr val="E8A33D"/>
                </a:solidFill>
                <a:effectLst/>
                <a:uFillTx/>
                <a:latin typeface="Consolas"/>
                <a:ea typeface="DejaVu Sans"/>
              </a:rPr>
              <a:t>GET </a:t>
            </a:r>
            <a:r>
              <a:rPr lang="en-US" sz="1150" b="1" u="none" strike="noStrike">
                <a:solidFill>
                  <a:srgbClr val="E8A33D"/>
                </a:solidFill>
                <a:effectLst/>
                <a:uFillTx/>
                <a:latin typeface="Consolas"/>
                <a:ea typeface="DejaVu Sans"/>
              </a:rPr>
              <a:t>/api/v1/prof</a:t>
            </a:r>
            <a:r>
              <a:rPr lang="en-US" sz="1150" b="1" u="none" strike="noStrike">
                <a:solidFill>
                  <a:srgbClr val="E8A33D"/>
                </a:solidFill>
                <a:effectLst/>
                <a:uFillTx/>
                <a:latin typeface="Consolas"/>
                <a:ea typeface="DejaVu Sans"/>
              </a:rPr>
              <a:t>itability/un</a:t>
            </a:r>
            <a:r>
              <a:rPr lang="en-US" sz="1150" b="1" u="none" strike="noStrike">
                <a:solidFill>
                  <a:srgbClr val="E8A33D"/>
                </a:solidFill>
                <a:effectLst/>
                <a:uFillTx/>
                <a:latin typeface="Consolas"/>
                <a:ea typeface="DejaVu Sans"/>
              </a:rPr>
              <a:t>it-economics</a:t>
            </a:r>
            <a:endParaRPr lang="en-US" sz="1150" b="0" u="none" strike="noStrike">
              <a:solidFill>
                <a:srgbClr val="000000"/>
              </a:solidFill>
              <a:effectLst/>
              <a:uFillTx/>
              <a:latin typeface="Arial"/>
            </a:endParaRPr>
          </a:p>
        </p:txBody>
      </p:sp>
      <p:sp>
        <p:nvSpPr>
          <p:cNvPr id="180" name="Rectangle 11"/>
          <p:cNvSpPr/>
          <p:nvPr/>
        </p:nvSpPr>
        <p:spPr>
          <a:xfrm>
            <a:off x="6291000" y="2442600"/>
            <a:ext cx="5348520" cy="281520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81" name="TextBox 12"/>
          <p:cNvSpPr/>
          <p:nvPr/>
        </p:nvSpPr>
        <p:spPr>
          <a:xfrm>
            <a:off x="6437520" y="2570760"/>
            <a:ext cx="5055840" cy="25657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0" u="none" strike="noStrike">
                <a:solidFill>
                  <a:srgbClr val="241F1B"/>
                </a:solidFill>
                <a:effectLst/>
                <a:uFillTx/>
                <a:latin typeface="Consolas"/>
                <a:ea typeface="DejaVu Sans"/>
              </a:rPr>
              <a:t>{</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"average_customer_revenue": 2895.0,</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"lifetime_value": 1447.5,</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"assumptions":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"gross_margin": 0.5,</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"customer_acquisition_cost": 0.0</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"disclaimer":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r>
              <a:rPr lang="en-US" sz="1150" b="0" u="none" strike="noStrike">
                <a:solidFill>
                  <a:srgbClr val="241F1B"/>
                </a:solidFill>
                <a:effectLst/>
                <a:uFillTx/>
                <a:latin typeface="Consolas"/>
                <a:ea typeface="DejaVu Sans"/>
              </a:rPr>
              <a:t>Scenario output, not a </a:t>
            </a:r>
            <a:r>
              <a:rPr lang="en-US" sz="1150" b="0" u="none" strike="noStrike">
                <a:solidFill>
                  <a:srgbClr val="241F1B"/>
                </a:solidFill>
                <a:effectLst/>
                <a:uFillTx/>
                <a:latin typeface="Consolas"/>
                <a:ea typeface="DejaVu Sans"/>
              </a:rPr>
              <a:t>measurement.</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r>
              <a:rPr lang="en-US" sz="1150" b="0" u="none" strike="noStrike">
                <a:solidFill>
                  <a:srgbClr val="241F1B"/>
                </a:solidFill>
                <a:effectLst/>
                <a:uFillTx/>
                <a:latin typeface="Consolas"/>
                <a:ea typeface="DejaVu Sans"/>
              </a:rPr>
              <a:t>	</a:t>
            </a:r>
            <a:r>
              <a:rPr lang="en-US" sz="1150" b="0" u="none" strike="noStrike">
                <a:solidFill>
                  <a:srgbClr val="241F1B"/>
                </a:solidFill>
                <a:effectLst/>
                <a:uFillTx/>
                <a:latin typeface="Consolas"/>
                <a:ea typeface="DejaVu Sans"/>
              </a:rPr>
              <a:t>The source data contains </a:t>
            </a:r>
            <a:r>
              <a:rPr lang="en-US" sz="1150" b="0" u="none" strike="noStrike">
                <a:solidFill>
                  <a:srgbClr val="241F1B"/>
                </a:solidFill>
                <a:effectLst/>
                <a:uFillTx/>
                <a:latin typeface="Consolas"/>
                <a:ea typeface="DejaVu Sans"/>
              </a:rPr>
              <a:t>no cost of goods</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and no marketing spend."</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ΤΟ ΣΥΣΤΗΜΑ</a:t>
            </a:r>
            <a:endParaRPr lang="en-US" sz="1200" b="0" u="none" strike="noStrike">
              <a:solidFill>
                <a:srgbClr val="000000"/>
              </a:solidFill>
              <a:effectLst/>
              <a:uFillTx/>
              <a:latin typeface="Arial"/>
            </a:endParaRPr>
          </a:p>
        </p:txBody>
      </p:sp>
      <p:sp>
        <p:nvSpPr>
          <p:cNvPr id="183"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Me</a:t>
            </a:r>
            <a:r>
              <a:rPr lang="en-US" sz="3000" b="1" u="none" strike="noStrike">
                <a:solidFill>
                  <a:srgbClr val="2C5530"/>
                </a:solidFill>
                <a:effectLst/>
                <a:uFillTx/>
                <a:latin typeface="Cambria"/>
                <a:ea typeface="DejaVu Sans"/>
              </a:rPr>
              <a:t>ta</a:t>
            </a:r>
            <a:r>
              <a:rPr lang="en-US" sz="3000" b="1" u="none" strike="noStrike">
                <a:solidFill>
                  <a:srgbClr val="2C5530"/>
                </a:solidFill>
                <a:effectLst/>
                <a:uFillTx/>
                <a:latin typeface="Cambria"/>
                <a:ea typeface="DejaVu Sans"/>
              </a:rPr>
              <a:t>ba</a:t>
            </a:r>
            <a:r>
              <a:rPr lang="en-US" sz="3000" b="1" u="none" strike="noStrike">
                <a:solidFill>
                  <a:srgbClr val="2C5530"/>
                </a:solidFill>
                <a:effectLst/>
                <a:uFillTx/>
                <a:latin typeface="Cambria"/>
                <a:ea typeface="DejaVu Sans"/>
              </a:rPr>
              <a:t>se</a:t>
            </a:r>
            <a:endParaRPr lang="en-US" sz="3000" b="0" u="none" strike="noStrike">
              <a:solidFill>
                <a:srgbClr val="000000"/>
              </a:solidFill>
              <a:effectLst/>
              <a:uFillTx/>
              <a:latin typeface="Arial"/>
            </a:endParaRPr>
          </a:p>
        </p:txBody>
      </p:sp>
      <p:sp>
        <p:nvSpPr>
          <p:cNvPr id="184"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11</a:t>
            </a:r>
            <a:endParaRPr lang="en-US" sz="900" b="0" u="none" strike="noStrike">
              <a:solidFill>
                <a:srgbClr val="000000"/>
              </a:solidFill>
              <a:effectLst/>
              <a:uFillTx/>
              <a:latin typeface="Arial"/>
            </a:endParaRPr>
          </a:p>
        </p:txBody>
      </p:sp>
      <p:pic>
        <p:nvPicPr>
          <p:cNvPr id="185" name="Picture 6" descr="metabase-dashboard.jpg"/>
          <p:cNvPicPr/>
          <p:nvPr/>
        </p:nvPicPr>
        <p:blipFill>
          <a:blip r:embed="rId1"/>
          <a:stretch/>
        </p:blipFill>
        <p:spPr>
          <a:xfrm>
            <a:off x="457200" y="1691640"/>
            <a:ext cx="5348520" cy="2651760"/>
          </a:xfrm>
          <a:prstGeom prst="rect">
            <a:avLst/>
          </a:prstGeom>
          <a:noFill/>
          <a:ln w="0">
            <a:noFill/>
          </a:ln>
        </p:spPr>
      </p:pic>
      <p:pic>
        <p:nvPicPr>
          <p:cNvPr id="186" name="Picture 9" descr="metabase-association-rules.jpg"/>
          <p:cNvPicPr/>
          <p:nvPr/>
        </p:nvPicPr>
        <p:blipFill>
          <a:blip r:embed="rId2"/>
          <a:stretch/>
        </p:blipFill>
        <p:spPr>
          <a:xfrm>
            <a:off x="6298560" y="3589560"/>
            <a:ext cx="5131440" cy="258264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7" name="Rectangle 1"/>
          <p:cNvSpPr/>
          <p:nvPr/>
        </p:nvSpPr>
        <p:spPr>
          <a:xfrm>
            <a:off x="0" y="0"/>
            <a:ext cx="12191040" cy="6857280"/>
          </a:xfrm>
          <a:prstGeom prst="rect">
            <a:avLst/>
          </a:prstGeom>
          <a:solidFill>
            <a:schemeClr val="accent1"/>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88" name="TextBox 2"/>
          <p:cNvSpPr/>
          <p:nvPr/>
        </p:nvSpPr>
        <p:spPr>
          <a:xfrm>
            <a:off x="548640" y="1600200"/>
            <a:ext cx="11090880" cy="17848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9600" b="1" u="none" strike="noStrike">
                <a:solidFill>
                  <a:srgbClr val="3E6E43"/>
                </a:solidFill>
                <a:effectLst/>
                <a:uFillTx/>
                <a:latin typeface="Cambria"/>
                <a:ea typeface="DejaVu Sans"/>
              </a:rPr>
              <a:t>03</a:t>
            </a:r>
            <a:endParaRPr lang="en-US" sz="9600" b="0" u="none" strike="noStrike">
              <a:solidFill>
                <a:srgbClr val="000000"/>
              </a:solidFill>
              <a:effectLst/>
              <a:uFillTx/>
              <a:latin typeface="Arial"/>
            </a:endParaRPr>
          </a:p>
        </p:txBody>
      </p:sp>
      <p:sp>
        <p:nvSpPr>
          <p:cNvPr id="189" name="TextBox 3"/>
          <p:cNvSpPr/>
          <p:nvPr/>
        </p:nvSpPr>
        <p:spPr>
          <a:xfrm>
            <a:off x="548640" y="3474720"/>
            <a:ext cx="11090880" cy="241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00" b="1" u="none" strike="noStrike">
                <a:solidFill>
                  <a:srgbClr val="E8A33D"/>
                </a:solidFill>
                <a:effectLst/>
                <a:uFillTx/>
                <a:latin typeface="Calibri"/>
                <a:ea typeface="DejaVu Sans"/>
              </a:rPr>
              <a:t>ΕΝΟΤΗΤΑ</a:t>
            </a:r>
            <a:endParaRPr lang="en-US" sz="1300" b="0" u="none" strike="noStrike">
              <a:solidFill>
                <a:srgbClr val="000000"/>
              </a:solidFill>
              <a:effectLst/>
              <a:uFillTx/>
              <a:latin typeface="Arial"/>
            </a:endParaRPr>
          </a:p>
        </p:txBody>
      </p:sp>
      <p:sp>
        <p:nvSpPr>
          <p:cNvPr id="190" name="TextBox 4"/>
          <p:cNvSpPr/>
          <p:nvPr/>
        </p:nvSpPr>
        <p:spPr>
          <a:xfrm>
            <a:off x="548640" y="3803760"/>
            <a:ext cx="11090880" cy="817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Τα ευρήματα</a:t>
            </a:r>
            <a:endParaRPr lang="en-US" sz="4400" b="0" u="none" strike="noStrike">
              <a:solidFill>
                <a:srgbClr val="000000"/>
              </a:solidFill>
              <a:effectLst/>
              <a:uFillTx/>
              <a:latin typeface="Arial"/>
            </a:endParaRPr>
          </a:p>
        </p:txBody>
      </p:sp>
      <p:sp>
        <p:nvSpPr>
          <p:cNvPr id="191" name="TextBox 5"/>
          <p:cNvSpPr/>
          <p:nvPr/>
        </p:nvSpPr>
        <p:spPr>
          <a:xfrm>
            <a:off x="548640" y="4645080"/>
            <a:ext cx="11090880" cy="278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500" b="0" u="none" strike="noStrike">
                <a:solidFill>
                  <a:srgbClr val="D7E5D2"/>
                </a:solidFill>
                <a:effectLst/>
                <a:uFillTx/>
                <a:latin typeface="Calibri"/>
                <a:ea typeface="DejaVu Sans"/>
              </a:rPr>
              <a:t>Τι βγήκε από ένα </a:t>
            </a:r>
            <a:r>
              <a:rPr lang="en-US" sz="1500" b="0" u="none" strike="noStrike">
                <a:solidFill>
                  <a:srgbClr val="D7E5D2"/>
                </a:solidFill>
                <a:effectLst/>
                <a:uFillTx/>
                <a:latin typeface="Calibri"/>
                <a:ea typeface="DejaVu Sans"/>
              </a:rPr>
              <a:t>εκατομμύριο γραμμές </a:t>
            </a:r>
            <a:r>
              <a:rPr lang="en-US" sz="1500" b="0" u="none" strike="noStrike">
                <a:solidFill>
                  <a:srgbClr val="D7E5D2"/>
                </a:solidFill>
                <a:effectLst/>
                <a:uFillTx/>
                <a:latin typeface="Calibri"/>
                <a:ea typeface="DejaVu Sans"/>
              </a:rPr>
              <a:t>πωλήσεων</a:t>
            </a:r>
            <a:endParaRPr lang="en-US" sz="1500" b="0" u="none" strike="noStrike">
              <a:solidFill>
                <a:srgbClr val="000000"/>
              </a:solidFill>
              <a:effectLst/>
              <a:uFillTx/>
              <a:latin typeface="Arial"/>
            </a:endParaRPr>
          </a:p>
        </p:txBody>
      </p:sp>
      <p:sp>
        <p:nvSpPr>
          <p:cNvPr id="192" name="TextBox 6"/>
          <p:cNvSpPr/>
          <p:nvPr/>
        </p:nvSpPr>
        <p:spPr>
          <a:xfrm>
            <a:off x="548640" y="6473880"/>
            <a:ext cx="5485680" cy="1677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900" b="0" u="none" strike="noStrike">
                <a:solidFill>
                  <a:srgbClr val="D7E5D2"/>
                </a:solidFill>
                <a:effectLst/>
                <a:uFillTx/>
                <a:latin typeface="Calibri"/>
                <a:ea typeface="DejaVu Sans"/>
              </a:rPr>
              <a:t>ENSIGHTS · Διπλωματική εργασία</a:t>
            </a:r>
            <a:endParaRPr lang="en-US" sz="900" b="0" u="none" strike="noStrike">
              <a:solidFill>
                <a:srgbClr val="000000"/>
              </a:solidFill>
              <a:effectLst/>
              <a:uFillTx/>
              <a:latin typeface="Arial"/>
            </a:endParaRPr>
          </a:p>
        </p:txBody>
      </p:sp>
      <p:sp>
        <p:nvSpPr>
          <p:cNvPr id="193" name="TextBox 7"/>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12</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ΤΑ ΔΕΔΟΜΕΝΑ</a:t>
            </a:r>
            <a:endParaRPr lang="en-US" sz="1200" b="0" u="none" strike="noStrike">
              <a:solidFill>
                <a:srgbClr val="000000"/>
              </a:solidFill>
              <a:effectLst/>
              <a:uFillTx/>
              <a:latin typeface="Arial"/>
            </a:endParaRPr>
          </a:p>
        </p:txBody>
      </p:sp>
      <p:sp>
        <p:nvSpPr>
          <p:cNvPr id="209"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Online </a:t>
            </a:r>
            <a:r>
              <a:rPr lang="en-US" sz="3000" b="1" u="none" strike="noStrike">
                <a:solidFill>
                  <a:srgbClr val="2C5530"/>
                </a:solidFill>
                <a:effectLst/>
                <a:uFillTx/>
                <a:latin typeface="Cambria"/>
                <a:ea typeface="DejaVu Sans"/>
              </a:rPr>
              <a:t>Retail II: </a:t>
            </a:r>
            <a:r>
              <a:rPr lang="en-US" sz="3000" b="1" u="none" strike="noStrike">
                <a:solidFill>
                  <a:srgbClr val="2C5530"/>
                </a:solidFill>
                <a:effectLst/>
                <a:uFillTx/>
                <a:latin typeface="Cambria"/>
                <a:ea typeface="DejaVu Sans"/>
              </a:rPr>
              <a:t>το </a:t>
            </a:r>
            <a:r>
              <a:rPr lang="en-US" sz="3000" b="1" u="none" strike="noStrike">
                <a:solidFill>
                  <a:srgbClr val="2C5530"/>
                </a:solidFill>
                <a:effectLst/>
                <a:uFillTx/>
                <a:latin typeface="Cambria"/>
                <a:ea typeface="DejaVu Sans"/>
              </a:rPr>
              <a:t>πείραμα</a:t>
            </a:r>
            <a:endParaRPr lang="en-US" sz="3000" b="0" u="none" strike="noStrike">
              <a:solidFill>
                <a:srgbClr val="000000"/>
              </a:solidFill>
              <a:effectLst/>
              <a:uFillTx/>
              <a:latin typeface="Arial"/>
            </a:endParaRPr>
          </a:p>
        </p:txBody>
      </p:sp>
      <p:sp>
        <p:nvSpPr>
          <p:cNvPr id="210"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13</a:t>
            </a:r>
            <a:endParaRPr lang="en-US" sz="900" b="0" u="none" strike="noStrike">
              <a:solidFill>
                <a:srgbClr val="000000"/>
              </a:solidFill>
              <a:effectLst/>
              <a:uFillTx/>
              <a:latin typeface="Arial"/>
            </a:endParaRPr>
          </a:p>
        </p:txBody>
      </p:sp>
      <p:sp>
        <p:nvSpPr>
          <p:cNvPr id="211" name="Rounded Rectangle 6"/>
          <p:cNvSpPr/>
          <p:nvPr/>
        </p:nvSpPr>
        <p:spPr>
          <a:xfrm>
            <a:off x="548640" y="2258640"/>
            <a:ext cx="172584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12" name="TextBox 7"/>
          <p:cNvSpPr/>
          <p:nvPr/>
        </p:nvSpPr>
        <p:spPr>
          <a:xfrm>
            <a:off x="548640" y="2350080"/>
            <a:ext cx="172584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39.516</a:t>
            </a:r>
            <a:endParaRPr lang="en-US" sz="2400" b="0" u="none" strike="noStrike">
              <a:solidFill>
                <a:srgbClr val="000000"/>
              </a:solidFill>
              <a:effectLst/>
              <a:uFillTx/>
              <a:latin typeface="Arial"/>
            </a:endParaRPr>
          </a:p>
        </p:txBody>
      </p:sp>
      <p:sp>
        <p:nvSpPr>
          <p:cNvPr id="213" name="TextBox 8"/>
          <p:cNvSpPr/>
          <p:nvPr/>
        </p:nvSpPr>
        <p:spPr>
          <a:xfrm>
            <a:off x="603360" y="2807280"/>
            <a:ext cx="161640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Παραγγελίες</a:t>
            </a:r>
            <a:endParaRPr lang="en-US" sz="1100" b="0" u="none" strike="noStrike">
              <a:solidFill>
                <a:srgbClr val="000000"/>
              </a:solidFill>
              <a:effectLst/>
              <a:uFillTx/>
              <a:latin typeface="Arial"/>
            </a:endParaRPr>
          </a:p>
        </p:txBody>
      </p:sp>
      <p:sp>
        <p:nvSpPr>
          <p:cNvPr id="214" name="Rounded Rectangle 9"/>
          <p:cNvSpPr/>
          <p:nvPr/>
        </p:nvSpPr>
        <p:spPr>
          <a:xfrm>
            <a:off x="2421720" y="2258640"/>
            <a:ext cx="172584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15" name="TextBox 10"/>
          <p:cNvSpPr/>
          <p:nvPr/>
        </p:nvSpPr>
        <p:spPr>
          <a:xfrm>
            <a:off x="2421720" y="2350080"/>
            <a:ext cx="172584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1.002.423</a:t>
            </a:r>
            <a:endParaRPr lang="en-US" sz="2400" b="0" u="none" strike="noStrike">
              <a:solidFill>
                <a:srgbClr val="000000"/>
              </a:solidFill>
              <a:effectLst/>
              <a:uFillTx/>
              <a:latin typeface="Arial"/>
            </a:endParaRPr>
          </a:p>
        </p:txBody>
      </p:sp>
      <p:sp>
        <p:nvSpPr>
          <p:cNvPr id="216" name="TextBox 11"/>
          <p:cNvSpPr/>
          <p:nvPr/>
        </p:nvSpPr>
        <p:spPr>
          <a:xfrm>
            <a:off x="2476440" y="2807280"/>
            <a:ext cx="161640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Γραμμές</a:t>
            </a:r>
            <a:endParaRPr lang="en-US" sz="1100" b="0" u="none" strike="noStrike">
              <a:solidFill>
                <a:srgbClr val="000000"/>
              </a:solidFill>
              <a:effectLst/>
              <a:uFillTx/>
              <a:latin typeface="Arial"/>
            </a:endParaRPr>
          </a:p>
        </p:txBody>
      </p:sp>
      <p:sp>
        <p:nvSpPr>
          <p:cNvPr id="217" name="Rounded Rectangle 12"/>
          <p:cNvSpPr/>
          <p:nvPr/>
        </p:nvSpPr>
        <p:spPr>
          <a:xfrm>
            <a:off x="4294800" y="2258640"/>
            <a:ext cx="172584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18" name="TextBox 13"/>
          <p:cNvSpPr/>
          <p:nvPr/>
        </p:nvSpPr>
        <p:spPr>
          <a:xfrm>
            <a:off x="4294800" y="2350080"/>
            <a:ext cx="172584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17.925</a:t>
            </a:r>
            <a:endParaRPr lang="en-US" sz="2400" b="0" u="none" strike="noStrike">
              <a:solidFill>
                <a:srgbClr val="000000"/>
              </a:solidFill>
              <a:effectLst/>
              <a:uFillTx/>
              <a:latin typeface="Arial"/>
            </a:endParaRPr>
          </a:p>
        </p:txBody>
      </p:sp>
      <p:sp>
        <p:nvSpPr>
          <p:cNvPr id="219" name="TextBox 14"/>
          <p:cNvSpPr/>
          <p:nvPr/>
        </p:nvSpPr>
        <p:spPr>
          <a:xfrm>
            <a:off x="4349520" y="2807280"/>
            <a:ext cx="161640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Επιστροφές</a:t>
            </a:r>
            <a:endParaRPr lang="en-US" sz="1100" b="0" u="none" strike="noStrike">
              <a:solidFill>
                <a:srgbClr val="000000"/>
              </a:solidFill>
              <a:effectLst/>
              <a:uFillTx/>
              <a:latin typeface="Arial"/>
            </a:endParaRPr>
          </a:p>
        </p:txBody>
      </p:sp>
      <p:sp>
        <p:nvSpPr>
          <p:cNvPr id="220" name="Rounded Rectangle 15"/>
          <p:cNvSpPr/>
          <p:nvPr/>
        </p:nvSpPr>
        <p:spPr>
          <a:xfrm>
            <a:off x="6167520" y="2258640"/>
            <a:ext cx="172584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21" name="TextBox 16"/>
          <p:cNvSpPr/>
          <p:nvPr/>
        </p:nvSpPr>
        <p:spPr>
          <a:xfrm>
            <a:off x="6167520" y="2350080"/>
            <a:ext cx="172584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5.875</a:t>
            </a:r>
            <a:endParaRPr lang="en-US" sz="2400" b="0" u="none" strike="noStrike">
              <a:solidFill>
                <a:srgbClr val="000000"/>
              </a:solidFill>
              <a:effectLst/>
              <a:uFillTx/>
              <a:latin typeface="Arial"/>
            </a:endParaRPr>
          </a:p>
        </p:txBody>
      </p:sp>
      <p:sp>
        <p:nvSpPr>
          <p:cNvPr id="222" name="TextBox 17"/>
          <p:cNvSpPr/>
          <p:nvPr/>
        </p:nvSpPr>
        <p:spPr>
          <a:xfrm>
            <a:off x="6222600" y="2807280"/>
            <a:ext cx="161640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Πελάτες</a:t>
            </a:r>
            <a:endParaRPr lang="en-US" sz="1100" b="0" u="none" strike="noStrike">
              <a:solidFill>
                <a:srgbClr val="000000"/>
              </a:solidFill>
              <a:effectLst/>
              <a:uFillTx/>
              <a:latin typeface="Arial"/>
            </a:endParaRPr>
          </a:p>
        </p:txBody>
      </p:sp>
      <p:sp>
        <p:nvSpPr>
          <p:cNvPr id="223" name="Rounded Rectangle 18"/>
          <p:cNvSpPr/>
          <p:nvPr/>
        </p:nvSpPr>
        <p:spPr>
          <a:xfrm>
            <a:off x="8040600" y="2258640"/>
            <a:ext cx="172584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24" name="TextBox 19"/>
          <p:cNvSpPr/>
          <p:nvPr/>
        </p:nvSpPr>
        <p:spPr>
          <a:xfrm>
            <a:off x="8040600" y="2350080"/>
            <a:ext cx="172584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4.900</a:t>
            </a:r>
            <a:endParaRPr lang="en-US" sz="2400" b="0" u="none" strike="noStrike">
              <a:solidFill>
                <a:srgbClr val="000000"/>
              </a:solidFill>
              <a:effectLst/>
              <a:uFillTx/>
              <a:latin typeface="Arial"/>
            </a:endParaRPr>
          </a:p>
        </p:txBody>
      </p:sp>
      <p:sp>
        <p:nvSpPr>
          <p:cNvPr id="225" name="TextBox 20"/>
          <p:cNvSpPr/>
          <p:nvPr/>
        </p:nvSpPr>
        <p:spPr>
          <a:xfrm>
            <a:off x="8095320" y="2807280"/>
            <a:ext cx="161640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Προϊόντα</a:t>
            </a:r>
            <a:endParaRPr lang="en-US" sz="1100" b="0" u="none" strike="noStrike">
              <a:solidFill>
                <a:srgbClr val="000000"/>
              </a:solidFill>
              <a:effectLst/>
              <a:uFillTx/>
              <a:latin typeface="Arial"/>
            </a:endParaRPr>
          </a:p>
        </p:txBody>
      </p:sp>
      <p:sp>
        <p:nvSpPr>
          <p:cNvPr id="226" name="Rounded Rectangle 21"/>
          <p:cNvSpPr/>
          <p:nvPr/>
        </p:nvSpPr>
        <p:spPr>
          <a:xfrm>
            <a:off x="9913680" y="2258640"/>
            <a:ext cx="172584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27" name="TextBox 22"/>
          <p:cNvSpPr/>
          <p:nvPr/>
        </p:nvSpPr>
        <p:spPr>
          <a:xfrm>
            <a:off x="9913680" y="2350080"/>
            <a:ext cx="172584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43</a:t>
            </a:r>
            <a:endParaRPr lang="en-US" sz="2400" b="0" u="none" strike="noStrike">
              <a:solidFill>
                <a:srgbClr val="000000"/>
              </a:solidFill>
              <a:effectLst/>
              <a:uFillTx/>
              <a:latin typeface="Arial"/>
            </a:endParaRPr>
          </a:p>
        </p:txBody>
      </p:sp>
      <p:sp>
        <p:nvSpPr>
          <p:cNvPr id="228" name="TextBox 23"/>
          <p:cNvSpPr/>
          <p:nvPr/>
        </p:nvSpPr>
        <p:spPr>
          <a:xfrm>
            <a:off x="9968400" y="2807280"/>
            <a:ext cx="161640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Περιοχές</a:t>
            </a:r>
            <a:endParaRPr lang="en-US" sz="1100" b="0" u="none" strike="noStrike">
              <a:solidFill>
                <a:srgbClr val="000000"/>
              </a:solidFill>
              <a:effectLst/>
              <a:uFillTx/>
              <a:latin typeface="Arial"/>
            </a:endParaRPr>
          </a:p>
        </p:txBody>
      </p:sp>
      <p:sp>
        <p:nvSpPr>
          <p:cNvPr id="229" name="TextBox 24"/>
          <p:cNvSpPr/>
          <p:nvPr/>
        </p:nvSpPr>
        <p:spPr>
          <a:xfrm>
            <a:off x="548640" y="3891240"/>
            <a:ext cx="11090880" cy="203796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Βρετανικό κατάστημα χονδρικής με είδη δώρων, από το 2009 ως το 2011 μέσω του δημοσίου συνόλου δεδομένων UCI.</a:t>
            </a:r>
            <a:endParaRPr lang="en-US" sz="150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Επιλέχθηκε καθώς: </a:t>
            </a:r>
            <a:endParaRPr lang="en-US" sz="1500" b="0" u="none" strike="noStrike">
              <a:solidFill>
                <a:srgbClr val="000000"/>
              </a:solidFill>
              <a:effectLst/>
              <a:uFillTx/>
              <a:latin typeface="Arial"/>
            </a:endParaRPr>
          </a:p>
          <a:p>
            <a:pPr defTabSz="457200">
              <a:lnSpc>
                <a:spcPct val="122000"/>
              </a:lnSpc>
              <a:spcAft>
                <a:spcPts val="901"/>
              </a:spcAft>
            </a:pPr>
            <a:r>
              <a:rPr lang="en-US" sz="1500" b="0" u="none" strike="noStrike">
                <a:solidFill>
                  <a:srgbClr val="241F1B"/>
                </a:solidFill>
                <a:effectLst/>
                <a:uFillTx/>
                <a:latin typeface="Calibri"/>
                <a:ea typeface="DejaVu Sans"/>
              </a:rPr>
              <a:t>    </a:t>
            </a:r>
            <a:r>
              <a:rPr lang="en-US" sz="1500" b="0" u="none" strike="noStrike">
                <a:solidFill>
                  <a:srgbClr val="224B12"/>
                </a:solidFill>
                <a:effectLst/>
                <a:uFillTx/>
                <a:latin typeface="Calibri"/>
                <a:ea typeface="DejaVu Sans"/>
              </a:rPr>
              <a:t>α. </a:t>
            </a:r>
            <a:r>
              <a:rPr lang="en-US" sz="1500" b="0" u="none" strike="noStrike">
                <a:solidFill>
                  <a:srgbClr val="241F1B"/>
                </a:solidFill>
                <a:effectLst/>
                <a:uFillTx/>
                <a:latin typeface="Calibri"/>
                <a:ea typeface="DejaVu Sans"/>
              </a:rPr>
              <a:t>είναι δημόσιο, άρα ο καθένας μπορεί να ελέγξει τα αποτελέσματα</a:t>
            </a:r>
            <a:endParaRPr lang="en-US" sz="1500" b="0" u="none" strike="noStrike">
              <a:solidFill>
                <a:srgbClr val="000000"/>
              </a:solidFill>
              <a:effectLst/>
              <a:uFillTx/>
              <a:latin typeface="Arial"/>
            </a:endParaRPr>
          </a:p>
          <a:p>
            <a:pPr defTabSz="457200">
              <a:lnSpc>
                <a:spcPct val="122000"/>
              </a:lnSpc>
              <a:spcAft>
                <a:spcPts val="901"/>
              </a:spcAft>
            </a:pPr>
            <a:r>
              <a:rPr lang="en-US" sz="1500" b="0" u="none" strike="noStrike">
                <a:solidFill>
                  <a:srgbClr val="241F1B"/>
                </a:solidFill>
                <a:effectLst/>
                <a:uFillTx/>
                <a:latin typeface="Calibri"/>
                <a:ea typeface="DejaVu Sans"/>
              </a:rPr>
              <a:t>    </a:t>
            </a:r>
            <a:r>
              <a:rPr lang="en-US" sz="1500" b="0" u="none" strike="noStrike">
                <a:solidFill>
                  <a:srgbClr val="224B12"/>
                </a:solidFill>
                <a:effectLst/>
                <a:uFillTx/>
                <a:latin typeface="Calibri"/>
                <a:ea typeface="DejaVu Sans"/>
              </a:rPr>
              <a:t>β. </a:t>
            </a:r>
            <a:r>
              <a:rPr lang="en-US" sz="1500" b="0" u="none" strike="noStrike">
                <a:solidFill>
                  <a:srgbClr val="241F1B"/>
                </a:solidFill>
                <a:effectLst/>
                <a:uFillTx/>
                <a:latin typeface="Calibri"/>
                <a:ea typeface="DejaVu Sans"/>
              </a:rPr>
              <a:t>εχει χρησιμοποιήσει ήδη δημοσιευμένη έρευνα, άρα μπορούμε να συγκρίνουμε τα αποτελέσματα</a:t>
            </a:r>
            <a:endParaRPr lang="en-US" sz="1500" b="0" u="none" strike="noStrike">
              <a:solidFill>
                <a:srgbClr val="000000"/>
              </a:solidFill>
              <a:effectLst/>
              <a:uFillTx/>
              <a:latin typeface="Arial"/>
            </a:endParaRPr>
          </a:p>
          <a:p>
            <a:pPr defTabSz="457200">
              <a:lnSpc>
                <a:spcPct val="122000"/>
              </a:lnSpc>
              <a:spcAft>
                <a:spcPts val="901"/>
              </a:spcAft>
            </a:pPr>
            <a:r>
              <a:rPr lang="en-US" sz="1500" b="0" u="none" strike="noStrike">
                <a:solidFill>
                  <a:srgbClr val="241F1B"/>
                </a:solidFill>
                <a:effectLst/>
                <a:uFillTx/>
                <a:latin typeface="Calibri"/>
                <a:ea typeface="DejaVu Sans"/>
              </a:rPr>
              <a:t>    </a:t>
            </a:r>
            <a:r>
              <a:rPr lang="en-US" sz="1500" b="0" u="none" strike="noStrike">
                <a:solidFill>
                  <a:srgbClr val="224B12"/>
                </a:solidFill>
                <a:effectLst/>
                <a:uFillTx/>
                <a:latin typeface="Calibri"/>
                <a:ea typeface="DejaVu Sans"/>
              </a:rPr>
              <a:t>γ. </a:t>
            </a:r>
            <a:r>
              <a:rPr lang="en-US" sz="1500" b="0" u="none" strike="noStrike">
                <a:solidFill>
                  <a:srgbClr val="241F1B"/>
                </a:solidFill>
                <a:effectLst/>
                <a:uFillTx/>
                <a:latin typeface="Calibri"/>
                <a:ea typeface="DejaVu Sans"/>
              </a:rPr>
              <a:t>κρατάει τα ακυρωμένα παραστατικά, χωρίς τα οποία το ερώτημα των επιστροφών θα ήταν αδύνατο</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ΠΕΡΙΓΡΑΦΙΚΗ ΑΝΑΛΥΣΗ</a:t>
            </a:r>
            <a:endParaRPr lang="en-US" sz="1200" b="0" u="none" strike="noStrike">
              <a:solidFill>
                <a:srgbClr val="000000"/>
              </a:solidFill>
              <a:effectLst/>
              <a:uFillTx/>
              <a:latin typeface="Arial"/>
            </a:endParaRPr>
          </a:p>
        </p:txBody>
      </p:sp>
      <p:sp>
        <p:nvSpPr>
          <p:cNvPr id="231"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Τι </a:t>
            </a:r>
            <a:r>
              <a:rPr lang="en-US" sz="3000" b="1" u="none" strike="noStrike">
                <a:solidFill>
                  <a:srgbClr val="2C5530"/>
                </a:solidFill>
                <a:effectLst/>
                <a:uFillTx/>
                <a:latin typeface="Cambria"/>
                <a:ea typeface="DejaVu Sans"/>
              </a:rPr>
              <a:t>πουλ</a:t>
            </a:r>
            <a:r>
              <a:rPr lang="en-US" sz="3000" b="1" u="none" strike="noStrike">
                <a:solidFill>
                  <a:srgbClr val="2C5530"/>
                </a:solidFill>
                <a:effectLst/>
                <a:uFillTx/>
                <a:latin typeface="Cambria"/>
                <a:ea typeface="DejaVu Sans"/>
              </a:rPr>
              <a:t>άει </a:t>
            </a:r>
            <a:r>
              <a:rPr lang="en-US" sz="3000" b="1" u="none" strike="noStrike">
                <a:solidFill>
                  <a:srgbClr val="2C5530"/>
                </a:solidFill>
                <a:effectLst/>
                <a:uFillTx/>
                <a:latin typeface="Cambria"/>
                <a:ea typeface="DejaVu Sans"/>
              </a:rPr>
              <a:t>και </a:t>
            </a:r>
            <a:r>
              <a:rPr lang="en-US" sz="3000" b="1" u="none" strike="noStrike">
                <a:solidFill>
                  <a:srgbClr val="2C5530"/>
                </a:solidFill>
                <a:effectLst/>
                <a:uFillTx/>
                <a:latin typeface="Cambria"/>
                <a:ea typeface="DejaVu Sans"/>
              </a:rPr>
              <a:t>πού</a:t>
            </a:r>
            <a:endParaRPr lang="en-US" sz="3000" b="0" u="none" strike="noStrike">
              <a:solidFill>
                <a:srgbClr val="000000"/>
              </a:solidFill>
              <a:effectLst/>
              <a:uFillTx/>
              <a:latin typeface="Arial"/>
            </a:endParaRPr>
          </a:p>
        </p:txBody>
      </p:sp>
      <p:sp>
        <p:nvSpPr>
          <p:cNvPr id="232"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14</a:t>
            </a:r>
            <a:endParaRPr lang="en-US" sz="900" b="0" u="none" strike="noStrike">
              <a:solidFill>
                <a:srgbClr val="000000"/>
              </a:solidFill>
              <a:effectLst/>
              <a:uFillTx/>
              <a:latin typeface="Arial"/>
            </a:endParaRPr>
          </a:p>
        </p:txBody>
      </p:sp>
      <p:pic>
        <p:nvPicPr>
          <p:cNvPr id="233" name="Picture 5" descr="top-products.png"/>
          <p:cNvPicPr/>
          <p:nvPr/>
        </p:nvPicPr>
        <p:blipFill>
          <a:blip r:embed="rId1"/>
          <a:stretch/>
        </p:blipFill>
        <p:spPr>
          <a:xfrm>
            <a:off x="548640" y="1837440"/>
            <a:ext cx="5348520" cy="2674080"/>
          </a:xfrm>
          <a:prstGeom prst="rect">
            <a:avLst/>
          </a:prstGeom>
          <a:solidFill>
            <a:srgbClr val="224B12"/>
          </a:solidFill>
          <a:ln w="0">
            <a:noFill/>
          </a:ln>
        </p:spPr>
      </p:pic>
      <p:sp>
        <p:nvSpPr>
          <p:cNvPr id="234" name="Rectangle 6"/>
          <p:cNvSpPr/>
          <p:nvPr/>
        </p:nvSpPr>
        <p:spPr>
          <a:xfrm>
            <a:off x="548640" y="1837440"/>
            <a:ext cx="5348520" cy="267408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35" name="TextBox 7"/>
          <p:cNvSpPr/>
          <p:nvPr/>
        </p:nvSpPr>
        <p:spPr>
          <a:xfrm>
            <a:off x="548640" y="460368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Προϊόντα με τα υψηλότερα έσοδα</a:t>
            </a:r>
            <a:endParaRPr lang="en-US" sz="1100" b="0" u="none" strike="noStrike">
              <a:solidFill>
                <a:srgbClr val="000000"/>
              </a:solidFill>
              <a:effectLst/>
              <a:uFillTx/>
              <a:latin typeface="Arial"/>
            </a:endParaRPr>
          </a:p>
        </p:txBody>
      </p:sp>
      <p:pic>
        <p:nvPicPr>
          <p:cNvPr id="236" name="Picture 8" descr="top-regions.png"/>
          <p:cNvPicPr/>
          <p:nvPr/>
        </p:nvPicPr>
        <p:blipFill>
          <a:blip r:embed="rId2"/>
          <a:stretch/>
        </p:blipFill>
        <p:spPr>
          <a:xfrm>
            <a:off x="6291000" y="1837440"/>
            <a:ext cx="5348520" cy="2674080"/>
          </a:xfrm>
          <a:prstGeom prst="rect">
            <a:avLst/>
          </a:prstGeom>
          <a:noFill/>
          <a:ln w="0">
            <a:noFill/>
          </a:ln>
        </p:spPr>
      </p:pic>
      <p:sp>
        <p:nvSpPr>
          <p:cNvPr id="237" name="Rectangle 9"/>
          <p:cNvSpPr/>
          <p:nvPr/>
        </p:nvSpPr>
        <p:spPr>
          <a:xfrm>
            <a:off x="6291000" y="1837440"/>
            <a:ext cx="5348520" cy="267408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38" name="TextBox 10"/>
          <p:cNvSpPr/>
          <p:nvPr/>
        </p:nvSpPr>
        <p:spPr>
          <a:xfrm>
            <a:off x="6291000" y="460368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Περιοχές με τα υψηλότερα έσοδα</a:t>
            </a:r>
            <a:endParaRPr lang="en-US" sz="1100" b="0" u="none" strike="noStrike">
              <a:solidFill>
                <a:srgbClr val="000000"/>
              </a:solidFill>
              <a:effectLst/>
              <a:uFillTx/>
              <a:latin typeface="Arial"/>
            </a:endParaRPr>
          </a:p>
        </p:txBody>
      </p:sp>
      <p:sp>
        <p:nvSpPr>
          <p:cNvPr id="239" name="TextBox 11"/>
          <p:cNvSpPr/>
          <p:nvPr/>
        </p:nvSpPr>
        <p:spPr>
          <a:xfrm>
            <a:off x="457200" y="5401080"/>
            <a:ext cx="11090880" cy="85788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150" b="0" u="none" strike="noStrike">
                <a:solidFill>
                  <a:srgbClr val="241F1B"/>
                </a:solidFill>
                <a:effectLst/>
                <a:uFillTx/>
                <a:latin typeface="Calibri"/>
                <a:ea typeface="DejaVu Sans"/>
              </a:rPr>
              <a:t>Το REGENCY CAKESTAND </a:t>
            </a:r>
            <a:r>
              <a:rPr lang="en-US" sz="1150" b="0" u="none" strike="noStrike">
                <a:solidFill>
                  <a:srgbClr val="241F1B"/>
                </a:solidFill>
                <a:effectLst/>
                <a:uFillTx/>
                <a:latin typeface="Calibri"/>
                <a:ea typeface="DejaVu Sans"/>
              </a:rPr>
              <a:t>βγαίνει πρώτο με 26.315 </a:t>
            </a:r>
            <a:r>
              <a:rPr lang="en-US" sz="1150" b="0" u="none" strike="noStrike">
                <a:solidFill>
                  <a:srgbClr val="241F1B"/>
                </a:solidFill>
                <a:effectLst/>
                <a:uFillTx/>
                <a:latin typeface="Calibri"/>
                <a:ea typeface="DejaVu Sans"/>
              </a:rPr>
              <a:t>κομμάτια, ενώ το JUMBO </a:t>
            </a:r>
            <a:r>
              <a:rPr lang="en-US" sz="1150" b="0" u="none" strike="noStrike">
                <a:solidFill>
                  <a:srgbClr val="241F1B"/>
                </a:solidFill>
                <a:effectLst/>
                <a:uFillTx/>
                <a:latin typeface="Calibri"/>
                <a:ea typeface="DejaVu Sans"/>
              </a:rPr>
              <a:t>BAG πουλάει σχεδόν </a:t>
            </a:r>
            <a:r>
              <a:rPr lang="en-US" sz="1150" b="0" u="none" strike="noStrike">
                <a:solidFill>
                  <a:srgbClr val="241F1B"/>
                </a:solidFill>
                <a:effectLst/>
                <a:uFillTx/>
                <a:latin typeface="Calibri"/>
                <a:ea typeface="DejaVu Sans"/>
              </a:rPr>
              <a:t>τετραπλάσια κομμάτια και </a:t>
            </a:r>
            <a:r>
              <a:rPr lang="en-US" sz="1150" b="0" u="none" strike="noStrike">
                <a:solidFill>
                  <a:srgbClr val="241F1B"/>
                </a:solidFill>
                <a:effectLst/>
                <a:uFillTx/>
                <a:latin typeface="Calibri"/>
                <a:ea typeface="DejaVu Sans"/>
              </a:rPr>
              <a:t>βγαίνει τρίτο.</a:t>
            </a:r>
            <a:endParaRPr lang="en-US" sz="115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150" b="0" u="none" strike="noStrike">
                <a:solidFill>
                  <a:srgbClr val="241F1B"/>
                </a:solidFill>
                <a:effectLst/>
                <a:uFillTx/>
                <a:latin typeface="Calibri"/>
                <a:ea typeface="DejaVu Sans"/>
              </a:rPr>
              <a:t>Το Ηνωμένο Βασίλειο </a:t>
            </a:r>
            <a:r>
              <a:rPr lang="en-US" sz="1150" b="0" u="none" strike="noStrike">
                <a:solidFill>
                  <a:srgbClr val="241F1B"/>
                </a:solidFill>
                <a:effectLst/>
                <a:uFillTx/>
                <a:latin typeface="Calibri"/>
                <a:ea typeface="DejaVu Sans"/>
              </a:rPr>
              <a:t>κάνει περίπου το 86% των </a:t>
            </a:r>
            <a:r>
              <a:rPr lang="en-US" sz="1150" b="0" u="none" strike="noStrike">
                <a:solidFill>
                  <a:srgbClr val="241F1B"/>
                </a:solidFill>
                <a:effectLst/>
                <a:uFillTx/>
                <a:latin typeface="Calibri"/>
                <a:ea typeface="DejaVu Sans"/>
              </a:rPr>
              <a:t>εσόδων. Στην Ιρλανδία </a:t>
            </a:r>
            <a:r>
              <a:rPr lang="en-US" sz="1150" b="0" u="none" strike="noStrike">
                <a:solidFill>
                  <a:srgbClr val="241F1B"/>
                </a:solidFill>
                <a:effectLst/>
                <a:uFillTx/>
                <a:latin typeface="Calibri"/>
                <a:ea typeface="DejaVu Sans"/>
              </a:rPr>
              <a:t>τρεις πελάτες φέρνουν </a:t>
            </a:r>
            <a:r>
              <a:rPr lang="en-US" sz="1150" b="0" u="none" strike="noStrike">
                <a:solidFill>
                  <a:srgbClr val="241F1B"/>
                </a:solidFill>
                <a:effectLst/>
                <a:uFillTx/>
                <a:latin typeface="Calibri"/>
                <a:ea typeface="DejaVu Sans"/>
              </a:rPr>
              <a:t>περισσότερα από τους </a:t>
            </a:r>
            <a:r>
              <a:rPr lang="en-US" sz="1150" b="0" u="none" strike="noStrike">
                <a:solidFill>
                  <a:srgbClr val="241F1B"/>
                </a:solidFill>
                <a:effectLst/>
                <a:uFillTx/>
                <a:latin typeface="Calibri"/>
                <a:ea typeface="DejaVu Sans"/>
              </a:rPr>
              <a:t>εκατόν επτά της Γερμανίας.</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0"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ΠΕΡΙΓΡΑΦΙΚΗ ΑΝΑΛΥΣΗ</a:t>
            </a:r>
            <a:endParaRPr lang="en-US" sz="1200" b="0" u="none" strike="noStrike">
              <a:solidFill>
                <a:srgbClr val="000000"/>
              </a:solidFill>
              <a:effectLst/>
              <a:uFillTx/>
              <a:latin typeface="Arial"/>
            </a:endParaRPr>
          </a:p>
        </p:txBody>
      </p:sp>
      <p:sp>
        <p:nvSpPr>
          <p:cNvPr id="241"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Πότε </a:t>
            </a:r>
            <a:r>
              <a:rPr lang="en-US" sz="3000" b="1" u="none" strike="noStrike">
                <a:solidFill>
                  <a:srgbClr val="2C5530"/>
                </a:solidFill>
                <a:effectLst/>
                <a:uFillTx/>
                <a:latin typeface="Cambria"/>
                <a:ea typeface="DejaVu Sans"/>
              </a:rPr>
              <a:t>πουλ</a:t>
            </a:r>
            <a:r>
              <a:rPr lang="en-US" sz="3000" b="1" u="none" strike="noStrike">
                <a:solidFill>
                  <a:srgbClr val="2C5530"/>
                </a:solidFill>
                <a:effectLst/>
                <a:uFillTx/>
                <a:latin typeface="Cambria"/>
                <a:ea typeface="DejaVu Sans"/>
              </a:rPr>
              <a:t>άει </a:t>
            </a:r>
            <a:r>
              <a:rPr lang="en-US" sz="3000" b="1" u="none" strike="noStrike">
                <a:solidFill>
                  <a:srgbClr val="2C5530"/>
                </a:solidFill>
                <a:effectLst/>
                <a:uFillTx/>
                <a:latin typeface="Cambria"/>
                <a:ea typeface="DejaVu Sans"/>
              </a:rPr>
              <a:t>και </a:t>
            </a:r>
            <a:r>
              <a:rPr lang="en-US" sz="3000" b="1" u="none" strike="noStrike">
                <a:solidFill>
                  <a:srgbClr val="2C5530"/>
                </a:solidFill>
                <a:effectLst/>
                <a:uFillTx/>
                <a:latin typeface="Cambria"/>
                <a:ea typeface="DejaVu Sans"/>
              </a:rPr>
              <a:t>σε τι </a:t>
            </a:r>
            <a:r>
              <a:rPr lang="en-US" sz="3000" b="1" u="none" strike="noStrike">
                <a:solidFill>
                  <a:srgbClr val="2C5530"/>
                </a:solidFill>
                <a:effectLst/>
                <a:uFillTx/>
                <a:latin typeface="Cambria"/>
                <a:ea typeface="DejaVu Sans"/>
              </a:rPr>
              <a:t>τιμή</a:t>
            </a:r>
            <a:endParaRPr lang="en-US" sz="3000" b="0" u="none" strike="noStrike">
              <a:solidFill>
                <a:srgbClr val="000000"/>
              </a:solidFill>
              <a:effectLst/>
              <a:uFillTx/>
              <a:latin typeface="Arial"/>
            </a:endParaRPr>
          </a:p>
        </p:txBody>
      </p:sp>
      <p:sp>
        <p:nvSpPr>
          <p:cNvPr id="242"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15</a:t>
            </a:r>
            <a:endParaRPr lang="en-US" sz="900" b="0" u="none" strike="noStrike">
              <a:solidFill>
                <a:srgbClr val="000000"/>
              </a:solidFill>
              <a:effectLst/>
              <a:uFillTx/>
              <a:latin typeface="Arial"/>
            </a:endParaRPr>
          </a:p>
        </p:txBody>
      </p:sp>
      <p:pic>
        <p:nvPicPr>
          <p:cNvPr id="243" name="Picture 5" descr="sales-monthly.png"/>
          <p:cNvPicPr/>
          <p:nvPr/>
        </p:nvPicPr>
        <p:blipFill>
          <a:blip r:embed="rId1"/>
          <a:stretch/>
        </p:blipFill>
        <p:spPr>
          <a:xfrm>
            <a:off x="548640" y="2102760"/>
            <a:ext cx="5348520" cy="2139120"/>
          </a:xfrm>
          <a:prstGeom prst="rect">
            <a:avLst/>
          </a:prstGeom>
          <a:noFill/>
          <a:ln w="0">
            <a:noFill/>
          </a:ln>
        </p:spPr>
      </p:pic>
      <p:sp>
        <p:nvSpPr>
          <p:cNvPr id="244" name="Rectangle 6"/>
          <p:cNvSpPr/>
          <p:nvPr/>
        </p:nvSpPr>
        <p:spPr>
          <a:xfrm>
            <a:off x="548640" y="2102760"/>
            <a:ext cx="5348520" cy="213912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45" name="TextBox 7"/>
          <p:cNvSpPr/>
          <p:nvPr/>
        </p:nvSpPr>
        <p:spPr>
          <a:xfrm>
            <a:off x="548640" y="459900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Μηνιαία κατανομή εσόδων</a:t>
            </a:r>
            <a:endParaRPr lang="en-US" sz="1100" b="0" u="none" strike="noStrike">
              <a:solidFill>
                <a:srgbClr val="000000"/>
              </a:solidFill>
              <a:effectLst/>
              <a:uFillTx/>
              <a:latin typeface="Arial"/>
            </a:endParaRPr>
          </a:p>
        </p:txBody>
      </p:sp>
      <p:pic>
        <p:nvPicPr>
          <p:cNvPr id="246" name="Picture 8" descr="price-bands.png"/>
          <p:cNvPicPr/>
          <p:nvPr/>
        </p:nvPicPr>
        <p:blipFill>
          <a:blip r:embed="rId2"/>
          <a:stretch/>
        </p:blipFill>
        <p:spPr>
          <a:xfrm>
            <a:off x="6291000" y="1837440"/>
            <a:ext cx="5348520" cy="2674080"/>
          </a:xfrm>
          <a:prstGeom prst="rect">
            <a:avLst/>
          </a:prstGeom>
          <a:noFill/>
          <a:ln w="0">
            <a:noFill/>
          </a:ln>
        </p:spPr>
      </p:pic>
      <p:sp>
        <p:nvSpPr>
          <p:cNvPr id="247" name="Rectangle 9"/>
          <p:cNvSpPr/>
          <p:nvPr/>
        </p:nvSpPr>
        <p:spPr>
          <a:xfrm>
            <a:off x="6291000" y="1837440"/>
            <a:ext cx="5348520" cy="267408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48" name="TextBox 10"/>
          <p:cNvSpPr/>
          <p:nvPr/>
        </p:nvSpPr>
        <p:spPr>
          <a:xfrm>
            <a:off x="6291000" y="460368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Έσοδα ανά εύρος τιμής μονάδας</a:t>
            </a:r>
            <a:endParaRPr lang="en-US" sz="1100" b="0" u="none" strike="noStrike">
              <a:solidFill>
                <a:srgbClr val="000000"/>
              </a:solidFill>
              <a:effectLst/>
              <a:uFillTx/>
              <a:latin typeface="Arial"/>
            </a:endParaRPr>
          </a:p>
        </p:txBody>
      </p:sp>
      <p:sp>
        <p:nvSpPr>
          <p:cNvPr id="249" name="TextBox 11"/>
          <p:cNvSpPr/>
          <p:nvPr/>
        </p:nvSpPr>
        <p:spPr>
          <a:xfrm>
            <a:off x="567720" y="5301360"/>
            <a:ext cx="11090880" cy="118620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150" b="0" u="none" strike="noStrike">
                <a:solidFill>
                  <a:srgbClr val="241F1B"/>
                </a:solidFill>
                <a:effectLst/>
                <a:uFillTx/>
                <a:latin typeface="Calibri"/>
                <a:ea typeface="DejaVu Sans"/>
              </a:rPr>
              <a:t>Ο Νοέμβριος είναι ο πιο δυνατός μήνας και τις δύο χρονιές, </a:t>
            </a:r>
            <a:r>
              <a:rPr lang="en-US" sz="1150" b="0" u="none" strike="noStrike">
                <a:solidFill>
                  <a:srgbClr val="241F1B"/>
                </a:solidFill>
                <a:effectLst/>
                <a:uFillTx/>
                <a:latin typeface="Calibri"/>
                <a:ea typeface="DejaVu Sans"/>
              </a:rPr>
              <a:t>λόγω της προετοιμασίας για τα Χριστούγεννα. </a:t>
            </a:r>
            <a:endParaRPr lang="en-US" sz="115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150" b="0" u="none" strike="noStrike">
                <a:solidFill>
                  <a:srgbClr val="241F1B"/>
                </a:solidFill>
                <a:effectLst/>
                <a:uFillTx/>
                <a:latin typeface="Calibri"/>
                <a:ea typeface="DejaVu Sans"/>
              </a:rPr>
              <a:t>Τα φθηνά προϊόντα, από μία ως πέντε λίρες τη μονάδα, </a:t>
            </a:r>
            <a:r>
              <a:rPr lang="en-US" sz="1150" b="0" u="none" strike="noStrike">
                <a:solidFill>
                  <a:srgbClr val="241F1B"/>
                </a:solidFill>
                <a:effectLst/>
                <a:uFillTx/>
                <a:latin typeface="Calibri"/>
                <a:ea typeface="DejaVu Sans"/>
              </a:rPr>
              <a:t>φέρνουν το 62% των εσόδων.</a:t>
            </a:r>
            <a:endParaRPr lang="en-US" sz="1150" b="0" u="none" strike="noStrike">
              <a:solidFill>
                <a:srgbClr val="000000"/>
              </a:solidFill>
              <a:effectLst/>
              <a:uFillTx/>
              <a:latin typeface="Arial"/>
            </a:endParaRPr>
          </a:p>
          <a:p>
            <a:pPr defTabSz="457200">
              <a:lnSpc>
                <a:spcPct val="122000"/>
              </a:lnSpc>
              <a:spcAft>
                <a:spcPts val="901"/>
              </a:spcAft>
            </a:pP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Η ΤΕΧΝΙΚΗ</a:t>
            </a:r>
            <a:endParaRPr lang="en-US" sz="1200" b="0" u="none" strike="noStrike">
              <a:solidFill>
                <a:srgbClr val="000000"/>
              </a:solidFill>
              <a:effectLst/>
              <a:uFillTx/>
              <a:latin typeface="Arial"/>
            </a:endParaRPr>
          </a:p>
        </p:txBody>
      </p:sp>
      <p:sp>
        <p:nvSpPr>
          <p:cNvPr id="251"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Ποια </a:t>
            </a:r>
            <a:r>
              <a:rPr lang="en-US" sz="3000" b="1" u="none" strike="noStrike">
                <a:solidFill>
                  <a:srgbClr val="2C5530"/>
                </a:solidFill>
                <a:effectLst/>
                <a:uFillTx/>
                <a:latin typeface="Cambria"/>
                <a:ea typeface="DejaVu Sans"/>
              </a:rPr>
              <a:t>προϊ</a:t>
            </a:r>
            <a:r>
              <a:rPr lang="en-US" sz="3000" b="1" u="none" strike="noStrike">
                <a:solidFill>
                  <a:srgbClr val="2C5530"/>
                </a:solidFill>
                <a:effectLst/>
                <a:uFillTx/>
                <a:latin typeface="Cambria"/>
                <a:ea typeface="DejaVu Sans"/>
              </a:rPr>
              <a:t>όντα </a:t>
            </a:r>
            <a:r>
              <a:rPr lang="en-US" sz="3000" b="1" u="none" strike="noStrike">
                <a:solidFill>
                  <a:srgbClr val="2C5530"/>
                </a:solidFill>
                <a:effectLst/>
                <a:uFillTx/>
                <a:latin typeface="Cambria"/>
                <a:ea typeface="DejaVu Sans"/>
              </a:rPr>
              <a:t>αγορ</a:t>
            </a:r>
            <a:r>
              <a:rPr lang="en-US" sz="3000" b="1" u="none" strike="noStrike">
                <a:solidFill>
                  <a:srgbClr val="2C5530"/>
                </a:solidFill>
                <a:effectLst/>
                <a:uFillTx/>
                <a:latin typeface="Cambria"/>
                <a:ea typeface="DejaVu Sans"/>
              </a:rPr>
              <a:t>άζον</a:t>
            </a:r>
            <a:r>
              <a:rPr lang="en-US" sz="3000" b="1" u="none" strike="noStrike">
                <a:solidFill>
                  <a:srgbClr val="2C5530"/>
                </a:solidFill>
                <a:effectLst/>
                <a:uFillTx/>
                <a:latin typeface="Cambria"/>
                <a:ea typeface="DejaVu Sans"/>
              </a:rPr>
              <a:t>ται </a:t>
            </a:r>
            <a:r>
              <a:rPr lang="en-US" sz="3000" b="1" u="none" strike="noStrike">
                <a:solidFill>
                  <a:srgbClr val="2C5530"/>
                </a:solidFill>
                <a:effectLst/>
                <a:uFillTx/>
                <a:latin typeface="Cambria"/>
                <a:ea typeface="DejaVu Sans"/>
              </a:rPr>
              <a:t>μαζί</a:t>
            </a:r>
            <a:endParaRPr lang="en-US" sz="3000" b="0" u="none" strike="noStrike">
              <a:solidFill>
                <a:srgbClr val="000000"/>
              </a:solidFill>
              <a:effectLst/>
              <a:uFillTx/>
              <a:latin typeface="Arial"/>
            </a:endParaRPr>
          </a:p>
        </p:txBody>
      </p:sp>
      <p:sp>
        <p:nvSpPr>
          <p:cNvPr id="252"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16</a:t>
            </a:r>
            <a:endParaRPr lang="en-US" sz="900" b="0" u="none" strike="noStrike">
              <a:solidFill>
                <a:srgbClr val="000000"/>
              </a:solidFill>
              <a:effectLst/>
              <a:uFillTx/>
              <a:latin typeface="Arial"/>
            </a:endParaRPr>
          </a:p>
        </p:txBody>
      </p:sp>
      <p:sp>
        <p:nvSpPr>
          <p:cNvPr id="253" name="TextBox 5"/>
          <p:cNvSpPr/>
          <p:nvPr/>
        </p:nvSpPr>
        <p:spPr>
          <a:xfrm>
            <a:off x="548640" y="2435040"/>
            <a:ext cx="5348520" cy="1982520"/>
          </a:xfrm>
          <a:prstGeom prst="rect">
            <a:avLst/>
          </a:prstGeom>
          <a:noFill/>
          <a:ln w="0">
            <a:noFill/>
          </a:ln>
        </p:spPr>
        <p:style>
          <a:lnRef idx="0"/>
          <a:fillRef idx="0"/>
          <a:effectRef idx="0"/>
          <a:fontRef idx="minor"/>
        </p:style>
        <p:txBody>
          <a:bodyPr lIns="0" tIns="0" rIns="0" bIns="0" anchor="t">
            <a:spAutoFit/>
          </a:bodyPr>
          <a:p>
            <a:pPr defTabSz="457200">
              <a:lnSpc>
                <a:spcPct val="122000"/>
              </a:lnSpc>
              <a:spcBef>
                <a:spcPts val="1191"/>
              </a:spcBef>
              <a:spcAft>
                <a:spcPts val="992"/>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Σε σύνολο 10 </a:t>
            </a:r>
            <a:r>
              <a:rPr lang="en-US" sz="1500" b="0" u="none" strike="noStrike">
                <a:solidFill>
                  <a:srgbClr val="241F1B"/>
                </a:solidFill>
                <a:effectLst/>
                <a:uFillTx/>
                <a:latin typeface="Calibri"/>
                <a:ea typeface="DejaVu Sans"/>
              </a:rPr>
              <a:t>καλαθιών, αν τα 3 </a:t>
            </a:r>
            <a:r>
              <a:rPr lang="en-US" sz="1500" b="0" u="none" strike="noStrike">
                <a:solidFill>
                  <a:srgbClr val="241F1B"/>
                </a:solidFill>
                <a:effectLst/>
                <a:uFillTx/>
                <a:latin typeface="Calibri"/>
                <a:ea typeface="DejaVu Sans"/>
              </a:rPr>
              <a:t>περιέχουν κινητό και </a:t>
            </a:r>
            <a:r>
              <a:rPr lang="en-US" sz="1500" b="0" u="none" strike="noStrike">
                <a:solidFill>
                  <a:srgbClr val="241F1B"/>
                </a:solidFill>
                <a:effectLst/>
                <a:uFillTx/>
                <a:latin typeface="Calibri"/>
                <a:ea typeface="DejaVu Sans"/>
              </a:rPr>
              <a:t>φορτιστή μαζί, το </a:t>
            </a:r>
            <a:r>
              <a:rPr lang="en-US" sz="1500" b="0" u="none" strike="noStrike">
                <a:solidFill>
                  <a:srgbClr val="241F1B"/>
                </a:solidFill>
                <a:effectLst/>
                <a:uFillTx/>
                <a:latin typeface="Calibri"/>
                <a:ea typeface="DejaVu Sans"/>
              </a:rPr>
              <a:t>Support είναι 0,3.</a:t>
            </a:r>
            <a:endParaRPr lang="en-US" sz="1500" b="0" u="none" strike="noStrike">
              <a:solidFill>
                <a:srgbClr val="000000"/>
              </a:solidFill>
              <a:effectLst/>
              <a:uFillTx/>
              <a:latin typeface="Arial"/>
            </a:endParaRPr>
          </a:p>
          <a:p>
            <a:pPr defTabSz="457200">
              <a:lnSpc>
                <a:spcPct val="122000"/>
              </a:lnSpc>
              <a:spcBef>
                <a:spcPts val="1191"/>
              </a:spcBef>
              <a:spcAft>
                <a:spcPts val="992"/>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Αν ο φορτιστής </a:t>
            </a:r>
            <a:r>
              <a:rPr lang="en-US" sz="1500" b="0" u="none" strike="noStrike">
                <a:solidFill>
                  <a:srgbClr val="241F1B"/>
                </a:solidFill>
                <a:effectLst/>
                <a:uFillTx/>
                <a:latin typeface="Calibri"/>
                <a:ea typeface="DejaVu Sans"/>
              </a:rPr>
              <a:t>είναι σπάνιο προϊόν, </a:t>
            </a:r>
            <a:r>
              <a:rPr lang="en-US" sz="1500" b="0" u="none" strike="noStrike">
                <a:solidFill>
                  <a:srgbClr val="241F1B"/>
                </a:solidFill>
                <a:effectLst/>
                <a:uFillTx/>
                <a:latin typeface="Calibri"/>
                <a:ea typeface="DejaVu Sans"/>
              </a:rPr>
              <a:t>το Lift εκτοξεύεται </a:t>
            </a:r>
            <a:r>
              <a:rPr lang="en-US" sz="1500" b="0" u="none" strike="noStrike">
                <a:solidFill>
                  <a:srgbClr val="241F1B"/>
                </a:solidFill>
                <a:effectLst/>
                <a:uFillTx/>
                <a:latin typeface="Calibri"/>
                <a:ea typeface="DejaVu Sans"/>
              </a:rPr>
              <a:t>στο 3, δηλαδή </a:t>
            </a:r>
            <a:r>
              <a:rPr lang="en-US" sz="1500" b="0" u="none" strike="noStrike">
                <a:solidFill>
                  <a:srgbClr val="241F1B"/>
                </a:solidFill>
                <a:effectLst/>
                <a:uFillTx/>
                <a:latin typeface="Calibri"/>
                <a:ea typeface="DejaVu Sans"/>
              </a:rPr>
              <a:t>δείχνει τριπλάσια </a:t>
            </a:r>
            <a:r>
              <a:rPr lang="en-US" sz="1500" b="0" u="none" strike="noStrike">
                <a:solidFill>
                  <a:srgbClr val="241F1B"/>
                </a:solidFill>
                <a:effectLst/>
                <a:uFillTx/>
                <a:latin typeface="Calibri"/>
                <a:ea typeface="DejaVu Sans"/>
              </a:rPr>
              <a:t>πιθανότητα αγοράς.</a:t>
            </a:r>
            <a:endParaRPr lang="en-US" sz="1500" b="0" u="none" strike="noStrike">
              <a:solidFill>
                <a:srgbClr val="000000"/>
              </a:solidFill>
              <a:effectLst/>
              <a:uFillTx/>
              <a:latin typeface="Arial"/>
            </a:endParaRPr>
          </a:p>
          <a:p>
            <a:pPr defTabSz="457200">
              <a:lnSpc>
                <a:spcPct val="122000"/>
              </a:lnSpc>
              <a:spcAft>
                <a:spcPts val="901"/>
              </a:spcAft>
            </a:pPr>
            <a:endParaRPr lang="en-US" sz="1500" b="0" u="none" strike="noStrike">
              <a:solidFill>
                <a:srgbClr val="000000"/>
              </a:solidFill>
              <a:effectLst/>
              <a:uFillTx/>
              <a:latin typeface="Arial"/>
            </a:endParaRPr>
          </a:p>
        </p:txBody>
      </p:sp>
      <p:sp>
        <p:nvSpPr>
          <p:cNvPr id="254" name="Rounded Rectangle 6"/>
          <p:cNvSpPr/>
          <p:nvPr/>
        </p:nvSpPr>
        <p:spPr>
          <a:xfrm>
            <a:off x="6291000" y="2258640"/>
            <a:ext cx="5348520" cy="10508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55" name="TextBox 7"/>
          <p:cNvSpPr/>
          <p:nvPr/>
        </p:nvSpPr>
        <p:spPr>
          <a:xfrm>
            <a:off x="6519600" y="2423160"/>
            <a:ext cx="4891320" cy="250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APRIORI, </a:t>
            </a:r>
            <a:r>
              <a:rPr lang="en-US" sz="1350" b="1" u="none" strike="noStrike">
                <a:solidFill>
                  <a:srgbClr val="2C5530"/>
                </a:solidFill>
                <a:effectLst/>
                <a:uFillTx/>
                <a:latin typeface="Cambria"/>
                <a:ea typeface="DejaVu Sans"/>
              </a:rPr>
              <a:t>1994</a:t>
            </a:r>
            <a:endParaRPr lang="en-US" sz="1350" b="0" u="none" strike="noStrike">
              <a:solidFill>
                <a:srgbClr val="000000"/>
              </a:solidFill>
              <a:effectLst/>
              <a:uFillTx/>
              <a:latin typeface="Arial"/>
            </a:endParaRPr>
          </a:p>
        </p:txBody>
      </p:sp>
      <p:sp>
        <p:nvSpPr>
          <p:cNvPr id="256" name="TextBox 8"/>
          <p:cNvSpPr/>
          <p:nvPr/>
        </p:nvSpPr>
        <p:spPr>
          <a:xfrm>
            <a:off x="6519600" y="2761560"/>
            <a:ext cx="4891320" cy="260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Σαρών</a:t>
            </a:r>
            <a:r>
              <a:rPr lang="en-US" sz="1400" b="0" u="none" strike="noStrike">
                <a:solidFill>
                  <a:srgbClr val="241F1B"/>
                </a:solidFill>
                <a:effectLst/>
                <a:uFillTx/>
                <a:latin typeface="Calibri"/>
                <a:ea typeface="DejaVu Sans"/>
              </a:rPr>
              <a:t>ει τη </a:t>
            </a:r>
            <a:r>
              <a:rPr lang="en-US" sz="1400" b="0" u="none" strike="noStrike">
                <a:solidFill>
                  <a:srgbClr val="241F1B"/>
                </a:solidFill>
                <a:effectLst/>
                <a:uFillTx/>
                <a:latin typeface="Calibri"/>
                <a:ea typeface="DejaVu Sans"/>
              </a:rPr>
              <a:t>βάση </a:t>
            </a:r>
            <a:r>
              <a:rPr lang="en-US" sz="1400" b="0" u="none" strike="noStrike">
                <a:solidFill>
                  <a:srgbClr val="241F1B"/>
                </a:solidFill>
                <a:effectLst/>
                <a:uFillTx/>
                <a:latin typeface="Calibri"/>
                <a:ea typeface="DejaVu Sans"/>
              </a:rPr>
              <a:t>πολλές </a:t>
            </a:r>
            <a:r>
              <a:rPr lang="en-US" sz="1400" b="0" u="none" strike="noStrike">
                <a:solidFill>
                  <a:srgbClr val="241F1B"/>
                </a:solidFill>
                <a:effectLst/>
                <a:uFillTx/>
                <a:latin typeface="Calibri"/>
                <a:ea typeface="DejaVu Sans"/>
              </a:rPr>
              <a:t>φορές, </a:t>
            </a:r>
            <a:r>
              <a:rPr lang="en-US" sz="1400" b="0" u="none" strike="noStrike">
                <a:solidFill>
                  <a:srgbClr val="241F1B"/>
                </a:solidFill>
                <a:effectLst/>
                <a:uFillTx/>
                <a:latin typeface="Calibri"/>
                <a:ea typeface="DejaVu Sans"/>
              </a:rPr>
              <a:t>ένα </a:t>
            </a:r>
            <a:r>
              <a:rPr lang="en-US" sz="1400" b="0" u="none" strike="noStrike">
                <a:solidFill>
                  <a:srgbClr val="241F1B"/>
                </a:solidFill>
                <a:effectLst/>
                <a:uFillTx/>
                <a:latin typeface="Calibri"/>
                <a:ea typeface="DejaVu Sans"/>
              </a:rPr>
              <a:t>επίπεδ</a:t>
            </a:r>
            <a:r>
              <a:rPr lang="en-US" sz="1400" b="0" u="none" strike="noStrike">
                <a:solidFill>
                  <a:srgbClr val="241F1B"/>
                </a:solidFill>
                <a:effectLst/>
                <a:uFillTx/>
                <a:latin typeface="Calibri"/>
                <a:ea typeface="DejaVu Sans"/>
              </a:rPr>
              <a:t>ο τη </a:t>
            </a:r>
            <a:r>
              <a:rPr lang="en-US" sz="1400" b="0" u="none" strike="noStrike">
                <a:solidFill>
                  <a:srgbClr val="241F1B"/>
                </a:solidFill>
                <a:effectLst/>
                <a:uFillTx/>
                <a:latin typeface="Calibri"/>
                <a:ea typeface="DejaVu Sans"/>
              </a:rPr>
              <a:t>φορά</a:t>
            </a:r>
            <a:endParaRPr lang="en-US" sz="1400" b="0" u="none" strike="noStrike">
              <a:solidFill>
                <a:srgbClr val="000000"/>
              </a:solidFill>
              <a:effectLst/>
              <a:uFillTx/>
              <a:latin typeface="Arial"/>
            </a:endParaRPr>
          </a:p>
        </p:txBody>
      </p:sp>
      <p:sp>
        <p:nvSpPr>
          <p:cNvPr id="257" name="Rounded Rectangle 9"/>
          <p:cNvSpPr/>
          <p:nvPr/>
        </p:nvSpPr>
        <p:spPr>
          <a:xfrm>
            <a:off x="6291000" y="3493080"/>
            <a:ext cx="5348520" cy="10508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58" name="TextBox 10"/>
          <p:cNvSpPr/>
          <p:nvPr/>
        </p:nvSpPr>
        <p:spPr>
          <a:xfrm>
            <a:off x="6519600" y="3657600"/>
            <a:ext cx="4891320" cy="250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FP-GROWTH, 2000</a:t>
            </a:r>
            <a:endParaRPr lang="en-US" sz="1350" b="0" u="none" strike="noStrike">
              <a:solidFill>
                <a:srgbClr val="000000"/>
              </a:solidFill>
              <a:effectLst/>
              <a:uFillTx/>
              <a:latin typeface="Arial"/>
            </a:endParaRPr>
          </a:p>
        </p:txBody>
      </p:sp>
      <p:sp>
        <p:nvSpPr>
          <p:cNvPr id="259" name="TextBox 11"/>
          <p:cNvSpPr/>
          <p:nvPr/>
        </p:nvSpPr>
        <p:spPr>
          <a:xfrm>
            <a:off x="6519600" y="3996000"/>
            <a:ext cx="4891320" cy="260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Χτίζει ένα συμπιεσμένο δέντρο και αναζητά σε αυτό</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0"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ΕΞΟΡΥΞΗ ΣΥΧΝΩΝ ΣΥΝΟΛΩΝ</a:t>
            </a:r>
            <a:endParaRPr lang="en-US" sz="1200" b="0" u="none" strike="noStrike">
              <a:solidFill>
                <a:srgbClr val="000000"/>
              </a:solidFill>
              <a:effectLst/>
              <a:uFillTx/>
              <a:latin typeface="Arial"/>
            </a:endParaRPr>
          </a:p>
        </p:txBody>
      </p:sp>
      <p:sp>
        <p:nvSpPr>
          <p:cNvPr id="261"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Apriori vs FP-Growth</a:t>
            </a:r>
            <a:endParaRPr lang="en-US" sz="3000" b="0" u="none" strike="noStrike">
              <a:solidFill>
                <a:srgbClr val="000000"/>
              </a:solidFill>
              <a:effectLst/>
              <a:uFillTx/>
              <a:latin typeface="Arial"/>
            </a:endParaRPr>
          </a:p>
        </p:txBody>
      </p:sp>
      <p:sp>
        <p:nvSpPr>
          <p:cNvPr id="262" name="TextBox 3"/>
          <p:cNvSpPr/>
          <p:nvPr/>
        </p:nvSpPr>
        <p:spPr>
          <a:xfrm>
            <a:off x="548640" y="6473880"/>
            <a:ext cx="3656880" cy="1677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endParaRPr lang="en-US" sz="1800" b="0" u="none" strike="noStrike">
              <a:solidFill>
                <a:srgbClr val="000000"/>
              </a:solidFill>
              <a:effectLst/>
              <a:uFillTx/>
              <a:latin typeface="Arial"/>
            </a:endParaRPr>
          </a:p>
        </p:txBody>
      </p:sp>
      <p:sp>
        <p:nvSpPr>
          <p:cNvPr id="263"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17</a:t>
            </a:r>
            <a:endParaRPr lang="en-US" sz="900" b="0" u="none" strike="noStrike">
              <a:solidFill>
                <a:srgbClr val="000000"/>
              </a:solidFill>
              <a:effectLst/>
              <a:uFillTx/>
              <a:latin typeface="Arial"/>
            </a:endParaRPr>
          </a:p>
        </p:txBody>
      </p:sp>
      <p:pic>
        <p:nvPicPr>
          <p:cNvPr id="264" name="Picture 6" descr="basket-sizes.png"/>
          <p:cNvPicPr/>
          <p:nvPr/>
        </p:nvPicPr>
        <p:blipFill>
          <a:blip r:embed="rId1"/>
          <a:stretch/>
        </p:blipFill>
        <p:spPr>
          <a:xfrm>
            <a:off x="548640" y="2258640"/>
            <a:ext cx="5348520" cy="2376720"/>
          </a:xfrm>
          <a:prstGeom prst="rect">
            <a:avLst/>
          </a:prstGeom>
          <a:noFill/>
          <a:ln w="0">
            <a:noFill/>
          </a:ln>
        </p:spPr>
      </p:pic>
      <p:sp>
        <p:nvSpPr>
          <p:cNvPr id="265" name="Rectangle 7"/>
          <p:cNvSpPr/>
          <p:nvPr/>
        </p:nvSpPr>
        <p:spPr>
          <a:xfrm>
            <a:off x="548640" y="2258640"/>
            <a:ext cx="5348520" cy="237672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66" name="TextBox 8"/>
          <p:cNvSpPr/>
          <p:nvPr/>
        </p:nvSpPr>
        <p:spPr>
          <a:xfrm>
            <a:off x="548640" y="472752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Κατανομή μεγέθους καλαθιού, λογαριθμική κλίμακα</a:t>
            </a:r>
            <a:endParaRPr lang="en-US" sz="1100" b="0" u="none" strike="noStrike">
              <a:solidFill>
                <a:srgbClr val="000000"/>
              </a:solidFill>
              <a:effectLst/>
              <a:uFillTx/>
              <a:latin typeface="Arial"/>
            </a:endParaRPr>
          </a:p>
        </p:txBody>
      </p:sp>
      <p:sp>
        <p:nvSpPr>
          <p:cNvPr id="267" name="Rounded Rectangle 9"/>
          <p:cNvSpPr/>
          <p:nvPr/>
        </p:nvSpPr>
        <p:spPr>
          <a:xfrm>
            <a:off x="6248520" y="2419560"/>
            <a:ext cx="260064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68" name="TextBox 10"/>
          <p:cNvSpPr/>
          <p:nvPr/>
        </p:nvSpPr>
        <p:spPr>
          <a:xfrm>
            <a:off x="6248520" y="2511000"/>
            <a:ext cx="260064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36.269</a:t>
            </a:r>
            <a:endParaRPr lang="en-US" sz="2400" b="0" u="none" strike="noStrike">
              <a:solidFill>
                <a:srgbClr val="000000"/>
              </a:solidFill>
              <a:effectLst/>
              <a:uFillTx/>
              <a:latin typeface="Arial"/>
            </a:endParaRPr>
          </a:p>
        </p:txBody>
      </p:sp>
      <p:sp>
        <p:nvSpPr>
          <p:cNvPr id="269" name="TextBox 11"/>
          <p:cNvSpPr/>
          <p:nvPr/>
        </p:nvSpPr>
        <p:spPr>
          <a:xfrm>
            <a:off x="6303600" y="2968200"/>
            <a:ext cx="249084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Καλάθια με 2+ προϊόντα</a:t>
            </a:r>
            <a:endParaRPr lang="en-US" sz="1100" b="0" u="none" strike="noStrike">
              <a:solidFill>
                <a:srgbClr val="000000"/>
              </a:solidFill>
              <a:effectLst/>
              <a:uFillTx/>
              <a:latin typeface="Arial"/>
            </a:endParaRPr>
          </a:p>
        </p:txBody>
      </p:sp>
      <p:sp>
        <p:nvSpPr>
          <p:cNvPr id="270" name="Rounded Rectangle 12"/>
          <p:cNvSpPr/>
          <p:nvPr/>
        </p:nvSpPr>
        <p:spPr>
          <a:xfrm>
            <a:off x="8996400" y="2419560"/>
            <a:ext cx="260064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71" name="TextBox 13"/>
          <p:cNvSpPr/>
          <p:nvPr/>
        </p:nvSpPr>
        <p:spPr>
          <a:xfrm>
            <a:off x="8996400" y="2511000"/>
            <a:ext cx="260064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17</a:t>
            </a:r>
            <a:endParaRPr lang="en-US" sz="2400" b="0" u="none" strike="noStrike">
              <a:solidFill>
                <a:srgbClr val="000000"/>
              </a:solidFill>
              <a:effectLst/>
              <a:uFillTx/>
              <a:latin typeface="Arial"/>
            </a:endParaRPr>
          </a:p>
        </p:txBody>
      </p:sp>
      <p:sp>
        <p:nvSpPr>
          <p:cNvPr id="272" name="TextBox 14"/>
          <p:cNvSpPr/>
          <p:nvPr/>
        </p:nvSpPr>
        <p:spPr>
          <a:xfrm>
            <a:off x="9051120" y="2968200"/>
            <a:ext cx="249084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Προϊόντα στο καλάθι</a:t>
            </a:r>
            <a:endParaRPr lang="en-US" sz="1100" b="0" u="none" strike="noStrike">
              <a:solidFill>
                <a:srgbClr val="000000"/>
              </a:solidFill>
              <a:effectLst/>
              <a:uFillTx/>
              <a:latin typeface="Arial"/>
            </a:endParaRPr>
          </a:p>
        </p:txBody>
      </p:sp>
      <p:sp>
        <p:nvSpPr>
          <p:cNvPr id="273" name="Rectangle 15"/>
          <p:cNvSpPr/>
          <p:nvPr/>
        </p:nvSpPr>
        <p:spPr>
          <a:xfrm>
            <a:off x="6248520" y="3535200"/>
            <a:ext cx="5348520" cy="34668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74" name="TextBox 16"/>
          <p:cNvSpPr/>
          <p:nvPr/>
        </p:nvSpPr>
        <p:spPr>
          <a:xfrm>
            <a:off x="6339960" y="3617280"/>
            <a:ext cx="163512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Αλγόριθμος</a:t>
            </a:r>
            <a:endParaRPr lang="en-US" sz="1200" b="0" u="none" strike="noStrike">
              <a:solidFill>
                <a:srgbClr val="000000"/>
              </a:solidFill>
              <a:effectLst/>
              <a:uFillTx/>
              <a:latin typeface="Arial"/>
            </a:endParaRPr>
          </a:p>
        </p:txBody>
      </p:sp>
      <p:sp>
        <p:nvSpPr>
          <p:cNvPr id="275" name="TextBox 17"/>
          <p:cNvSpPr/>
          <p:nvPr/>
        </p:nvSpPr>
        <p:spPr>
          <a:xfrm>
            <a:off x="8158680" y="3617280"/>
            <a:ext cx="99324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Χρόνος</a:t>
            </a:r>
            <a:endParaRPr lang="en-US" sz="1200" b="0" u="none" strike="noStrike">
              <a:solidFill>
                <a:srgbClr val="000000"/>
              </a:solidFill>
              <a:effectLst/>
              <a:uFillTx/>
              <a:latin typeface="Arial"/>
            </a:endParaRPr>
          </a:p>
        </p:txBody>
      </p:sp>
      <p:sp>
        <p:nvSpPr>
          <p:cNvPr id="276" name="TextBox 18"/>
          <p:cNvSpPr/>
          <p:nvPr/>
        </p:nvSpPr>
        <p:spPr>
          <a:xfrm>
            <a:off x="9335520" y="3617280"/>
            <a:ext cx="99324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Σύνολα</a:t>
            </a:r>
            <a:endParaRPr lang="en-US" sz="1200" b="0" u="none" strike="noStrike">
              <a:solidFill>
                <a:srgbClr val="000000"/>
              </a:solidFill>
              <a:effectLst/>
              <a:uFillTx/>
              <a:latin typeface="Arial"/>
            </a:endParaRPr>
          </a:p>
        </p:txBody>
      </p:sp>
      <p:sp>
        <p:nvSpPr>
          <p:cNvPr id="277" name="TextBox 19"/>
          <p:cNvSpPr/>
          <p:nvPr/>
        </p:nvSpPr>
        <p:spPr>
          <a:xfrm>
            <a:off x="10512360" y="3617280"/>
            <a:ext cx="99324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Κανόνες</a:t>
            </a:r>
            <a:endParaRPr lang="en-US" sz="1200" b="0" u="none" strike="noStrike">
              <a:solidFill>
                <a:srgbClr val="000000"/>
              </a:solidFill>
              <a:effectLst/>
              <a:uFillTx/>
              <a:latin typeface="Arial"/>
            </a:endParaRPr>
          </a:p>
        </p:txBody>
      </p:sp>
      <p:sp>
        <p:nvSpPr>
          <p:cNvPr id="278" name="TextBox 20"/>
          <p:cNvSpPr/>
          <p:nvPr/>
        </p:nvSpPr>
        <p:spPr>
          <a:xfrm>
            <a:off x="6339960" y="3974040"/>
            <a:ext cx="16351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Apriori</a:t>
            </a:r>
            <a:endParaRPr lang="en-US" sz="1250" b="0" u="none" strike="noStrike">
              <a:solidFill>
                <a:srgbClr val="000000"/>
              </a:solidFill>
              <a:effectLst/>
              <a:uFillTx/>
              <a:latin typeface="Arial"/>
            </a:endParaRPr>
          </a:p>
        </p:txBody>
      </p:sp>
      <p:sp>
        <p:nvSpPr>
          <p:cNvPr id="279" name="TextBox 21"/>
          <p:cNvSpPr/>
          <p:nvPr/>
        </p:nvSpPr>
        <p:spPr>
          <a:xfrm>
            <a:off x="8158680" y="397404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5,14 s</a:t>
            </a:r>
            <a:endParaRPr lang="en-US" sz="1250" b="0" u="none" strike="noStrike">
              <a:solidFill>
                <a:srgbClr val="000000"/>
              </a:solidFill>
              <a:effectLst/>
              <a:uFillTx/>
              <a:latin typeface="Arial"/>
            </a:endParaRPr>
          </a:p>
        </p:txBody>
      </p:sp>
      <p:sp>
        <p:nvSpPr>
          <p:cNvPr id="280" name="TextBox 22"/>
          <p:cNvSpPr/>
          <p:nvPr/>
        </p:nvSpPr>
        <p:spPr>
          <a:xfrm>
            <a:off x="9335520" y="397404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385</a:t>
            </a:r>
            <a:endParaRPr lang="en-US" sz="1250" b="0" u="none" strike="noStrike">
              <a:solidFill>
                <a:srgbClr val="000000"/>
              </a:solidFill>
              <a:effectLst/>
              <a:uFillTx/>
              <a:latin typeface="Arial"/>
            </a:endParaRPr>
          </a:p>
        </p:txBody>
      </p:sp>
      <p:sp>
        <p:nvSpPr>
          <p:cNvPr id="281" name="TextBox 23"/>
          <p:cNvSpPr/>
          <p:nvPr/>
        </p:nvSpPr>
        <p:spPr>
          <a:xfrm>
            <a:off x="10512360" y="397404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134</a:t>
            </a:r>
            <a:endParaRPr lang="en-US" sz="1250" b="0" u="none" strike="noStrike">
              <a:solidFill>
                <a:srgbClr val="000000"/>
              </a:solidFill>
              <a:effectLst/>
              <a:uFillTx/>
              <a:latin typeface="Arial"/>
            </a:endParaRPr>
          </a:p>
        </p:txBody>
      </p:sp>
      <p:sp>
        <p:nvSpPr>
          <p:cNvPr id="282" name="TextBox 25"/>
          <p:cNvSpPr/>
          <p:nvPr/>
        </p:nvSpPr>
        <p:spPr>
          <a:xfrm>
            <a:off x="6339960" y="4339800"/>
            <a:ext cx="16351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FP-Growth</a:t>
            </a:r>
            <a:endParaRPr lang="en-US" sz="1250" b="0" u="none" strike="noStrike">
              <a:solidFill>
                <a:srgbClr val="000000"/>
              </a:solidFill>
              <a:effectLst/>
              <a:uFillTx/>
              <a:latin typeface="Arial"/>
            </a:endParaRPr>
          </a:p>
        </p:txBody>
      </p:sp>
      <p:sp>
        <p:nvSpPr>
          <p:cNvPr id="283" name="TextBox 26"/>
          <p:cNvSpPr/>
          <p:nvPr/>
        </p:nvSpPr>
        <p:spPr>
          <a:xfrm>
            <a:off x="8158680" y="433980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1,96 s</a:t>
            </a:r>
            <a:endParaRPr lang="en-US" sz="1250" b="0" u="none" strike="noStrike">
              <a:solidFill>
                <a:srgbClr val="000000"/>
              </a:solidFill>
              <a:effectLst/>
              <a:uFillTx/>
              <a:latin typeface="Arial"/>
            </a:endParaRPr>
          </a:p>
        </p:txBody>
      </p:sp>
      <p:sp>
        <p:nvSpPr>
          <p:cNvPr id="284" name="TextBox 27"/>
          <p:cNvSpPr/>
          <p:nvPr/>
        </p:nvSpPr>
        <p:spPr>
          <a:xfrm>
            <a:off x="9335520" y="433980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385</a:t>
            </a:r>
            <a:endParaRPr lang="en-US" sz="1250" b="0" u="none" strike="noStrike">
              <a:solidFill>
                <a:srgbClr val="000000"/>
              </a:solidFill>
              <a:effectLst/>
              <a:uFillTx/>
              <a:latin typeface="Arial"/>
            </a:endParaRPr>
          </a:p>
        </p:txBody>
      </p:sp>
      <p:sp>
        <p:nvSpPr>
          <p:cNvPr id="285" name="TextBox 28"/>
          <p:cNvSpPr/>
          <p:nvPr/>
        </p:nvSpPr>
        <p:spPr>
          <a:xfrm>
            <a:off x="10512360" y="433980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134</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ΚΑΝΟΝ</a:t>
            </a:r>
            <a:r>
              <a:rPr lang="en-US" sz="1200" b="1" u="none" strike="noStrike">
                <a:solidFill>
                  <a:srgbClr val="E8A33D"/>
                </a:solidFill>
                <a:effectLst/>
                <a:uFillTx/>
                <a:latin typeface="Calibri"/>
                <a:ea typeface="DejaVu Sans"/>
              </a:rPr>
              <a:t>ΕΣ </a:t>
            </a:r>
            <a:r>
              <a:rPr lang="en-US" sz="1200" b="1" u="none" strike="noStrike">
                <a:solidFill>
                  <a:srgbClr val="E8A33D"/>
                </a:solidFill>
                <a:effectLst/>
                <a:uFillTx/>
                <a:latin typeface="Calibri"/>
                <a:ea typeface="DejaVu Sans"/>
              </a:rPr>
              <a:t>ΣΥΣΧΕΤΙ</a:t>
            </a:r>
            <a:r>
              <a:rPr lang="en-US" sz="1200" b="1" u="none" strike="noStrike">
                <a:solidFill>
                  <a:srgbClr val="E8A33D"/>
                </a:solidFill>
                <a:effectLst/>
                <a:uFillTx/>
                <a:latin typeface="Calibri"/>
                <a:ea typeface="DejaVu Sans"/>
              </a:rPr>
              <a:t>ΣΗΣ</a:t>
            </a:r>
            <a:endParaRPr lang="en-US" sz="1200" b="0" u="none" strike="noStrike">
              <a:solidFill>
                <a:srgbClr val="000000"/>
              </a:solidFill>
              <a:effectLst/>
              <a:uFillTx/>
              <a:latin typeface="Arial"/>
            </a:endParaRPr>
          </a:p>
        </p:txBody>
      </p:sp>
      <p:sp>
        <p:nvSpPr>
          <p:cNvPr id="287"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Lift</a:t>
            </a:r>
            <a:endParaRPr lang="en-US" sz="3000" b="0" u="none" strike="noStrike">
              <a:solidFill>
                <a:srgbClr val="000000"/>
              </a:solidFill>
              <a:effectLst/>
              <a:uFillTx/>
              <a:latin typeface="Arial"/>
            </a:endParaRPr>
          </a:p>
        </p:txBody>
      </p:sp>
      <p:sp>
        <p:nvSpPr>
          <p:cNvPr id="288"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18</a:t>
            </a:r>
            <a:endParaRPr lang="en-US" sz="900" b="0" u="none" strike="noStrike">
              <a:solidFill>
                <a:srgbClr val="000000"/>
              </a:solidFill>
              <a:effectLst/>
              <a:uFillTx/>
              <a:latin typeface="Arial"/>
            </a:endParaRPr>
          </a:p>
        </p:txBody>
      </p:sp>
      <p:pic>
        <p:nvPicPr>
          <p:cNvPr id="289" name="Picture 5" descr="association-rules.png"/>
          <p:cNvPicPr/>
          <p:nvPr/>
        </p:nvPicPr>
        <p:blipFill>
          <a:blip r:embed="rId1"/>
          <a:stretch/>
        </p:blipFill>
        <p:spPr>
          <a:xfrm>
            <a:off x="809280" y="1755360"/>
            <a:ext cx="4827240" cy="3016800"/>
          </a:xfrm>
          <a:prstGeom prst="rect">
            <a:avLst/>
          </a:prstGeom>
          <a:noFill/>
          <a:ln w="0">
            <a:noFill/>
          </a:ln>
        </p:spPr>
      </p:pic>
      <p:sp>
        <p:nvSpPr>
          <p:cNvPr id="290" name="Rectangle 6"/>
          <p:cNvSpPr/>
          <p:nvPr/>
        </p:nvSpPr>
        <p:spPr>
          <a:xfrm>
            <a:off x="809280" y="1755360"/>
            <a:ext cx="4827240" cy="301680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91" name="TextBox 7"/>
          <p:cNvSpPr/>
          <p:nvPr/>
        </p:nvSpPr>
        <p:spPr>
          <a:xfrm>
            <a:off x="548640" y="486432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Οι 134 κανόνες: support έναντι confidence, χρώμα το lift</a:t>
            </a:r>
            <a:endParaRPr lang="en-US" sz="1100" b="0" u="none" strike="noStrike">
              <a:solidFill>
                <a:srgbClr val="000000"/>
              </a:solidFill>
              <a:effectLst/>
              <a:uFillTx/>
              <a:latin typeface="Arial"/>
            </a:endParaRPr>
          </a:p>
        </p:txBody>
      </p:sp>
      <p:pic>
        <p:nvPicPr>
          <p:cNvPr id="292" name="Picture 8" descr="support-sensitivity.png"/>
          <p:cNvPicPr/>
          <p:nvPr/>
        </p:nvPicPr>
        <p:blipFill>
          <a:blip r:embed="rId2"/>
          <a:stretch/>
        </p:blipFill>
        <p:spPr>
          <a:xfrm>
            <a:off x="6291000" y="1926720"/>
            <a:ext cx="5348520" cy="2674080"/>
          </a:xfrm>
          <a:prstGeom prst="rect">
            <a:avLst/>
          </a:prstGeom>
          <a:noFill/>
          <a:ln w="0">
            <a:noFill/>
          </a:ln>
        </p:spPr>
      </p:pic>
      <p:sp>
        <p:nvSpPr>
          <p:cNvPr id="293" name="Rectangle 9"/>
          <p:cNvSpPr/>
          <p:nvPr/>
        </p:nvSpPr>
        <p:spPr>
          <a:xfrm>
            <a:off x="6291000" y="1926720"/>
            <a:ext cx="5348520" cy="267408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94" name="TextBox 10"/>
          <p:cNvSpPr/>
          <p:nvPr/>
        </p:nvSpPr>
        <p:spPr>
          <a:xfrm>
            <a:off x="6291000" y="486432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Πλήθος </a:t>
            </a:r>
            <a:r>
              <a:rPr lang="en-US" sz="1100" b="0" u="none" strike="noStrike">
                <a:solidFill>
                  <a:srgbClr val="6B6259"/>
                </a:solidFill>
                <a:effectLst/>
                <a:uFillTx/>
                <a:latin typeface="Calibri"/>
                <a:ea typeface="DejaVu Sans"/>
              </a:rPr>
              <a:t>συχνών </a:t>
            </a:r>
            <a:r>
              <a:rPr lang="en-US" sz="1100" b="0" u="none" strike="noStrike">
                <a:solidFill>
                  <a:srgbClr val="6B6259"/>
                </a:solidFill>
                <a:effectLst/>
                <a:uFillTx/>
                <a:latin typeface="Calibri"/>
                <a:ea typeface="DejaVu Sans"/>
              </a:rPr>
              <a:t>συνόλων </a:t>
            </a:r>
            <a:r>
              <a:rPr lang="en-US" sz="1100" b="0" u="none" strike="noStrike">
                <a:solidFill>
                  <a:srgbClr val="6B6259"/>
                </a:solidFill>
                <a:effectLst/>
                <a:uFillTx/>
                <a:latin typeface="Calibri"/>
                <a:ea typeface="DejaVu Sans"/>
              </a:rPr>
              <a:t>ανά </a:t>
            </a:r>
            <a:r>
              <a:rPr lang="en-US" sz="1100" b="0" u="none" strike="noStrike">
                <a:solidFill>
                  <a:srgbClr val="6B6259"/>
                </a:solidFill>
                <a:effectLst/>
                <a:uFillTx/>
                <a:latin typeface="Calibri"/>
                <a:ea typeface="DejaVu Sans"/>
              </a:rPr>
              <a:t>κατώφλι </a:t>
            </a:r>
            <a:r>
              <a:rPr lang="en-US" sz="1100" b="0" u="none" strike="noStrike">
                <a:solidFill>
                  <a:srgbClr val="6B6259"/>
                </a:solidFill>
                <a:effectLst/>
                <a:uFillTx/>
                <a:latin typeface="Calibri"/>
                <a:ea typeface="DejaVu Sans"/>
              </a:rPr>
              <a:t>support</a:t>
            </a:r>
            <a:endParaRPr lang="en-US" sz="1100" b="0" u="none" strike="noStrike">
              <a:solidFill>
                <a:srgbClr val="000000"/>
              </a:solidFill>
              <a:effectLst/>
              <a:uFillTx/>
              <a:latin typeface="Arial"/>
            </a:endParaRPr>
          </a:p>
        </p:txBody>
      </p:sp>
      <p:sp>
        <p:nvSpPr>
          <p:cNvPr id="295" name="TextBox 11"/>
          <p:cNvSpPr/>
          <p:nvPr/>
        </p:nvSpPr>
        <p:spPr>
          <a:xfrm>
            <a:off x="548640" y="5389200"/>
            <a:ext cx="11090880" cy="85860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300" b="0" u="none" strike="noStrike">
                <a:solidFill>
                  <a:srgbClr val="241F1B"/>
                </a:solidFill>
                <a:effectLst/>
                <a:uFillTx/>
                <a:latin typeface="Calibri"/>
                <a:ea typeface="DejaVu Sans"/>
              </a:rPr>
              <a:t>Ο Lift αφορά τις </a:t>
            </a:r>
            <a:r>
              <a:rPr lang="en-US" sz="1300" b="0" u="none" strike="noStrike">
                <a:solidFill>
                  <a:srgbClr val="241F1B"/>
                </a:solidFill>
                <a:effectLst/>
                <a:uFillTx/>
                <a:latin typeface="Calibri"/>
                <a:ea typeface="DejaVu Sans"/>
              </a:rPr>
              <a:t>χρωματικές </a:t>
            </a:r>
            <a:r>
              <a:rPr lang="en-US" sz="1300" b="0" u="none" strike="noStrike">
                <a:solidFill>
                  <a:srgbClr val="241F1B"/>
                </a:solidFill>
                <a:effectLst/>
                <a:uFillTx/>
                <a:latin typeface="Calibri"/>
                <a:ea typeface="DejaVu Sans"/>
              </a:rPr>
              <a:t>παραλλαγές του </a:t>
            </a:r>
            <a:r>
              <a:rPr lang="en-US" sz="1300" b="0" u="none" strike="noStrike">
                <a:solidFill>
                  <a:srgbClr val="241F1B"/>
                </a:solidFill>
                <a:effectLst/>
                <a:uFillTx/>
                <a:latin typeface="Calibri"/>
                <a:ea typeface="DejaVu Sans"/>
              </a:rPr>
              <a:t>REGENCY TEACUP </a:t>
            </a:r>
            <a:r>
              <a:rPr lang="en-US" sz="1300" b="0" u="none" strike="noStrike">
                <a:solidFill>
                  <a:srgbClr val="241F1B"/>
                </a:solidFill>
                <a:effectLst/>
                <a:uFillTx/>
                <a:latin typeface="Calibri"/>
                <a:ea typeface="DejaVu Sans"/>
              </a:rPr>
              <a:t>AND SAUCER. </a:t>
            </a:r>
            <a:r>
              <a:rPr lang="en-US" sz="1300" b="0" u="none" strike="noStrike">
                <a:solidFill>
                  <a:srgbClr val="241F1B"/>
                </a:solidFill>
                <a:effectLst/>
                <a:uFillTx/>
                <a:latin typeface="Calibri"/>
                <a:ea typeface="DejaVu Sans"/>
              </a:rPr>
              <a:t>Αγοράζονται μαζί </a:t>
            </a:r>
            <a:r>
              <a:rPr lang="en-US" sz="1300" b="0" u="none" strike="noStrike">
                <a:solidFill>
                  <a:srgbClr val="241F1B"/>
                </a:solidFill>
                <a:effectLst/>
                <a:uFillTx/>
                <a:latin typeface="Calibri"/>
                <a:ea typeface="DejaVu Sans"/>
              </a:rPr>
              <a:t>εικοσιπέντε φορές </a:t>
            </a:r>
            <a:r>
              <a:rPr lang="en-US" sz="1300" b="0" u="none" strike="noStrike">
                <a:solidFill>
                  <a:srgbClr val="241F1B"/>
                </a:solidFill>
                <a:effectLst/>
                <a:uFillTx/>
                <a:latin typeface="Calibri"/>
                <a:ea typeface="DejaVu Sans"/>
              </a:rPr>
              <a:t>πιο συχνά απ' ό,τι </a:t>
            </a:r>
            <a:r>
              <a:rPr lang="en-US" sz="1300" b="0" u="none" strike="noStrike">
                <a:solidFill>
                  <a:srgbClr val="241F1B"/>
                </a:solidFill>
                <a:effectLst/>
                <a:uFillTx/>
                <a:latin typeface="Calibri"/>
                <a:ea typeface="DejaVu Sans"/>
              </a:rPr>
              <a:t>αν ήταν άσχετα </a:t>
            </a:r>
            <a:r>
              <a:rPr lang="en-US" sz="1300" b="0" u="none" strike="noStrike">
                <a:solidFill>
                  <a:srgbClr val="241F1B"/>
                </a:solidFill>
                <a:effectLst/>
                <a:uFillTx/>
                <a:latin typeface="Calibri"/>
                <a:ea typeface="DejaVu Sans"/>
              </a:rPr>
              <a:t>μεταξύ τους.</a:t>
            </a:r>
            <a:endParaRPr lang="en-US" sz="130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a:t>
            </a:r>
            <a:r>
              <a:rPr lang="en-US" sz="1300" b="0" u="none" strike="noStrike">
                <a:solidFill>
                  <a:srgbClr val="224B12"/>
                </a:solidFill>
                <a:effectLst/>
                <a:uFillTx/>
                <a:latin typeface="Calibri"/>
                <a:ea typeface="DejaVu Sans"/>
              </a:rPr>
              <a:t> </a:t>
            </a:r>
            <a:r>
              <a:rPr lang="en-US" sz="1300" b="0" u="none" strike="noStrike">
                <a:solidFill>
                  <a:srgbClr val="241F1B"/>
                </a:solidFill>
                <a:effectLst/>
                <a:uFillTx/>
                <a:latin typeface="Calibri"/>
                <a:ea typeface="DejaVu Sans"/>
              </a:rPr>
              <a:t>Όσο ανεβαίνει το </a:t>
            </a:r>
            <a:r>
              <a:rPr lang="en-US" sz="1300" b="0" u="none" strike="noStrike">
                <a:solidFill>
                  <a:srgbClr val="241F1B"/>
                </a:solidFill>
                <a:effectLst/>
                <a:uFillTx/>
                <a:latin typeface="Calibri"/>
                <a:ea typeface="DejaVu Sans"/>
              </a:rPr>
              <a:t>κατώφλι, τόσο </a:t>
            </a:r>
            <a:r>
              <a:rPr lang="en-US" sz="1300" b="0" u="none" strike="noStrike">
                <a:solidFill>
                  <a:srgbClr val="241F1B"/>
                </a:solidFill>
                <a:effectLst/>
                <a:uFillTx/>
                <a:latin typeface="Calibri"/>
                <a:ea typeface="DejaVu Sans"/>
              </a:rPr>
              <a:t>λιγότεροι αλλά πιο </a:t>
            </a:r>
            <a:r>
              <a:rPr lang="en-US" sz="1300" b="0" u="none" strike="noStrike">
                <a:solidFill>
                  <a:srgbClr val="241F1B"/>
                </a:solidFill>
                <a:effectLst/>
                <a:uFillTx/>
                <a:latin typeface="Calibri"/>
                <a:ea typeface="DejaVu Sans"/>
              </a:rPr>
              <a:t>σίγουροι κανόνες. </a:t>
            </a:r>
            <a:r>
              <a:rPr lang="en-US" sz="1300" b="0" u="none" strike="noStrike">
                <a:solidFill>
                  <a:srgbClr val="241F1B"/>
                </a:solidFill>
                <a:effectLst/>
                <a:uFillTx/>
                <a:latin typeface="Calibri"/>
                <a:ea typeface="DejaVu Sans"/>
              </a:rPr>
              <a:t>Στο 5% δεν </a:t>
            </a:r>
            <a:r>
              <a:rPr lang="en-US" sz="1300" b="0" u="none" strike="noStrike">
                <a:solidFill>
                  <a:srgbClr val="241F1B"/>
                </a:solidFill>
                <a:effectLst/>
                <a:uFillTx/>
                <a:latin typeface="Calibri"/>
                <a:ea typeface="DejaVu Sans"/>
              </a:rPr>
              <a:t>επιβιώνει κανένας, </a:t>
            </a:r>
            <a:r>
              <a:rPr lang="en-US" sz="1300" b="0" u="none" strike="noStrike">
                <a:solidFill>
                  <a:srgbClr val="241F1B"/>
                </a:solidFill>
                <a:effectLst/>
                <a:uFillTx/>
                <a:latin typeface="Calibri"/>
                <a:ea typeface="DejaVu Sans"/>
              </a:rPr>
              <a:t>σε κατάλογο 4.900 </a:t>
            </a:r>
            <a:r>
              <a:rPr lang="en-US" sz="1300" b="0" u="none" strike="noStrike">
                <a:solidFill>
                  <a:srgbClr val="241F1B"/>
                </a:solidFill>
                <a:effectLst/>
                <a:uFillTx/>
                <a:latin typeface="Calibri"/>
                <a:ea typeface="DejaVu Sans"/>
              </a:rPr>
              <a:t>προϊόντων.</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Η ΤΕΧΝΙΚΗ</a:t>
            </a:r>
            <a:endParaRPr lang="en-US" sz="1200" b="0" u="none" strike="noStrike">
              <a:solidFill>
                <a:srgbClr val="000000"/>
              </a:solidFill>
              <a:effectLst/>
              <a:uFillTx/>
              <a:latin typeface="Arial"/>
            </a:endParaRPr>
          </a:p>
        </p:txBody>
      </p:sp>
      <p:sp>
        <p:nvSpPr>
          <p:cNvPr id="297"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Ομαδοποίηση σε δύο επίπεδα</a:t>
            </a:r>
            <a:endParaRPr lang="en-US" sz="3000" b="0" u="none" strike="noStrike">
              <a:solidFill>
                <a:srgbClr val="000000"/>
              </a:solidFill>
              <a:effectLst/>
              <a:uFillTx/>
              <a:latin typeface="Arial"/>
            </a:endParaRPr>
          </a:p>
        </p:txBody>
      </p:sp>
      <p:sp>
        <p:nvSpPr>
          <p:cNvPr id="298"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19</a:t>
            </a:r>
            <a:endParaRPr lang="en-US" sz="900" b="0" u="none" strike="noStrike">
              <a:solidFill>
                <a:srgbClr val="000000"/>
              </a:solidFill>
              <a:effectLst/>
              <a:uFillTx/>
              <a:latin typeface="Arial"/>
            </a:endParaRPr>
          </a:p>
        </p:txBody>
      </p:sp>
      <p:sp>
        <p:nvSpPr>
          <p:cNvPr id="299" name="TextBox 6"/>
          <p:cNvSpPr/>
          <p:nvPr/>
        </p:nvSpPr>
        <p:spPr>
          <a:xfrm>
            <a:off x="497880" y="2286000"/>
            <a:ext cx="5348520" cy="2692440"/>
          </a:xfrm>
          <a:prstGeom prst="rect">
            <a:avLst/>
          </a:prstGeom>
          <a:noFill/>
          <a:ln w="0">
            <a:noFill/>
          </a:ln>
        </p:spPr>
        <p:style>
          <a:lnRef idx="0"/>
          <a:fillRef idx="0"/>
          <a:effectRef idx="0"/>
          <a:fontRef idx="minor"/>
        </p:style>
        <p:txBody>
          <a:bodyPr lIns="0" tIns="0" rIns="0" bIns="0" anchor="t">
            <a:spAutoFit/>
          </a:bodyPr>
          <a:p>
            <a:pPr defTabSz="457200">
              <a:lnSpc>
                <a:spcPct val="122000"/>
              </a:lnSpc>
              <a:spcBef>
                <a:spcPts val="1191"/>
              </a:spcBef>
              <a:spcAft>
                <a:spcPts val="992"/>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Ο αλγόριθμος k-means ομαδοποιεί τα στοιχεία ανάλογα με τις ομοιότητές τους, τοποθετώντας τα στο πλησιέστερο κέντρο και επαναλαμβάνοντας τη διαδικασία μέχρι να σταθεροποιηθούν τα κέντρα.</a:t>
            </a:r>
            <a:endParaRPr lang="en-US" sz="1500" b="0" u="none" strike="noStrike">
              <a:solidFill>
                <a:srgbClr val="000000"/>
              </a:solidFill>
              <a:effectLst/>
              <a:uFillTx/>
              <a:latin typeface="Arial"/>
            </a:endParaRPr>
          </a:p>
          <a:p>
            <a:pPr defTabSz="457200">
              <a:lnSpc>
                <a:spcPct val="122000"/>
              </a:lnSpc>
              <a:spcBef>
                <a:spcPts val="1191"/>
              </a:spcBef>
              <a:spcAft>
                <a:spcPts val="992"/>
              </a:spcAft>
            </a:pPr>
            <a:r>
              <a:rPr lang="en-US" sz="2000" b="0" u="none" strike="noStrike">
                <a:solidFill>
                  <a:srgbClr val="224B12"/>
                </a:solidFill>
                <a:effectLst/>
                <a:uFillTx/>
                <a:latin typeface="Calibri"/>
                <a:ea typeface="DejaVu Sans"/>
              </a:rPr>
              <a:t>- </a:t>
            </a:r>
            <a:r>
              <a:rPr lang="en-US" sz="1500" b="1" u="none" strike="noStrike">
                <a:solidFill>
                  <a:srgbClr val="241F1B"/>
                </a:solidFill>
                <a:effectLst/>
                <a:uFillTx/>
                <a:latin typeface="Calibri"/>
                <a:ea typeface="DejaVu Sans"/>
              </a:rPr>
              <a:t>Για τον καθορισμό του αριθμού των ομάδων, δοκιμάζουμε πολλές τιμές και επιλέγουμε εκείνη που πετυχαίνει το καλύτερο silhouette score, το οποίο μετρά πόσο καθαρά έχουν διαχωριστεί οι ομάδες μεταξύ τους.</a:t>
            </a:r>
            <a:endParaRPr lang="en-US" sz="1500" b="0" u="none" strike="noStrike">
              <a:solidFill>
                <a:srgbClr val="000000"/>
              </a:solidFill>
              <a:effectLst/>
              <a:uFillTx/>
              <a:latin typeface="Arial"/>
            </a:endParaRPr>
          </a:p>
        </p:txBody>
      </p:sp>
      <p:sp>
        <p:nvSpPr>
          <p:cNvPr id="300" name="Rounded Rectangle 7"/>
          <p:cNvSpPr/>
          <p:nvPr/>
        </p:nvSpPr>
        <p:spPr>
          <a:xfrm>
            <a:off x="6291000" y="1828800"/>
            <a:ext cx="5348520" cy="168588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01" name="TextBox 8"/>
          <p:cNvSpPr/>
          <p:nvPr/>
        </p:nvSpPr>
        <p:spPr>
          <a:xfrm>
            <a:off x="6538680" y="1828800"/>
            <a:ext cx="4891320" cy="250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ΠΡΩΤΟ ΕΠΙΠΕΔΟ</a:t>
            </a:r>
            <a:endParaRPr lang="en-US" sz="1350" b="0" u="none" strike="noStrike">
              <a:solidFill>
                <a:srgbClr val="000000"/>
              </a:solidFill>
              <a:effectLst/>
              <a:uFillTx/>
              <a:latin typeface="Arial"/>
            </a:endParaRPr>
          </a:p>
        </p:txBody>
      </p:sp>
      <p:sp>
        <p:nvSpPr>
          <p:cNvPr id="302" name="TextBox 9"/>
          <p:cNvSpPr/>
          <p:nvPr/>
        </p:nvSpPr>
        <p:spPr>
          <a:xfrm>
            <a:off x="6519600" y="2286000"/>
            <a:ext cx="4891320" cy="1041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Ομαδοποίη</a:t>
            </a:r>
            <a:r>
              <a:rPr lang="en-US" sz="1400" b="0" u="none" strike="noStrike">
                <a:solidFill>
                  <a:srgbClr val="241F1B"/>
                </a:solidFill>
                <a:effectLst/>
                <a:uFillTx/>
                <a:latin typeface="Calibri"/>
                <a:ea typeface="DejaVu Sans"/>
              </a:rPr>
              <a:t>ση των </a:t>
            </a:r>
            <a:r>
              <a:rPr lang="en-US" sz="1400" b="0" u="none" strike="noStrike">
                <a:solidFill>
                  <a:srgbClr val="241F1B"/>
                </a:solidFill>
                <a:effectLst/>
                <a:uFillTx/>
                <a:latin typeface="Calibri"/>
                <a:ea typeface="DejaVu Sans"/>
              </a:rPr>
              <a:t>περιοχών </a:t>
            </a:r>
            <a:r>
              <a:rPr lang="en-US" sz="1400" b="0" u="none" strike="noStrike">
                <a:solidFill>
                  <a:srgbClr val="241F1B"/>
                </a:solidFill>
                <a:effectLst/>
                <a:uFillTx/>
                <a:latin typeface="Calibri"/>
                <a:ea typeface="DejaVu Sans"/>
              </a:rPr>
              <a:t>με βάση:</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241F1B"/>
                </a:solidFill>
                <a:effectLst/>
                <a:uFillTx/>
                <a:latin typeface="Calibri"/>
                <a:ea typeface="DejaVu Sans"/>
              </a:rPr>
              <a:t>  - έσοδα</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241F1B"/>
                </a:solidFill>
                <a:effectLst/>
                <a:uFillTx/>
                <a:latin typeface="Calibri"/>
                <a:ea typeface="DejaVu Sans"/>
              </a:rPr>
              <a:t>  - </a:t>
            </a:r>
            <a:r>
              <a:rPr lang="en-US" sz="1400" b="0" u="none" strike="noStrike">
                <a:solidFill>
                  <a:srgbClr val="241F1B"/>
                </a:solidFill>
                <a:effectLst/>
                <a:uFillTx/>
                <a:latin typeface="Calibri"/>
                <a:ea typeface="DejaVu Sans"/>
              </a:rPr>
              <a:t>παραγγελίε</a:t>
            </a:r>
            <a:r>
              <a:rPr lang="en-US" sz="1400" b="0" u="none" strike="noStrike">
                <a:solidFill>
                  <a:srgbClr val="241F1B"/>
                </a:solidFill>
                <a:effectLst/>
                <a:uFillTx/>
                <a:latin typeface="Calibri"/>
                <a:ea typeface="DejaVu Sans"/>
              </a:rPr>
              <a:t>ς </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241F1B"/>
                </a:solidFill>
                <a:effectLst/>
                <a:uFillTx/>
                <a:latin typeface="Calibri"/>
                <a:ea typeface="DejaVu Sans"/>
              </a:rPr>
              <a:t>  - σε </a:t>
            </a:r>
            <a:r>
              <a:rPr lang="en-US" sz="1400" b="0" u="none" strike="noStrike">
                <a:solidFill>
                  <a:srgbClr val="241F1B"/>
                </a:solidFill>
                <a:effectLst/>
                <a:uFillTx/>
                <a:latin typeface="Calibri"/>
                <a:ea typeface="DejaVu Sans"/>
              </a:rPr>
              <a:t>πόσους </a:t>
            </a:r>
            <a:r>
              <a:rPr lang="en-US" sz="1400" b="0" u="none" strike="noStrike">
                <a:solidFill>
                  <a:srgbClr val="241F1B"/>
                </a:solidFill>
                <a:effectLst/>
                <a:uFillTx/>
                <a:latin typeface="Calibri"/>
                <a:ea typeface="DejaVu Sans"/>
              </a:rPr>
              <a:t>μήνες ήταν </a:t>
            </a:r>
            <a:r>
              <a:rPr lang="en-US" sz="1400" b="0" u="none" strike="noStrike">
                <a:solidFill>
                  <a:srgbClr val="241F1B"/>
                </a:solidFill>
                <a:effectLst/>
                <a:uFillTx/>
                <a:latin typeface="Calibri"/>
                <a:ea typeface="DejaVu Sans"/>
              </a:rPr>
              <a:t>ενεργές</a:t>
            </a:r>
            <a:endParaRPr lang="en-US" sz="1400" b="0" u="none" strike="noStrike">
              <a:solidFill>
                <a:srgbClr val="000000"/>
              </a:solidFill>
              <a:effectLst/>
              <a:uFillTx/>
              <a:latin typeface="Arial"/>
            </a:endParaRPr>
          </a:p>
        </p:txBody>
      </p:sp>
      <p:sp>
        <p:nvSpPr>
          <p:cNvPr id="303" name="Rounded Rectangle 10"/>
          <p:cNvSpPr/>
          <p:nvPr/>
        </p:nvSpPr>
        <p:spPr>
          <a:xfrm>
            <a:off x="6310080" y="3657600"/>
            <a:ext cx="5348520" cy="1828800"/>
          </a:xfrm>
          <a:prstGeom prst="roundRect">
            <a:avLst>
              <a:gd name="adj" fmla="val 16667"/>
            </a:avLst>
          </a:prstGeom>
          <a:solidFill>
            <a:srgbClr val="224B12"/>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04" name="TextBox 11"/>
          <p:cNvSpPr/>
          <p:nvPr/>
        </p:nvSpPr>
        <p:spPr>
          <a:xfrm>
            <a:off x="6519600" y="3862800"/>
            <a:ext cx="4891320" cy="250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FFFFFF"/>
                </a:solidFill>
                <a:effectLst/>
                <a:uFillTx/>
                <a:latin typeface="Cambria"/>
                <a:ea typeface="DejaVu Sans"/>
              </a:rPr>
              <a:t>ΔΕΥΤΕΡΟ ΕΠΙΠΕΔΟ</a:t>
            </a:r>
            <a:endParaRPr lang="en-US" sz="1350" b="0" u="none" strike="noStrike">
              <a:solidFill>
                <a:srgbClr val="000000"/>
              </a:solidFill>
              <a:effectLst/>
              <a:uFillTx/>
              <a:latin typeface="Arial"/>
            </a:endParaRPr>
          </a:p>
        </p:txBody>
      </p:sp>
      <p:sp>
        <p:nvSpPr>
          <p:cNvPr id="305" name="TextBox 12"/>
          <p:cNvSpPr/>
          <p:nvPr/>
        </p:nvSpPr>
        <p:spPr>
          <a:xfrm>
            <a:off x="6519600" y="4343400"/>
            <a:ext cx="4891320" cy="10407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D7E5D2"/>
                </a:solidFill>
                <a:effectLst/>
                <a:uFillTx/>
                <a:latin typeface="Calibri"/>
                <a:ea typeface="DejaVu Sans"/>
              </a:rPr>
              <a:t>Μέσα σε </a:t>
            </a:r>
            <a:r>
              <a:rPr lang="en-US" sz="1400" b="0" u="none" strike="noStrike">
                <a:solidFill>
                  <a:srgbClr val="D7E5D2"/>
                </a:solidFill>
                <a:effectLst/>
                <a:uFillTx/>
                <a:latin typeface="Calibri"/>
                <a:ea typeface="DejaVu Sans"/>
              </a:rPr>
              <a:t>κάθε </a:t>
            </a:r>
            <a:r>
              <a:rPr lang="en-US" sz="1400" b="0" u="none" strike="noStrike">
                <a:solidFill>
                  <a:srgbClr val="D7E5D2"/>
                </a:solidFill>
                <a:effectLst/>
                <a:uFillTx/>
                <a:latin typeface="Calibri"/>
                <a:ea typeface="DejaVu Sans"/>
              </a:rPr>
              <a:t>ομάδα, νέα </a:t>
            </a:r>
            <a:r>
              <a:rPr lang="en-US" sz="1400" b="0" u="none" strike="noStrike">
                <a:solidFill>
                  <a:srgbClr val="D7E5D2"/>
                </a:solidFill>
                <a:effectLst/>
                <a:uFillTx/>
                <a:latin typeface="Calibri"/>
                <a:ea typeface="DejaVu Sans"/>
              </a:rPr>
              <a:t>ομαδοποίη</a:t>
            </a:r>
            <a:r>
              <a:rPr lang="en-US" sz="1400" b="0" u="none" strike="noStrike">
                <a:solidFill>
                  <a:srgbClr val="D7E5D2"/>
                </a:solidFill>
                <a:effectLst/>
                <a:uFillTx/>
                <a:latin typeface="Calibri"/>
                <a:ea typeface="DejaVu Sans"/>
              </a:rPr>
              <a:t>ση των </a:t>
            </a:r>
            <a:r>
              <a:rPr lang="en-US" sz="1400" b="0" u="none" strike="noStrike">
                <a:solidFill>
                  <a:srgbClr val="D7E5D2"/>
                </a:solidFill>
                <a:effectLst/>
                <a:uFillTx/>
                <a:latin typeface="Calibri"/>
                <a:ea typeface="DejaVu Sans"/>
              </a:rPr>
              <a:t>πελατών με </a:t>
            </a:r>
            <a:r>
              <a:rPr lang="en-US" sz="1400" b="0" u="none" strike="noStrike">
                <a:solidFill>
                  <a:srgbClr val="D7E5D2"/>
                </a:solidFill>
                <a:effectLst/>
                <a:uFillTx/>
                <a:latin typeface="Calibri"/>
                <a:ea typeface="DejaVu Sans"/>
              </a:rPr>
              <a:t>RFM:  </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D7E5D2"/>
                </a:solidFill>
                <a:effectLst/>
                <a:uFillTx/>
                <a:latin typeface="Calibri"/>
                <a:ea typeface="DejaVu Sans"/>
              </a:rPr>
              <a:t>  - </a:t>
            </a:r>
            <a:r>
              <a:rPr lang="en-US" sz="1400" b="0" u="none" strike="noStrike">
                <a:solidFill>
                  <a:srgbClr val="D7E5D2"/>
                </a:solidFill>
                <a:effectLst/>
                <a:uFillTx/>
                <a:latin typeface="Calibri"/>
                <a:ea typeface="DejaVu Sans"/>
              </a:rPr>
              <a:t>πόσο </a:t>
            </a:r>
            <a:r>
              <a:rPr lang="en-US" sz="1400" b="0" u="none" strike="noStrike">
                <a:solidFill>
                  <a:srgbClr val="D7E5D2"/>
                </a:solidFill>
                <a:effectLst/>
                <a:uFillTx/>
                <a:latin typeface="Calibri"/>
                <a:ea typeface="DejaVu Sans"/>
              </a:rPr>
              <a:t>πρόσφατα</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D7E5D2"/>
                </a:solidFill>
                <a:effectLst/>
                <a:uFillTx/>
                <a:latin typeface="Calibri"/>
                <a:ea typeface="DejaVu Sans"/>
              </a:rPr>
              <a:t>  - πόσο </a:t>
            </a:r>
            <a:r>
              <a:rPr lang="en-US" sz="1400" b="0" u="none" strike="noStrike">
                <a:solidFill>
                  <a:srgbClr val="D7E5D2"/>
                </a:solidFill>
                <a:effectLst/>
                <a:uFillTx/>
                <a:latin typeface="Calibri"/>
                <a:ea typeface="DejaVu Sans"/>
              </a:rPr>
              <a:t>συχνά</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D7E5D2"/>
                </a:solidFill>
                <a:effectLst/>
                <a:uFillTx/>
                <a:latin typeface="Calibri"/>
                <a:ea typeface="DejaVu Sans"/>
              </a:rPr>
              <a:t>  - πόσα </a:t>
            </a:r>
            <a:r>
              <a:rPr lang="en-US" sz="1400" b="0" u="none" strike="noStrike">
                <a:solidFill>
                  <a:srgbClr val="D7E5D2"/>
                </a:solidFill>
                <a:effectLst/>
                <a:uFillTx/>
                <a:latin typeface="Calibri"/>
                <a:ea typeface="DejaVu Sans"/>
              </a:rPr>
              <a:t>ξοδεύει</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ΟΜΑΔΟ</a:t>
            </a:r>
            <a:r>
              <a:rPr lang="en-US" sz="1200" b="1" u="none" strike="noStrike">
                <a:solidFill>
                  <a:srgbClr val="E8A33D"/>
                </a:solidFill>
                <a:effectLst/>
                <a:uFillTx/>
                <a:latin typeface="Calibri"/>
                <a:ea typeface="DejaVu Sans"/>
              </a:rPr>
              <a:t>ΠΟΙΗΣΗ</a:t>
            </a:r>
            <a:endParaRPr lang="en-US" sz="1200" b="0" u="none" strike="noStrike">
              <a:solidFill>
                <a:srgbClr val="000000"/>
              </a:solidFill>
              <a:effectLst/>
              <a:uFillTx/>
              <a:latin typeface="Arial"/>
            </a:endParaRPr>
          </a:p>
        </p:txBody>
      </p:sp>
      <p:sp>
        <p:nvSpPr>
          <p:cNvPr id="307" name="TextBox 2"/>
          <p:cNvSpPr/>
          <p:nvPr/>
        </p:nvSpPr>
        <p:spPr>
          <a:xfrm>
            <a:off x="548640" y="749880"/>
            <a:ext cx="11090880" cy="5580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Ομαδοποίηση περιοχών και πελατών</a:t>
            </a:r>
            <a:endParaRPr lang="en-US" sz="3000" b="0" u="none" strike="noStrike">
              <a:solidFill>
                <a:srgbClr val="000000"/>
              </a:solidFill>
              <a:effectLst/>
              <a:uFillTx/>
              <a:latin typeface="Arial"/>
            </a:endParaRPr>
          </a:p>
        </p:txBody>
      </p:sp>
      <p:sp>
        <p:nvSpPr>
          <p:cNvPr id="308"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20</a:t>
            </a:r>
            <a:endParaRPr lang="en-US" sz="900" b="0" u="none" strike="noStrike">
              <a:solidFill>
                <a:srgbClr val="000000"/>
              </a:solidFill>
              <a:effectLst/>
              <a:uFillTx/>
              <a:latin typeface="Arial"/>
            </a:endParaRPr>
          </a:p>
        </p:txBody>
      </p:sp>
      <p:pic>
        <p:nvPicPr>
          <p:cNvPr id="309" name="Picture 6" descr="silhouette-level-one.png"/>
          <p:cNvPicPr/>
          <p:nvPr/>
        </p:nvPicPr>
        <p:blipFill>
          <a:blip r:embed="rId1"/>
          <a:stretch/>
        </p:blipFill>
        <p:spPr>
          <a:xfrm>
            <a:off x="708480" y="1908000"/>
            <a:ext cx="5028480" cy="2513880"/>
          </a:xfrm>
          <a:prstGeom prst="rect">
            <a:avLst/>
          </a:prstGeom>
          <a:noFill/>
          <a:ln w="0">
            <a:noFill/>
          </a:ln>
        </p:spPr>
      </p:pic>
      <p:sp>
        <p:nvSpPr>
          <p:cNvPr id="310" name="Rectangle 7"/>
          <p:cNvSpPr/>
          <p:nvPr/>
        </p:nvSpPr>
        <p:spPr>
          <a:xfrm>
            <a:off x="708480" y="1908000"/>
            <a:ext cx="5028480" cy="251388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11" name="TextBox 8"/>
          <p:cNvSpPr/>
          <p:nvPr/>
        </p:nvSpPr>
        <p:spPr>
          <a:xfrm>
            <a:off x="548640" y="451404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Το silhouette διαλέγει k ίσον 2, με σκορ 0,8793</a:t>
            </a:r>
            <a:endParaRPr lang="en-US" sz="1100" b="0" u="none" strike="noStrike">
              <a:solidFill>
                <a:srgbClr val="000000"/>
              </a:solidFill>
              <a:effectLst/>
              <a:uFillTx/>
              <a:latin typeface="Arial"/>
            </a:endParaRPr>
          </a:p>
        </p:txBody>
      </p:sp>
      <p:sp>
        <p:nvSpPr>
          <p:cNvPr id="312" name="TextBox 9"/>
          <p:cNvSpPr/>
          <p:nvPr/>
        </p:nvSpPr>
        <p:spPr>
          <a:xfrm>
            <a:off x="6291000" y="1908000"/>
            <a:ext cx="5348520" cy="213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1" u="none" strike="noStrike">
                <a:solidFill>
                  <a:srgbClr val="E8A33D"/>
                </a:solidFill>
                <a:effectLst/>
                <a:uFillTx/>
                <a:latin typeface="Calibri"/>
                <a:ea typeface="DejaVu Sans"/>
              </a:rPr>
              <a:t>ΠΡΩΤΟ ΕΠΙΠΕΔΟ: ΠΕΡΙΟΧΕΣ</a:t>
            </a:r>
            <a:endParaRPr lang="en-US" sz="1150" b="0" u="none" strike="noStrike">
              <a:solidFill>
                <a:srgbClr val="000000"/>
              </a:solidFill>
              <a:effectLst/>
              <a:uFillTx/>
              <a:latin typeface="Arial"/>
            </a:endParaRPr>
          </a:p>
        </p:txBody>
      </p:sp>
      <p:sp>
        <p:nvSpPr>
          <p:cNvPr id="313" name="Rectangle 10"/>
          <p:cNvSpPr/>
          <p:nvPr/>
        </p:nvSpPr>
        <p:spPr>
          <a:xfrm>
            <a:off x="6291000" y="2237400"/>
            <a:ext cx="5348520" cy="34668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14" name="TextBox 11"/>
          <p:cNvSpPr/>
          <p:nvPr/>
        </p:nvSpPr>
        <p:spPr>
          <a:xfrm>
            <a:off x="6382440" y="2319480"/>
            <a:ext cx="21700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Ομάδα</a:t>
            </a:r>
            <a:endParaRPr lang="en-US" sz="1200" b="0" u="none" strike="noStrike">
              <a:solidFill>
                <a:srgbClr val="000000"/>
              </a:solidFill>
              <a:effectLst/>
              <a:uFillTx/>
              <a:latin typeface="Arial"/>
            </a:endParaRPr>
          </a:p>
        </p:txBody>
      </p:sp>
      <p:sp>
        <p:nvSpPr>
          <p:cNvPr id="315" name="TextBox 12"/>
          <p:cNvSpPr/>
          <p:nvPr/>
        </p:nvSpPr>
        <p:spPr>
          <a:xfrm>
            <a:off x="8736120" y="2319480"/>
            <a:ext cx="12070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Μέλη</a:t>
            </a:r>
            <a:endParaRPr lang="en-US" sz="1200" b="0" u="none" strike="noStrike">
              <a:solidFill>
                <a:srgbClr val="000000"/>
              </a:solidFill>
              <a:effectLst/>
              <a:uFillTx/>
              <a:latin typeface="Arial"/>
            </a:endParaRPr>
          </a:p>
        </p:txBody>
      </p:sp>
      <p:sp>
        <p:nvSpPr>
          <p:cNvPr id="316" name="TextBox 13"/>
          <p:cNvSpPr/>
          <p:nvPr/>
        </p:nvSpPr>
        <p:spPr>
          <a:xfrm>
            <a:off x="10127160" y="2319480"/>
            <a:ext cx="14212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Ενεργοί μήνες</a:t>
            </a:r>
            <a:endParaRPr lang="en-US" sz="1200" b="0" u="none" strike="noStrike">
              <a:solidFill>
                <a:srgbClr val="000000"/>
              </a:solidFill>
              <a:effectLst/>
              <a:uFillTx/>
              <a:latin typeface="Arial"/>
            </a:endParaRPr>
          </a:p>
        </p:txBody>
      </p:sp>
      <p:sp>
        <p:nvSpPr>
          <p:cNvPr id="317" name="TextBox 14"/>
          <p:cNvSpPr/>
          <p:nvPr/>
        </p:nvSpPr>
        <p:spPr>
          <a:xfrm>
            <a:off x="6382440" y="2676240"/>
            <a:ext cx="21700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Εξαγωγές</a:t>
            </a:r>
            <a:endParaRPr lang="en-US" sz="1250" b="0" u="none" strike="noStrike">
              <a:solidFill>
                <a:srgbClr val="000000"/>
              </a:solidFill>
              <a:effectLst/>
              <a:uFillTx/>
              <a:latin typeface="Arial"/>
            </a:endParaRPr>
          </a:p>
        </p:txBody>
      </p:sp>
      <p:sp>
        <p:nvSpPr>
          <p:cNvPr id="318" name="TextBox 15"/>
          <p:cNvSpPr/>
          <p:nvPr/>
        </p:nvSpPr>
        <p:spPr>
          <a:xfrm>
            <a:off x="8736120" y="2676240"/>
            <a:ext cx="12070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42</a:t>
            </a:r>
            <a:endParaRPr lang="en-US" sz="1250" b="0" u="none" strike="noStrike">
              <a:solidFill>
                <a:srgbClr val="000000"/>
              </a:solidFill>
              <a:effectLst/>
              <a:uFillTx/>
              <a:latin typeface="Arial"/>
            </a:endParaRPr>
          </a:p>
        </p:txBody>
      </p:sp>
      <p:sp>
        <p:nvSpPr>
          <p:cNvPr id="319" name="TextBox 16"/>
          <p:cNvSpPr/>
          <p:nvPr/>
        </p:nvSpPr>
        <p:spPr>
          <a:xfrm>
            <a:off x="10127160" y="2676240"/>
            <a:ext cx="14212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12,8</a:t>
            </a:r>
            <a:endParaRPr lang="en-US" sz="1250" b="0" u="none" strike="noStrike">
              <a:solidFill>
                <a:srgbClr val="000000"/>
              </a:solidFill>
              <a:effectLst/>
              <a:uFillTx/>
              <a:latin typeface="Arial"/>
            </a:endParaRPr>
          </a:p>
        </p:txBody>
      </p:sp>
      <p:sp>
        <p:nvSpPr>
          <p:cNvPr id="320" name="TextBox 18"/>
          <p:cNvSpPr/>
          <p:nvPr/>
        </p:nvSpPr>
        <p:spPr>
          <a:xfrm>
            <a:off x="6382440" y="3042000"/>
            <a:ext cx="21700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Ηνωμένο Βασίλειο</a:t>
            </a:r>
            <a:endParaRPr lang="en-US" sz="1250" b="0" u="none" strike="noStrike">
              <a:solidFill>
                <a:srgbClr val="000000"/>
              </a:solidFill>
              <a:effectLst/>
              <a:uFillTx/>
              <a:latin typeface="Arial"/>
            </a:endParaRPr>
          </a:p>
        </p:txBody>
      </p:sp>
      <p:sp>
        <p:nvSpPr>
          <p:cNvPr id="321" name="TextBox 19"/>
          <p:cNvSpPr/>
          <p:nvPr/>
        </p:nvSpPr>
        <p:spPr>
          <a:xfrm>
            <a:off x="8736120" y="3042000"/>
            <a:ext cx="12070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a:t>
            </a:r>
            <a:endParaRPr lang="en-US" sz="1250" b="0" u="none" strike="noStrike">
              <a:solidFill>
                <a:srgbClr val="000000"/>
              </a:solidFill>
              <a:effectLst/>
              <a:uFillTx/>
              <a:latin typeface="Arial"/>
            </a:endParaRPr>
          </a:p>
        </p:txBody>
      </p:sp>
      <p:sp>
        <p:nvSpPr>
          <p:cNvPr id="322" name="TextBox 20"/>
          <p:cNvSpPr/>
          <p:nvPr/>
        </p:nvSpPr>
        <p:spPr>
          <a:xfrm>
            <a:off x="10127160" y="3042000"/>
            <a:ext cx="14212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25,0</a:t>
            </a:r>
            <a:endParaRPr lang="en-US" sz="1250" b="0" u="none" strike="noStrike">
              <a:solidFill>
                <a:srgbClr val="000000"/>
              </a:solidFill>
              <a:effectLst/>
              <a:uFillTx/>
              <a:latin typeface="Arial"/>
            </a:endParaRPr>
          </a:p>
        </p:txBody>
      </p:sp>
      <p:sp>
        <p:nvSpPr>
          <p:cNvPr id="323" name="TextBox 21"/>
          <p:cNvSpPr/>
          <p:nvPr/>
        </p:nvSpPr>
        <p:spPr>
          <a:xfrm>
            <a:off x="6291000" y="3462480"/>
            <a:ext cx="5348520" cy="213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1" u="none" strike="noStrike">
                <a:solidFill>
                  <a:srgbClr val="E8A33D"/>
                </a:solidFill>
                <a:effectLst/>
                <a:uFillTx/>
                <a:latin typeface="Calibri"/>
                <a:ea typeface="DejaVu Sans"/>
              </a:rPr>
              <a:t>ΔΕΥΤΕΡΟ ΕΠΙΠΕΔΟ: ΠΕΛΑΤΕΣ</a:t>
            </a:r>
            <a:endParaRPr lang="en-US" sz="1150" b="0" u="none" strike="noStrike">
              <a:solidFill>
                <a:srgbClr val="000000"/>
              </a:solidFill>
              <a:effectLst/>
              <a:uFillTx/>
              <a:latin typeface="Arial"/>
            </a:endParaRPr>
          </a:p>
        </p:txBody>
      </p:sp>
      <p:sp>
        <p:nvSpPr>
          <p:cNvPr id="324" name="Rectangle 22"/>
          <p:cNvSpPr/>
          <p:nvPr/>
        </p:nvSpPr>
        <p:spPr>
          <a:xfrm>
            <a:off x="6291000" y="3791880"/>
            <a:ext cx="5348520" cy="34668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25" name="TextBox 23"/>
          <p:cNvSpPr/>
          <p:nvPr/>
        </p:nvSpPr>
        <p:spPr>
          <a:xfrm>
            <a:off x="6382440" y="3873960"/>
            <a:ext cx="163512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Υποομάδα</a:t>
            </a:r>
            <a:endParaRPr lang="en-US" sz="1200" b="0" u="none" strike="noStrike">
              <a:solidFill>
                <a:srgbClr val="000000"/>
              </a:solidFill>
              <a:effectLst/>
              <a:uFillTx/>
              <a:latin typeface="Arial"/>
            </a:endParaRPr>
          </a:p>
        </p:txBody>
      </p:sp>
      <p:sp>
        <p:nvSpPr>
          <p:cNvPr id="326" name="TextBox 24"/>
          <p:cNvSpPr/>
          <p:nvPr/>
        </p:nvSpPr>
        <p:spPr>
          <a:xfrm>
            <a:off x="8201160" y="3873960"/>
            <a:ext cx="99324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Πελάτες</a:t>
            </a:r>
            <a:endParaRPr lang="en-US" sz="1200" b="0" u="none" strike="noStrike">
              <a:solidFill>
                <a:srgbClr val="000000"/>
              </a:solidFill>
              <a:effectLst/>
              <a:uFillTx/>
              <a:latin typeface="Arial"/>
            </a:endParaRPr>
          </a:p>
        </p:txBody>
      </p:sp>
      <p:sp>
        <p:nvSpPr>
          <p:cNvPr id="327" name="TextBox 25"/>
          <p:cNvSpPr/>
          <p:nvPr/>
        </p:nvSpPr>
        <p:spPr>
          <a:xfrm>
            <a:off x="9378000" y="3873960"/>
            <a:ext cx="110016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Παραγγελίες</a:t>
            </a:r>
            <a:endParaRPr lang="en-US" sz="1200" b="0" u="none" strike="noStrike">
              <a:solidFill>
                <a:srgbClr val="000000"/>
              </a:solidFill>
              <a:effectLst/>
              <a:uFillTx/>
              <a:latin typeface="Arial"/>
            </a:endParaRPr>
          </a:p>
        </p:txBody>
      </p:sp>
      <p:sp>
        <p:nvSpPr>
          <p:cNvPr id="328" name="TextBox 26"/>
          <p:cNvSpPr/>
          <p:nvPr/>
        </p:nvSpPr>
        <p:spPr>
          <a:xfrm>
            <a:off x="10661760" y="3873960"/>
            <a:ext cx="88632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Αξία</a:t>
            </a:r>
            <a:endParaRPr lang="en-US" sz="1200" b="0" u="none" strike="noStrike">
              <a:solidFill>
                <a:srgbClr val="000000"/>
              </a:solidFill>
              <a:effectLst/>
              <a:uFillTx/>
              <a:latin typeface="Arial"/>
            </a:endParaRPr>
          </a:p>
        </p:txBody>
      </p:sp>
      <p:sp>
        <p:nvSpPr>
          <p:cNvPr id="329" name="TextBox 27"/>
          <p:cNvSpPr/>
          <p:nvPr/>
        </p:nvSpPr>
        <p:spPr>
          <a:xfrm>
            <a:off x="6382440" y="4230720"/>
            <a:ext cx="16351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Τακτικοί, εξαγωγές</a:t>
            </a:r>
            <a:endParaRPr lang="en-US" sz="1250" b="0" u="none" strike="noStrike">
              <a:solidFill>
                <a:srgbClr val="000000"/>
              </a:solidFill>
              <a:effectLst/>
              <a:uFillTx/>
              <a:latin typeface="Arial"/>
            </a:endParaRPr>
          </a:p>
        </p:txBody>
      </p:sp>
      <p:sp>
        <p:nvSpPr>
          <p:cNvPr id="330" name="TextBox 28"/>
          <p:cNvSpPr/>
          <p:nvPr/>
        </p:nvSpPr>
        <p:spPr>
          <a:xfrm>
            <a:off x="8201160" y="423072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527</a:t>
            </a:r>
            <a:endParaRPr lang="en-US" sz="1250" b="0" u="none" strike="noStrike">
              <a:solidFill>
                <a:srgbClr val="000000"/>
              </a:solidFill>
              <a:effectLst/>
              <a:uFillTx/>
              <a:latin typeface="Arial"/>
            </a:endParaRPr>
          </a:p>
        </p:txBody>
      </p:sp>
      <p:sp>
        <p:nvSpPr>
          <p:cNvPr id="331" name="TextBox 29"/>
          <p:cNvSpPr/>
          <p:nvPr/>
        </p:nvSpPr>
        <p:spPr>
          <a:xfrm>
            <a:off x="9378000" y="4230720"/>
            <a:ext cx="110016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4,88</a:t>
            </a:r>
            <a:endParaRPr lang="en-US" sz="1250" b="0" u="none" strike="noStrike">
              <a:solidFill>
                <a:srgbClr val="000000"/>
              </a:solidFill>
              <a:effectLst/>
              <a:uFillTx/>
              <a:latin typeface="Arial"/>
            </a:endParaRPr>
          </a:p>
        </p:txBody>
      </p:sp>
      <p:sp>
        <p:nvSpPr>
          <p:cNvPr id="332" name="TextBox 30"/>
          <p:cNvSpPr/>
          <p:nvPr/>
        </p:nvSpPr>
        <p:spPr>
          <a:xfrm>
            <a:off x="10661760" y="4230720"/>
            <a:ext cx="8863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3.161</a:t>
            </a:r>
            <a:endParaRPr lang="en-US" sz="1250" b="0" u="none" strike="noStrike">
              <a:solidFill>
                <a:srgbClr val="000000"/>
              </a:solidFill>
              <a:effectLst/>
              <a:uFillTx/>
              <a:latin typeface="Arial"/>
            </a:endParaRPr>
          </a:p>
        </p:txBody>
      </p:sp>
      <p:sp>
        <p:nvSpPr>
          <p:cNvPr id="333" name="TextBox 32"/>
          <p:cNvSpPr/>
          <p:nvPr/>
        </p:nvSpPr>
        <p:spPr>
          <a:xfrm>
            <a:off x="6382440" y="4596480"/>
            <a:ext cx="16351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Whales, </a:t>
            </a:r>
            <a:r>
              <a:rPr lang="en-US" sz="1250" b="0" u="none" strike="noStrike">
                <a:solidFill>
                  <a:srgbClr val="241F1B"/>
                </a:solidFill>
                <a:effectLst/>
                <a:uFillTx/>
                <a:latin typeface="Calibri"/>
                <a:ea typeface="DejaVu Sans"/>
              </a:rPr>
              <a:t>εξαγωγές</a:t>
            </a:r>
            <a:endParaRPr lang="en-US" sz="1250" b="0" u="none" strike="noStrike">
              <a:solidFill>
                <a:srgbClr val="000000"/>
              </a:solidFill>
              <a:effectLst/>
              <a:uFillTx/>
              <a:latin typeface="Arial"/>
            </a:endParaRPr>
          </a:p>
        </p:txBody>
      </p:sp>
      <p:sp>
        <p:nvSpPr>
          <p:cNvPr id="334" name="TextBox 33"/>
          <p:cNvSpPr/>
          <p:nvPr/>
        </p:nvSpPr>
        <p:spPr>
          <a:xfrm>
            <a:off x="8201160" y="459648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a:t>
            </a:r>
            <a:endParaRPr lang="en-US" sz="1250" b="0" u="none" strike="noStrike">
              <a:solidFill>
                <a:srgbClr val="000000"/>
              </a:solidFill>
              <a:effectLst/>
              <a:uFillTx/>
              <a:latin typeface="Arial"/>
            </a:endParaRPr>
          </a:p>
        </p:txBody>
      </p:sp>
      <p:sp>
        <p:nvSpPr>
          <p:cNvPr id="335" name="TextBox 34"/>
          <p:cNvSpPr/>
          <p:nvPr/>
        </p:nvSpPr>
        <p:spPr>
          <a:xfrm>
            <a:off x="9378000" y="4596480"/>
            <a:ext cx="110016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220,7</a:t>
            </a:r>
            <a:endParaRPr lang="en-US" sz="1250" b="0" u="none" strike="noStrike">
              <a:solidFill>
                <a:srgbClr val="000000"/>
              </a:solidFill>
              <a:effectLst/>
              <a:uFillTx/>
              <a:latin typeface="Arial"/>
            </a:endParaRPr>
          </a:p>
        </p:txBody>
      </p:sp>
      <p:sp>
        <p:nvSpPr>
          <p:cNvPr id="336" name="TextBox 35"/>
          <p:cNvSpPr/>
          <p:nvPr/>
        </p:nvSpPr>
        <p:spPr>
          <a:xfrm>
            <a:off x="10661760" y="4596480"/>
            <a:ext cx="8863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365.705</a:t>
            </a:r>
            <a:endParaRPr lang="en-US" sz="1250" b="0" u="none" strike="noStrike">
              <a:solidFill>
                <a:srgbClr val="000000"/>
              </a:solidFill>
              <a:effectLst/>
              <a:uFillTx/>
              <a:latin typeface="Arial"/>
            </a:endParaRPr>
          </a:p>
        </p:txBody>
      </p:sp>
      <p:sp>
        <p:nvSpPr>
          <p:cNvPr id="337" name="TextBox 36"/>
          <p:cNvSpPr/>
          <p:nvPr/>
        </p:nvSpPr>
        <p:spPr>
          <a:xfrm>
            <a:off x="6382440" y="4962240"/>
            <a:ext cx="16351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Τακτικοί, ΗΒ</a:t>
            </a:r>
            <a:endParaRPr lang="en-US" sz="1250" b="0" u="none" strike="noStrike">
              <a:solidFill>
                <a:srgbClr val="000000"/>
              </a:solidFill>
              <a:effectLst/>
              <a:uFillTx/>
              <a:latin typeface="Arial"/>
            </a:endParaRPr>
          </a:p>
        </p:txBody>
      </p:sp>
      <p:sp>
        <p:nvSpPr>
          <p:cNvPr id="338" name="TextBox 37"/>
          <p:cNvSpPr/>
          <p:nvPr/>
        </p:nvSpPr>
        <p:spPr>
          <a:xfrm>
            <a:off x="8201160" y="496224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5.309</a:t>
            </a:r>
            <a:endParaRPr lang="en-US" sz="1250" b="0" u="none" strike="noStrike">
              <a:solidFill>
                <a:srgbClr val="000000"/>
              </a:solidFill>
              <a:effectLst/>
              <a:uFillTx/>
              <a:latin typeface="Arial"/>
            </a:endParaRPr>
          </a:p>
        </p:txBody>
      </p:sp>
      <p:sp>
        <p:nvSpPr>
          <p:cNvPr id="339" name="TextBox 38"/>
          <p:cNvSpPr/>
          <p:nvPr/>
        </p:nvSpPr>
        <p:spPr>
          <a:xfrm>
            <a:off x="9378000" y="4962240"/>
            <a:ext cx="110016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5,72</a:t>
            </a:r>
            <a:endParaRPr lang="en-US" sz="1250" b="0" u="none" strike="noStrike">
              <a:solidFill>
                <a:srgbClr val="000000"/>
              </a:solidFill>
              <a:effectLst/>
              <a:uFillTx/>
              <a:latin typeface="Arial"/>
            </a:endParaRPr>
          </a:p>
        </p:txBody>
      </p:sp>
      <p:sp>
        <p:nvSpPr>
          <p:cNvPr id="340" name="TextBox 39"/>
          <p:cNvSpPr/>
          <p:nvPr/>
        </p:nvSpPr>
        <p:spPr>
          <a:xfrm>
            <a:off x="10661760" y="4962240"/>
            <a:ext cx="8863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2.138</a:t>
            </a:r>
            <a:endParaRPr lang="en-US" sz="1250" b="0" u="none" strike="noStrike">
              <a:solidFill>
                <a:srgbClr val="000000"/>
              </a:solidFill>
              <a:effectLst/>
              <a:uFillTx/>
              <a:latin typeface="Arial"/>
            </a:endParaRPr>
          </a:p>
        </p:txBody>
      </p:sp>
      <p:sp>
        <p:nvSpPr>
          <p:cNvPr id="341" name="TextBox 41"/>
          <p:cNvSpPr/>
          <p:nvPr/>
        </p:nvSpPr>
        <p:spPr>
          <a:xfrm>
            <a:off x="6382440" y="5328000"/>
            <a:ext cx="16351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Whales, ΗΒ</a:t>
            </a:r>
            <a:endParaRPr lang="en-US" sz="1250" b="0" u="none" strike="noStrike">
              <a:solidFill>
                <a:srgbClr val="000000"/>
              </a:solidFill>
              <a:effectLst/>
              <a:uFillTx/>
              <a:latin typeface="Arial"/>
            </a:endParaRPr>
          </a:p>
        </p:txBody>
      </p:sp>
      <p:sp>
        <p:nvSpPr>
          <p:cNvPr id="342" name="TextBox 42"/>
          <p:cNvSpPr/>
          <p:nvPr/>
        </p:nvSpPr>
        <p:spPr>
          <a:xfrm>
            <a:off x="8201160" y="532800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25</a:t>
            </a:r>
            <a:endParaRPr lang="en-US" sz="1250" b="0" u="none" strike="noStrike">
              <a:solidFill>
                <a:srgbClr val="000000"/>
              </a:solidFill>
              <a:effectLst/>
              <a:uFillTx/>
              <a:latin typeface="Arial"/>
            </a:endParaRPr>
          </a:p>
        </p:txBody>
      </p:sp>
      <p:sp>
        <p:nvSpPr>
          <p:cNvPr id="343" name="TextBox 43"/>
          <p:cNvSpPr/>
          <p:nvPr/>
        </p:nvSpPr>
        <p:spPr>
          <a:xfrm>
            <a:off x="9378000" y="5328000"/>
            <a:ext cx="110016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120,4</a:t>
            </a:r>
            <a:endParaRPr lang="en-US" sz="1250" b="0" u="none" strike="noStrike">
              <a:solidFill>
                <a:srgbClr val="000000"/>
              </a:solidFill>
              <a:effectLst/>
              <a:uFillTx/>
              <a:latin typeface="Arial"/>
            </a:endParaRPr>
          </a:p>
        </p:txBody>
      </p:sp>
      <p:sp>
        <p:nvSpPr>
          <p:cNvPr id="344" name="TextBox 44"/>
          <p:cNvSpPr/>
          <p:nvPr/>
        </p:nvSpPr>
        <p:spPr>
          <a:xfrm>
            <a:off x="10661760" y="5328000"/>
            <a:ext cx="8863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114.404</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5"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ΠΡΟΒΛΕΨΗ</a:t>
            </a:r>
            <a:endParaRPr lang="en-US" sz="1200" b="0" u="none" strike="noStrike">
              <a:solidFill>
                <a:srgbClr val="000000"/>
              </a:solidFill>
              <a:effectLst/>
              <a:uFillTx/>
              <a:latin typeface="Arial"/>
            </a:endParaRPr>
          </a:p>
        </p:txBody>
      </p:sp>
      <p:sp>
        <p:nvSpPr>
          <p:cNvPr id="346"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Skill score και περίοδος προβλέψεων</a:t>
            </a:r>
            <a:endParaRPr lang="en-US" sz="3000" b="0" u="none" strike="noStrike">
              <a:solidFill>
                <a:srgbClr val="000000"/>
              </a:solidFill>
              <a:effectLst/>
              <a:uFillTx/>
              <a:latin typeface="Arial"/>
            </a:endParaRPr>
          </a:p>
        </p:txBody>
      </p:sp>
      <p:sp>
        <p:nvSpPr>
          <p:cNvPr id="347"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21</a:t>
            </a:r>
            <a:endParaRPr lang="en-US" sz="900" b="0" u="none" strike="noStrike">
              <a:solidFill>
                <a:srgbClr val="000000"/>
              </a:solidFill>
              <a:effectLst/>
              <a:uFillTx/>
              <a:latin typeface="Arial"/>
            </a:endParaRPr>
          </a:p>
        </p:txBody>
      </p:sp>
      <p:pic>
        <p:nvPicPr>
          <p:cNvPr id="348" name="Picture 5" descr="revenue-forecast.png"/>
          <p:cNvPicPr/>
          <p:nvPr/>
        </p:nvPicPr>
        <p:blipFill>
          <a:blip r:embed="rId1"/>
          <a:stretch/>
        </p:blipFill>
        <p:spPr>
          <a:xfrm>
            <a:off x="548640" y="2160720"/>
            <a:ext cx="5348520" cy="1944360"/>
          </a:xfrm>
          <a:prstGeom prst="rect">
            <a:avLst/>
          </a:prstGeom>
          <a:noFill/>
          <a:ln w="0">
            <a:noFill/>
          </a:ln>
        </p:spPr>
      </p:pic>
      <p:sp>
        <p:nvSpPr>
          <p:cNvPr id="349" name="Rectangle 6"/>
          <p:cNvSpPr/>
          <p:nvPr/>
        </p:nvSpPr>
        <p:spPr>
          <a:xfrm>
            <a:off x="548640" y="2160720"/>
            <a:ext cx="5348520" cy="194436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50" name="TextBox 7"/>
          <p:cNvSpPr/>
          <p:nvPr/>
        </p:nvSpPr>
        <p:spPr>
          <a:xfrm>
            <a:off x="548640" y="419760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Καθαρές </a:t>
            </a:r>
            <a:r>
              <a:rPr lang="en-US" sz="1100" b="0" u="none" strike="noStrike">
                <a:solidFill>
                  <a:srgbClr val="6B6259"/>
                </a:solidFill>
                <a:effectLst/>
                <a:uFillTx/>
                <a:latin typeface="Calibri"/>
                <a:ea typeface="DejaVu Sans"/>
              </a:rPr>
              <a:t>πωλήσεις ανά </a:t>
            </a:r>
            <a:r>
              <a:rPr lang="en-US" sz="1100" b="0" u="none" strike="noStrike">
                <a:solidFill>
                  <a:srgbClr val="6B6259"/>
                </a:solidFill>
                <a:effectLst/>
                <a:uFillTx/>
                <a:latin typeface="Calibri"/>
                <a:ea typeface="DejaVu Sans"/>
              </a:rPr>
              <a:t>μήνα και </a:t>
            </a:r>
            <a:r>
              <a:rPr lang="en-US" sz="1100" b="0" u="none" strike="noStrike">
                <a:solidFill>
                  <a:srgbClr val="6B6259"/>
                </a:solidFill>
                <a:effectLst/>
                <a:uFillTx/>
                <a:latin typeface="Calibri"/>
                <a:ea typeface="DejaVu Sans"/>
              </a:rPr>
              <a:t>πρόβλεψη </a:t>
            </a:r>
            <a:r>
              <a:rPr lang="en-US" sz="1100" b="0" u="none" strike="noStrike">
                <a:solidFill>
                  <a:srgbClr val="6B6259"/>
                </a:solidFill>
                <a:effectLst/>
                <a:uFillTx/>
                <a:latin typeface="Calibri"/>
                <a:ea typeface="DejaVu Sans"/>
              </a:rPr>
              <a:t>τριμήνου</a:t>
            </a:r>
            <a:endParaRPr lang="en-US" sz="1100" b="0" u="none" strike="noStrike">
              <a:solidFill>
                <a:srgbClr val="000000"/>
              </a:solidFill>
              <a:effectLst/>
              <a:uFillTx/>
              <a:latin typeface="Arial"/>
            </a:endParaRPr>
          </a:p>
        </p:txBody>
      </p:sp>
      <p:sp>
        <p:nvSpPr>
          <p:cNvPr id="351" name="Rectangle 8"/>
          <p:cNvSpPr/>
          <p:nvPr/>
        </p:nvSpPr>
        <p:spPr>
          <a:xfrm>
            <a:off x="548640" y="4514400"/>
            <a:ext cx="5348520" cy="34668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52" name="TextBox 9"/>
          <p:cNvSpPr/>
          <p:nvPr/>
        </p:nvSpPr>
        <p:spPr>
          <a:xfrm>
            <a:off x="640080" y="4596480"/>
            <a:ext cx="21700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Μέθοδος</a:t>
            </a:r>
            <a:endParaRPr lang="en-US" sz="1200" b="0" u="none" strike="noStrike">
              <a:solidFill>
                <a:srgbClr val="000000"/>
              </a:solidFill>
              <a:effectLst/>
              <a:uFillTx/>
              <a:latin typeface="Arial"/>
            </a:endParaRPr>
          </a:p>
        </p:txBody>
      </p:sp>
      <p:sp>
        <p:nvSpPr>
          <p:cNvPr id="353" name="TextBox 10"/>
          <p:cNvSpPr/>
          <p:nvPr/>
        </p:nvSpPr>
        <p:spPr>
          <a:xfrm>
            <a:off x="2993760" y="4596480"/>
            <a:ext cx="12070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MAPE %</a:t>
            </a:r>
            <a:endParaRPr lang="en-US" sz="1200" b="0" u="none" strike="noStrike">
              <a:solidFill>
                <a:srgbClr val="000000"/>
              </a:solidFill>
              <a:effectLst/>
              <a:uFillTx/>
              <a:latin typeface="Arial"/>
            </a:endParaRPr>
          </a:p>
        </p:txBody>
      </p:sp>
      <p:sp>
        <p:nvSpPr>
          <p:cNvPr id="354" name="TextBox 11"/>
          <p:cNvSpPr/>
          <p:nvPr/>
        </p:nvSpPr>
        <p:spPr>
          <a:xfrm>
            <a:off x="4384440" y="4596480"/>
            <a:ext cx="14212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Skill score</a:t>
            </a:r>
            <a:endParaRPr lang="en-US" sz="1200" b="0" u="none" strike="noStrike">
              <a:solidFill>
                <a:srgbClr val="000000"/>
              </a:solidFill>
              <a:effectLst/>
              <a:uFillTx/>
              <a:latin typeface="Arial"/>
            </a:endParaRPr>
          </a:p>
        </p:txBody>
      </p:sp>
      <p:sp>
        <p:nvSpPr>
          <p:cNvPr id="355" name="TextBox 12"/>
          <p:cNvSpPr/>
          <p:nvPr/>
        </p:nvSpPr>
        <p:spPr>
          <a:xfrm>
            <a:off x="640080" y="4953240"/>
            <a:ext cx="21700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Απλοϊκή εκτίμηση</a:t>
            </a:r>
            <a:endParaRPr lang="en-US" sz="1250" b="0" u="none" strike="noStrike">
              <a:solidFill>
                <a:srgbClr val="000000"/>
              </a:solidFill>
              <a:effectLst/>
              <a:uFillTx/>
              <a:latin typeface="Arial"/>
            </a:endParaRPr>
          </a:p>
        </p:txBody>
      </p:sp>
      <p:sp>
        <p:nvSpPr>
          <p:cNvPr id="356" name="TextBox 13"/>
          <p:cNvSpPr/>
          <p:nvPr/>
        </p:nvSpPr>
        <p:spPr>
          <a:xfrm>
            <a:off x="2993760" y="4953240"/>
            <a:ext cx="12070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38,48</a:t>
            </a:r>
            <a:endParaRPr lang="en-US" sz="1250" b="0" u="none" strike="noStrike">
              <a:solidFill>
                <a:srgbClr val="000000"/>
              </a:solidFill>
              <a:effectLst/>
              <a:uFillTx/>
              <a:latin typeface="Arial"/>
            </a:endParaRPr>
          </a:p>
        </p:txBody>
      </p:sp>
      <p:sp>
        <p:nvSpPr>
          <p:cNvPr id="357" name="TextBox 14"/>
          <p:cNvSpPr/>
          <p:nvPr/>
        </p:nvSpPr>
        <p:spPr>
          <a:xfrm>
            <a:off x="4384440" y="4953240"/>
            <a:ext cx="14212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0,0000</a:t>
            </a:r>
            <a:endParaRPr lang="en-US" sz="1250" b="0" u="none" strike="noStrike">
              <a:solidFill>
                <a:srgbClr val="000000"/>
              </a:solidFill>
              <a:effectLst/>
              <a:uFillTx/>
              <a:latin typeface="Arial"/>
            </a:endParaRPr>
          </a:p>
        </p:txBody>
      </p:sp>
      <p:sp>
        <p:nvSpPr>
          <p:cNvPr id="358" name="TextBox 16"/>
          <p:cNvSpPr/>
          <p:nvPr/>
        </p:nvSpPr>
        <p:spPr>
          <a:xfrm>
            <a:off x="640080" y="5319000"/>
            <a:ext cx="21700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Holt-Winters</a:t>
            </a:r>
            <a:endParaRPr lang="en-US" sz="1250" b="0" u="none" strike="noStrike">
              <a:solidFill>
                <a:srgbClr val="000000"/>
              </a:solidFill>
              <a:effectLst/>
              <a:uFillTx/>
              <a:latin typeface="Arial"/>
            </a:endParaRPr>
          </a:p>
        </p:txBody>
      </p:sp>
      <p:sp>
        <p:nvSpPr>
          <p:cNvPr id="359" name="TextBox 17"/>
          <p:cNvSpPr/>
          <p:nvPr/>
        </p:nvSpPr>
        <p:spPr>
          <a:xfrm>
            <a:off x="2993760" y="5319000"/>
            <a:ext cx="12070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32,74</a:t>
            </a:r>
            <a:endParaRPr lang="en-US" sz="1250" b="0" u="none" strike="noStrike">
              <a:solidFill>
                <a:srgbClr val="000000"/>
              </a:solidFill>
              <a:effectLst/>
              <a:uFillTx/>
              <a:latin typeface="Arial"/>
            </a:endParaRPr>
          </a:p>
        </p:txBody>
      </p:sp>
      <p:sp>
        <p:nvSpPr>
          <p:cNvPr id="360" name="TextBox 18"/>
          <p:cNvSpPr/>
          <p:nvPr/>
        </p:nvSpPr>
        <p:spPr>
          <a:xfrm>
            <a:off x="4384440" y="5319000"/>
            <a:ext cx="14212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+0,1421</a:t>
            </a:r>
            <a:endParaRPr lang="en-US" sz="1250" b="0" u="none" strike="noStrike">
              <a:solidFill>
                <a:srgbClr val="000000"/>
              </a:solidFill>
              <a:effectLst/>
              <a:uFillTx/>
              <a:latin typeface="Arial"/>
            </a:endParaRPr>
          </a:p>
        </p:txBody>
      </p:sp>
      <p:sp>
        <p:nvSpPr>
          <p:cNvPr id="361" name="TextBox 19"/>
          <p:cNvSpPr/>
          <p:nvPr/>
        </p:nvSpPr>
        <p:spPr>
          <a:xfrm>
            <a:off x="6291000" y="2743200"/>
            <a:ext cx="5348520" cy="245952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Η πρώτη εκτέλεση έβγαλε skill score -0,21. Δηλαδή η πρόβλεψη </a:t>
            </a:r>
            <a:r>
              <a:rPr lang="en-US" sz="1500" b="0" u="none" strike="noStrike">
                <a:solidFill>
                  <a:srgbClr val="241F1B"/>
                </a:solidFill>
                <a:effectLst/>
                <a:uFillTx/>
                <a:latin typeface="Calibri"/>
                <a:ea typeface="DejaVu Sans"/>
              </a:rPr>
              <a:t>έχανε από την πιο απλοϊκή εκτίμηση, τύπου το “ίδιο με τον </a:t>
            </a:r>
            <a:r>
              <a:rPr lang="en-US" sz="1500" b="0" u="none" strike="noStrike">
                <a:solidFill>
                  <a:srgbClr val="241F1B"/>
                </a:solidFill>
                <a:effectLst/>
                <a:uFillTx/>
                <a:latin typeface="Calibri"/>
                <a:ea typeface="DejaVu Sans"/>
              </a:rPr>
              <a:t>προηγούμενο μήνα”.</a:t>
            </a:r>
            <a:endParaRPr lang="en-US" sz="150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Ο λόγος ήταν πως τα δεδομένα σταματούν στις 9 Δεκεμβρίου 2011, </a:t>
            </a:r>
            <a:r>
              <a:rPr lang="en-US" sz="1500" b="0" u="none" strike="noStrike">
                <a:solidFill>
                  <a:srgbClr val="241F1B"/>
                </a:solidFill>
                <a:effectLst/>
                <a:uFillTx/>
                <a:latin typeface="Calibri"/>
                <a:ea typeface="DejaVu Sans"/>
              </a:rPr>
              <a:t>οπότε ο τελευταίος μήνας έχει 9 ημέρες.</a:t>
            </a:r>
            <a:endParaRPr lang="en-US" sz="150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1" u="none" strike="noStrike">
                <a:solidFill>
                  <a:srgbClr val="241F1B"/>
                </a:solidFill>
                <a:effectLst/>
                <a:uFillTx/>
                <a:latin typeface="Calibri"/>
                <a:ea typeface="DejaVu Sans"/>
              </a:rPr>
              <a:t>Βγάζοντάς τον έξω, το skill score γίνεται  +0,1421. Ίδιο μοντέλο, </a:t>
            </a:r>
            <a:r>
              <a:rPr lang="en-US" sz="1500" b="1" u="none" strike="noStrike">
                <a:solidFill>
                  <a:srgbClr val="241F1B"/>
                </a:solidFill>
                <a:effectLst/>
                <a:uFillTx/>
                <a:latin typeface="Calibri"/>
                <a:ea typeface="DejaVu Sans"/>
              </a:rPr>
              <a:t>ίδια δεδομένα, αντίθετο συμπέρασμα.</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2"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ΟΙΚΟΝΟΜΙΚΟ</a:t>
            </a:r>
            <a:r>
              <a:rPr lang="en-US" sz="1200" b="1" u="none" strike="noStrike">
                <a:solidFill>
                  <a:srgbClr val="E8A33D"/>
                </a:solidFill>
                <a:effectLst/>
                <a:uFillTx/>
                <a:latin typeface="Calibri"/>
                <a:ea typeface="DejaVu Sans"/>
              </a:rPr>
              <a:t>Ι ΔΕΙΚΤΕΣ</a:t>
            </a:r>
            <a:endParaRPr lang="en-US" sz="1200" b="0" u="none" strike="noStrike">
              <a:solidFill>
                <a:srgbClr val="000000"/>
              </a:solidFill>
              <a:effectLst/>
              <a:uFillTx/>
              <a:latin typeface="Arial"/>
            </a:endParaRPr>
          </a:p>
        </p:txBody>
      </p:sp>
      <p:sp>
        <p:nvSpPr>
          <p:cNvPr id="363"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Πού πάνε τα </a:t>
            </a:r>
            <a:r>
              <a:rPr lang="en-US" sz="3000" b="1" u="none" strike="noStrike">
                <a:solidFill>
                  <a:srgbClr val="2C5530"/>
                </a:solidFill>
                <a:effectLst/>
                <a:uFillTx/>
                <a:latin typeface="Cambria"/>
                <a:ea typeface="DejaVu Sans"/>
              </a:rPr>
              <a:t>έσοδα κάθε </a:t>
            </a:r>
            <a:r>
              <a:rPr lang="en-US" sz="3000" b="1" u="none" strike="noStrike">
                <a:solidFill>
                  <a:srgbClr val="2C5530"/>
                </a:solidFill>
                <a:effectLst/>
                <a:uFillTx/>
                <a:latin typeface="Cambria"/>
                <a:ea typeface="DejaVu Sans"/>
              </a:rPr>
              <a:t>μήνα</a:t>
            </a:r>
            <a:endParaRPr lang="en-US" sz="3000" b="0" u="none" strike="noStrike">
              <a:solidFill>
                <a:srgbClr val="000000"/>
              </a:solidFill>
              <a:effectLst/>
              <a:uFillTx/>
              <a:latin typeface="Arial"/>
            </a:endParaRPr>
          </a:p>
        </p:txBody>
      </p:sp>
      <p:sp>
        <p:nvSpPr>
          <p:cNvPr id="364"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22</a:t>
            </a:r>
            <a:endParaRPr lang="en-US" sz="900" b="0" u="none" strike="noStrike">
              <a:solidFill>
                <a:srgbClr val="000000"/>
              </a:solidFill>
              <a:effectLst/>
              <a:uFillTx/>
              <a:latin typeface="Arial"/>
            </a:endParaRPr>
          </a:p>
        </p:txBody>
      </p:sp>
      <p:pic>
        <p:nvPicPr>
          <p:cNvPr id="365" name="Picture 6" descr="growth-accounting.png"/>
          <p:cNvPicPr/>
          <p:nvPr/>
        </p:nvPicPr>
        <p:blipFill>
          <a:blip r:embed="rId1"/>
          <a:stretch/>
        </p:blipFill>
        <p:spPr>
          <a:xfrm>
            <a:off x="548640" y="1839600"/>
            <a:ext cx="5348520" cy="2228040"/>
          </a:xfrm>
          <a:prstGeom prst="rect">
            <a:avLst/>
          </a:prstGeom>
          <a:noFill/>
          <a:ln w="0">
            <a:noFill/>
          </a:ln>
        </p:spPr>
      </p:pic>
      <p:sp>
        <p:nvSpPr>
          <p:cNvPr id="366" name="Rectangle 7"/>
          <p:cNvSpPr/>
          <p:nvPr/>
        </p:nvSpPr>
        <p:spPr>
          <a:xfrm>
            <a:off x="548640" y="1839600"/>
            <a:ext cx="5348520" cy="222804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67" name="TextBox 8"/>
          <p:cNvSpPr/>
          <p:nvPr/>
        </p:nvSpPr>
        <p:spPr>
          <a:xfrm>
            <a:off x="548640" y="416088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Η μεταβολή εσόδων σπασμένη σε έξι ροές</a:t>
            </a:r>
            <a:endParaRPr lang="en-US" sz="1100" b="0" u="none" strike="noStrike">
              <a:solidFill>
                <a:srgbClr val="000000"/>
              </a:solidFill>
              <a:effectLst/>
              <a:uFillTx/>
              <a:latin typeface="Arial"/>
            </a:endParaRPr>
          </a:p>
        </p:txBody>
      </p:sp>
      <p:pic>
        <p:nvPicPr>
          <p:cNvPr id="368" name="Picture 9" descr="quick-ratio.png"/>
          <p:cNvPicPr/>
          <p:nvPr/>
        </p:nvPicPr>
        <p:blipFill>
          <a:blip r:embed="rId2"/>
          <a:stretch/>
        </p:blipFill>
        <p:spPr>
          <a:xfrm>
            <a:off x="6291000" y="2102760"/>
            <a:ext cx="5348520" cy="1701360"/>
          </a:xfrm>
          <a:prstGeom prst="rect">
            <a:avLst/>
          </a:prstGeom>
          <a:noFill/>
          <a:ln w="0">
            <a:noFill/>
          </a:ln>
        </p:spPr>
      </p:pic>
      <p:sp>
        <p:nvSpPr>
          <p:cNvPr id="369" name="Rectangle 10"/>
          <p:cNvSpPr/>
          <p:nvPr/>
        </p:nvSpPr>
        <p:spPr>
          <a:xfrm>
            <a:off x="6291000" y="2102760"/>
            <a:ext cx="5348520" cy="170136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70" name="TextBox 11"/>
          <p:cNvSpPr/>
          <p:nvPr/>
        </p:nvSpPr>
        <p:spPr>
          <a:xfrm>
            <a:off x="6291000" y="416088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Quick ratio ανά μήνα. Κάτω από τη μονάδα, τα έσοδα συρρικνώνονται</a:t>
            </a:r>
            <a:endParaRPr lang="en-US" sz="1100" b="0" u="none" strike="noStrike">
              <a:solidFill>
                <a:srgbClr val="000000"/>
              </a:solidFill>
              <a:effectLst/>
              <a:uFillTx/>
              <a:latin typeface="Arial"/>
            </a:endParaRPr>
          </a:p>
        </p:txBody>
      </p:sp>
      <p:sp>
        <p:nvSpPr>
          <p:cNvPr id="371" name="Rounded Rectangle 12"/>
          <p:cNvSpPr/>
          <p:nvPr/>
        </p:nvSpPr>
        <p:spPr>
          <a:xfrm>
            <a:off x="548640" y="4532400"/>
            <a:ext cx="359892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72" name="TextBox 13"/>
          <p:cNvSpPr/>
          <p:nvPr/>
        </p:nvSpPr>
        <p:spPr>
          <a:xfrm>
            <a:off x="548640" y="4623840"/>
            <a:ext cx="359892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72,4%</a:t>
            </a:r>
            <a:endParaRPr lang="en-US" sz="2400" b="0" u="none" strike="noStrike">
              <a:solidFill>
                <a:srgbClr val="000000"/>
              </a:solidFill>
              <a:effectLst/>
              <a:uFillTx/>
              <a:latin typeface="Arial"/>
            </a:endParaRPr>
          </a:p>
        </p:txBody>
      </p:sp>
      <p:sp>
        <p:nvSpPr>
          <p:cNvPr id="373" name="TextBox 14"/>
          <p:cNvSpPr/>
          <p:nvPr/>
        </p:nvSpPr>
        <p:spPr>
          <a:xfrm>
            <a:off x="603360" y="5081040"/>
            <a:ext cx="348912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Πελάτες που </a:t>
            </a:r>
            <a:r>
              <a:rPr lang="en-US" sz="1100" b="0" u="none" strike="noStrike">
                <a:solidFill>
                  <a:srgbClr val="6B6259"/>
                </a:solidFill>
                <a:effectLst/>
                <a:uFillTx/>
                <a:latin typeface="Calibri"/>
                <a:ea typeface="DejaVu Sans"/>
              </a:rPr>
              <a:t>ξαναγόρασαν</a:t>
            </a:r>
            <a:endParaRPr lang="en-US" sz="1100" b="0" u="none" strike="noStrike">
              <a:solidFill>
                <a:srgbClr val="000000"/>
              </a:solidFill>
              <a:effectLst/>
              <a:uFillTx/>
              <a:latin typeface="Arial"/>
            </a:endParaRPr>
          </a:p>
        </p:txBody>
      </p:sp>
      <p:sp>
        <p:nvSpPr>
          <p:cNvPr id="374" name="Rounded Rectangle 15"/>
          <p:cNvSpPr/>
          <p:nvPr/>
        </p:nvSpPr>
        <p:spPr>
          <a:xfrm>
            <a:off x="4294800" y="4532400"/>
            <a:ext cx="359892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75" name="TextBox 16"/>
          <p:cNvSpPr/>
          <p:nvPr/>
        </p:nvSpPr>
        <p:spPr>
          <a:xfrm>
            <a:off x="4294800" y="4623840"/>
            <a:ext cx="359892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0,740</a:t>
            </a:r>
            <a:endParaRPr lang="en-US" sz="2400" b="0" u="none" strike="noStrike">
              <a:solidFill>
                <a:srgbClr val="000000"/>
              </a:solidFill>
              <a:effectLst/>
              <a:uFillTx/>
              <a:latin typeface="Arial"/>
            </a:endParaRPr>
          </a:p>
        </p:txBody>
      </p:sp>
      <p:sp>
        <p:nvSpPr>
          <p:cNvPr id="376" name="TextBox 17"/>
          <p:cNvSpPr/>
          <p:nvPr/>
        </p:nvSpPr>
        <p:spPr>
          <a:xfrm>
            <a:off x="4349520" y="5081040"/>
            <a:ext cx="348912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Συντελεστής Gini</a:t>
            </a:r>
            <a:endParaRPr lang="en-US" sz="1100" b="0" u="none" strike="noStrike">
              <a:solidFill>
                <a:srgbClr val="000000"/>
              </a:solidFill>
              <a:effectLst/>
              <a:uFillTx/>
              <a:latin typeface="Arial"/>
            </a:endParaRPr>
          </a:p>
        </p:txBody>
      </p:sp>
      <p:sp>
        <p:nvSpPr>
          <p:cNvPr id="377" name="Rounded Rectangle 18"/>
          <p:cNvSpPr/>
          <p:nvPr/>
        </p:nvSpPr>
        <p:spPr>
          <a:xfrm>
            <a:off x="8040600" y="4532400"/>
            <a:ext cx="359892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78" name="TextBox 19"/>
          <p:cNvSpPr/>
          <p:nvPr/>
        </p:nvSpPr>
        <p:spPr>
          <a:xfrm>
            <a:off x="8040600" y="4623840"/>
            <a:ext cx="359892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3,3%</a:t>
            </a:r>
            <a:endParaRPr lang="en-US" sz="2400" b="0" u="none" strike="noStrike">
              <a:solidFill>
                <a:srgbClr val="000000"/>
              </a:solidFill>
              <a:effectLst/>
              <a:uFillTx/>
              <a:latin typeface="Arial"/>
            </a:endParaRPr>
          </a:p>
        </p:txBody>
      </p:sp>
      <p:sp>
        <p:nvSpPr>
          <p:cNvPr id="379" name="TextBox 20"/>
          <p:cNvSpPr/>
          <p:nvPr/>
        </p:nvSpPr>
        <p:spPr>
          <a:xfrm>
            <a:off x="8095320" y="5081040"/>
            <a:ext cx="348912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Ο μεγαλύτερος πελάτης</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0"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ΟΙΚΟΝΟ</a:t>
            </a:r>
            <a:r>
              <a:rPr lang="en-US" sz="1200" b="1" u="none" strike="noStrike">
                <a:solidFill>
                  <a:srgbClr val="E8A33D"/>
                </a:solidFill>
                <a:effectLst/>
                <a:uFillTx/>
                <a:latin typeface="Calibri"/>
                <a:ea typeface="DejaVu Sans"/>
              </a:rPr>
              <a:t>ΜΙΚΟΙ </a:t>
            </a:r>
            <a:r>
              <a:rPr lang="en-US" sz="1200" b="1" u="none" strike="noStrike">
                <a:solidFill>
                  <a:srgbClr val="E8A33D"/>
                </a:solidFill>
                <a:effectLst/>
                <a:uFillTx/>
                <a:latin typeface="Calibri"/>
                <a:ea typeface="DejaVu Sans"/>
              </a:rPr>
              <a:t>ΔΕΙΚΤΕΣ</a:t>
            </a:r>
            <a:endParaRPr lang="en-US" sz="1200" b="0" u="none" strike="noStrike">
              <a:solidFill>
                <a:srgbClr val="000000"/>
              </a:solidFill>
              <a:effectLst/>
              <a:uFillTx/>
              <a:latin typeface="Arial"/>
            </a:endParaRPr>
          </a:p>
        </p:txBody>
      </p:sp>
      <p:sp>
        <p:nvSpPr>
          <p:cNvPr id="381"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Κερδοφορία</a:t>
            </a:r>
            <a:endParaRPr lang="en-US" sz="3000" b="0" u="none" strike="noStrike">
              <a:solidFill>
                <a:srgbClr val="000000"/>
              </a:solidFill>
              <a:effectLst/>
              <a:uFillTx/>
              <a:latin typeface="Arial"/>
            </a:endParaRPr>
          </a:p>
        </p:txBody>
      </p:sp>
      <p:sp>
        <p:nvSpPr>
          <p:cNvPr id="382"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23</a:t>
            </a:r>
            <a:endParaRPr lang="en-US" sz="900" b="0" u="none" strike="noStrike">
              <a:solidFill>
                <a:srgbClr val="000000"/>
              </a:solidFill>
              <a:effectLst/>
              <a:uFillTx/>
              <a:latin typeface="Arial"/>
            </a:endParaRPr>
          </a:p>
        </p:txBody>
      </p:sp>
      <p:pic>
        <p:nvPicPr>
          <p:cNvPr id="383" name="Picture 5" descr="profitability-sensitivity.png"/>
          <p:cNvPicPr/>
          <p:nvPr/>
        </p:nvPicPr>
        <p:blipFill>
          <a:blip r:embed="rId1"/>
          <a:stretch/>
        </p:blipFill>
        <p:spPr>
          <a:xfrm>
            <a:off x="1023120" y="2258640"/>
            <a:ext cx="4399920" cy="2513880"/>
          </a:xfrm>
          <a:prstGeom prst="rect">
            <a:avLst/>
          </a:prstGeom>
          <a:noFill/>
          <a:ln w="0">
            <a:noFill/>
          </a:ln>
        </p:spPr>
      </p:pic>
      <p:sp>
        <p:nvSpPr>
          <p:cNvPr id="384" name="Rectangle 6"/>
          <p:cNvSpPr/>
          <p:nvPr/>
        </p:nvSpPr>
        <p:spPr>
          <a:xfrm>
            <a:off x="1023120" y="2258640"/>
            <a:ext cx="4399920" cy="251388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85" name="TextBox 7"/>
          <p:cNvSpPr/>
          <p:nvPr/>
        </p:nvSpPr>
        <p:spPr>
          <a:xfrm>
            <a:off x="548640" y="4864680"/>
            <a:ext cx="5348520" cy="2044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100" b="0" u="none" strike="noStrike">
                <a:solidFill>
                  <a:srgbClr val="6B6259"/>
                </a:solidFill>
                <a:effectLst/>
                <a:uFillTx/>
                <a:latin typeface="Calibri"/>
                <a:ea typeface="DejaVu Sans"/>
              </a:rPr>
              <a:t>LTV προς CAC για κάθε συνδυασμό </a:t>
            </a:r>
            <a:r>
              <a:rPr lang="en-US" sz="1100" b="0" u="none" strike="noStrike">
                <a:solidFill>
                  <a:srgbClr val="6B6259"/>
                </a:solidFill>
                <a:effectLst/>
                <a:uFillTx/>
                <a:latin typeface="Calibri"/>
                <a:ea typeface="DejaVu Sans"/>
              </a:rPr>
              <a:t>παραδοχών</a:t>
            </a:r>
            <a:endParaRPr lang="en-US" sz="1100" b="0" u="none" strike="noStrike">
              <a:solidFill>
                <a:srgbClr val="000000"/>
              </a:solidFill>
              <a:effectLst/>
              <a:uFillTx/>
              <a:latin typeface="Arial"/>
            </a:endParaRPr>
          </a:p>
        </p:txBody>
      </p:sp>
      <p:sp>
        <p:nvSpPr>
          <p:cNvPr id="386" name="TextBox 8"/>
          <p:cNvSpPr/>
          <p:nvPr/>
        </p:nvSpPr>
        <p:spPr>
          <a:xfrm>
            <a:off x="6291000" y="2514600"/>
            <a:ext cx="5348520" cy="197244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Από τα δεκαέξι κελιά του </a:t>
            </a:r>
            <a:r>
              <a:rPr lang="en-US" sz="1500" b="0" u="none" strike="noStrike">
                <a:solidFill>
                  <a:srgbClr val="241F1B"/>
                </a:solidFill>
                <a:effectLst/>
                <a:uFillTx/>
                <a:latin typeface="Calibri"/>
                <a:ea typeface="DejaVu Sans"/>
              </a:rPr>
              <a:t>πλέγματος, τα 8 περνάνε το όριο </a:t>
            </a:r>
            <a:r>
              <a:rPr lang="en-US" sz="1500" b="0" u="none" strike="noStrike">
                <a:solidFill>
                  <a:srgbClr val="241F1B"/>
                </a:solidFill>
                <a:effectLst/>
                <a:uFillTx/>
                <a:latin typeface="Calibri"/>
                <a:ea typeface="DejaVu Sans"/>
              </a:rPr>
              <a:t>3:1 και τα 8 όχι. Ίδια δεδομένα, </a:t>
            </a:r>
            <a:r>
              <a:rPr lang="en-US" sz="1500" b="0" u="none" strike="noStrike">
                <a:solidFill>
                  <a:srgbClr val="241F1B"/>
                </a:solidFill>
                <a:effectLst/>
                <a:uFillTx/>
                <a:latin typeface="Calibri"/>
                <a:ea typeface="DejaVu Sans"/>
              </a:rPr>
              <a:t>αντίθετα συμπεράσματα, μόνο </a:t>
            </a:r>
            <a:r>
              <a:rPr lang="en-US" sz="1500" b="0" u="none" strike="noStrike">
                <a:solidFill>
                  <a:srgbClr val="241F1B"/>
                </a:solidFill>
                <a:effectLst/>
                <a:uFillTx/>
                <a:latin typeface="Calibri"/>
                <a:ea typeface="DejaVu Sans"/>
              </a:rPr>
              <a:t>και μόνο επειδή αλλάζει η </a:t>
            </a:r>
            <a:r>
              <a:rPr lang="en-US" sz="1500" b="0" u="none" strike="noStrike">
                <a:solidFill>
                  <a:srgbClr val="241F1B"/>
                </a:solidFill>
                <a:effectLst/>
                <a:uFillTx/>
                <a:latin typeface="Calibri"/>
                <a:ea typeface="DejaVu Sans"/>
              </a:rPr>
              <a:t>υπόθεση για το περιθώριο </a:t>
            </a:r>
            <a:r>
              <a:rPr lang="en-US" sz="1500" b="0" u="none" strike="noStrike">
                <a:solidFill>
                  <a:srgbClr val="241F1B"/>
                </a:solidFill>
                <a:effectLst/>
                <a:uFillTx/>
                <a:latin typeface="Calibri"/>
                <a:ea typeface="DejaVu Sans"/>
              </a:rPr>
              <a:t>κέρδους.</a:t>
            </a:r>
            <a:endParaRPr lang="en-US" sz="150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1" u="none" strike="noStrike">
                <a:solidFill>
                  <a:srgbClr val="241F1B"/>
                </a:solidFill>
                <a:effectLst/>
                <a:uFillTx/>
                <a:latin typeface="Calibri"/>
                <a:ea typeface="DejaVu Sans"/>
              </a:rPr>
              <a:t>Αυτή η εξάρτηση είναι το </a:t>
            </a:r>
            <a:r>
              <a:rPr lang="en-US" sz="1500" b="1" u="none" strike="noStrike">
                <a:solidFill>
                  <a:srgbClr val="241F1B"/>
                </a:solidFill>
                <a:effectLst/>
                <a:uFillTx/>
                <a:latin typeface="Calibri"/>
                <a:ea typeface="DejaVu Sans"/>
              </a:rPr>
              <a:t>εύρημα. Δεν διαλέγουμε ένα </a:t>
            </a:r>
            <a:r>
              <a:rPr lang="en-US" sz="1500" b="1" u="none" strike="noStrike">
                <a:solidFill>
                  <a:srgbClr val="241F1B"/>
                </a:solidFill>
                <a:effectLst/>
                <a:uFillTx/>
                <a:latin typeface="Calibri"/>
                <a:ea typeface="DejaVu Sans"/>
              </a:rPr>
              <a:t>“λογικό” περιθώριο για να </a:t>
            </a:r>
            <a:r>
              <a:rPr lang="en-US" sz="1500" b="1" u="none" strike="noStrike">
                <a:solidFill>
                  <a:srgbClr val="241F1B"/>
                </a:solidFill>
                <a:effectLst/>
                <a:uFillTx/>
                <a:latin typeface="Calibri"/>
                <a:ea typeface="DejaVu Sans"/>
              </a:rPr>
              <a:t>δώσουμε μία καθαρή </a:t>
            </a:r>
            <a:r>
              <a:rPr lang="en-US" sz="1500" b="1" u="none" strike="noStrike">
                <a:solidFill>
                  <a:srgbClr val="241F1B"/>
                </a:solidFill>
                <a:effectLst/>
                <a:uFillTx/>
                <a:latin typeface="Calibri"/>
                <a:ea typeface="DejaVu Sans"/>
              </a:rPr>
              <a:t>απάντηση, γιατί θα ήταν </a:t>
            </a:r>
            <a:r>
              <a:rPr lang="en-US" sz="1500" b="1" u="none" strike="noStrike">
                <a:solidFill>
                  <a:srgbClr val="241F1B"/>
                </a:solidFill>
                <a:effectLst/>
                <a:uFillTx/>
                <a:latin typeface="Calibri"/>
                <a:ea typeface="DejaVu Sans"/>
              </a:rPr>
              <a:t>υπόθεση ντυμένη σαν μέτρηση.</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7" name="Rectangle 1"/>
          <p:cNvSpPr/>
          <p:nvPr/>
        </p:nvSpPr>
        <p:spPr>
          <a:xfrm>
            <a:off x="0" y="0"/>
            <a:ext cx="12191040" cy="6857280"/>
          </a:xfrm>
          <a:prstGeom prst="rect">
            <a:avLst/>
          </a:prstGeom>
          <a:solidFill>
            <a:schemeClr val="accent1"/>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88" name="TextBox 2"/>
          <p:cNvSpPr/>
          <p:nvPr/>
        </p:nvSpPr>
        <p:spPr>
          <a:xfrm>
            <a:off x="548640" y="1600200"/>
            <a:ext cx="11090880" cy="17848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9600" b="1" u="none" strike="noStrike">
                <a:solidFill>
                  <a:srgbClr val="3E6E43"/>
                </a:solidFill>
                <a:effectLst/>
                <a:uFillTx/>
                <a:latin typeface="Cambria"/>
                <a:ea typeface="DejaVu Sans"/>
              </a:rPr>
              <a:t>0</a:t>
            </a:r>
            <a:r>
              <a:rPr lang="en-US" sz="9600" b="1" u="none" strike="noStrike">
                <a:solidFill>
                  <a:srgbClr val="3E6E43"/>
                </a:solidFill>
                <a:effectLst/>
                <a:uFillTx/>
                <a:latin typeface="Cambria"/>
                <a:ea typeface="DejaVu Sans"/>
              </a:rPr>
              <a:t>4</a:t>
            </a:r>
            <a:endParaRPr lang="en-US" sz="9600" b="0" u="none" strike="noStrike">
              <a:solidFill>
                <a:srgbClr val="000000"/>
              </a:solidFill>
              <a:effectLst/>
              <a:uFillTx/>
              <a:latin typeface="Arial"/>
            </a:endParaRPr>
          </a:p>
        </p:txBody>
      </p:sp>
      <p:sp>
        <p:nvSpPr>
          <p:cNvPr id="389" name="TextBox 3"/>
          <p:cNvSpPr/>
          <p:nvPr/>
        </p:nvSpPr>
        <p:spPr>
          <a:xfrm>
            <a:off x="548640" y="3474720"/>
            <a:ext cx="11090880" cy="241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00" b="1" u="none" strike="noStrike">
                <a:solidFill>
                  <a:srgbClr val="E8A33D"/>
                </a:solidFill>
                <a:effectLst/>
                <a:uFillTx/>
                <a:latin typeface="Calibri"/>
                <a:ea typeface="DejaVu Sans"/>
              </a:rPr>
              <a:t>ΕΝΟΤΗΤΑ</a:t>
            </a:r>
            <a:endParaRPr lang="en-US" sz="1300" b="0" u="none" strike="noStrike">
              <a:solidFill>
                <a:srgbClr val="000000"/>
              </a:solidFill>
              <a:effectLst/>
              <a:uFillTx/>
              <a:latin typeface="Arial"/>
            </a:endParaRPr>
          </a:p>
        </p:txBody>
      </p:sp>
      <p:sp>
        <p:nvSpPr>
          <p:cNvPr id="390" name="TextBox 4"/>
          <p:cNvSpPr/>
          <p:nvPr/>
        </p:nvSpPr>
        <p:spPr>
          <a:xfrm>
            <a:off x="548640" y="3803760"/>
            <a:ext cx="11090880" cy="817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Συμπ</a:t>
            </a:r>
            <a:r>
              <a:rPr lang="en-US" sz="4400" b="1" u="none" strike="noStrike">
                <a:solidFill>
                  <a:srgbClr val="FFFFFF"/>
                </a:solidFill>
                <a:effectLst/>
                <a:uFillTx/>
                <a:latin typeface="Cambria"/>
                <a:ea typeface="DejaVu Sans"/>
              </a:rPr>
              <a:t>εράσ</a:t>
            </a:r>
            <a:r>
              <a:rPr lang="en-US" sz="4400" b="1" u="none" strike="noStrike">
                <a:solidFill>
                  <a:srgbClr val="FFFFFF"/>
                </a:solidFill>
                <a:effectLst/>
                <a:uFillTx/>
                <a:latin typeface="Cambria"/>
                <a:ea typeface="DejaVu Sans"/>
              </a:rPr>
              <a:t>ματα</a:t>
            </a:r>
            <a:endParaRPr lang="en-US" sz="4400" b="0" u="none" strike="noStrike">
              <a:solidFill>
                <a:srgbClr val="000000"/>
              </a:solidFill>
              <a:effectLst/>
              <a:uFillTx/>
              <a:latin typeface="Arial"/>
            </a:endParaRPr>
          </a:p>
        </p:txBody>
      </p:sp>
      <p:sp>
        <p:nvSpPr>
          <p:cNvPr id="391" name="TextBox 5"/>
          <p:cNvSpPr/>
          <p:nvPr/>
        </p:nvSpPr>
        <p:spPr>
          <a:xfrm>
            <a:off x="548640" y="4645080"/>
            <a:ext cx="11090880" cy="278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500" b="0" u="none" strike="noStrike">
                <a:solidFill>
                  <a:srgbClr val="D7E5D2"/>
                </a:solidFill>
                <a:effectLst/>
                <a:uFillTx/>
                <a:latin typeface="Calibri"/>
                <a:ea typeface="DejaVu Sans"/>
              </a:rPr>
              <a:t>Τι κερδίζει η </a:t>
            </a:r>
            <a:r>
              <a:rPr lang="en-US" sz="1500" b="0" u="none" strike="noStrike">
                <a:solidFill>
                  <a:srgbClr val="D7E5D2"/>
                </a:solidFill>
                <a:effectLst/>
                <a:uFillTx/>
                <a:latin typeface="Calibri"/>
                <a:ea typeface="DejaVu Sans"/>
              </a:rPr>
              <a:t>επιχείρηση </a:t>
            </a:r>
            <a:r>
              <a:rPr lang="en-US" sz="1500" b="0" u="none" strike="noStrike">
                <a:solidFill>
                  <a:srgbClr val="D7E5D2"/>
                </a:solidFill>
                <a:effectLst/>
                <a:uFillTx/>
                <a:latin typeface="Calibri"/>
                <a:ea typeface="DejaVu Sans"/>
              </a:rPr>
              <a:t>και πού </a:t>
            </a:r>
            <a:r>
              <a:rPr lang="en-US" sz="1500" b="0" u="none" strike="noStrike">
                <a:solidFill>
                  <a:srgbClr val="D7E5D2"/>
                </a:solidFill>
                <a:effectLst/>
                <a:uFillTx/>
                <a:latin typeface="Calibri"/>
                <a:ea typeface="DejaVu Sans"/>
              </a:rPr>
              <a:t>σταματάμε</a:t>
            </a:r>
            <a:endParaRPr lang="en-US" sz="1500" b="0" u="none" strike="noStrike">
              <a:solidFill>
                <a:srgbClr val="000000"/>
              </a:solidFill>
              <a:effectLst/>
              <a:uFillTx/>
              <a:latin typeface="Arial"/>
            </a:endParaRPr>
          </a:p>
        </p:txBody>
      </p:sp>
      <p:sp>
        <p:nvSpPr>
          <p:cNvPr id="392" name="TextBox 6"/>
          <p:cNvSpPr/>
          <p:nvPr/>
        </p:nvSpPr>
        <p:spPr>
          <a:xfrm>
            <a:off x="548640" y="6473880"/>
            <a:ext cx="5485680" cy="1677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900" b="0" u="none" strike="noStrike">
                <a:solidFill>
                  <a:srgbClr val="D7E5D2"/>
                </a:solidFill>
                <a:effectLst/>
                <a:uFillTx/>
                <a:latin typeface="Calibri"/>
                <a:ea typeface="DejaVu Sans"/>
              </a:rPr>
              <a:t>ENSIGHTS · Διπλωματική εργασία</a:t>
            </a:r>
            <a:endParaRPr lang="en-US" sz="900" b="0" u="none" strike="noStrike">
              <a:solidFill>
                <a:srgbClr val="000000"/>
              </a:solidFill>
              <a:effectLst/>
              <a:uFillTx/>
              <a:latin typeface="Arial"/>
            </a:endParaRPr>
          </a:p>
        </p:txBody>
      </p:sp>
      <p:sp>
        <p:nvSpPr>
          <p:cNvPr id="393" name="TextBox 7"/>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24</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5"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ΣΥΜΠΕΡΑΣΜΑΤΑ</a:t>
            </a:r>
            <a:endParaRPr lang="en-US" sz="1200" b="0" u="none" strike="noStrike">
              <a:solidFill>
                <a:srgbClr val="000000"/>
              </a:solidFill>
              <a:effectLst/>
              <a:uFillTx/>
              <a:latin typeface="Arial"/>
            </a:endParaRPr>
          </a:p>
        </p:txBody>
      </p:sp>
      <p:sp>
        <p:nvSpPr>
          <p:cNvPr id="416"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Τι απαντήθηκε και τι προσφέρει στην επιχείρηση</a:t>
            </a:r>
            <a:endParaRPr lang="en-US" sz="3000" b="0" u="none" strike="noStrike">
              <a:solidFill>
                <a:srgbClr val="000000"/>
              </a:solidFill>
              <a:effectLst/>
              <a:uFillTx/>
              <a:latin typeface="Arial"/>
            </a:endParaRPr>
          </a:p>
        </p:txBody>
      </p:sp>
      <p:sp>
        <p:nvSpPr>
          <p:cNvPr id="417"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25</a:t>
            </a:r>
            <a:endParaRPr lang="en-US" sz="900" b="0" u="none" strike="noStrike">
              <a:solidFill>
                <a:srgbClr val="000000"/>
              </a:solidFill>
              <a:effectLst/>
              <a:uFillTx/>
              <a:latin typeface="Arial"/>
            </a:endParaRPr>
          </a:p>
        </p:txBody>
      </p:sp>
      <p:sp>
        <p:nvSpPr>
          <p:cNvPr id="418" name="TextBox 5"/>
          <p:cNvSpPr/>
          <p:nvPr/>
        </p:nvSpPr>
        <p:spPr>
          <a:xfrm>
            <a:off x="548640" y="2255040"/>
            <a:ext cx="534852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ΤΙ ΑΠΑΝΤΗΘΗΚΕ</a:t>
            </a:r>
            <a:endParaRPr lang="en-US" sz="1200" b="0" u="none" strike="noStrike">
              <a:solidFill>
                <a:srgbClr val="000000"/>
              </a:solidFill>
              <a:effectLst/>
              <a:uFillTx/>
              <a:latin typeface="Arial"/>
            </a:endParaRPr>
          </a:p>
        </p:txBody>
      </p:sp>
      <p:sp>
        <p:nvSpPr>
          <p:cNvPr id="419" name="TextBox 6"/>
          <p:cNvSpPr/>
          <p:nvPr/>
        </p:nvSpPr>
        <p:spPr>
          <a:xfrm>
            <a:off x="548640" y="2620800"/>
            <a:ext cx="5348520" cy="2316600"/>
          </a:xfrm>
          <a:prstGeom prst="rect">
            <a:avLst/>
          </a:prstGeom>
          <a:noFill/>
          <a:ln w="0">
            <a:noFill/>
          </a:ln>
        </p:spPr>
        <p:style>
          <a:lnRef idx="0"/>
          <a:fillRef idx="0"/>
          <a:effectRef idx="0"/>
          <a:fontRef idx="minor"/>
        </p:style>
        <p:txBody>
          <a:bodyPr lIns="0" tIns="0" rIns="0" bIns="0" anchor="t">
            <a:spAutoFit/>
          </a:bodyPr>
          <a:p>
            <a:pPr defTabSz="457200">
              <a:lnSpc>
                <a:spcPct val="122000"/>
              </a:lnSpc>
              <a:spcBef>
                <a:spcPts val="1191"/>
              </a:spcBef>
              <a:spcAft>
                <a:spcPts val="992"/>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Και τα 7 βασικά ερωτήματα που έχει μία επιχείρηση.</a:t>
            </a:r>
            <a:endParaRPr lang="en-US" sz="1700" b="0" u="none" strike="noStrike">
              <a:solidFill>
                <a:srgbClr val="000000"/>
              </a:solidFill>
              <a:effectLst/>
              <a:uFillTx/>
              <a:latin typeface="Arial"/>
            </a:endParaRPr>
          </a:p>
          <a:p>
            <a:pPr defTabSz="457200">
              <a:lnSpc>
                <a:spcPct val="122000"/>
              </a:lnSpc>
              <a:spcAft>
                <a:spcPts val="1001"/>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Ο αλγόριθμος Apriori και ο FP-Growth δίνουν ταυτόσημα αποτελέσματα. Η επιλογή είναι θέμα χρόνου, όχι ευρήματος.</a:t>
            </a:r>
            <a:endParaRPr lang="en-US" sz="1700" b="0" u="none" strike="noStrike">
              <a:solidFill>
                <a:srgbClr val="000000"/>
              </a:solidFill>
              <a:effectLst/>
              <a:uFillTx/>
              <a:latin typeface="Arial"/>
            </a:endParaRPr>
          </a:p>
          <a:p>
            <a:pPr defTabSz="457200">
              <a:lnSpc>
                <a:spcPct val="122000"/>
              </a:lnSpc>
              <a:spcAft>
                <a:spcPts val="1001"/>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Κάθε πρόβλεψη συγκρίνεται με μια απλοϊκή εκτίμηση, ώστε μια τετριμμένη πρόβλεψη να μη μοιάζει με επιτυχία.</a:t>
            </a:r>
            <a:endParaRPr lang="en-US" sz="1700" b="0" u="none" strike="noStrike">
              <a:solidFill>
                <a:srgbClr val="000000"/>
              </a:solidFill>
              <a:effectLst/>
              <a:uFillTx/>
              <a:latin typeface="Arial"/>
            </a:endParaRPr>
          </a:p>
        </p:txBody>
      </p:sp>
      <p:sp>
        <p:nvSpPr>
          <p:cNvPr id="420" name="TextBox 7"/>
          <p:cNvSpPr/>
          <p:nvPr/>
        </p:nvSpPr>
        <p:spPr>
          <a:xfrm>
            <a:off x="6291000" y="2255040"/>
            <a:ext cx="534852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ΤΙ ΠΡΕΠΕΙ ΝΑ ΚΑΝΕΙ Η ΕΠΙΧΕΙΡΗΣΗ</a:t>
            </a:r>
            <a:endParaRPr lang="en-US" sz="1200" b="0" u="none" strike="noStrike">
              <a:solidFill>
                <a:srgbClr val="000000"/>
              </a:solidFill>
              <a:effectLst/>
              <a:uFillTx/>
              <a:latin typeface="Arial"/>
            </a:endParaRPr>
          </a:p>
        </p:txBody>
      </p:sp>
      <p:sp>
        <p:nvSpPr>
          <p:cNvPr id="421" name="TextBox 8"/>
          <p:cNvSpPr/>
          <p:nvPr/>
        </p:nvSpPr>
        <p:spPr>
          <a:xfrm>
            <a:off x="6291000" y="2570400"/>
            <a:ext cx="5348520" cy="200160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1001"/>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Προωθεί </a:t>
            </a:r>
            <a:r>
              <a:rPr lang="en-US" sz="1700" b="0" u="none" strike="noStrike">
                <a:solidFill>
                  <a:srgbClr val="241F1B"/>
                </a:solidFill>
                <a:effectLst/>
                <a:uFillTx/>
                <a:latin typeface="Calibri"/>
                <a:ea typeface="DejaVu Sans"/>
              </a:rPr>
              <a:t>μαζί τα </a:t>
            </a:r>
            <a:r>
              <a:rPr lang="en-US" sz="1700" b="0" u="none" strike="noStrike">
                <a:solidFill>
                  <a:srgbClr val="241F1B"/>
                </a:solidFill>
                <a:effectLst/>
                <a:uFillTx/>
                <a:latin typeface="Calibri"/>
                <a:ea typeface="DejaVu Sans"/>
              </a:rPr>
              <a:t>προϊόντα </a:t>
            </a:r>
            <a:r>
              <a:rPr lang="en-US" sz="1700" b="0" u="none" strike="noStrike">
                <a:solidFill>
                  <a:srgbClr val="241F1B"/>
                </a:solidFill>
                <a:effectLst/>
                <a:uFillTx/>
                <a:latin typeface="Calibri"/>
                <a:ea typeface="DejaVu Sans"/>
              </a:rPr>
              <a:t>με lift </a:t>
            </a:r>
            <a:r>
              <a:rPr lang="en-US" sz="1700" b="0" u="none" strike="noStrike">
                <a:solidFill>
                  <a:srgbClr val="241F1B"/>
                </a:solidFill>
                <a:effectLst/>
                <a:uFillTx/>
                <a:latin typeface="Calibri"/>
                <a:ea typeface="DejaVu Sans"/>
              </a:rPr>
              <a:t>πάνω από </a:t>
            </a:r>
            <a:r>
              <a:rPr lang="en-US" sz="1700" b="0" u="none" strike="noStrike">
                <a:solidFill>
                  <a:srgbClr val="241F1B"/>
                </a:solidFill>
                <a:effectLst/>
                <a:uFillTx/>
                <a:latin typeface="Calibri"/>
                <a:ea typeface="DejaVu Sans"/>
              </a:rPr>
              <a:t>1.</a:t>
            </a:r>
            <a:endParaRPr lang="en-US" sz="1700" b="0" u="none" strike="noStrike">
              <a:solidFill>
                <a:srgbClr val="000000"/>
              </a:solidFill>
              <a:effectLst/>
              <a:uFillTx/>
              <a:latin typeface="Arial"/>
            </a:endParaRPr>
          </a:p>
          <a:p>
            <a:pPr defTabSz="457200">
              <a:lnSpc>
                <a:spcPct val="122000"/>
              </a:lnSpc>
              <a:spcAft>
                <a:spcPts val="1001"/>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Μιλάει </a:t>
            </a:r>
            <a:r>
              <a:rPr lang="en-US" sz="1700" b="0" u="none" strike="noStrike">
                <a:solidFill>
                  <a:srgbClr val="241F1B"/>
                </a:solidFill>
                <a:effectLst/>
                <a:uFillTx/>
                <a:latin typeface="Calibri"/>
                <a:ea typeface="DejaVu Sans"/>
              </a:rPr>
              <a:t>διαφορετι</a:t>
            </a:r>
            <a:r>
              <a:rPr lang="en-US" sz="1700" b="0" u="none" strike="noStrike">
                <a:solidFill>
                  <a:srgbClr val="241F1B"/>
                </a:solidFill>
                <a:effectLst/>
                <a:uFillTx/>
                <a:latin typeface="Calibri"/>
                <a:ea typeface="DejaVu Sans"/>
              </a:rPr>
              <a:t>κά στους </a:t>
            </a:r>
            <a:r>
              <a:rPr lang="en-US" sz="1700" b="0" u="none" strike="noStrike">
                <a:solidFill>
                  <a:srgbClr val="241F1B"/>
                </a:solidFill>
                <a:effectLst/>
                <a:uFillTx/>
                <a:latin typeface="Calibri"/>
                <a:ea typeface="DejaVu Sans"/>
              </a:rPr>
              <a:t>τακτικούς </a:t>
            </a:r>
            <a:r>
              <a:rPr lang="en-US" sz="1700" b="0" u="none" strike="noStrike">
                <a:solidFill>
                  <a:srgbClr val="241F1B"/>
                </a:solidFill>
                <a:effectLst/>
                <a:uFillTx/>
                <a:latin typeface="Calibri"/>
                <a:ea typeface="DejaVu Sans"/>
              </a:rPr>
              <a:t>και στους </a:t>
            </a:r>
            <a:r>
              <a:rPr lang="en-US" sz="1700" b="0" u="none" strike="noStrike">
                <a:solidFill>
                  <a:srgbClr val="241F1B"/>
                </a:solidFill>
                <a:effectLst/>
                <a:uFillTx/>
                <a:latin typeface="Calibri"/>
                <a:ea typeface="DejaVu Sans"/>
              </a:rPr>
              <a:t>μεγάλους </a:t>
            </a:r>
            <a:r>
              <a:rPr lang="en-US" sz="1700" b="0" u="none" strike="noStrike">
                <a:solidFill>
                  <a:srgbClr val="241F1B"/>
                </a:solidFill>
                <a:effectLst/>
                <a:uFillTx/>
                <a:latin typeface="Calibri"/>
                <a:ea typeface="DejaVu Sans"/>
              </a:rPr>
              <a:t>πελάτες.</a:t>
            </a:r>
            <a:endParaRPr lang="en-US" sz="1700" b="0" u="none" strike="noStrike">
              <a:solidFill>
                <a:srgbClr val="000000"/>
              </a:solidFill>
              <a:effectLst/>
              <a:uFillTx/>
              <a:latin typeface="Arial"/>
            </a:endParaRPr>
          </a:p>
          <a:p>
            <a:pPr defTabSz="457200">
              <a:lnSpc>
                <a:spcPct val="122000"/>
              </a:lnSpc>
              <a:spcAft>
                <a:spcPts val="1001"/>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Προγραμμ</a:t>
            </a:r>
            <a:r>
              <a:rPr lang="en-US" sz="1700" b="0" u="none" strike="noStrike">
                <a:solidFill>
                  <a:srgbClr val="241F1B"/>
                </a:solidFill>
                <a:effectLst/>
                <a:uFillTx/>
                <a:latin typeface="Calibri"/>
                <a:ea typeface="DejaVu Sans"/>
              </a:rPr>
              <a:t>ατίζει το </a:t>
            </a:r>
            <a:r>
              <a:rPr lang="en-US" sz="1700" b="0" u="none" strike="noStrike">
                <a:solidFill>
                  <a:srgbClr val="241F1B"/>
                </a:solidFill>
                <a:effectLst/>
                <a:uFillTx/>
                <a:latin typeface="Calibri"/>
                <a:ea typeface="DejaVu Sans"/>
              </a:rPr>
              <a:t>απόθεμα </a:t>
            </a:r>
            <a:r>
              <a:rPr lang="en-US" sz="1700" b="0" u="none" strike="noStrike">
                <a:solidFill>
                  <a:srgbClr val="241F1B"/>
                </a:solidFill>
                <a:effectLst/>
                <a:uFillTx/>
                <a:latin typeface="Calibri"/>
                <a:ea typeface="DejaVu Sans"/>
              </a:rPr>
              <a:t>με βάση </a:t>
            </a:r>
            <a:r>
              <a:rPr lang="en-US" sz="1700" b="0" u="none" strike="noStrike">
                <a:solidFill>
                  <a:srgbClr val="241F1B"/>
                </a:solidFill>
                <a:effectLst/>
                <a:uFillTx/>
                <a:latin typeface="Calibri"/>
                <a:ea typeface="DejaVu Sans"/>
              </a:rPr>
              <a:t>τη χρονική </a:t>
            </a:r>
            <a:r>
              <a:rPr lang="en-US" sz="1700" b="0" u="none" strike="noStrike">
                <a:solidFill>
                  <a:srgbClr val="241F1B"/>
                </a:solidFill>
                <a:effectLst/>
                <a:uFillTx/>
                <a:latin typeface="Calibri"/>
                <a:ea typeface="DejaVu Sans"/>
              </a:rPr>
              <a:t>κατανομή </a:t>
            </a:r>
            <a:r>
              <a:rPr lang="en-US" sz="1700" b="0" u="none" strike="noStrike">
                <a:solidFill>
                  <a:srgbClr val="241F1B"/>
                </a:solidFill>
                <a:effectLst/>
                <a:uFillTx/>
                <a:latin typeface="Calibri"/>
                <a:ea typeface="DejaVu Sans"/>
              </a:rPr>
              <a:t>και την </a:t>
            </a:r>
            <a:r>
              <a:rPr lang="en-US" sz="1700" b="0" u="none" strike="noStrike">
                <a:solidFill>
                  <a:srgbClr val="241F1B"/>
                </a:solidFill>
                <a:effectLst/>
                <a:uFillTx/>
                <a:latin typeface="Calibri"/>
                <a:ea typeface="DejaVu Sans"/>
              </a:rPr>
              <a:t>πρόβλεψη</a:t>
            </a:r>
            <a:r>
              <a:rPr lang="en-US" sz="1700" b="0" u="none" strike="noStrike">
                <a:solidFill>
                  <a:srgbClr val="241F1B"/>
                </a:solidFill>
                <a:effectLst/>
                <a:uFillTx/>
                <a:latin typeface="Calibri"/>
                <a:ea typeface="DejaVu Sans"/>
              </a:rPr>
              <a:t>.</a:t>
            </a:r>
            <a:endParaRPr lang="en-US" sz="1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Rectangle 1"/>
          <p:cNvSpPr/>
          <p:nvPr/>
        </p:nvSpPr>
        <p:spPr>
          <a:xfrm>
            <a:off x="0" y="0"/>
            <a:ext cx="12191040" cy="685728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423" name="Rectangle 2"/>
          <p:cNvSpPr/>
          <p:nvPr/>
        </p:nvSpPr>
        <p:spPr>
          <a:xfrm>
            <a:off x="548640" y="2011680"/>
            <a:ext cx="90720" cy="1462320"/>
          </a:xfrm>
          <a:prstGeom prst="rect">
            <a:avLst/>
          </a:prstGeom>
          <a:solidFill>
            <a:srgbClr val="E8A202"/>
          </a:solidFill>
          <a:ln w="9360">
            <a:noFill/>
          </a:ln>
          <a:effectLst>
            <a:outerShdw blurRad="39960" dir="5400000" dist="23040" rotWithShape="0">
              <a:srgbClr val="000000">
                <a:alpha val="35000"/>
              </a:srgbClr>
            </a:outerShdw>
          </a:effectLst>
        </p:spPr>
        <p:style>
          <a:lnRef idx="0"/>
          <a:fillRef idx="0"/>
          <a:effectRef idx="0"/>
          <a:fontRef idx="minor"/>
        </p:style>
        <p:txBody>
          <a:bodyPr lIns="45360" tIns="45000" rIns="45360" bIns="45000" anchor="ctr">
            <a:noAutofit/>
          </a:bodyPr>
          <a:p>
            <a:pPr/>
            <a:endParaRPr lang="en-US" sz="1800" b="0" u="none" strike="noStrike">
              <a:solidFill>
                <a:schemeClr val="lt1"/>
              </a:solidFill>
              <a:effectLst/>
              <a:uFillTx/>
              <a:latin typeface="Calibri"/>
            </a:endParaRPr>
          </a:p>
        </p:txBody>
      </p:sp>
      <p:sp>
        <p:nvSpPr>
          <p:cNvPr id="424" name="TextBox 3"/>
          <p:cNvSpPr/>
          <p:nvPr/>
        </p:nvSpPr>
        <p:spPr>
          <a:xfrm>
            <a:off x="960120" y="2057400"/>
            <a:ext cx="10679400" cy="1130760"/>
          </a:xfrm>
          <a:prstGeom prst="rect">
            <a:avLst/>
          </a:prstGeom>
          <a:noFill/>
          <a:ln w="0">
            <a:noFill/>
          </a:ln>
        </p:spPr>
        <p:style>
          <a:lnRef idx="0"/>
          <a:fillRef idx="0"/>
          <a:effectRef idx="0"/>
          <a:fontRef idx="minor"/>
        </p:style>
        <p:txBody>
          <a:bodyPr lIns="0" tIns="0" rIns="0" bIns="0" anchor="t">
            <a:spAutoFit/>
          </a:bodyPr>
          <a:p>
            <a:pPr defTabSz="457200">
              <a:lnSpc>
                <a:spcPct val="122000"/>
              </a:lnSpc>
              <a:spcBef>
                <a:spcPts val="1191"/>
              </a:spcBef>
              <a:spcAft>
                <a:spcPts val="992"/>
              </a:spcAft>
            </a:pPr>
            <a:r>
              <a:rPr lang="en-US" sz="2700" b="0" u="none" strike="noStrike">
                <a:solidFill>
                  <a:srgbClr val="FFFFFF"/>
                </a:solidFill>
                <a:effectLst/>
                <a:uFillTx/>
                <a:latin typeface="Cambria"/>
                <a:ea typeface="DejaVu Sans"/>
              </a:rPr>
              <a:t>Να </a:t>
            </a:r>
            <a:r>
              <a:rPr lang="en-US" sz="2700" b="0" u="none" strike="noStrike">
                <a:solidFill>
                  <a:srgbClr val="FFFFFF"/>
                </a:solidFill>
                <a:effectLst/>
                <a:uFillTx/>
                <a:latin typeface="Cambria"/>
                <a:ea typeface="DejaVu Sans"/>
              </a:rPr>
              <a:t>απαν</a:t>
            </a:r>
            <a:r>
              <a:rPr lang="en-US" sz="2700" b="0" u="none" strike="noStrike">
                <a:solidFill>
                  <a:srgbClr val="FFFFFF"/>
                </a:solidFill>
                <a:effectLst/>
                <a:uFillTx/>
                <a:latin typeface="Cambria"/>
                <a:ea typeface="DejaVu Sans"/>
              </a:rPr>
              <a:t>τηθε</a:t>
            </a:r>
            <a:r>
              <a:rPr lang="en-US" sz="2700" b="0" u="none" strike="noStrike">
                <a:solidFill>
                  <a:srgbClr val="FFFFFF"/>
                </a:solidFill>
                <a:effectLst/>
                <a:uFillTx/>
                <a:latin typeface="Cambria"/>
                <a:ea typeface="DejaVu Sans"/>
              </a:rPr>
              <a:t>ί ό,τι </a:t>
            </a:r>
            <a:r>
              <a:rPr lang="en-US" sz="2700" b="0" u="none" strike="noStrike">
                <a:solidFill>
                  <a:srgbClr val="FFFFFF"/>
                </a:solidFill>
                <a:effectLst/>
                <a:uFillTx/>
                <a:latin typeface="Cambria"/>
                <a:ea typeface="DejaVu Sans"/>
              </a:rPr>
              <a:t>ζητά</a:t>
            </a:r>
            <a:r>
              <a:rPr lang="en-US" sz="2700" b="0" u="none" strike="noStrike">
                <a:solidFill>
                  <a:srgbClr val="FFFFFF"/>
                </a:solidFill>
                <a:effectLst/>
                <a:uFillTx/>
                <a:latin typeface="Cambria"/>
                <a:ea typeface="DejaVu Sans"/>
              </a:rPr>
              <a:t>ει μια </a:t>
            </a:r>
            <a:r>
              <a:rPr lang="en-US" sz="2700" b="0" u="none" strike="noStrike">
                <a:solidFill>
                  <a:srgbClr val="FFFFFF"/>
                </a:solidFill>
                <a:effectLst/>
                <a:uFillTx/>
                <a:latin typeface="Cambria"/>
                <a:ea typeface="DejaVu Sans"/>
              </a:rPr>
              <a:t>επιχε</a:t>
            </a:r>
            <a:r>
              <a:rPr lang="en-US" sz="2700" b="0" u="none" strike="noStrike">
                <a:solidFill>
                  <a:srgbClr val="FFFFFF"/>
                </a:solidFill>
                <a:effectLst/>
                <a:uFillTx/>
                <a:latin typeface="Cambria"/>
                <a:ea typeface="DejaVu Sans"/>
              </a:rPr>
              <a:t>ίρησ</a:t>
            </a:r>
            <a:r>
              <a:rPr lang="en-US" sz="2700" b="0" u="none" strike="noStrike">
                <a:solidFill>
                  <a:srgbClr val="FFFFFF"/>
                </a:solidFill>
                <a:effectLst/>
                <a:uFillTx/>
                <a:latin typeface="Cambria"/>
                <a:ea typeface="DejaVu Sans"/>
              </a:rPr>
              <a:t>η,</a:t>
            </a:r>
            <a:endParaRPr lang="en-US" sz="2700" b="0" u="none" strike="noStrike">
              <a:solidFill>
                <a:srgbClr val="000000"/>
              </a:solidFill>
              <a:effectLst/>
              <a:uFillTx/>
              <a:latin typeface="Arial"/>
            </a:endParaRPr>
          </a:p>
          <a:p>
            <a:pPr defTabSz="457200">
              <a:lnSpc>
                <a:spcPct val="122000"/>
              </a:lnSpc>
              <a:spcAft>
                <a:spcPts val="601"/>
              </a:spcAft>
            </a:pPr>
            <a:r>
              <a:rPr lang="en-US" sz="2700" b="0" u="none" strike="noStrike">
                <a:solidFill>
                  <a:srgbClr val="FFFFFF"/>
                </a:solidFill>
                <a:effectLst/>
                <a:uFillTx/>
                <a:latin typeface="Cambria"/>
                <a:ea typeface="DejaVu Sans"/>
              </a:rPr>
              <a:t>και </a:t>
            </a:r>
            <a:r>
              <a:rPr lang="en-US" sz="2700" b="0" u="none" strike="noStrike">
                <a:solidFill>
                  <a:srgbClr val="FFFFFF"/>
                </a:solidFill>
                <a:effectLst/>
                <a:uFillTx/>
                <a:latin typeface="Cambria"/>
                <a:ea typeface="DejaVu Sans"/>
              </a:rPr>
              <a:t>να </a:t>
            </a:r>
            <a:r>
              <a:rPr lang="en-US" sz="2700" b="0" u="none" strike="noStrike">
                <a:solidFill>
                  <a:srgbClr val="FFFFFF"/>
                </a:solidFill>
                <a:effectLst/>
                <a:uFillTx/>
                <a:latin typeface="Cambria"/>
                <a:ea typeface="DejaVu Sans"/>
              </a:rPr>
              <a:t>μην </a:t>
            </a:r>
            <a:r>
              <a:rPr lang="en-US" sz="2700" b="0" u="none" strike="noStrike">
                <a:solidFill>
                  <a:srgbClr val="FFFFFF"/>
                </a:solidFill>
                <a:effectLst/>
                <a:uFillTx/>
                <a:latin typeface="Cambria"/>
                <a:ea typeface="DejaVu Sans"/>
              </a:rPr>
              <a:t>απαν</a:t>
            </a:r>
            <a:r>
              <a:rPr lang="en-US" sz="2700" b="0" u="none" strike="noStrike">
                <a:solidFill>
                  <a:srgbClr val="FFFFFF"/>
                </a:solidFill>
                <a:effectLst/>
                <a:uFillTx/>
                <a:latin typeface="Cambria"/>
                <a:ea typeface="DejaVu Sans"/>
              </a:rPr>
              <a:t>τηθε</a:t>
            </a:r>
            <a:r>
              <a:rPr lang="en-US" sz="2700" b="0" u="none" strike="noStrike">
                <a:solidFill>
                  <a:srgbClr val="FFFFFF"/>
                </a:solidFill>
                <a:effectLst/>
                <a:uFillTx/>
                <a:latin typeface="Cambria"/>
                <a:ea typeface="DejaVu Sans"/>
              </a:rPr>
              <a:t>ί ό,τι </a:t>
            </a:r>
            <a:r>
              <a:rPr lang="en-US" sz="2700" b="0" u="none" strike="noStrike">
                <a:solidFill>
                  <a:srgbClr val="FFFFFF"/>
                </a:solidFill>
                <a:effectLst/>
                <a:uFillTx/>
                <a:latin typeface="Cambria"/>
                <a:ea typeface="DejaVu Sans"/>
              </a:rPr>
              <a:t>τα </a:t>
            </a:r>
            <a:r>
              <a:rPr lang="en-US" sz="2700" b="0" u="none" strike="noStrike">
                <a:solidFill>
                  <a:srgbClr val="FFFFFF"/>
                </a:solidFill>
                <a:effectLst/>
                <a:uFillTx/>
                <a:latin typeface="Cambria"/>
                <a:ea typeface="DejaVu Sans"/>
              </a:rPr>
              <a:t>δεδο</a:t>
            </a:r>
            <a:r>
              <a:rPr lang="en-US" sz="2700" b="0" u="none" strike="noStrike">
                <a:solidFill>
                  <a:srgbClr val="FFFFFF"/>
                </a:solidFill>
                <a:effectLst/>
                <a:uFillTx/>
                <a:latin typeface="Cambria"/>
                <a:ea typeface="DejaVu Sans"/>
              </a:rPr>
              <a:t>μένα </a:t>
            </a:r>
            <a:r>
              <a:rPr lang="en-US" sz="2700" b="0" u="none" strike="noStrike">
                <a:solidFill>
                  <a:srgbClr val="FFFFFF"/>
                </a:solidFill>
                <a:effectLst/>
                <a:uFillTx/>
                <a:latin typeface="Cambria"/>
                <a:ea typeface="DejaVu Sans"/>
              </a:rPr>
              <a:t>δεν </a:t>
            </a:r>
            <a:r>
              <a:rPr lang="en-US" sz="2700" b="0" u="none" strike="noStrike">
                <a:solidFill>
                  <a:srgbClr val="FFFFFF"/>
                </a:solidFill>
                <a:effectLst/>
                <a:uFillTx/>
                <a:latin typeface="Cambria"/>
                <a:ea typeface="DejaVu Sans"/>
              </a:rPr>
              <a:t>επιτρ</a:t>
            </a:r>
            <a:r>
              <a:rPr lang="en-US" sz="2700" b="0" u="none" strike="noStrike">
                <a:solidFill>
                  <a:srgbClr val="FFFFFF"/>
                </a:solidFill>
                <a:effectLst/>
                <a:uFillTx/>
                <a:latin typeface="Cambria"/>
                <a:ea typeface="DejaVu Sans"/>
              </a:rPr>
              <a:t>έπου</a:t>
            </a:r>
            <a:r>
              <a:rPr lang="en-US" sz="2700" b="0" u="none" strike="noStrike">
                <a:solidFill>
                  <a:srgbClr val="FFFFFF"/>
                </a:solidFill>
                <a:effectLst/>
                <a:uFillTx/>
                <a:latin typeface="Cambria"/>
                <a:ea typeface="DejaVu Sans"/>
              </a:rPr>
              <a:t>ν.</a:t>
            </a:r>
            <a:endParaRPr lang="en-US" sz="2700" b="0" u="none" strike="noStrike">
              <a:solidFill>
                <a:srgbClr val="000000"/>
              </a:solidFill>
              <a:effectLst/>
              <a:uFillTx/>
              <a:latin typeface="Arial"/>
            </a:endParaRPr>
          </a:p>
        </p:txBody>
      </p:sp>
      <p:sp>
        <p:nvSpPr>
          <p:cNvPr id="425" name="TextBox 4"/>
          <p:cNvSpPr/>
          <p:nvPr/>
        </p:nvSpPr>
        <p:spPr>
          <a:xfrm>
            <a:off x="960120" y="4709160"/>
            <a:ext cx="11090880" cy="743400"/>
          </a:xfrm>
          <a:prstGeom prst="rect">
            <a:avLst/>
          </a:prstGeom>
          <a:noFill/>
          <a:ln w="0">
            <a:noFill/>
          </a:ln>
        </p:spPr>
        <p:style>
          <a:lnRef idx="0"/>
          <a:fillRef idx="0"/>
          <a:effectRef idx="0"/>
          <a:fontRef idx="minor"/>
        </p:style>
        <p:txBody>
          <a:bodyPr lIns="0" tIns="0" rIns="0" bIns="0" anchor="t" anchorCtr="1">
            <a:spAutoFit/>
          </a:bodyPr>
          <a:p>
            <a:pPr algn="r" defTabSz="457200">
              <a:lnSpc>
                <a:spcPct val="122000"/>
              </a:lnSpc>
            </a:pPr>
            <a:r>
              <a:rPr lang="en-US" sz="2000" b="0" u="none" strike="noStrike">
                <a:solidFill>
                  <a:srgbClr val="D7E5D2"/>
                </a:solidFill>
                <a:effectLst/>
                <a:uFillTx/>
                <a:latin typeface="Calibri"/>
                <a:ea typeface="DejaVu Sans"/>
              </a:rPr>
              <a:t>Σας ευχαριστώ πολύ για τον χρόνο σας και την </a:t>
            </a:r>
            <a:r>
              <a:rPr lang="en-US" sz="2000" b="0" u="none" strike="noStrike">
                <a:solidFill>
                  <a:srgbClr val="D7E5D2"/>
                </a:solidFill>
                <a:effectLst/>
                <a:uFillTx/>
                <a:latin typeface="Calibri"/>
                <a:ea typeface="DejaVu Sans"/>
              </a:rPr>
              <a:t>προσοχή σας.</a:t>
            </a:r>
            <a:endParaRPr lang="en-US" sz="2000" b="0" u="none" strike="noStrike">
              <a:solidFill>
                <a:srgbClr val="000000"/>
              </a:solidFill>
              <a:effectLst/>
              <a:uFillTx/>
              <a:latin typeface="Arial"/>
            </a:endParaRPr>
          </a:p>
          <a:p>
            <a:pPr algn="r" defTabSz="457200">
              <a:lnSpc>
                <a:spcPct val="122000"/>
              </a:lnSpc>
            </a:pPr>
            <a:r>
              <a:rPr lang="en-US" sz="2000" b="0" u="none" strike="noStrike">
                <a:solidFill>
                  <a:srgbClr val="D7E5D2"/>
                </a:solidFill>
                <a:effectLst/>
                <a:uFillTx/>
                <a:latin typeface="Calibri"/>
                <a:ea typeface="DejaVu Sans"/>
              </a:rPr>
              <a:t>Μουρτογιάννης Χρήστος</a:t>
            </a:r>
            <a:endParaRPr lang="en-US" sz="2000" b="0" u="none" strike="noStrike">
              <a:solidFill>
                <a:srgbClr val="000000"/>
              </a:solidFill>
              <a:effectLst/>
              <a:uFillTx/>
              <a:latin typeface="Arial"/>
            </a:endParaRPr>
          </a:p>
        </p:txBody>
      </p:sp>
      <p:sp>
        <p:nvSpPr>
          <p:cNvPr id="427" name="TextBox 7"/>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r>
              <a:t>26</a:t>
            </a: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263</TotalTime>
  <Application>LibreOffice/26.8.0.3$MacOSX_AARCH64 LibreOffice_project/bce0998afefdbc355585ca324285661a2170ba77</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2026-09-23T00:44:11Z</dcterms:modified>
  <cp:revision>57</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