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Καλησπέρα σας. Λέγομαι Χρήστος Μουρτογιάννης και θα σας παρουσιάσω τη διπλωματική μου εργασία, με θέμα την εξαγωγή αναλύσεων από δεδομένα ηλεκτρονικού εμπορίου. Επιβλέπων είναι ο καθηγητής Ευστάθιος Χατζηευθυμιάδης.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Πρώτο μέρος: το πρόβλημα και οι στόχοι.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p>
          <a:p/>
          <a:p>
            <a:r>
              <a:t>ΠΙΘΑΝΗ ΕΡΩΤΗΣΗ: «Γιατί δεν το κάνει μόνη της η επιχείρηση;» Γιατί χρειάζεται γνώση εξόρυξης δεδομένων και μηχανικής μάθησης. Με ένα Excel δεν βγαίνει.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p>
          <a:p/>
          <a:p>
            <a: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p>
          <a:p/>
          <a:p>
            <a: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Δεύτερο μέρος: το σύστημα, πώς είναι φτιαγμένο και πώς τρέχει.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p>
          <a:p/>
          <a:p>
            <a: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p>
          <a:p/>
          <a:p>
            <a: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p>
          <a:p/>
          <a:p>
            <a: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p>
          <a:p/>
          <a:p>
            <a: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p>
          <a:p/>
          <a:p>
            <a: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p>
          <a:p/>
          <a:p>
            <a: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Τρίτο μέρος: τι βρήκαμε μέσα στα δεδομένα.</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p>
          <a:p/>
          <a:p>
            <a: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p>
          <a:p/>
          <a:p>
            <a: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Φανταστείτε χιλιάδες αποδείξεις από ένα μαγαζί. Θέλουμε να βρούμε ποια προϊόντα αγοράζονται μαζί πιο συχνά απ' ό,τι θα περιμέναμε στην τύχη.</a:t>
            </a:r>
          </a:p>
          <a:p/>
          <a:p>
            <a: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p>
          <a:p/>
          <a:p>
            <a: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p>
          <a:p/>
          <a:p>
            <a: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p>
          <a:p/>
          <a:p>
            <a: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p>
          <a:p/>
          <a:p>
            <a: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p>
          <a:p/>
          <a:p>
            <a: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p>
          <a:p/>
          <a:p>
            <a: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p>
          <a:p/>
          <a:p>
            <a: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p>
          <a:p/>
          <a:p>
            <a: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p>
          <a:p/>
          <a:p>
            <a: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p>
          <a:p/>
          <a:p>
            <a: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p>
          <a:p/>
          <a:p>
            <a: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Τέταρτο μέρος: συμπεράσματα, περιορισμοί και επεκτάσεις.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Αν κρατήσετε μία διαφάνεια από όλη την παρουσίαση, ας είναι αυτή. Αριστερά τι απαντήθηκε, δεξιά τι κάνει ο ιδιοκτήτης του μαγαζιού με τις απαντήσεις.</a:t>
            </a:r>
          </a:p>
          <a:p/>
          <a:p>
            <a: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Αριστερά τα πέντε πράγματα που η δουλειά δεν μπορεί να κάνει, δηλωμένα ανοιχτά. Το πιο σημαντικό είναι το πρώτο: δεν ξέρουμε τα κόστη, οπότε δεν μπορούμε να πούμε με σιγουριά αν το μαγαζί είναι κερδοφόρο.</a:t>
            </a:r>
          </a:p>
          <a:p/>
          <a:p>
            <a:r>
              <a:t>ΜΑΘΗΜΑΤΙΚΑ: Δεξιά, πέντε ιδέες για τη συνέχεια. Η πιο άμεση είναι το δεύτερο κατάστημα: η προσθήκη του είναι πλέον απλή παραμετροποίηση, εκκρεμεί μόνο η σύγκριση των ευρημάτων. Η τελευταία, τα πραγματικά κόστη, θα μετέτρεπε τα σενάρια κερδοφορίας σε μετρήσεις, και η αρχιτεκτονική το επιτρέπει χωρίς αλλαγή δομής.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αν η επιτροπή τους ζητήσει.</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τους τύπους της ομαδοποίησης.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το πλήρες πλέγμα κερδοφορίας.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την ευαισθησία στο κατώφλι.</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Εφεδρική διαφάνεια με τα δύο γραφήματα που βγήκαν από τη ροή.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50292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ΔΙΠΛΩΜΑΤΙΚΗ ΕΡΓΑΣΙΑ</a:t>
            </a:r>
          </a:p>
        </p:txBody>
      </p:sp>
      <p:sp>
        <p:nvSpPr>
          <p:cNvPr id="4" name="TextBox 3"/>
          <p:cNvSpPr txBox="1"/>
          <p:nvPr/>
        </p:nvSpPr>
        <p:spPr>
          <a:xfrm>
            <a:off x="548640" y="868680"/>
            <a:ext cx="11091672" cy="1234440"/>
          </a:xfrm>
          <a:prstGeom prst="rect">
            <a:avLst/>
          </a:prstGeom>
          <a:noFill/>
        </p:spPr>
        <p:txBody>
          <a:bodyPr wrap="square" anchor="t" lIns="0" rIns="0" tIns="0" bIns="0">
            <a:spAutoFit/>
          </a:bodyPr>
          <a:lstStyle/>
          <a:p>
            <a:pPr algn="l">
              <a:lnSpc>
                <a:spcPct val="122000"/>
              </a:lnSpc>
              <a:spcAft>
                <a:spcPts val="0"/>
              </a:spcAft>
            </a:pPr>
            <a:r>
              <a:rPr sz="3100" b="1">
                <a:solidFill>
                  <a:srgbClr val="FFFFFF"/>
                </a:solidFill>
                <a:latin typeface="Cambria"/>
              </a:rPr>
              <a:t>Εξαγωγή Ευφυών Αναλύσεων από Δεδομένα Ηλεκτρονικού Εμπορίου</a:t>
            </a:r>
          </a:p>
        </p:txBody>
      </p:sp>
      <p:sp>
        <p:nvSpPr>
          <p:cNvPr id="5" name="TextBox 4"/>
          <p:cNvSpPr txBox="1"/>
          <p:nvPr/>
        </p:nvSpPr>
        <p:spPr>
          <a:xfrm>
            <a:off x="548640" y="2240280"/>
            <a:ext cx="11091672" cy="310896"/>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Ensights: Extraction of Intelligent Analytics from E-Commerce Data</a:t>
            </a:r>
          </a:p>
        </p:txBody>
      </p:sp>
      <p:sp>
        <p:nvSpPr>
          <p:cNvPr id="6" name="TextBox 5"/>
          <p:cNvSpPr txBox="1"/>
          <p:nvPr/>
        </p:nvSpPr>
        <p:spPr>
          <a:xfrm>
            <a:off x="548640" y="3063240"/>
            <a:ext cx="11091672" cy="402336"/>
          </a:xfrm>
          <a:prstGeom prst="rect">
            <a:avLst/>
          </a:prstGeom>
          <a:noFill/>
        </p:spPr>
        <p:txBody>
          <a:bodyPr wrap="square" anchor="t" lIns="0" rIns="0" tIns="0" bIns="0">
            <a:spAutoFit/>
          </a:bodyPr>
          <a:lstStyle/>
          <a:p>
            <a:pPr algn="l">
              <a:lnSpc>
                <a:spcPct val="122000"/>
              </a:lnSpc>
              <a:spcAft>
                <a:spcPts val="0"/>
              </a:spcAft>
            </a:pPr>
            <a:r>
              <a:rPr sz="2200" b="1">
                <a:solidFill>
                  <a:srgbClr val="2C5530"/>
                </a:solidFill>
                <a:latin typeface="Cambria"/>
              </a:rPr>
              <a:t>Χρήστος Μουρτογιάννης</a:t>
            </a:r>
          </a:p>
        </p:txBody>
      </p:sp>
      <p:sp>
        <p:nvSpPr>
          <p:cNvPr id="7" name="TextBox 6"/>
          <p:cNvSpPr txBox="1"/>
          <p:nvPr/>
        </p:nvSpPr>
        <p:spPr>
          <a:xfrm>
            <a:off x="548640" y="3584448"/>
            <a:ext cx="11091672" cy="822960"/>
          </a:xfrm>
          <a:prstGeom prst="rect">
            <a:avLst/>
          </a:prstGeom>
          <a:noFill/>
        </p:spPr>
        <p:txBody>
          <a:bodyPr wrap="square" anchor="t" lIns="0" rIns="0" tIns="0" bIns="0">
            <a:spAutoFit/>
          </a:bodyPr>
          <a:lstStyle/>
          <a:p>
            <a:pPr algn="l">
              <a:lnSpc>
                <a:spcPct val="122000"/>
              </a:lnSpc>
              <a:spcAft>
                <a:spcPts val="400"/>
              </a:spcAft>
            </a:pPr>
            <a:r>
              <a:rPr sz="1200" b="0">
                <a:solidFill>
                  <a:srgbClr val="6B6259"/>
                </a:solidFill>
                <a:latin typeface="Calibri"/>
              </a:rPr>
              <a:t>Διατμηματικό ΠΜΣ «Διοίκηση και Οικονομική Τηλεπικοινωνιακών Δικτύων και Πληροφοριακών Συστημάτων»</a:t>
            </a:r>
          </a:p>
          <a:p>
            <a:pPr algn="l">
              <a:lnSpc>
                <a:spcPct val="122000"/>
              </a:lnSpc>
              <a:spcAft>
                <a:spcPts val="400"/>
              </a:spcAft>
            </a:pPr>
            <a:r>
              <a:rPr sz="1200" b="0">
                <a:solidFill>
                  <a:srgbClr val="6B6259"/>
                </a:solidFill>
                <a:latin typeface="Calibri"/>
              </a:rPr>
              <a:t>Εθνικό και Καποδιστριακό Πανεπιστήμιο Αθηνών, Τμήμα Πληροφορικής και Τηλεπικοινωνιών</a:t>
            </a:r>
          </a:p>
        </p:txBody>
      </p:sp>
      <p:sp>
        <p:nvSpPr>
          <p:cNvPr id="8" name="Rounded Rectangle 7"/>
          <p:cNvSpPr/>
          <p:nvPr/>
        </p:nvSpPr>
        <p:spPr>
          <a:xfrm>
            <a:off x="548640" y="4480560"/>
            <a:ext cx="6583680" cy="155448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22959" y="4645152"/>
            <a:ext cx="6035040" cy="256032"/>
          </a:xfrm>
          <a:prstGeom prst="rect">
            <a:avLst/>
          </a:prstGeom>
          <a:noFill/>
        </p:spPr>
        <p:txBody>
          <a:bodyPr wrap="square" anchor="t" lIns="0" rIns="0" tIns="0" bIns="0">
            <a:spAutoFit/>
          </a:bodyPr>
          <a:lstStyle/>
          <a:p>
            <a:pPr algn="l">
              <a:lnSpc>
                <a:spcPct val="122000"/>
              </a:lnSpc>
              <a:spcAft>
                <a:spcPts val="0"/>
              </a:spcAft>
            </a:pPr>
            <a:r>
              <a:rPr sz="1100" b="1">
                <a:solidFill>
                  <a:srgbClr val="E8A33D"/>
                </a:solidFill>
                <a:latin typeface="Calibri"/>
              </a:rPr>
              <a:t>ΤΡΙΜΕΛΗΣ ΕΞΕΤΑΣΤΙΚΗ ΕΠΙΤΡΟΠΗ</a:t>
            </a:r>
          </a:p>
        </p:txBody>
      </p:sp>
      <p:sp>
        <p:nvSpPr>
          <p:cNvPr id="10" name="TextBox 9"/>
          <p:cNvSpPr txBox="1"/>
          <p:nvPr/>
        </p:nvSpPr>
        <p:spPr>
          <a:xfrm>
            <a:off x="822959" y="4992624"/>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Επιβλέπων:</a:t>
            </a:r>
          </a:p>
        </p:txBody>
      </p:sp>
      <p:sp>
        <p:nvSpPr>
          <p:cNvPr id="11" name="TextBox 10"/>
          <p:cNvSpPr txBox="1"/>
          <p:nvPr/>
        </p:nvSpPr>
        <p:spPr>
          <a:xfrm>
            <a:off x="1965960" y="4992624"/>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Ευστάθιος Χατζηευθυμιάδης, Καθηγητής, ΕΚΠΑ</a:t>
            </a:r>
          </a:p>
        </p:txBody>
      </p:sp>
      <p:sp>
        <p:nvSpPr>
          <p:cNvPr id="12" name="TextBox 11"/>
          <p:cNvSpPr txBox="1"/>
          <p:nvPr/>
        </p:nvSpPr>
        <p:spPr>
          <a:xfrm>
            <a:off x="822959" y="5303520"/>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3" name="TextBox 12"/>
          <p:cNvSpPr txBox="1"/>
          <p:nvPr/>
        </p:nvSpPr>
        <p:spPr>
          <a:xfrm>
            <a:off x="1965960" y="5303520"/>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Κωνσταντίνος Κολομβάτσος, Πανεπιστήμιο Θεσσαλίας</a:t>
            </a:r>
          </a:p>
        </p:txBody>
      </p:sp>
      <p:sp>
        <p:nvSpPr>
          <p:cNvPr id="14" name="TextBox 13"/>
          <p:cNvSpPr txBox="1"/>
          <p:nvPr/>
        </p:nvSpPr>
        <p:spPr>
          <a:xfrm>
            <a:off x="822959" y="5614416"/>
            <a:ext cx="1097280"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Εξεταστής:</a:t>
            </a:r>
          </a:p>
        </p:txBody>
      </p:sp>
      <p:sp>
        <p:nvSpPr>
          <p:cNvPr id="15" name="TextBox 14"/>
          <p:cNvSpPr txBox="1"/>
          <p:nvPr/>
        </p:nvSpPr>
        <p:spPr>
          <a:xfrm>
            <a:off x="1965960" y="5614416"/>
            <a:ext cx="4846320" cy="237744"/>
          </a:xfrm>
          <a:prstGeom prst="rect">
            <a:avLst/>
          </a:prstGeom>
          <a:noFill/>
        </p:spPr>
        <p:txBody>
          <a:bodyPr wrap="square" anchor="t" lIns="0" rIns="0" tIns="0" bIns="0">
            <a:spAutoFit/>
          </a:bodyPr>
          <a:lstStyle/>
          <a:p>
            <a:pPr algn="l">
              <a:lnSpc>
                <a:spcPct val="122000"/>
              </a:lnSpc>
              <a:spcAft>
                <a:spcPts val="0"/>
              </a:spcAft>
            </a:pPr>
            <a:r>
              <a:rPr sz="1200" b="0">
                <a:solidFill>
                  <a:srgbClr val="241F1B"/>
                </a:solidFill>
                <a:latin typeface="Calibri"/>
              </a:rPr>
              <a:t>Μιλτιάδης Κυριακάκος, ΕΔΙΠ, ΕΚΠΑ</a:t>
            </a:r>
          </a:p>
        </p:txBody>
      </p:sp>
      <p:sp>
        <p:nvSpPr>
          <p:cNvPr id="16" name="TextBox 15"/>
          <p:cNvSpPr txBox="1"/>
          <p:nvPr/>
        </p:nvSpPr>
        <p:spPr>
          <a:xfrm>
            <a:off x="548640" y="6263640"/>
            <a:ext cx="11091672" cy="27432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Αθήνα, Οκτώβριος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ΠΕΡΙΕΧΟΜΕΝΑ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μέρη, περίπου είκοσι πέντε λεπτά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a:t>
            </a:r>
          </a:p>
        </p:txBody>
      </p:sp>
      <p:sp>
        <p:nvSpPr>
          <p:cNvPr id="6" name="Rounded Rectangle 5"/>
          <p:cNvSpPr/>
          <p:nvPr/>
        </p:nvSpPr>
        <p:spPr>
          <a:xfrm>
            <a:off x="548640"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548640"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01</a:t>
            </a:r>
          </a:p>
        </p:txBody>
      </p:sp>
      <p:sp>
        <p:nvSpPr>
          <p:cNvPr id="9" name="TextBox 8"/>
          <p:cNvSpPr txBox="1"/>
          <p:nvPr/>
        </p:nvSpPr>
        <p:spPr>
          <a:xfrm>
            <a:off x="804672"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πρόβλημα</a:t>
            </a:r>
          </a:p>
        </p:txBody>
      </p:sp>
      <p:sp>
        <p:nvSpPr>
          <p:cNvPr id="10" name="TextBox 9"/>
          <p:cNvSpPr txBox="1"/>
          <p:nvPr/>
        </p:nvSpPr>
        <p:spPr>
          <a:xfrm>
            <a:off x="804672"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ζήτησε η επιχείρηση και τι υποσχεθήκαμε</a:t>
            </a:r>
          </a:p>
        </p:txBody>
      </p:sp>
      <p:sp>
        <p:nvSpPr>
          <p:cNvPr id="11" name="Rounded Rectangle 10"/>
          <p:cNvSpPr/>
          <p:nvPr/>
        </p:nvSpPr>
        <p:spPr>
          <a:xfrm>
            <a:off x="3376422"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376422"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32454"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02</a:t>
            </a:r>
          </a:p>
        </p:txBody>
      </p:sp>
      <p:sp>
        <p:nvSpPr>
          <p:cNvPr id="14" name="TextBox 13"/>
          <p:cNvSpPr txBox="1"/>
          <p:nvPr/>
        </p:nvSpPr>
        <p:spPr>
          <a:xfrm>
            <a:off x="3632454"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Το σύστημα</a:t>
            </a:r>
          </a:p>
        </p:txBody>
      </p:sp>
      <p:sp>
        <p:nvSpPr>
          <p:cNvPr id="15" name="TextBox 14"/>
          <p:cNvSpPr txBox="1"/>
          <p:nvPr/>
        </p:nvSpPr>
        <p:spPr>
          <a:xfrm>
            <a:off x="3632454"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Πώς είναι φτιαγμένο και πώς φαίνεται όταν τρέχει</a:t>
            </a:r>
          </a:p>
        </p:txBody>
      </p:sp>
      <p:sp>
        <p:nvSpPr>
          <p:cNvPr id="16" name="Rounded Rectangle 15"/>
          <p:cNvSpPr/>
          <p:nvPr/>
        </p:nvSpPr>
        <p:spPr>
          <a:xfrm>
            <a:off x="6204204"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204204"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60236"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03</a:t>
            </a:r>
          </a:p>
        </p:txBody>
      </p:sp>
      <p:sp>
        <p:nvSpPr>
          <p:cNvPr id="19" name="TextBox 18"/>
          <p:cNvSpPr txBox="1"/>
          <p:nvPr/>
        </p:nvSpPr>
        <p:spPr>
          <a:xfrm>
            <a:off x="6460236"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Τα ευρήματα</a:t>
            </a:r>
          </a:p>
        </p:txBody>
      </p:sp>
      <p:sp>
        <p:nvSpPr>
          <p:cNvPr id="20" name="TextBox 19"/>
          <p:cNvSpPr txBox="1"/>
          <p:nvPr/>
        </p:nvSpPr>
        <p:spPr>
          <a:xfrm>
            <a:off x="6460236"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βγήκε από ένα εκατομμύριο γραμμές πωλήσεων</a:t>
            </a:r>
          </a:p>
        </p:txBody>
      </p:sp>
      <p:sp>
        <p:nvSpPr>
          <p:cNvPr id="21" name="Rounded Rectangle 20"/>
          <p:cNvSpPr/>
          <p:nvPr/>
        </p:nvSpPr>
        <p:spPr>
          <a:xfrm>
            <a:off x="9031986" y="1920240"/>
            <a:ext cx="2608326" cy="283464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9031986" y="1920240"/>
            <a:ext cx="2608326" cy="82296"/>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8017" y="2240280"/>
            <a:ext cx="2096262" cy="640080"/>
          </a:xfrm>
          <a:prstGeom prst="rect">
            <a:avLst/>
          </a:prstGeom>
          <a:noFill/>
        </p:spPr>
        <p:txBody>
          <a:bodyPr wrap="square" anchor="t" lIns="0" rIns="0" tIns="0" bIns="0">
            <a:spAutoFit/>
          </a:bodyPr>
          <a:lstStyle/>
          <a:p>
            <a:pPr algn="l">
              <a:lnSpc>
                <a:spcPct val="122000"/>
              </a:lnSpc>
              <a:spcAft>
                <a:spcPts val="0"/>
              </a:spcAft>
            </a:pPr>
            <a:r>
              <a:rPr sz="4000" b="1">
                <a:solidFill>
                  <a:srgbClr val="D7E5D2"/>
                </a:solidFill>
                <a:latin typeface="Cambria"/>
              </a:rPr>
              <a:t>04</a:t>
            </a:r>
          </a:p>
        </p:txBody>
      </p:sp>
      <p:sp>
        <p:nvSpPr>
          <p:cNvPr id="24" name="TextBox 23"/>
          <p:cNvSpPr txBox="1"/>
          <p:nvPr/>
        </p:nvSpPr>
        <p:spPr>
          <a:xfrm>
            <a:off x="9288017" y="2971800"/>
            <a:ext cx="2096262" cy="457200"/>
          </a:xfrm>
          <a:prstGeom prst="rect">
            <a:avLst/>
          </a:prstGeom>
          <a:noFill/>
        </p:spPr>
        <p:txBody>
          <a:bodyPr wrap="square" anchor="t" lIns="0" rIns="0" tIns="0" bIns="0">
            <a:spAutoFit/>
          </a:bodyPr>
          <a:lstStyle/>
          <a:p>
            <a:pPr algn="l">
              <a:lnSpc>
                <a:spcPct val="122000"/>
              </a:lnSpc>
              <a:spcAft>
                <a:spcPts val="0"/>
              </a:spcAft>
            </a:pPr>
            <a:r>
              <a:rPr sz="1700" b="1">
                <a:solidFill>
                  <a:srgbClr val="2C5530"/>
                </a:solidFill>
                <a:latin typeface="Cambria"/>
              </a:rPr>
              <a:t>Συμπεράσματα</a:t>
            </a:r>
          </a:p>
        </p:txBody>
      </p:sp>
      <p:sp>
        <p:nvSpPr>
          <p:cNvPr id="25" name="TextBox 24"/>
          <p:cNvSpPr txBox="1"/>
          <p:nvPr/>
        </p:nvSpPr>
        <p:spPr>
          <a:xfrm>
            <a:off x="9288017" y="3520440"/>
            <a:ext cx="2096262" cy="1005840"/>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Τι κερδίζει η επιχείρηση και πού σταματάμε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01</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πρόβλημα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ζήτησε η επιχείρηση και τι υποσχεθήκαμε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ΠΡΟΒΛΗΜΑ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δεδομένα υπάρχουν, οι αποφάσεις δεν τα κοιτάνε</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4</a:t>
            </a:r>
          </a:p>
        </p:txBody>
      </p:sp>
      <p:sp>
        <p:nvSpPr>
          <p:cNvPr id="6" name="TextBox 5"/>
          <p:cNvSpPr txBox="1"/>
          <p:nvPr/>
        </p:nvSpPr>
        <p:spPr>
          <a:xfrm>
            <a:off x="548640" y="2116836"/>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Ένα ηλεκτρονικό κατάστημα καταγράφει τα πάντα. Κάθε παραγγελία, κάθε γραμμή προϊόντος, κάθε επιστροφή.</a:t>
            </a:r>
          </a:p>
          <a:p>
            <a:pPr algn="l">
              <a:lnSpc>
                <a:spcPct val="122000"/>
              </a:lnSpc>
              <a:spcAft>
                <a:spcPts val="900"/>
              </a:spcAft>
            </a:pPr>
            <a:r>
              <a:rPr sz="1500" b="0">
                <a:solidFill>
                  <a:srgbClr val="241F1B"/>
                </a:solidFill>
                <a:latin typeface="Calibri"/>
              </a:rPr>
              <a:t>Οι αποφάσεις όμως για το marketing και τις πωλήσεις παίρνονται με τη διαίσθηση. Κανείς δεν ανοίγει ποτέ αυτά τα δεδομένα.</a:t>
            </a:r>
          </a:p>
          <a:p>
            <a:pPr algn="l">
              <a:lnSpc>
                <a:spcPct val="122000"/>
              </a:lnSpc>
              <a:spcAft>
                <a:spcPts val="900"/>
              </a:spcAft>
            </a:pPr>
            <a:r>
              <a:rPr sz="1500" b="1">
                <a:solidFill>
                  <a:srgbClr val="241F1B"/>
                </a:solidFill>
                <a:latin typeface="Calibri"/>
              </a:rPr>
              <a:t>Η εργασία κλείνει αυτό το κενό. Διαβάζει το ιστορικό των πωλήσεων και βγάζει απαντήσεις που μπορεί να χρησιμοποιήσει η επιχείρηση.</a:t>
            </a:r>
          </a:p>
        </p:txBody>
      </p:sp>
      <p:sp>
        <p:nvSpPr>
          <p:cNvPr id="7" name="Rounded Rectangle 6"/>
          <p:cNvSpPr/>
          <p:nvPr/>
        </p:nvSpPr>
        <p:spPr>
          <a:xfrm>
            <a:off x="6291072" y="2116836"/>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28142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ΤΙ ΕΧΟΥΜΕ</a:t>
            </a:r>
          </a:p>
        </p:txBody>
      </p:sp>
      <p:sp>
        <p:nvSpPr>
          <p:cNvPr id="9" name="TextBox 8"/>
          <p:cNvSpPr txBox="1"/>
          <p:nvPr/>
        </p:nvSpPr>
        <p:spPr>
          <a:xfrm>
            <a:off x="6519672" y="261975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Πλήρες, ακριβές ιστορικό συναλλαγών</a:t>
            </a:r>
          </a:p>
        </p:txBody>
      </p:sp>
      <p:sp>
        <p:nvSpPr>
          <p:cNvPr id="10" name="Rounded Rectangle 9"/>
          <p:cNvSpPr/>
          <p:nvPr/>
        </p:nvSpPr>
        <p:spPr>
          <a:xfrm>
            <a:off x="6291072" y="3351276"/>
            <a:ext cx="5349240" cy="1051560"/>
          </a:xfrm>
          <a:prstGeom prst="roundRect">
            <a:avLst/>
          </a:prstGeom>
          <a:solidFill>
            <a:srgbClr val="FFFFFF"/>
          </a:solidFill>
          <a:ln w="9525">
            <a:solidFill>
              <a:srgbClr val="B0413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51586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B0413E"/>
                </a:solidFill>
                <a:latin typeface="Cambria"/>
              </a:rPr>
              <a:t>ΤΟ ΚΕΝΟ</a:t>
            </a:r>
          </a:p>
        </p:txBody>
      </p:sp>
      <p:sp>
        <p:nvSpPr>
          <p:cNvPr id="12" name="TextBox 11"/>
          <p:cNvSpPr txBox="1"/>
          <p:nvPr/>
        </p:nvSpPr>
        <p:spPr>
          <a:xfrm>
            <a:off x="6519672" y="3854195"/>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B0413E"/>
                </a:solidFill>
                <a:latin typeface="Calibri"/>
              </a:rPr>
              <a:t>Αποφάσεις με το μάτι, όχι με τα νούμερα</a:t>
            </a:r>
          </a:p>
        </p:txBody>
      </p:sp>
      <p:sp>
        <p:nvSpPr>
          <p:cNvPr id="13" name="Rounded Rectangle 12"/>
          <p:cNvSpPr/>
          <p:nvPr/>
        </p:nvSpPr>
        <p:spPr>
          <a:xfrm>
            <a:off x="6291072" y="4585716"/>
            <a:ext cx="5349240" cy="105156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19672" y="4750308"/>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ΤΙ ΘΕΛΟΥΜΕ</a:t>
            </a:r>
          </a:p>
        </p:txBody>
      </p:sp>
      <p:sp>
        <p:nvSpPr>
          <p:cNvPr id="15" name="TextBox 14"/>
          <p:cNvSpPr txBox="1"/>
          <p:nvPr/>
        </p:nvSpPr>
        <p:spPr>
          <a:xfrm>
            <a:off x="6519672" y="5088636"/>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Αποφάσεις που στηρίζονται στα δεδομένα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 ΣΤΟΧΟΙ</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Επτά ερωτήματα που κάνει κάθε κατάστημα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Πάνω σε αυτά χτίστηκαν τρεις τεχνικές μηχανικής μάθησης και οι οικονομικοί δείκτες που δείχνουν αν η επιχείρηση είναι υγιής.</a:t>
            </a:r>
          </a:p>
        </p:txBody>
      </p:sp>
      <p:sp>
        <p:nvSpPr>
          <p:cNvPr id="7" name="Oval 6"/>
          <p:cNvSpPr/>
          <p:nvPr/>
        </p:nvSpPr>
        <p:spPr>
          <a:xfrm>
            <a:off x="548640"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1</a:t>
            </a:r>
          </a:p>
        </p:txBody>
      </p:sp>
      <p:sp>
        <p:nvSpPr>
          <p:cNvPr id="9" name="TextBox 8"/>
          <p:cNvSpPr txBox="1"/>
          <p:nvPr/>
        </p:nvSpPr>
        <p:spPr>
          <a:xfrm>
            <a:off x="1225295"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φέρνουν τα περισσότερα έσοδα</a:t>
            </a:r>
          </a:p>
        </p:txBody>
      </p:sp>
      <p:sp>
        <p:nvSpPr>
          <p:cNvPr id="10" name="Oval 9"/>
          <p:cNvSpPr/>
          <p:nvPr/>
        </p:nvSpPr>
        <p:spPr>
          <a:xfrm>
            <a:off x="6231636" y="2072766"/>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31636" y="2191638"/>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2</a:t>
            </a:r>
          </a:p>
        </p:txBody>
      </p:sp>
      <p:sp>
        <p:nvSpPr>
          <p:cNvPr id="12" name="TextBox 11"/>
          <p:cNvSpPr txBox="1"/>
          <p:nvPr/>
        </p:nvSpPr>
        <p:spPr>
          <a:xfrm>
            <a:off x="6908292" y="2200782"/>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Ποιοι πελάτες αγοράζουν τα περισσότερα</a:t>
            </a:r>
          </a:p>
        </p:txBody>
      </p:sp>
      <p:sp>
        <p:nvSpPr>
          <p:cNvPr id="13" name="Oval 12"/>
          <p:cNvSpPr/>
          <p:nvPr/>
        </p:nvSpPr>
        <p:spPr>
          <a:xfrm>
            <a:off x="548640"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3</a:t>
            </a:r>
          </a:p>
        </p:txBody>
      </p:sp>
      <p:sp>
        <p:nvSpPr>
          <p:cNvPr id="15" name="TextBox 14"/>
          <p:cNvSpPr txBox="1"/>
          <p:nvPr/>
        </p:nvSpPr>
        <p:spPr>
          <a:xfrm>
            <a:off x="1225295"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Ποιες περιοχές αγοράζουν τα περισσότερα</a:t>
            </a:r>
          </a:p>
        </p:txBody>
      </p:sp>
      <p:sp>
        <p:nvSpPr>
          <p:cNvPr id="16" name="Oval 15"/>
          <p:cNvSpPr/>
          <p:nvPr/>
        </p:nvSpPr>
        <p:spPr>
          <a:xfrm>
            <a:off x="6231636" y="2914014"/>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1636" y="3032886"/>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4</a:t>
            </a:r>
          </a:p>
        </p:txBody>
      </p:sp>
      <p:sp>
        <p:nvSpPr>
          <p:cNvPr id="18" name="TextBox 17"/>
          <p:cNvSpPr txBox="1"/>
          <p:nvPr/>
        </p:nvSpPr>
        <p:spPr>
          <a:xfrm>
            <a:off x="6908292" y="3042030"/>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Πότε μέσα στον χρόνο γίνονται οι πωλήσεις</a:t>
            </a:r>
          </a:p>
        </p:txBody>
      </p:sp>
      <p:sp>
        <p:nvSpPr>
          <p:cNvPr id="19" name="Oval 18"/>
          <p:cNvSpPr/>
          <p:nvPr/>
        </p:nvSpPr>
        <p:spPr>
          <a:xfrm>
            <a:off x="548640"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8640"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5</a:t>
            </a:r>
          </a:p>
        </p:txBody>
      </p:sp>
      <p:sp>
        <p:nvSpPr>
          <p:cNvPr id="21" name="TextBox 20"/>
          <p:cNvSpPr txBox="1"/>
          <p:nvPr/>
        </p:nvSpPr>
        <p:spPr>
          <a:xfrm>
            <a:off x="1225295"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Ποια προϊόντα επιστρέφονται πιο συχνά</a:t>
            </a:r>
          </a:p>
        </p:txBody>
      </p:sp>
      <p:sp>
        <p:nvSpPr>
          <p:cNvPr id="22" name="Oval 21"/>
          <p:cNvSpPr/>
          <p:nvPr/>
        </p:nvSpPr>
        <p:spPr>
          <a:xfrm>
            <a:off x="6231636" y="3755262"/>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231636" y="3874134"/>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6</a:t>
            </a:r>
          </a:p>
        </p:txBody>
      </p:sp>
      <p:sp>
        <p:nvSpPr>
          <p:cNvPr id="24" name="TextBox 23"/>
          <p:cNvSpPr txBox="1"/>
          <p:nvPr/>
        </p:nvSpPr>
        <p:spPr>
          <a:xfrm>
            <a:off x="6908292" y="3883278"/>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τιμή</a:t>
            </a:r>
          </a:p>
        </p:txBody>
      </p:sp>
      <p:sp>
        <p:nvSpPr>
          <p:cNvPr id="25" name="Oval 24"/>
          <p:cNvSpPr/>
          <p:nvPr/>
        </p:nvSpPr>
        <p:spPr>
          <a:xfrm>
            <a:off x="548640" y="4596510"/>
            <a:ext cx="493776" cy="493776"/>
          </a:xfrm>
          <a:prstGeom prst="ellipse">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48640" y="4715382"/>
            <a:ext cx="493776" cy="274320"/>
          </a:xfrm>
          <a:prstGeom prst="rect">
            <a:avLst/>
          </a:prstGeom>
          <a:noFill/>
        </p:spPr>
        <p:txBody>
          <a:bodyPr wrap="square" anchor="t" lIns="0" rIns="0" tIns="0" bIns="0">
            <a:spAutoFit/>
          </a:bodyPr>
          <a:lstStyle/>
          <a:p>
            <a:pPr algn="ctr">
              <a:lnSpc>
                <a:spcPct val="122000"/>
              </a:lnSpc>
              <a:spcAft>
                <a:spcPts val="0"/>
              </a:spcAft>
            </a:pPr>
            <a:r>
              <a:rPr sz="1600" b="1">
                <a:solidFill>
                  <a:srgbClr val="FFFFFF"/>
                </a:solidFill>
                <a:latin typeface="Cambria"/>
              </a:rPr>
              <a:t>7</a:t>
            </a:r>
          </a:p>
        </p:txBody>
      </p:sp>
      <p:sp>
        <p:nvSpPr>
          <p:cNvPr id="27" name="TextBox 26"/>
          <p:cNvSpPr txBox="1"/>
          <p:nvPr/>
        </p:nvSpPr>
        <p:spPr>
          <a:xfrm>
            <a:off x="1225295" y="4724526"/>
            <a:ext cx="4677156" cy="402336"/>
          </a:xfrm>
          <a:prstGeom prst="rect">
            <a:avLst/>
          </a:prstGeom>
          <a:noFill/>
        </p:spPr>
        <p:txBody>
          <a:bodyPr wrap="square" anchor="t" lIns="0" rIns="0" tIns="0" bIns="0">
            <a:spAutoFit/>
          </a:bodyPr>
          <a:lstStyle/>
          <a:p>
            <a:pPr algn="l">
              <a:lnSpc>
                <a:spcPct val="122000"/>
              </a:lnSpc>
              <a:spcAft>
                <a:spcPts val="0"/>
              </a:spcAft>
            </a:pPr>
            <a:r>
              <a:rPr sz="1600" b="0">
                <a:solidFill>
                  <a:srgbClr val="241F1B"/>
                </a:solidFill>
                <a:latin typeface="Calibri"/>
              </a:rPr>
              <a:t>Πώς μοιράζονται οι πωλήσεις ανά είδος προϊόντος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ΑΡΧΕΣ ΣΧΕΔΙΑΣΗΣ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κανόνες που τηρούνται παντού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6</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δύο κανόνες δεν είναι διακήρυξη. Ο πρώτος ελέγχεται με δεύτερη πηγή δεδομένων, ο δεύτερος με τεστ που απαιτούν τη σήμανση σε κάθε απάντηση κερδοφορίας.</a:t>
            </a:r>
          </a:p>
        </p:txBody>
      </p:sp>
      <p:sp>
        <p:nvSpPr>
          <p:cNvPr id="7" name="Rounded Rectangle 6"/>
          <p:cNvSpPr/>
          <p:nvPr/>
        </p:nvSpPr>
        <p:spPr>
          <a:xfrm>
            <a:off x="548640" y="2258568"/>
            <a:ext cx="5454396" cy="210312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77240"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ΔΟΥΛΕΥΕΙ ΠΑΝΤΟΥ</a:t>
            </a:r>
          </a:p>
        </p:txBody>
      </p:sp>
      <p:sp>
        <p:nvSpPr>
          <p:cNvPr id="9" name="TextBox 8"/>
          <p:cNvSpPr txBox="1"/>
          <p:nvPr/>
        </p:nvSpPr>
        <p:spPr>
          <a:xfrm>
            <a:off x="777240"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Το σύστημα δεν φτιάχτηκε για ένα κατάστημα. Κάθε πηγή δεδομένων μεταφράζεται σε μία κοινή μορφή, οπότε ο αναλυτικός κώδικας δεν ξέρει ποτέ από πού ήρθαν τα νούμερα.</a:t>
            </a:r>
          </a:p>
        </p:txBody>
      </p:sp>
      <p:sp>
        <p:nvSpPr>
          <p:cNvPr id="10" name="Rounded Rectangle 9"/>
          <p:cNvSpPr/>
          <p:nvPr/>
        </p:nvSpPr>
        <p:spPr>
          <a:xfrm>
            <a:off x="6185916" y="2258568"/>
            <a:ext cx="5454396" cy="2103120"/>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14516" y="2423160"/>
            <a:ext cx="4997196"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ΔΕΝ ΛΕΕΙ ΨΕΜΑΤΑ</a:t>
            </a:r>
          </a:p>
        </p:txBody>
      </p:sp>
      <p:sp>
        <p:nvSpPr>
          <p:cNvPr id="12" name="TextBox 11"/>
          <p:cNvSpPr txBox="1"/>
          <p:nvPr/>
        </p:nvSpPr>
        <p:spPr>
          <a:xfrm>
            <a:off x="6414516" y="2761488"/>
            <a:ext cx="4997196" cy="1408175"/>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Ξεχωρίζουμε καθαρά τι μετρήσαμε από τι υποθέσαμε. Τα δεδομένα δεν έχουν κόστη, άρα το κέρδος δεν μετριέται. Βγαίνει ως σενάριο, και αυτό γράφεται πάνω στην ίδια την απάντηση.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02</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Το σύστημα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Πώς είναι φτιαγμένο και πώς φαίνεται όταν τρέχει</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Τέσσερα επίπεδα, τρεις έξοδοι</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8</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Και οι τρεις έξοδοι τρέφονται από τις ίδιες συναρτήσεις. Μια κάρτα του Metabase και το αντίστοιχο endpoint δίνουν πάντα τον ίδιο αριθμό.</a:t>
            </a:r>
          </a:p>
        </p:txBody>
      </p:sp>
      <p:sp>
        <p:nvSpPr>
          <p:cNvPr id="7" name="Rounded Rectangle 6"/>
          <p:cNvSpPr/>
          <p:nvPr/>
        </p:nvSpPr>
        <p:spPr>
          <a:xfrm>
            <a:off x="548640" y="1928558"/>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1928558"/>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04672" y="2010854"/>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API</a:t>
            </a:r>
          </a:p>
        </p:txBody>
      </p:sp>
      <p:sp>
        <p:nvSpPr>
          <p:cNvPr id="10" name="TextBox 9"/>
          <p:cNvSpPr txBox="1"/>
          <p:nvPr/>
        </p:nvSpPr>
        <p:spPr>
          <a:xfrm>
            <a:off x="2651760" y="2029142"/>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δέχεται τα ερωτήματα</a:t>
            </a:r>
          </a:p>
        </p:txBody>
      </p:sp>
      <p:sp>
        <p:nvSpPr>
          <p:cNvPr id="11" name="Rounded Rectangle 10"/>
          <p:cNvSpPr/>
          <p:nvPr/>
        </p:nvSpPr>
        <p:spPr>
          <a:xfrm>
            <a:off x="548640" y="2605214"/>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48640" y="2605214"/>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2" y="2687510"/>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Services</a:t>
            </a:r>
          </a:p>
        </p:txBody>
      </p:sp>
      <p:sp>
        <p:nvSpPr>
          <p:cNvPr id="14" name="TextBox 13"/>
          <p:cNvSpPr txBox="1"/>
          <p:nvPr/>
        </p:nvSpPr>
        <p:spPr>
          <a:xfrm>
            <a:off x="2651760" y="2705798"/>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η λογική της επιχείρησης</a:t>
            </a:r>
          </a:p>
        </p:txBody>
      </p:sp>
      <p:sp>
        <p:nvSpPr>
          <p:cNvPr id="15" name="Rounded Rectangle 14"/>
          <p:cNvSpPr/>
          <p:nvPr/>
        </p:nvSpPr>
        <p:spPr>
          <a:xfrm>
            <a:off x="548640" y="3281870"/>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548640" y="3281870"/>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04672" y="3364166"/>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Repositories</a:t>
            </a:r>
          </a:p>
        </p:txBody>
      </p:sp>
      <p:sp>
        <p:nvSpPr>
          <p:cNvPr id="18" name="TextBox 17"/>
          <p:cNvSpPr txBox="1"/>
          <p:nvPr/>
        </p:nvSpPr>
        <p:spPr>
          <a:xfrm>
            <a:off x="2651760" y="3382454"/>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ερωτήματα SQL</a:t>
            </a:r>
          </a:p>
        </p:txBody>
      </p:sp>
      <p:sp>
        <p:nvSpPr>
          <p:cNvPr id="19" name="Rounded Rectangle 18"/>
          <p:cNvSpPr/>
          <p:nvPr/>
        </p:nvSpPr>
        <p:spPr>
          <a:xfrm>
            <a:off x="548640" y="3958526"/>
            <a:ext cx="5349240" cy="56692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548640" y="3958526"/>
            <a:ext cx="82296" cy="566928"/>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4672" y="4040821"/>
            <a:ext cx="1828800" cy="237744"/>
          </a:xfrm>
          <a:prstGeom prst="rect">
            <a:avLst/>
          </a:prstGeom>
          <a:noFill/>
        </p:spPr>
        <p:txBody>
          <a:bodyPr wrap="square" anchor="t" lIns="0" rIns="0" tIns="0" bIns="0">
            <a:spAutoFit/>
          </a:bodyPr>
          <a:lstStyle/>
          <a:p>
            <a:pPr algn="l">
              <a:lnSpc>
                <a:spcPct val="122000"/>
              </a:lnSpc>
              <a:spcAft>
                <a:spcPts val="0"/>
              </a:spcAft>
            </a:pPr>
            <a:r>
              <a:rPr sz="1300" b="1">
                <a:solidFill>
                  <a:srgbClr val="2C5530"/>
                </a:solidFill>
                <a:latin typeface="Cambria"/>
              </a:rPr>
              <a:t>PostgreSQL</a:t>
            </a:r>
          </a:p>
        </p:txBody>
      </p:sp>
      <p:sp>
        <p:nvSpPr>
          <p:cNvPr id="22" name="TextBox 21"/>
          <p:cNvSpPr txBox="1"/>
          <p:nvPr/>
        </p:nvSpPr>
        <p:spPr>
          <a:xfrm>
            <a:off x="2651760" y="4059109"/>
            <a:ext cx="3017520" cy="237744"/>
          </a:xfrm>
          <a:prstGeom prst="rect">
            <a:avLst/>
          </a:prstGeom>
          <a:noFill/>
        </p:spPr>
        <p:txBody>
          <a:bodyPr wrap="square" anchor="t" lIns="0" rIns="0" tIns="0" bIns="0">
            <a:spAutoFit/>
          </a:bodyPr>
          <a:lstStyle/>
          <a:p>
            <a:pPr algn="l">
              <a:lnSpc>
                <a:spcPct val="122000"/>
              </a:lnSpc>
              <a:spcAft>
                <a:spcPts val="0"/>
              </a:spcAft>
            </a:pPr>
            <a:r>
              <a:rPr sz="1200" b="0">
                <a:solidFill>
                  <a:srgbClr val="6B6259"/>
                </a:solidFill>
                <a:latin typeface="Calibri"/>
              </a:rPr>
              <a:t>τα δεδομένα</a:t>
            </a:r>
          </a:p>
        </p:txBody>
      </p:sp>
      <p:sp>
        <p:nvSpPr>
          <p:cNvPr id="23" name="Rectangle 22"/>
          <p:cNvSpPr/>
          <p:nvPr/>
        </p:nvSpPr>
        <p:spPr>
          <a:xfrm>
            <a:off x="548640" y="4671758"/>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548640" y="4671758"/>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77240" y="4818062"/>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αλγόριθμοι εξόρυξης και μηχανικής μάθησης ζουν σε δικό τους επίπεδο, χωρίς να ξέρουν τίποτα για τη βάση ή το framework. Οι αργές αναλύσεις τρέχουν στο παρασκήνιο με Celery.</a:t>
            </a:r>
          </a:p>
        </p:txBody>
      </p:sp>
      <p:sp>
        <p:nvSpPr>
          <p:cNvPr id="26" name="Rounded Rectangle 25"/>
          <p:cNvSpPr/>
          <p:nvPr/>
        </p:nvSpPr>
        <p:spPr>
          <a:xfrm>
            <a:off x="6291072" y="192855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19672" y="209315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REST API</a:t>
            </a:r>
          </a:p>
        </p:txBody>
      </p:sp>
      <p:sp>
        <p:nvSpPr>
          <p:cNvPr id="28" name="TextBox 27"/>
          <p:cNvSpPr txBox="1"/>
          <p:nvPr/>
        </p:nvSpPr>
        <p:spPr>
          <a:xfrm>
            <a:off x="6519672" y="243147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JSON κάτω από το /api/v1, για προγράμματα</a:t>
            </a:r>
          </a:p>
        </p:txBody>
      </p:sp>
      <p:sp>
        <p:nvSpPr>
          <p:cNvPr id="29" name="Rounded Rectangle 28"/>
          <p:cNvSpPr/>
          <p:nvPr/>
        </p:nvSpPr>
        <p:spPr>
          <a:xfrm>
            <a:off x="6291072" y="316299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19672" y="332759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METABASE</a:t>
            </a:r>
          </a:p>
        </p:txBody>
      </p:sp>
      <p:sp>
        <p:nvSpPr>
          <p:cNvPr id="31" name="TextBox 30"/>
          <p:cNvSpPr txBox="1"/>
          <p:nvPr/>
        </p:nvSpPr>
        <p:spPr>
          <a:xfrm>
            <a:off x="6519672" y="366591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Έτοιμοι πίνακες, για όποιον δεν γράφει κώδικα</a:t>
            </a:r>
          </a:p>
        </p:txBody>
      </p:sp>
      <p:sp>
        <p:nvSpPr>
          <p:cNvPr id="32" name="Rounded Rectangle 31"/>
          <p:cNvSpPr/>
          <p:nvPr/>
        </p:nvSpPr>
        <p:spPr>
          <a:xfrm>
            <a:off x="6291072" y="439743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19672" y="456203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JUPYTER</a:t>
            </a:r>
          </a:p>
        </p:txBody>
      </p:sp>
      <p:sp>
        <p:nvSpPr>
          <p:cNvPr id="34" name="TextBox 33"/>
          <p:cNvSpPr txBox="1"/>
          <p:nvPr/>
        </p:nvSpPr>
        <p:spPr>
          <a:xfrm>
            <a:off x="6519672" y="490035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Τα σχήματα της διατριβής</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Τρεις δρόμοι για τα δεδομένα, ένας μόνο θέλει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9</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επιστροφές μπαίνουν ως ξεχωριστές εγγραφές με θετικά νούμερα, ποτέ ως αρνητικές γραμμές πώλησης. Έσοδα από τα οποία έχουν ήδη αφαιρεθεί οι επιστροφές δεν ξαναχωρίζονται.</a:t>
            </a:r>
          </a:p>
        </p:txBody>
      </p:sp>
      <p:sp>
        <p:nvSpPr>
          <p:cNvPr id="7" name="Rectangle 6"/>
          <p:cNvSpPr/>
          <p:nvPr/>
        </p:nvSpPr>
        <p:spPr>
          <a:xfrm>
            <a:off x="548640" y="2018792"/>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101088"/>
            <a:ext cx="238475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Δρόμος</a:t>
            </a:r>
          </a:p>
        </p:txBody>
      </p:sp>
      <p:sp>
        <p:nvSpPr>
          <p:cNvPr id="9" name="TextBox 8"/>
          <p:cNvSpPr txBox="1"/>
          <p:nvPr/>
        </p:nvSpPr>
        <p:spPr>
          <a:xfrm>
            <a:off x="3207715" y="2101088"/>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Ποιος κινείται</a:t>
            </a:r>
          </a:p>
        </p:txBody>
      </p:sp>
      <p:sp>
        <p:nvSpPr>
          <p:cNvPr id="10" name="TextBox 9"/>
          <p:cNvSpPr txBox="1"/>
          <p:nvPr/>
        </p:nvSpPr>
        <p:spPr>
          <a:xfrm>
            <a:off x="4812487" y="2101088"/>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Κώδικας</a:t>
            </a:r>
          </a:p>
        </p:txBody>
      </p:sp>
      <p:sp>
        <p:nvSpPr>
          <p:cNvPr id="11" name="TextBox 10"/>
          <p:cNvSpPr txBox="1"/>
          <p:nvPr/>
        </p:nvSpPr>
        <p:spPr>
          <a:xfrm>
            <a:off x="640080" y="245770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Στέλνει παρτίδες στο API</a:t>
            </a:r>
          </a:p>
        </p:txBody>
      </p:sp>
      <p:sp>
        <p:nvSpPr>
          <p:cNvPr id="12" name="TextBox 11"/>
          <p:cNvSpPr txBox="1"/>
          <p:nvPr/>
        </p:nvSpPr>
        <p:spPr>
          <a:xfrm>
            <a:off x="3207715" y="245770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13" name="TextBox 12"/>
          <p:cNvSpPr txBox="1"/>
          <p:nvPr/>
        </p:nvSpPr>
        <p:spPr>
          <a:xfrm>
            <a:off x="4812487" y="245770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4" name="Rectangle 13"/>
          <p:cNvSpPr/>
          <p:nvPr/>
        </p:nvSpPr>
        <p:spPr>
          <a:xfrm>
            <a:off x="548640" y="2732024"/>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282346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τη βάση του</a:t>
            </a:r>
          </a:p>
        </p:txBody>
      </p:sp>
      <p:sp>
        <p:nvSpPr>
          <p:cNvPr id="16" name="TextBox 15"/>
          <p:cNvSpPr txBox="1"/>
          <p:nvPr/>
        </p:nvSpPr>
        <p:spPr>
          <a:xfrm>
            <a:off x="3207715" y="282346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Εμείς</a:t>
            </a:r>
          </a:p>
        </p:txBody>
      </p:sp>
      <p:sp>
        <p:nvSpPr>
          <p:cNvPr id="17" name="TextBox 16"/>
          <p:cNvSpPr txBox="1"/>
          <p:nvPr/>
        </p:nvSpPr>
        <p:spPr>
          <a:xfrm>
            <a:off x="4812487" y="282346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Όχι</a:t>
            </a:r>
          </a:p>
        </p:txBody>
      </p:sp>
      <p:sp>
        <p:nvSpPr>
          <p:cNvPr id="18" name="TextBox 17"/>
          <p:cNvSpPr txBox="1"/>
          <p:nvPr/>
        </p:nvSpPr>
        <p:spPr>
          <a:xfrm>
            <a:off x="640080" y="3189224"/>
            <a:ext cx="238475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Διαβάζουμε αρχείο εξαγωγής</a:t>
            </a:r>
          </a:p>
        </p:txBody>
      </p:sp>
      <p:sp>
        <p:nvSpPr>
          <p:cNvPr id="19" name="TextBox 18"/>
          <p:cNvSpPr txBox="1"/>
          <p:nvPr/>
        </p:nvSpPr>
        <p:spPr>
          <a:xfrm>
            <a:off x="3207715" y="3189224"/>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Το κατάστημα</a:t>
            </a:r>
          </a:p>
        </p:txBody>
      </p:sp>
      <p:sp>
        <p:nvSpPr>
          <p:cNvPr id="20" name="TextBox 19"/>
          <p:cNvSpPr txBox="1"/>
          <p:nvPr/>
        </p:nvSpPr>
        <p:spPr>
          <a:xfrm>
            <a:off x="4812487" y="3189224"/>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Ναι</a:t>
            </a:r>
          </a:p>
        </p:txBody>
      </p:sp>
      <p:sp>
        <p:nvSpPr>
          <p:cNvPr id="21" name="Rectangle 20"/>
          <p:cNvSpPr/>
          <p:nvPr/>
        </p:nvSpPr>
        <p:spPr>
          <a:xfrm>
            <a:off x="548640" y="3609848"/>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548640" y="3609848"/>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7240" y="3756152"/>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Οι κανόνες εγκυρότητας ζουν σε ένα μόνο σημείο, οπότε κανένας δρόμος δεν δέχεται ό,τι απορρίπτει ο άλλος.</a:t>
            </a:r>
          </a:p>
        </p:txBody>
      </p:sp>
      <p:sp>
        <p:nvSpPr>
          <p:cNvPr id="24" name="TextBox 23"/>
          <p:cNvSpPr txBox="1"/>
          <p:nvPr/>
        </p:nvSpPr>
        <p:spPr>
          <a:xfrm>
            <a:off x="6291072" y="2018792"/>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ΕΞΙ ΕΝΝΟΙΕΣ, ΙΔΙΕΣ ΓΙΑ ΚΑΘΕ ΚΑΤΑΣΤΗΜΑ</a:t>
            </a:r>
          </a:p>
        </p:txBody>
      </p:sp>
      <p:sp>
        <p:nvSpPr>
          <p:cNvPr id="25" name="Rounded Rectangle 24"/>
          <p:cNvSpPr/>
          <p:nvPr/>
        </p:nvSpPr>
        <p:spPr>
          <a:xfrm>
            <a:off x="6291072"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91072"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Πελάτης</a:t>
            </a:r>
          </a:p>
        </p:txBody>
      </p:sp>
      <p:sp>
        <p:nvSpPr>
          <p:cNvPr id="27" name="Rounded Rectangle 26"/>
          <p:cNvSpPr/>
          <p:nvPr/>
        </p:nvSpPr>
        <p:spPr>
          <a:xfrm>
            <a:off x="9029700" y="2366264"/>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029700" y="2457704"/>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Προϊόν</a:t>
            </a:r>
          </a:p>
        </p:txBody>
      </p:sp>
      <p:sp>
        <p:nvSpPr>
          <p:cNvPr id="29" name="Rounded Rectangle 28"/>
          <p:cNvSpPr/>
          <p:nvPr/>
        </p:nvSpPr>
        <p:spPr>
          <a:xfrm>
            <a:off x="6291072"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91072"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Περιοχή</a:t>
            </a:r>
          </a:p>
        </p:txBody>
      </p:sp>
      <p:sp>
        <p:nvSpPr>
          <p:cNvPr id="31" name="Rounded Rectangle 30"/>
          <p:cNvSpPr/>
          <p:nvPr/>
        </p:nvSpPr>
        <p:spPr>
          <a:xfrm>
            <a:off x="9029700" y="2841752"/>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029700" y="2933192"/>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Παραγγελία</a:t>
            </a:r>
          </a:p>
        </p:txBody>
      </p:sp>
      <p:sp>
        <p:nvSpPr>
          <p:cNvPr id="33" name="Rounded Rectangle 32"/>
          <p:cNvSpPr/>
          <p:nvPr/>
        </p:nvSpPr>
        <p:spPr>
          <a:xfrm>
            <a:off x="6291072"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291072"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Γραμμή παραγγελίας</a:t>
            </a:r>
          </a:p>
        </p:txBody>
      </p:sp>
      <p:sp>
        <p:nvSpPr>
          <p:cNvPr id="35" name="Rounded Rectangle 34"/>
          <p:cNvSpPr/>
          <p:nvPr/>
        </p:nvSpPr>
        <p:spPr>
          <a:xfrm>
            <a:off x="9029700" y="3317240"/>
            <a:ext cx="2610612" cy="384048"/>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029700" y="3408680"/>
            <a:ext cx="2610612" cy="237744"/>
          </a:xfrm>
          <a:prstGeom prst="rect">
            <a:avLst/>
          </a:prstGeom>
          <a:noFill/>
        </p:spPr>
        <p:txBody>
          <a:bodyPr wrap="square" anchor="t" lIns="0" rIns="0" tIns="0" bIns="0">
            <a:spAutoFit/>
          </a:bodyPr>
          <a:lstStyle/>
          <a:p>
            <a:pPr algn="ctr">
              <a:lnSpc>
                <a:spcPct val="122000"/>
              </a:lnSpc>
              <a:spcAft>
                <a:spcPts val="0"/>
              </a:spcAft>
            </a:pPr>
            <a:r>
              <a:rPr sz="1200" b="1">
                <a:solidFill>
                  <a:srgbClr val="2C5530"/>
                </a:solidFill>
                <a:latin typeface="Calibri"/>
              </a:rPr>
              <a:t>Επιστροφή</a:t>
            </a:r>
          </a:p>
        </p:txBody>
      </p:sp>
      <p:sp>
        <p:nvSpPr>
          <p:cNvPr id="37" name="Rounded Rectangle 36"/>
          <p:cNvSpPr/>
          <p:nvPr/>
        </p:nvSpPr>
        <p:spPr>
          <a:xfrm>
            <a:off x="6291072" y="3847592"/>
            <a:ext cx="5349240" cy="1473708"/>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519672" y="4012184"/>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Η ΑΠΟΔΕΙΞΗ</a:t>
            </a:r>
          </a:p>
        </p:txBody>
      </p:sp>
      <p:sp>
        <p:nvSpPr>
          <p:cNvPr id="39" name="TextBox 38"/>
          <p:cNvSpPr txBox="1"/>
          <p:nvPr/>
        </p:nvSpPr>
        <p:spPr>
          <a:xfrm>
            <a:off x="6519672" y="4350512"/>
            <a:ext cx="4892040" cy="778763"/>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Ο αναγνώστης βάσης δοκιμάστηκε πάνω σε μια βάση SQLite που δεν μοιράζεται τίποτα με το αρχικό αρχείο. Η γενικότητα δεν είναι ισχυρισμός, είναι δοκιμή.</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API, με πραγματικές απαντήσεις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Είκοσι δύο endpoints ανάλυσης, εικοσιένα ερωτήματα και ένα εισαγωγής, με ζωντανή δοκιμή στο Swagger UI στο /try.</a:t>
            </a:r>
          </a:p>
        </p:txBody>
      </p:sp>
      <p:sp>
        <p:nvSpPr>
          <p:cNvPr id="7" name="TextBox 6"/>
          <p:cNvSpPr txBox="1"/>
          <p:nvPr/>
        </p:nvSpPr>
        <p:spPr>
          <a:xfrm>
            <a:off x="548640"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/api/v1/forecasting/revenue?horizon=3</a:t>
            </a:r>
          </a:p>
        </p:txBody>
      </p:sp>
      <p:sp>
        <p:nvSpPr>
          <p:cNvPr id="8" name="Rectangle 7"/>
          <p:cNvSpPr/>
          <p:nvPr/>
        </p:nvSpPr>
        <p:spPr>
          <a:xfrm>
            <a:off x="548640"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94944"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"method": "exponential_smoothing",</a:t>
            </a:r>
          </a:p>
          <a:p>
            <a:pPr algn="l">
              <a:lnSpc>
                <a:spcPct val="122000"/>
              </a:lnSpc>
              <a:spcAft>
                <a:spcPts val="0"/>
              </a:spcAft>
            </a:pPr>
            <a:r>
              <a:rPr sz="1150" b="0">
                <a:solidFill>
                  <a:srgbClr val="241F1B"/>
                </a:solidFill>
                <a:latin typeface="Consolas"/>
              </a:rPr>
              <a:t>  "horizon": 3,</a:t>
            </a:r>
          </a:p>
          <a:p>
            <a:pPr algn="l">
              <a:lnSpc>
                <a:spcPct val="122000"/>
              </a:lnSpc>
              <a:spcAft>
                <a:spcPts val="0"/>
              </a:spcAft>
            </a:pPr>
            <a:r>
              <a:rPr sz="1150" b="0">
                <a:solidFill>
                  <a:srgbClr val="241F1B"/>
                </a:solidFill>
                <a:latin typeface="Consolas"/>
              </a:rPr>
              <a:t>  "history_length": 25,</a:t>
            </a:r>
          </a:p>
          <a:p>
            <a:pPr algn="l">
              <a:lnSpc>
                <a:spcPct val="122000"/>
              </a:lnSpc>
              <a:spcAft>
                <a:spcPts val="0"/>
              </a:spcAft>
            </a:pPr>
            <a:r>
              <a:rPr sz="1150" b="0">
                <a:solidFill>
                  <a:srgbClr val="241F1B"/>
                </a:solidFill>
                <a:latin typeface="Consolas"/>
              </a:rPr>
              <a:t>  "forecast": [587222.83, 502905.56,</a:t>
            </a:r>
          </a:p>
          <a:p>
            <a:pPr algn="l">
              <a:lnSpc>
                <a:spcPct val="122000"/>
              </a:lnSpc>
              <a:spcAft>
                <a:spcPts val="0"/>
              </a:spcAft>
            </a:pPr>
            <a:r>
              <a:rPr sz="1150" b="0">
                <a:solidFill>
                  <a:srgbClr val="241F1B"/>
                </a:solidFill>
                <a:latin typeface="Consolas"/>
              </a:rPr>
              <a:t>                671261.41],</a:t>
            </a:r>
          </a:p>
          <a:p>
            <a:pPr algn="l">
              <a:lnSpc>
                <a:spcPct val="122000"/>
              </a:lnSpc>
              <a:spcAft>
                <a:spcPts val="0"/>
              </a:spcAft>
            </a:pPr>
            <a:r>
              <a:rPr sz="1150" b="0">
                <a:solidFill>
                  <a:srgbClr val="241F1B"/>
                </a:solidFill>
                <a:latin typeface="Consolas"/>
              </a:rPr>
              <a:t>  "metrics": {</a:t>
            </a:r>
          </a:p>
          <a:p>
            <a:pPr algn="l">
              <a:lnSpc>
                <a:spcPct val="122000"/>
              </a:lnSpc>
              <a:spcAft>
                <a:spcPts val="0"/>
              </a:spcAft>
            </a:pPr>
            <a:r>
              <a:rPr sz="1150" b="0">
                <a:solidFill>
                  <a:srgbClr val="241F1B"/>
                </a:solidFill>
                <a:latin typeface="Consolas"/>
              </a:rPr>
              <a:t>    "mean_absolute_percentage_error": 51.12</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"skill_score": -0.21</a:t>
            </a:r>
          </a:p>
          <a:p>
            <a:pPr algn="l">
              <a:lnSpc>
                <a:spcPct val="122000"/>
              </a:lnSpc>
              <a:spcAft>
                <a:spcPts val="0"/>
              </a:spcAft>
            </a:pPr>
            <a:r>
              <a:rPr sz="1150" b="0">
                <a:solidFill>
                  <a:srgbClr val="241F1B"/>
                </a:solidFill>
                <a:latin typeface="Consolas"/>
              </a:rPr>
              <a:t>}</a:t>
            </a:r>
          </a:p>
        </p:txBody>
      </p:sp>
      <p:sp>
        <p:nvSpPr>
          <p:cNvPr id="10" name="TextBox 9"/>
          <p:cNvSpPr txBox="1"/>
          <p:nvPr/>
        </p:nvSpPr>
        <p:spPr>
          <a:xfrm>
            <a:off x="548640"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Το skill_score είναι αρνητικό. Το σύστημα δείχνει μόνο του πότε χάνει από την πιο απλοϊκή εκτίμηση.</a:t>
            </a:r>
          </a:p>
        </p:txBody>
      </p:sp>
      <p:sp>
        <p:nvSpPr>
          <p:cNvPr id="11" name="TextBox 10"/>
          <p:cNvSpPr txBox="1"/>
          <p:nvPr/>
        </p:nvSpPr>
        <p:spPr>
          <a:xfrm>
            <a:off x="6291072" y="2095246"/>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onsolas"/>
              </a:rPr>
              <a:t>GET /api/v1/profitability/unit-economics</a:t>
            </a:r>
          </a:p>
        </p:txBody>
      </p:sp>
      <p:sp>
        <p:nvSpPr>
          <p:cNvPr id="12" name="Rectangle 11"/>
          <p:cNvSpPr/>
          <p:nvPr/>
        </p:nvSpPr>
        <p:spPr>
          <a:xfrm>
            <a:off x="6291072" y="2442718"/>
            <a:ext cx="5349240" cy="2555748"/>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37376" y="2570734"/>
            <a:ext cx="5056631" cy="2299715"/>
          </a:xfrm>
          <a:prstGeom prst="rect">
            <a:avLst/>
          </a:prstGeom>
          <a:noFill/>
        </p:spPr>
        <p:txBody>
          <a:bodyPr wrap="square" anchor="t" lIns="0" rIns="0" tIns="0" bIns="0">
            <a:spAutoFit/>
          </a:bodyPr>
          <a:lstStyle/>
          <a:p>
            <a:pPr algn="l">
              <a:lnSpc>
                <a:spcPct val="122000"/>
              </a:lnSpc>
              <a:spcAft>
                <a:spcPts val="0"/>
              </a:spcAft>
            </a:pPr>
            <a:r>
              <a:rPr sz="1150" b="0">
                <a:solidFill>
                  <a:srgbClr val="241F1B"/>
                </a:solidFill>
                <a:latin typeface="Consolas"/>
              </a:rPr>
              <a:t>{</a:t>
            </a:r>
          </a:p>
          <a:p>
            <a:pPr algn="l">
              <a:lnSpc>
                <a:spcPct val="122000"/>
              </a:lnSpc>
              <a:spcAft>
                <a:spcPts val="0"/>
              </a:spcAft>
            </a:pPr>
            <a:r>
              <a:rPr sz="1150" b="0">
                <a:solidFill>
                  <a:srgbClr val="241F1B"/>
                </a:solidFill>
                <a:latin typeface="Consolas"/>
              </a:rPr>
              <a:t>  "average_customer_revenue": 2895.0,</a:t>
            </a:r>
          </a:p>
          <a:p>
            <a:pPr algn="l">
              <a:lnSpc>
                <a:spcPct val="122000"/>
              </a:lnSpc>
              <a:spcAft>
                <a:spcPts val="0"/>
              </a:spcAft>
            </a:pPr>
            <a:r>
              <a:rPr sz="1150" b="0">
                <a:solidFill>
                  <a:srgbClr val="241F1B"/>
                </a:solidFill>
                <a:latin typeface="Consolas"/>
              </a:rPr>
              <a:t>  "lifetime_value": 1447.5,</a:t>
            </a:r>
          </a:p>
          <a:p>
            <a:pPr algn="l">
              <a:lnSpc>
                <a:spcPct val="122000"/>
              </a:lnSpc>
              <a:spcAft>
                <a:spcPts val="0"/>
              </a:spcAft>
            </a:pPr>
            <a:r>
              <a:rPr sz="1150" b="0">
                <a:solidFill>
                  <a:srgbClr val="241F1B"/>
                </a:solidFill>
                <a:latin typeface="Consolas"/>
              </a:rPr>
              <a:t>  "assumptions": {</a:t>
            </a:r>
          </a:p>
          <a:p>
            <a:pPr algn="l">
              <a:lnSpc>
                <a:spcPct val="122000"/>
              </a:lnSpc>
              <a:spcAft>
                <a:spcPts val="0"/>
              </a:spcAft>
            </a:pPr>
            <a:r>
              <a:rPr sz="1150" b="0">
                <a:solidFill>
                  <a:srgbClr val="241F1B"/>
                </a:solidFill>
                <a:latin typeface="Consolas"/>
              </a:rPr>
              <a:t>    "gross_margin": 0.5,</a:t>
            </a:r>
          </a:p>
          <a:p>
            <a:pPr algn="l">
              <a:lnSpc>
                <a:spcPct val="122000"/>
              </a:lnSpc>
              <a:spcAft>
                <a:spcPts val="0"/>
              </a:spcAft>
            </a:pPr>
            <a:r>
              <a:rPr sz="1150" b="0">
                <a:solidFill>
                  <a:srgbClr val="241F1B"/>
                </a:solidFill>
                <a:latin typeface="Consolas"/>
              </a:rPr>
              <a:t>    "customer_acquisition_cost": 0.0</a:t>
            </a:r>
          </a:p>
          <a:p>
            <a:pPr algn="l">
              <a:lnSpc>
                <a:spcPct val="122000"/>
              </a:lnSpc>
              <a:spcAft>
                <a:spcPts val="0"/>
              </a:spcAft>
            </a:pPr>
            <a:r>
              <a:rPr sz="1150" b="0">
                <a:solidFill>
                  <a:srgbClr val="241F1B"/>
                </a:solidFill>
                <a:latin typeface="Consolas"/>
              </a:rPr>
              <a:t>  },</a:t>
            </a:r>
          </a:p>
          <a:p>
            <a:pPr algn="l">
              <a:lnSpc>
                <a:spcPct val="122000"/>
              </a:lnSpc>
              <a:spcAft>
                <a:spcPts val="0"/>
              </a:spcAft>
            </a:pPr>
            <a:r>
              <a:rPr sz="1150" b="0">
                <a:solidFill>
                  <a:srgbClr val="241F1B"/>
                </a:solidFill>
                <a:latin typeface="Consolas"/>
              </a:rPr>
              <a:t>  "disclaimer": "Scenario output, not a</a:t>
            </a:r>
          </a:p>
          <a:p>
            <a:pPr algn="l">
              <a:lnSpc>
                <a:spcPct val="122000"/>
              </a:lnSpc>
              <a:spcAft>
                <a:spcPts val="0"/>
              </a:spcAft>
            </a:pPr>
            <a:r>
              <a:rPr sz="1150" b="0">
                <a:solidFill>
                  <a:srgbClr val="241F1B"/>
                </a:solidFill>
                <a:latin typeface="Consolas"/>
              </a:rPr>
              <a:t>    measurement. The source data contains</a:t>
            </a:r>
          </a:p>
          <a:p>
            <a:pPr algn="l">
              <a:lnSpc>
                <a:spcPct val="122000"/>
              </a:lnSpc>
              <a:spcAft>
                <a:spcPts val="0"/>
              </a:spcAft>
            </a:pPr>
            <a:r>
              <a:rPr sz="1150" b="0">
                <a:solidFill>
                  <a:srgbClr val="241F1B"/>
                </a:solidFill>
                <a:latin typeface="Consolas"/>
              </a:rPr>
              <a:t>    no cost of goods and no marketing spend."</a:t>
            </a:r>
          </a:p>
          <a:p>
            <a:pPr algn="l">
              <a:lnSpc>
                <a:spcPct val="122000"/>
              </a:lnSpc>
              <a:spcAft>
                <a:spcPts val="0"/>
              </a:spcAft>
            </a:pPr>
            <a:r>
              <a:rPr sz="1150" b="0">
                <a:solidFill>
                  <a:srgbClr val="241F1B"/>
                </a:solidFill>
                <a:latin typeface="Consolas"/>
              </a:rPr>
              <a:t>}</a:t>
            </a:r>
          </a:p>
        </p:txBody>
      </p:sp>
      <p:sp>
        <p:nvSpPr>
          <p:cNvPr id="14" name="TextBox 13"/>
          <p:cNvSpPr txBox="1"/>
          <p:nvPr/>
        </p:nvSpPr>
        <p:spPr>
          <a:xfrm>
            <a:off x="6291072" y="5089906"/>
            <a:ext cx="5349240" cy="365760"/>
          </a:xfrm>
          <a:prstGeom prst="rect">
            <a:avLst/>
          </a:prstGeom>
          <a:noFill/>
        </p:spPr>
        <p:txBody>
          <a:bodyPr wrap="square" anchor="t" lIns="0" rIns="0" tIns="0" bIns="0">
            <a:spAutoFit/>
          </a:bodyPr>
          <a:lstStyle/>
          <a:p>
            <a:pPr algn="l">
              <a:lnSpc>
                <a:spcPct val="122000"/>
              </a:lnSpc>
              <a:spcAft>
                <a:spcPts val="0"/>
              </a:spcAft>
            </a:pPr>
            <a:r>
              <a:rPr sz="1050" b="0">
                <a:solidFill>
                  <a:srgbClr val="6B6259"/>
                </a:solidFill>
                <a:latin typeface="Calibri"/>
              </a:rPr>
              <a:t>Η σήμανση «σενάριο, όχι μέτρηση» κάθεται μέσα στο ίδιο το JSON, οπότε δεν χάνεται στη μεταφορά.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ΤΟ ΣΥΣΤΗΜΑ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Τα ίδια νούμερα, χωρίς μία γραμμή κώδικα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11</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Metabase συνδέεται ως χρήστης μόνο για ανάγνωση, οπότε ένα dashboard δεν μπορεί ποτέ να γράψει στα δεδομένα. Κάρτα για την κερδοφορία δεν υπάρχει επίτηδες.</a:t>
            </a:r>
          </a:p>
        </p:txBody>
      </p:sp>
      <p:pic>
        <p:nvPicPr>
          <p:cNvPr id="7" name="Picture 6" descr="metabase-dashboard.jpg"/>
          <p:cNvPicPr>
            <a:picLocks noChangeAspect="1"/>
          </p:cNvPicPr>
          <p:nvPr/>
        </p:nvPicPr>
        <p:blipFill>
          <a:blip r:embed="rId2"/>
          <a:stretch>
            <a:fillRect/>
          </a:stretch>
        </p:blipFill>
        <p:spPr>
          <a:xfrm>
            <a:off x="548640" y="1760601"/>
            <a:ext cx="5349240" cy="2692939"/>
          </a:xfrm>
          <a:prstGeom prst="rect">
            <a:avLst/>
          </a:prstGeom>
        </p:spPr>
      </p:pic>
      <p:sp>
        <p:nvSpPr>
          <p:cNvPr id="8" name="Rectangle 7"/>
          <p:cNvSpPr/>
          <p:nvPr/>
        </p:nvSpPr>
        <p:spPr>
          <a:xfrm>
            <a:off x="548640" y="1760601"/>
            <a:ext cx="5349240" cy="269293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4498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dashboard πωλήσεων. Δώδεκα κάρτες SQL σε τρία dashboards</a:t>
            </a:r>
          </a:p>
        </p:txBody>
      </p:sp>
      <p:pic>
        <p:nvPicPr>
          <p:cNvPr id="10" name="Picture 9" descr="metabase-association-rules.jpg"/>
          <p:cNvPicPr>
            <a:picLocks noChangeAspect="1"/>
          </p:cNvPicPr>
          <p:nvPr/>
        </p:nvPicPr>
        <p:blipFill>
          <a:blip r:embed="rId3"/>
          <a:stretch>
            <a:fillRect/>
          </a:stretch>
        </p:blipFill>
        <p:spPr>
          <a:xfrm>
            <a:off x="7376377" y="1760601"/>
            <a:ext cx="3178629" cy="1600200"/>
          </a:xfrm>
          <a:prstGeom prst="rect">
            <a:avLst/>
          </a:prstGeom>
        </p:spPr>
      </p:pic>
      <p:sp>
        <p:nvSpPr>
          <p:cNvPr id="11" name="Rectangle 10"/>
          <p:cNvSpPr/>
          <p:nvPr/>
        </p:nvSpPr>
        <p:spPr>
          <a:xfrm>
            <a:off x="7376377" y="1760601"/>
            <a:ext cx="3178629" cy="16002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345224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κάρτα των κανόνων συσχέτισης, με τη στήλη lift</a:t>
            </a:r>
          </a:p>
        </p:txBody>
      </p:sp>
      <p:pic>
        <p:nvPicPr>
          <p:cNvPr id="13" name="Picture 12" descr="swagger-try.jpg"/>
          <p:cNvPicPr>
            <a:picLocks noChangeAspect="1"/>
          </p:cNvPicPr>
          <p:nvPr/>
        </p:nvPicPr>
        <p:blipFill>
          <a:blip r:embed="rId4"/>
          <a:stretch>
            <a:fillRect/>
          </a:stretch>
        </p:blipFill>
        <p:spPr>
          <a:xfrm>
            <a:off x="7378937" y="3768979"/>
            <a:ext cx="3173509" cy="1719072"/>
          </a:xfrm>
          <a:prstGeom prst="rect">
            <a:avLst/>
          </a:prstGeom>
        </p:spPr>
      </p:pic>
      <p:sp>
        <p:nvSpPr>
          <p:cNvPr id="14" name="Rectangle 13"/>
          <p:cNvSpPr/>
          <p:nvPr/>
        </p:nvSpPr>
        <p:spPr>
          <a:xfrm>
            <a:off x="7378937" y="3768979"/>
            <a:ext cx="3173509" cy="1719072"/>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291072" y="557949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Swagger UI στο /try, με ζωντανή δοκιμή σε κάθε endpoint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03</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Τα ευρήματα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βγήκε από ένα εκατομμύριο γραμμές πωλήσεων</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ΤΑ ΔΕΔΟΜΕΝΑ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Online Retail II: το πείραμα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13</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εισαγωγή ενός εκατομμυρίου γραμμών παίρνει περίπου 140 δευτερόλεπτα.</a:t>
            </a:r>
          </a:p>
        </p:txBody>
      </p:sp>
      <p:sp>
        <p:nvSpPr>
          <p:cNvPr id="7" name="Rounded Rectangle 6"/>
          <p:cNvSpPr/>
          <p:nvPr/>
        </p:nvSpPr>
        <p:spPr>
          <a:xfrm>
            <a:off x="54864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39.516</a:t>
            </a:r>
          </a:p>
        </p:txBody>
      </p:sp>
      <p:sp>
        <p:nvSpPr>
          <p:cNvPr id="9" name="TextBox 8"/>
          <p:cNvSpPr txBox="1"/>
          <p:nvPr/>
        </p:nvSpPr>
        <p:spPr>
          <a:xfrm>
            <a:off x="603503"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Παραγγελίες</a:t>
            </a:r>
          </a:p>
        </p:txBody>
      </p:sp>
      <p:sp>
        <p:nvSpPr>
          <p:cNvPr id="10" name="Rounded Rectangle 9"/>
          <p:cNvSpPr/>
          <p:nvPr/>
        </p:nvSpPr>
        <p:spPr>
          <a:xfrm>
            <a:off x="2421636"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421636"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1.002.423</a:t>
            </a:r>
          </a:p>
        </p:txBody>
      </p:sp>
      <p:sp>
        <p:nvSpPr>
          <p:cNvPr id="12" name="TextBox 11"/>
          <p:cNvSpPr txBox="1"/>
          <p:nvPr/>
        </p:nvSpPr>
        <p:spPr>
          <a:xfrm>
            <a:off x="2476500"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Γραμμές</a:t>
            </a:r>
          </a:p>
        </p:txBody>
      </p:sp>
      <p:sp>
        <p:nvSpPr>
          <p:cNvPr id="13" name="Rounded Rectangle 12"/>
          <p:cNvSpPr/>
          <p:nvPr/>
        </p:nvSpPr>
        <p:spPr>
          <a:xfrm>
            <a:off x="4294632"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294632"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17.925</a:t>
            </a:r>
          </a:p>
        </p:txBody>
      </p:sp>
      <p:sp>
        <p:nvSpPr>
          <p:cNvPr id="15" name="TextBox 14"/>
          <p:cNvSpPr txBox="1"/>
          <p:nvPr/>
        </p:nvSpPr>
        <p:spPr>
          <a:xfrm>
            <a:off x="4349495"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Επιστροφές</a:t>
            </a:r>
          </a:p>
        </p:txBody>
      </p:sp>
      <p:sp>
        <p:nvSpPr>
          <p:cNvPr id="16" name="Rounded Rectangle 15"/>
          <p:cNvSpPr/>
          <p:nvPr/>
        </p:nvSpPr>
        <p:spPr>
          <a:xfrm>
            <a:off x="6167627"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67627"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5.875</a:t>
            </a:r>
          </a:p>
        </p:txBody>
      </p:sp>
      <p:sp>
        <p:nvSpPr>
          <p:cNvPr id="18" name="TextBox 17"/>
          <p:cNvSpPr txBox="1"/>
          <p:nvPr/>
        </p:nvSpPr>
        <p:spPr>
          <a:xfrm>
            <a:off x="6222491"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a:t>
            </a:r>
          </a:p>
        </p:txBody>
      </p:sp>
      <p:sp>
        <p:nvSpPr>
          <p:cNvPr id="19" name="Rounded Rectangle 18"/>
          <p:cNvSpPr/>
          <p:nvPr/>
        </p:nvSpPr>
        <p:spPr>
          <a:xfrm>
            <a:off x="8040624"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4.900</a:t>
            </a:r>
          </a:p>
        </p:txBody>
      </p:sp>
      <p:sp>
        <p:nvSpPr>
          <p:cNvPr id="21" name="TextBox 20"/>
          <p:cNvSpPr txBox="1"/>
          <p:nvPr/>
        </p:nvSpPr>
        <p:spPr>
          <a:xfrm>
            <a:off x="8095488"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a:t>
            </a:r>
          </a:p>
        </p:txBody>
      </p:sp>
      <p:sp>
        <p:nvSpPr>
          <p:cNvPr id="22" name="Rounded Rectangle 21"/>
          <p:cNvSpPr/>
          <p:nvPr/>
        </p:nvSpPr>
        <p:spPr>
          <a:xfrm>
            <a:off x="9913620" y="2258568"/>
            <a:ext cx="1726692"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13620" y="2350008"/>
            <a:ext cx="1726692"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43</a:t>
            </a:r>
          </a:p>
        </p:txBody>
      </p:sp>
      <p:sp>
        <p:nvSpPr>
          <p:cNvPr id="24" name="TextBox 23"/>
          <p:cNvSpPr txBox="1"/>
          <p:nvPr/>
        </p:nvSpPr>
        <p:spPr>
          <a:xfrm>
            <a:off x="9968484" y="2807208"/>
            <a:ext cx="1616964"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Περιοχές</a:t>
            </a:r>
          </a:p>
        </p:txBody>
      </p:sp>
      <p:sp>
        <p:nvSpPr>
          <p:cNvPr id="25" name="TextBox 24"/>
          <p:cNvSpPr txBox="1"/>
          <p:nvPr/>
        </p:nvSpPr>
        <p:spPr>
          <a:xfrm>
            <a:off x="548640" y="3374136"/>
            <a:ext cx="11091672"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Βρετανικό κατάστημα χονδρικής με είδη δώρων, από το 2009 ως το 2011. Δημόσιο σύνολο δεδομένων από το UCI.</a:t>
            </a:r>
          </a:p>
          <a:p>
            <a:pPr algn="l">
              <a:lnSpc>
                <a:spcPct val="122000"/>
              </a:lnSpc>
              <a:spcAft>
                <a:spcPts val="900"/>
              </a:spcAft>
            </a:pPr>
            <a:r>
              <a:rPr sz="1500" b="0">
                <a:solidFill>
                  <a:srgbClr val="241F1B"/>
                </a:solidFill>
                <a:latin typeface="Calibri"/>
              </a:rPr>
              <a:t>Το διάλεξα για τρεις λόγους. Είναι δημόσιο, άρα ο καθένας μπορεί να ελέγξει τα αποτελέσματα. Το έχει χρησιμοποιήσει ήδη δημοσιευμένη έρευνα, άρα υπάρχει με τι να συγκριθεί. Και κρατάει τα ακυρωμένα παραστατικά, χωρίς τα οποία το ερώτημα των επιστροφών δεν απαντιέται καθόλου.</a:t>
            </a:r>
          </a:p>
          <a:p>
            <a:pPr algn="l">
              <a:lnSpc>
                <a:spcPct val="122000"/>
              </a:lnSpc>
              <a:spcAft>
                <a:spcPts val="900"/>
              </a:spcAft>
            </a:pPr>
            <a:r>
              <a:rPr sz="1500" b="0">
                <a:solidFill>
                  <a:srgbClr val="241F1B"/>
                </a:solidFill>
                <a:latin typeface="Calibri"/>
              </a:rPr>
              <a:t>Οι μη εμπορικοί κωδικοί, χειροκίνητες διορθώσεις, ταχυδρομικά και δωροεπιταγές, βγαίνουν έξω. Είναι μόλις το 4% των εσόδων, αλλά αν μείνουν μέσα βγαίνουν πρώτοι στην κατάταξη προϊόντων.</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πουλάει και πού</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14</a:t>
            </a:r>
          </a:p>
        </p:txBody>
      </p:sp>
      <p:pic>
        <p:nvPicPr>
          <p:cNvPr id="6" name="Picture 5" descr="top-products.png"/>
          <p:cNvPicPr>
            <a:picLocks noChangeAspect="1"/>
          </p:cNvPicPr>
          <p:nvPr/>
        </p:nvPicPr>
        <p:blipFill>
          <a:blip r:embed="rId2"/>
          <a:stretch>
            <a:fillRect/>
          </a:stretch>
        </p:blipFill>
        <p:spPr>
          <a:xfrm>
            <a:off x="548640" y="1837563"/>
            <a:ext cx="5349240" cy="2674620"/>
          </a:xfrm>
          <a:prstGeom prst="rect">
            <a:avLst/>
          </a:prstGeom>
        </p:spPr>
      </p:pic>
      <p:sp>
        <p:nvSpPr>
          <p:cNvPr id="7" name="Rectangle 6"/>
          <p:cNvSpPr/>
          <p:nvPr/>
        </p:nvSpPr>
        <p:spPr>
          <a:xfrm>
            <a:off x="548640"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Προϊόντα με τα υψηλότερα έσοδα</a:t>
            </a:r>
          </a:p>
        </p:txBody>
      </p:sp>
      <p:pic>
        <p:nvPicPr>
          <p:cNvPr id="9" name="Picture 8" descr="top-region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Περιοχές με τα υψηλότερα έσοδα</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Η κατάταξη είναι σε έσοδα, όχι σε κομμάτια. Το REGENCY CAKESTAND βγαίνει πρώτο με 26.315 κομμάτια, ενώ το JUMBO BAG πουλάει σχεδόν τετραπλάσια κομμάτια και βγαίνει τρίτο.</a:t>
            </a:r>
          </a:p>
          <a:p>
            <a:pPr algn="l">
              <a:lnSpc>
                <a:spcPct val="122000"/>
              </a:lnSpc>
              <a:spcAft>
                <a:spcPts val="900"/>
              </a:spcAft>
            </a:pPr>
            <a:r>
              <a:rPr sz="1150" b="0">
                <a:solidFill>
                  <a:srgbClr val="241F1B"/>
                </a:solidFill>
                <a:latin typeface="Calibri"/>
              </a:rPr>
              <a:t>Το Ηνωμένο Βασίλειο κάνει περίπου το 86% των εσόδων. Στην Ιρλανδία τρεις πελάτες φέρνουν περισσότερα από τους εκατόν επτά της Γερμανίας. Αυτό είναι σχέση χονδρικής, όχι λιανικής.</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ΠΕΡΙΓΡΑΦΙΚΗ ΑΝΑΛΥΣΗ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Πότε πουλάει και σε τι τιμή</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15</a:t>
            </a:r>
          </a:p>
        </p:txBody>
      </p:sp>
      <p:pic>
        <p:nvPicPr>
          <p:cNvPr id="6" name="Picture 5" descr="sales-monthly.png"/>
          <p:cNvPicPr>
            <a:picLocks noChangeAspect="1"/>
          </p:cNvPicPr>
          <p:nvPr/>
        </p:nvPicPr>
        <p:blipFill>
          <a:blip r:embed="rId2"/>
          <a:stretch>
            <a:fillRect/>
          </a:stretch>
        </p:blipFill>
        <p:spPr>
          <a:xfrm>
            <a:off x="548640" y="2102739"/>
            <a:ext cx="5349240" cy="2139696"/>
          </a:xfrm>
          <a:prstGeom prst="rect">
            <a:avLst/>
          </a:prstGeom>
        </p:spPr>
      </p:pic>
      <p:sp>
        <p:nvSpPr>
          <p:cNvPr id="7" name="Rectangle 6"/>
          <p:cNvSpPr/>
          <p:nvPr/>
        </p:nvSpPr>
        <p:spPr>
          <a:xfrm>
            <a:off x="548640" y="2102739"/>
            <a:ext cx="5349240" cy="2139696"/>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59905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Μηνιαία κατανομή εσόδων</a:t>
            </a:r>
          </a:p>
        </p:txBody>
      </p:sp>
      <p:pic>
        <p:nvPicPr>
          <p:cNvPr id="9" name="Picture 8" descr="price-bands.png"/>
          <p:cNvPicPr>
            <a:picLocks noChangeAspect="1"/>
          </p:cNvPicPr>
          <p:nvPr/>
        </p:nvPicPr>
        <p:blipFill>
          <a:blip r:embed="rId3"/>
          <a:stretch>
            <a:fillRect/>
          </a:stretch>
        </p:blipFill>
        <p:spPr>
          <a:xfrm>
            <a:off x="6291072" y="1837563"/>
            <a:ext cx="5349240" cy="2674620"/>
          </a:xfrm>
          <a:prstGeom prst="rect">
            <a:avLst/>
          </a:prstGeom>
        </p:spPr>
      </p:pic>
      <p:sp>
        <p:nvSpPr>
          <p:cNvPr id="10" name="Rectangle 9"/>
          <p:cNvSpPr/>
          <p:nvPr/>
        </p:nvSpPr>
        <p:spPr>
          <a:xfrm>
            <a:off x="6291072" y="183756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60362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εύρος τιμής μονάδας</a:t>
            </a:r>
          </a:p>
        </p:txBody>
      </p:sp>
      <p:sp>
        <p:nvSpPr>
          <p:cNvPr id="12" name="TextBox 11"/>
          <p:cNvSpPr txBox="1"/>
          <p:nvPr/>
        </p:nvSpPr>
        <p:spPr>
          <a:xfrm>
            <a:off x="548640" y="497522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Νοέμβριος είναι ο πιο δυνατός μήνας και τις δύο χρονιές, λόγω της προετοιμασίας για τα Χριστούγεννα. Τα φθηνά προϊόντα, από μία ως πέντε λίρες τη μονάδα, φέρνουν το 62% των εσόδων.</a:t>
            </a:r>
          </a:p>
          <a:p>
            <a:pPr algn="l">
              <a:lnSpc>
                <a:spcPct val="122000"/>
              </a:lnSpc>
              <a:spcAft>
                <a:spcPts val="900"/>
              </a:spcAft>
            </a:pPr>
            <a:r>
              <a:rPr sz="1150" b="0">
                <a:solidFill>
                  <a:srgbClr val="241F1B"/>
                </a:solidFill>
                <a:latin typeface="Calibri"/>
              </a:rPr>
              <a:t>Στα δεδομένα δεν υπάρχει επίσημη κατηγορία προϊόντος, μόνο ελεύθερο κείμενο. Όποια κατηγοριοποίηση βγάζουμε από λέξεις-κλειδιά αφήνει το 38,9% των εσόδων αταξινόμητο, και αυτό το γράφουμε αντί να το κρύψουμε.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Ποια προϊόντα αγοράζονται μαζί</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16</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Το ερώτημα είναι απλό. Αν κάποιος βάλει ψωμί στο καλάθι, πόσο πιθανό είναι να βάλει και βούτυρο;</a:t>
            </a:r>
          </a:p>
          <a:p>
            <a:pPr algn="l">
              <a:lnSpc>
                <a:spcPct val="122000"/>
              </a:lnSpc>
              <a:spcAft>
                <a:spcPts val="900"/>
              </a:spcAft>
            </a:pPr>
            <a:r>
              <a:rPr sz="1500" b="0">
                <a:solidFill>
                  <a:srgbClr val="241F1B"/>
                </a:solidFill>
                <a:latin typeface="Calibri"/>
              </a:rPr>
              <a:t>Το μετράμε με τρία νούμερα. Το support λέει σε πόσα καλάθια εμφανίζονται τα δύο μαζί. Το confidence λέει πόσο συχνά ακολουθεί το δεύτερο όταν υπάρχει το πρώτο.</a:t>
            </a:r>
          </a:p>
          <a:p>
            <a:pPr algn="l">
              <a:lnSpc>
                <a:spcPct val="122000"/>
              </a:lnSpc>
              <a:spcAft>
                <a:spcPts val="900"/>
              </a:spcAft>
            </a:pPr>
            <a:r>
              <a:rPr sz="1500" b="1">
                <a:solidFill>
                  <a:srgbClr val="241F1B"/>
                </a:solidFill>
                <a:latin typeface="Calibri"/>
              </a:rPr>
              <a:t>Το lift είναι αυτό που μετράει. Διορθώνει το confidence ως προς το πόσο δημοφιλές είναι το δεύτερο προϊόν από μόνο του. Πάνω από 1 σημαίνει πραγματική σχέση, ίσο με 1 σημαίνει σύμπτωση.</a:t>
            </a:r>
          </a:p>
        </p:txBody>
      </p:sp>
      <p:sp>
        <p:nvSpPr>
          <p:cNvPr id="7" name="Rounded Rectangle 6"/>
          <p:cNvSpPr/>
          <p:nvPr/>
        </p:nvSpPr>
        <p:spPr>
          <a:xfrm>
            <a:off x="6291072" y="225856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APRIORI, 1994</a:t>
            </a:r>
          </a:p>
        </p:txBody>
      </p:sp>
      <p:sp>
        <p:nvSpPr>
          <p:cNvPr id="9" name="TextBox 8"/>
          <p:cNvSpPr txBox="1"/>
          <p:nvPr/>
        </p:nvSpPr>
        <p:spPr>
          <a:xfrm>
            <a:off x="6519672" y="2761488"/>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Σαρώνει τη βάση πολλές φορές, ένα επίπεδο τη φορά</a:t>
            </a:r>
          </a:p>
        </p:txBody>
      </p:sp>
      <p:sp>
        <p:nvSpPr>
          <p:cNvPr id="10" name="Rounded Rectangle 9"/>
          <p:cNvSpPr/>
          <p:nvPr/>
        </p:nvSpPr>
        <p:spPr>
          <a:xfrm>
            <a:off x="6291072" y="3493008"/>
            <a:ext cx="5349240" cy="1051560"/>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19672" y="365760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FP-GROWTH, 2000</a:t>
            </a:r>
          </a:p>
        </p:txBody>
      </p:sp>
      <p:sp>
        <p:nvSpPr>
          <p:cNvPr id="12" name="TextBox 11"/>
          <p:cNvSpPr txBox="1"/>
          <p:nvPr/>
        </p:nvSpPr>
        <p:spPr>
          <a:xfrm>
            <a:off x="6519672" y="3995927"/>
            <a:ext cx="4892040" cy="356615"/>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Χτίζει ένα συμπιεσμένο δέντρο και σκάβει μέσα του</a:t>
            </a:r>
          </a:p>
        </p:txBody>
      </p:sp>
      <p:sp>
        <p:nvSpPr>
          <p:cNvPr id="13" name="Rectangle 12"/>
          <p:cNvSpPr/>
          <p:nvPr/>
        </p:nvSpPr>
        <p:spPr>
          <a:xfrm>
            <a:off x="6291072" y="4690872"/>
            <a:ext cx="5349240" cy="716533"/>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6291072" y="4690872"/>
            <a:ext cx="64008" cy="716533"/>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19672" y="4837176"/>
            <a:ext cx="4937759" cy="423925"/>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Με το ίδιο κατώφλι support οι δύο αλγόριθμοι βγάζουν το ίδιο ακριβώς αποτέλεσμα. Διαφέρουν μόνο στον χρόνο.</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ΕΞΟΡΥΞΗ ΣΥΧΝΩΝ ΣΥΝΟΛΩΝ</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Ίδιο αποτέλεσμα, 2,6 φορές πιο γρήγορα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17</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διάμεσο καλάθι έχει δεκαεπτά διαφορετικά προϊόντα. Αυτό είναι χονδρική, όχι λιανική.</a:t>
            </a:r>
          </a:p>
        </p:txBody>
      </p:sp>
      <p:pic>
        <p:nvPicPr>
          <p:cNvPr id="7" name="Picture 6" descr="basket-sizes.png"/>
          <p:cNvPicPr>
            <a:picLocks noChangeAspect="1"/>
          </p:cNvPicPr>
          <p:nvPr/>
        </p:nvPicPr>
        <p:blipFill>
          <a:blip r:embed="rId2"/>
          <a:stretch>
            <a:fillRect/>
          </a:stretch>
        </p:blipFill>
        <p:spPr>
          <a:xfrm>
            <a:off x="548640" y="2258568"/>
            <a:ext cx="5349240" cy="2377440"/>
          </a:xfrm>
          <a:prstGeom prst="rect">
            <a:avLst/>
          </a:prstGeom>
        </p:spPr>
      </p:pic>
      <p:sp>
        <p:nvSpPr>
          <p:cNvPr id="8" name="Rectangle 7"/>
          <p:cNvSpPr/>
          <p:nvPr/>
        </p:nvSpPr>
        <p:spPr>
          <a:xfrm>
            <a:off x="548640" y="2258568"/>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72744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Κατανομή μεγέθους καλαθιού, λογαριθμική κλίμακα</a:t>
            </a:r>
          </a:p>
        </p:txBody>
      </p:sp>
      <p:sp>
        <p:nvSpPr>
          <p:cNvPr id="10" name="Rounded Rectangle 9"/>
          <p:cNvSpPr/>
          <p:nvPr/>
        </p:nvSpPr>
        <p:spPr>
          <a:xfrm>
            <a:off x="6291072"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36.269</a:t>
            </a:r>
          </a:p>
        </p:txBody>
      </p:sp>
      <p:sp>
        <p:nvSpPr>
          <p:cNvPr id="12" name="TextBox 11"/>
          <p:cNvSpPr txBox="1"/>
          <p:nvPr/>
        </p:nvSpPr>
        <p:spPr>
          <a:xfrm>
            <a:off x="6345936"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Καλάθια με 2+ προϊόντα</a:t>
            </a:r>
          </a:p>
        </p:txBody>
      </p:sp>
      <p:sp>
        <p:nvSpPr>
          <p:cNvPr id="13" name="Rounded Rectangle 12"/>
          <p:cNvSpPr/>
          <p:nvPr/>
        </p:nvSpPr>
        <p:spPr>
          <a:xfrm>
            <a:off x="9038844" y="2258568"/>
            <a:ext cx="260146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038844" y="2350008"/>
            <a:ext cx="260146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17</a:t>
            </a:r>
          </a:p>
        </p:txBody>
      </p:sp>
      <p:sp>
        <p:nvSpPr>
          <p:cNvPr id="15" name="TextBox 14"/>
          <p:cNvSpPr txBox="1"/>
          <p:nvPr/>
        </p:nvSpPr>
        <p:spPr>
          <a:xfrm>
            <a:off x="9093708" y="2807208"/>
            <a:ext cx="2491739"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Προϊόντα στο διάμεσο καλάθι</a:t>
            </a:r>
          </a:p>
        </p:txBody>
      </p:sp>
      <p:sp>
        <p:nvSpPr>
          <p:cNvPr id="16" name="Rectangle 15"/>
          <p:cNvSpPr/>
          <p:nvPr/>
        </p:nvSpPr>
        <p:spPr>
          <a:xfrm>
            <a:off x="6291072" y="3374136"/>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382512" y="3456431"/>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Αλγόριθμος</a:t>
            </a:r>
          </a:p>
        </p:txBody>
      </p:sp>
      <p:sp>
        <p:nvSpPr>
          <p:cNvPr id="18" name="TextBox 17"/>
          <p:cNvSpPr txBox="1"/>
          <p:nvPr/>
        </p:nvSpPr>
        <p:spPr>
          <a:xfrm>
            <a:off x="8201253"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Χρόνος</a:t>
            </a:r>
          </a:p>
        </p:txBody>
      </p:sp>
      <p:sp>
        <p:nvSpPr>
          <p:cNvPr id="19" name="TextBox 18"/>
          <p:cNvSpPr txBox="1"/>
          <p:nvPr/>
        </p:nvSpPr>
        <p:spPr>
          <a:xfrm>
            <a:off x="9378086"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Σύνολα</a:t>
            </a:r>
          </a:p>
        </p:txBody>
      </p:sp>
      <p:sp>
        <p:nvSpPr>
          <p:cNvPr id="20" name="TextBox 19"/>
          <p:cNvSpPr txBox="1"/>
          <p:nvPr/>
        </p:nvSpPr>
        <p:spPr>
          <a:xfrm>
            <a:off x="10554919" y="3456431"/>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21" name="TextBox 20"/>
          <p:cNvSpPr txBox="1"/>
          <p:nvPr/>
        </p:nvSpPr>
        <p:spPr>
          <a:xfrm>
            <a:off x="6382512" y="381304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Apriori</a:t>
            </a:r>
          </a:p>
        </p:txBody>
      </p:sp>
      <p:sp>
        <p:nvSpPr>
          <p:cNvPr id="22" name="TextBox 21"/>
          <p:cNvSpPr txBox="1"/>
          <p:nvPr/>
        </p:nvSpPr>
        <p:spPr>
          <a:xfrm>
            <a:off x="8201253"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5,14 s</a:t>
            </a:r>
          </a:p>
        </p:txBody>
      </p:sp>
      <p:sp>
        <p:nvSpPr>
          <p:cNvPr id="23" name="TextBox 22"/>
          <p:cNvSpPr txBox="1"/>
          <p:nvPr/>
        </p:nvSpPr>
        <p:spPr>
          <a:xfrm>
            <a:off x="9378086"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4" name="TextBox 23"/>
          <p:cNvSpPr txBox="1"/>
          <p:nvPr/>
        </p:nvSpPr>
        <p:spPr>
          <a:xfrm>
            <a:off x="10554919" y="381304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25" name="Rectangle 24"/>
          <p:cNvSpPr/>
          <p:nvPr/>
        </p:nvSpPr>
        <p:spPr>
          <a:xfrm>
            <a:off x="6291072" y="4087368"/>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82512" y="4178808"/>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FP-Growth</a:t>
            </a:r>
          </a:p>
        </p:txBody>
      </p:sp>
      <p:sp>
        <p:nvSpPr>
          <p:cNvPr id="27" name="TextBox 26"/>
          <p:cNvSpPr txBox="1"/>
          <p:nvPr/>
        </p:nvSpPr>
        <p:spPr>
          <a:xfrm>
            <a:off x="8201253"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1,96 s</a:t>
            </a:r>
          </a:p>
        </p:txBody>
      </p:sp>
      <p:sp>
        <p:nvSpPr>
          <p:cNvPr id="28" name="TextBox 27"/>
          <p:cNvSpPr txBox="1"/>
          <p:nvPr/>
        </p:nvSpPr>
        <p:spPr>
          <a:xfrm>
            <a:off x="9378086"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29" name="TextBox 28"/>
          <p:cNvSpPr txBox="1"/>
          <p:nvPr/>
        </p:nvSpPr>
        <p:spPr>
          <a:xfrm>
            <a:off x="10554919" y="4178808"/>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ΚΑΝΟΝΕΣ ΣΥΣΧΕΤΙΣΗΣ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πιο δυνατός κανόνας: lift 25,2</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18</a:t>
            </a:r>
          </a:p>
        </p:txBody>
      </p:sp>
      <p:pic>
        <p:nvPicPr>
          <p:cNvPr id="6" name="Picture 5" descr="association-rules.png"/>
          <p:cNvPicPr>
            <a:picLocks noChangeAspect="1"/>
          </p:cNvPicPr>
          <p:nvPr/>
        </p:nvPicPr>
        <p:blipFill>
          <a:blip r:embed="rId2"/>
          <a:stretch>
            <a:fillRect/>
          </a:stretch>
        </p:blipFill>
        <p:spPr>
          <a:xfrm>
            <a:off x="809243" y="1755203"/>
            <a:ext cx="4828032" cy="3017520"/>
          </a:xfrm>
          <a:prstGeom prst="rect">
            <a:avLst/>
          </a:prstGeom>
        </p:spPr>
      </p:pic>
      <p:sp>
        <p:nvSpPr>
          <p:cNvPr id="7" name="Rectangle 6"/>
          <p:cNvSpPr/>
          <p:nvPr/>
        </p:nvSpPr>
        <p:spPr>
          <a:xfrm>
            <a:off x="809243" y="1755203"/>
            <a:ext cx="4828032" cy="30175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Οι 134 κανόνες: support έναντι confidence, χρώμα το lift</a:t>
            </a:r>
          </a:p>
        </p:txBody>
      </p:sp>
      <p:pic>
        <p:nvPicPr>
          <p:cNvPr id="9" name="Picture 8" descr="support-sensitivity.png"/>
          <p:cNvPicPr>
            <a:picLocks noChangeAspect="1"/>
          </p:cNvPicPr>
          <p:nvPr/>
        </p:nvPicPr>
        <p:blipFill>
          <a:blip r:embed="rId3"/>
          <a:stretch>
            <a:fillRect/>
          </a:stretch>
        </p:blipFill>
        <p:spPr>
          <a:xfrm>
            <a:off x="6291072" y="1926653"/>
            <a:ext cx="5349240" cy="2674620"/>
          </a:xfrm>
          <a:prstGeom prst="rect">
            <a:avLst/>
          </a:prstGeom>
        </p:spPr>
      </p:pic>
      <p:sp>
        <p:nvSpPr>
          <p:cNvPr id="10" name="Rectangle 9"/>
          <p:cNvSpPr/>
          <p:nvPr/>
        </p:nvSpPr>
        <p:spPr>
          <a:xfrm>
            <a:off x="6291072" y="1926653"/>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291072" y="4864163"/>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Πλήθος συχνών συνόλων ανά κατώφλι support</a:t>
            </a:r>
          </a:p>
        </p:txBody>
      </p:sp>
      <p:sp>
        <p:nvSpPr>
          <p:cNvPr id="12" name="TextBox 11"/>
          <p:cNvSpPr txBox="1"/>
          <p:nvPr/>
        </p:nvSpPr>
        <p:spPr>
          <a:xfrm>
            <a:off x="548640" y="5235764"/>
            <a:ext cx="11091672" cy="365760"/>
          </a:xfrm>
          <a:prstGeom prst="rect">
            <a:avLst/>
          </a:prstGeom>
          <a:noFill/>
        </p:spPr>
        <p:txBody>
          <a:bodyPr wrap="square" anchor="t" lIns="0" rIns="0" tIns="0" bIns="0">
            <a:spAutoFit/>
          </a:bodyPr>
          <a:lstStyle/>
          <a:p>
            <a:pPr algn="l">
              <a:lnSpc>
                <a:spcPct val="122000"/>
              </a:lnSpc>
              <a:spcAft>
                <a:spcPts val="900"/>
              </a:spcAft>
            </a:pPr>
            <a:r>
              <a:rPr sz="1150" b="0">
                <a:solidFill>
                  <a:srgbClr val="241F1B"/>
                </a:solidFill>
                <a:latin typeface="Calibri"/>
              </a:rPr>
              <a:t>Ο πιο δυνατός κανόνας αφορά τις χρωματικές παραλλαγές του REGENCY TEACUP AND SAUCER. Αγοράζονται μαζί εικοσιπέντε φορές πιο συχνά απ' ό,τι αν ήταν άσχετα μεταξύ τους. Η μετάφραση σε δράση είναι άμεση: οι παραλλαγές αξίζει να προωθούνται σαν συλλογή.</a:t>
            </a:r>
          </a:p>
          <a:p>
            <a:pPr algn="l">
              <a:lnSpc>
                <a:spcPct val="122000"/>
              </a:lnSpc>
              <a:spcAft>
                <a:spcPts val="900"/>
              </a:spcAft>
            </a:pPr>
            <a:r>
              <a:rPr sz="1150" b="0">
                <a:solidFill>
                  <a:srgbClr val="241F1B"/>
                </a:solidFill>
                <a:latin typeface="Calibri"/>
              </a:rPr>
              <a:t>Όσο ανεβαίνει το κατώφλι, τόσο λιγότεροι αλλά πιο σίγουροι κανόνες. Στο 5% δεν επιβιώνει κανένας, σε κατάλογο 4.900 προϊόντων.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Η ΤΕΧΝΙΚΗ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Ομαδοποίηση σε δύο επίπεδα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19</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Έτσι βγαίνει δέντρο από ομάδες, με δική του πληροφορία σε κάθε κλαδί, αντί για μία επίπεδη λίστα.</a:t>
            </a:r>
          </a:p>
        </p:txBody>
      </p:sp>
      <p:sp>
        <p:nvSpPr>
          <p:cNvPr id="7" name="TextBox 6"/>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Ο k-means χωρίζει τα στοιχεία σε ομάδες όπου τα μέλη μοιάζουν μεταξύ τους. Διαλέγει κέντρα, βάζει το καθένα στο πλησιέστερο, μετακινεί τα κέντρα στο μέσο της ομάδας, και επαναλαμβάνει μέχρι να σταθεροποιηθεί.</a:t>
            </a:r>
          </a:p>
          <a:p>
            <a:pPr algn="l">
              <a:lnSpc>
                <a:spcPct val="122000"/>
              </a:lnSpc>
              <a:spcAft>
                <a:spcPts val="900"/>
              </a:spcAft>
            </a:pPr>
            <a:r>
              <a:rPr sz="1500" b="1">
                <a:solidFill>
                  <a:srgbClr val="241F1B"/>
                </a:solidFill>
                <a:latin typeface="Calibri"/>
              </a:rPr>
              <a:t>Πόσες ομάδες; Δεν το αποφασίζουμε εμείς. Δοκιμάζουμε πολλές τιμές και κρατάμε αυτή με το καλύτερο silhouette score, ένα μέτρο του πόσο καθαρά χώρισαν οι ομάδες.</a:t>
            </a:r>
          </a:p>
        </p:txBody>
      </p:sp>
      <p:sp>
        <p:nvSpPr>
          <p:cNvPr id="8" name="Rounded Rectangle 7"/>
          <p:cNvSpPr/>
          <p:nvPr/>
        </p:nvSpPr>
        <p:spPr>
          <a:xfrm>
            <a:off x="6291072" y="2258568"/>
            <a:ext cx="5349240" cy="1256792"/>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19672" y="2423160"/>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2C5530"/>
                </a:solidFill>
                <a:latin typeface="Cambria"/>
              </a:rPr>
              <a:t>ΠΡΩΤΟ ΕΠΙΠΕΔΟ</a:t>
            </a:r>
          </a:p>
        </p:txBody>
      </p:sp>
      <p:sp>
        <p:nvSpPr>
          <p:cNvPr id="10" name="TextBox 9"/>
          <p:cNvSpPr txBox="1"/>
          <p:nvPr/>
        </p:nvSpPr>
        <p:spPr>
          <a:xfrm>
            <a:off x="6519672" y="2761488"/>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241F1B"/>
                </a:solidFill>
                <a:latin typeface="Calibri"/>
              </a:rPr>
              <a:t>Ομαδοποίηση των περιοχών, με βάση έσοδα, παραγγελίες και σε πόσους μήνες ήταν ενεργές</a:t>
            </a:r>
          </a:p>
        </p:txBody>
      </p:sp>
      <p:sp>
        <p:nvSpPr>
          <p:cNvPr id="11" name="Rounded Rectangle 10"/>
          <p:cNvSpPr/>
          <p:nvPr/>
        </p:nvSpPr>
        <p:spPr>
          <a:xfrm>
            <a:off x="6291072" y="3698240"/>
            <a:ext cx="5349240" cy="1256792"/>
          </a:xfrm>
          <a:prstGeom prst="round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3862832"/>
            <a:ext cx="4892040" cy="274320"/>
          </a:xfrm>
          <a:prstGeom prst="rect">
            <a:avLst/>
          </a:prstGeom>
          <a:noFill/>
        </p:spPr>
        <p:txBody>
          <a:bodyPr wrap="square" anchor="t" lIns="0" rIns="0" tIns="0" bIns="0">
            <a:spAutoFit/>
          </a:bodyPr>
          <a:lstStyle/>
          <a:p>
            <a:pPr algn="l">
              <a:lnSpc>
                <a:spcPct val="122000"/>
              </a:lnSpc>
              <a:spcAft>
                <a:spcPts val="0"/>
              </a:spcAft>
            </a:pPr>
            <a:r>
              <a:rPr sz="1350" b="1">
                <a:solidFill>
                  <a:srgbClr val="FFFFFF"/>
                </a:solidFill>
                <a:latin typeface="Cambria"/>
              </a:rPr>
              <a:t>ΔΕΥΤΕΡΟ ΕΠΙΠΕΔΟ</a:t>
            </a:r>
          </a:p>
        </p:txBody>
      </p:sp>
      <p:sp>
        <p:nvSpPr>
          <p:cNvPr id="13" name="TextBox 12"/>
          <p:cNvSpPr txBox="1"/>
          <p:nvPr/>
        </p:nvSpPr>
        <p:spPr>
          <a:xfrm>
            <a:off x="6519672" y="4201160"/>
            <a:ext cx="4892040" cy="561847"/>
          </a:xfrm>
          <a:prstGeom prst="rect">
            <a:avLst/>
          </a:prstGeom>
          <a:noFill/>
        </p:spPr>
        <p:txBody>
          <a:bodyPr wrap="square" anchor="t" lIns="0" rIns="0" tIns="0" bIns="0">
            <a:spAutoFit/>
          </a:bodyPr>
          <a:lstStyle/>
          <a:p>
            <a:pPr algn="l">
              <a:lnSpc>
                <a:spcPct val="122000"/>
              </a:lnSpc>
              <a:spcAft>
                <a:spcPts val="0"/>
              </a:spcAft>
            </a:pPr>
            <a:r>
              <a:rPr sz="1400" b="0">
                <a:solidFill>
                  <a:srgbClr val="D7E5D2"/>
                </a:solidFill>
                <a:latin typeface="Calibri"/>
              </a:rPr>
              <a:t>Μέσα σε κάθε ομάδα, νέα ομαδοποίηση των πελατών με RFM: πόσο πρόσφατα, πόσο συχνά, πόσα ξοδεύει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ΟΜΑΔΟΠΟΙΗΣΗ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Ηνωμένο Βασίλειο βγαίνει μόνο του</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20</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ίδια δομή εμφανίζεται και στις δύο αγορές: πολλοί περιστασιακοί αγοραστές, και μια χούφτα λογαριασμοί με τάξεις μεγέθους μεγαλύτερη αξία.</a:t>
            </a:r>
          </a:p>
        </p:txBody>
      </p:sp>
      <p:pic>
        <p:nvPicPr>
          <p:cNvPr id="7" name="Picture 6" descr="silhouette-level-one.png"/>
          <p:cNvPicPr>
            <a:picLocks noChangeAspect="1"/>
          </p:cNvPicPr>
          <p:nvPr/>
        </p:nvPicPr>
        <p:blipFill>
          <a:blip r:embed="rId2"/>
          <a:stretch>
            <a:fillRect/>
          </a:stretch>
        </p:blipFill>
        <p:spPr>
          <a:xfrm>
            <a:off x="708659" y="1908175"/>
            <a:ext cx="5029200" cy="2514600"/>
          </a:xfrm>
          <a:prstGeom prst="rect">
            <a:avLst/>
          </a:prstGeom>
        </p:spPr>
      </p:pic>
      <p:sp>
        <p:nvSpPr>
          <p:cNvPr id="8" name="Rectangle 7"/>
          <p:cNvSpPr/>
          <p:nvPr/>
        </p:nvSpPr>
        <p:spPr>
          <a:xfrm>
            <a:off x="708659" y="1908175"/>
            <a:ext cx="502920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514215"/>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silhouette διαλέγει k ίσον 2, με σκορ 0,8793</a:t>
            </a:r>
          </a:p>
        </p:txBody>
      </p:sp>
      <p:sp>
        <p:nvSpPr>
          <p:cNvPr id="10" name="TextBox 9"/>
          <p:cNvSpPr txBox="1"/>
          <p:nvPr/>
        </p:nvSpPr>
        <p:spPr>
          <a:xfrm>
            <a:off x="6291072" y="190817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ΠΡΩΤΟ ΕΠΙΠΕΔΟ: ΠΕΡΙΟΧΕΣ</a:t>
            </a:r>
          </a:p>
        </p:txBody>
      </p:sp>
      <p:sp>
        <p:nvSpPr>
          <p:cNvPr id="11" name="Rectangle 10"/>
          <p:cNvSpPr/>
          <p:nvPr/>
        </p:nvSpPr>
        <p:spPr>
          <a:xfrm>
            <a:off x="6291072" y="223735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382512" y="231965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Ομάδα</a:t>
            </a:r>
          </a:p>
        </p:txBody>
      </p:sp>
      <p:sp>
        <p:nvSpPr>
          <p:cNvPr id="13" name="TextBox 12"/>
          <p:cNvSpPr txBox="1"/>
          <p:nvPr/>
        </p:nvSpPr>
        <p:spPr>
          <a:xfrm>
            <a:off x="8736177" y="231965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Μέλη</a:t>
            </a:r>
          </a:p>
        </p:txBody>
      </p:sp>
      <p:sp>
        <p:nvSpPr>
          <p:cNvPr id="14" name="TextBox 13"/>
          <p:cNvSpPr txBox="1"/>
          <p:nvPr/>
        </p:nvSpPr>
        <p:spPr>
          <a:xfrm>
            <a:off x="10126980" y="231965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Ενεργοί μήνες</a:t>
            </a:r>
          </a:p>
        </p:txBody>
      </p:sp>
      <p:sp>
        <p:nvSpPr>
          <p:cNvPr id="15" name="TextBox 14"/>
          <p:cNvSpPr txBox="1"/>
          <p:nvPr/>
        </p:nvSpPr>
        <p:spPr>
          <a:xfrm>
            <a:off x="6382512" y="267627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Εξαγωγές</a:t>
            </a:r>
          </a:p>
        </p:txBody>
      </p:sp>
      <p:sp>
        <p:nvSpPr>
          <p:cNvPr id="16" name="TextBox 15"/>
          <p:cNvSpPr txBox="1"/>
          <p:nvPr/>
        </p:nvSpPr>
        <p:spPr>
          <a:xfrm>
            <a:off x="8736177" y="267627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42</a:t>
            </a:r>
          </a:p>
        </p:txBody>
      </p:sp>
      <p:sp>
        <p:nvSpPr>
          <p:cNvPr id="17" name="TextBox 16"/>
          <p:cNvSpPr txBox="1"/>
          <p:nvPr/>
        </p:nvSpPr>
        <p:spPr>
          <a:xfrm>
            <a:off x="10126980" y="267627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12,8</a:t>
            </a:r>
          </a:p>
        </p:txBody>
      </p:sp>
      <p:sp>
        <p:nvSpPr>
          <p:cNvPr id="18" name="Rectangle 17"/>
          <p:cNvSpPr/>
          <p:nvPr/>
        </p:nvSpPr>
        <p:spPr>
          <a:xfrm>
            <a:off x="6291072" y="2950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82512" y="3042031"/>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Ηνωμένο Βασίλειο</a:t>
            </a:r>
          </a:p>
        </p:txBody>
      </p:sp>
      <p:sp>
        <p:nvSpPr>
          <p:cNvPr id="20" name="TextBox 19"/>
          <p:cNvSpPr txBox="1"/>
          <p:nvPr/>
        </p:nvSpPr>
        <p:spPr>
          <a:xfrm>
            <a:off x="8736177" y="3042031"/>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a:t>
            </a:r>
          </a:p>
        </p:txBody>
      </p:sp>
      <p:sp>
        <p:nvSpPr>
          <p:cNvPr id="21" name="TextBox 20"/>
          <p:cNvSpPr txBox="1"/>
          <p:nvPr/>
        </p:nvSpPr>
        <p:spPr>
          <a:xfrm>
            <a:off x="10126980" y="3042031"/>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25,0</a:t>
            </a:r>
          </a:p>
        </p:txBody>
      </p:sp>
      <p:sp>
        <p:nvSpPr>
          <p:cNvPr id="22" name="TextBox 21"/>
          <p:cNvSpPr txBox="1"/>
          <p:nvPr/>
        </p:nvSpPr>
        <p:spPr>
          <a:xfrm>
            <a:off x="6291072" y="3462655"/>
            <a:ext cx="5349240" cy="256032"/>
          </a:xfrm>
          <a:prstGeom prst="rect">
            <a:avLst/>
          </a:prstGeom>
          <a:noFill/>
        </p:spPr>
        <p:txBody>
          <a:bodyPr wrap="square" anchor="t" lIns="0" rIns="0" tIns="0" bIns="0">
            <a:spAutoFit/>
          </a:bodyPr>
          <a:lstStyle/>
          <a:p>
            <a:pPr algn="l">
              <a:lnSpc>
                <a:spcPct val="122000"/>
              </a:lnSpc>
              <a:spcAft>
                <a:spcPts val="0"/>
              </a:spcAft>
            </a:pPr>
            <a:r>
              <a:rPr sz="1150" b="1">
                <a:solidFill>
                  <a:srgbClr val="E8A33D"/>
                </a:solidFill>
                <a:latin typeface="Calibri"/>
              </a:rPr>
              <a:t>ΔΕΥΤΕΡΟ ΕΠΙΠΕΔΟ: ΠΕΛΑΤΕΣ</a:t>
            </a:r>
          </a:p>
        </p:txBody>
      </p:sp>
      <p:sp>
        <p:nvSpPr>
          <p:cNvPr id="23" name="Rectangle 22"/>
          <p:cNvSpPr/>
          <p:nvPr/>
        </p:nvSpPr>
        <p:spPr>
          <a:xfrm>
            <a:off x="6291072" y="3791839"/>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82512" y="3874135"/>
            <a:ext cx="163586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Υποομάδα</a:t>
            </a:r>
          </a:p>
        </p:txBody>
      </p:sp>
      <p:sp>
        <p:nvSpPr>
          <p:cNvPr id="25" name="TextBox 24"/>
          <p:cNvSpPr txBox="1"/>
          <p:nvPr/>
        </p:nvSpPr>
        <p:spPr>
          <a:xfrm>
            <a:off x="8201253" y="3874135"/>
            <a:ext cx="99395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Πελάτες</a:t>
            </a:r>
          </a:p>
        </p:txBody>
      </p:sp>
      <p:sp>
        <p:nvSpPr>
          <p:cNvPr id="26" name="TextBox 25"/>
          <p:cNvSpPr txBox="1"/>
          <p:nvPr/>
        </p:nvSpPr>
        <p:spPr>
          <a:xfrm>
            <a:off x="9378086" y="3874135"/>
            <a:ext cx="1100937"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Παραγγελίες</a:t>
            </a:r>
          </a:p>
        </p:txBody>
      </p:sp>
      <p:sp>
        <p:nvSpPr>
          <p:cNvPr id="27" name="TextBox 26"/>
          <p:cNvSpPr txBox="1"/>
          <p:nvPr/>
        </p:nvSpPr>
        <p:spPr>
          <a:xfrm>
            <a:off x="10661903" y="3874135"/>
            <a:ext cx="88696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Αξία</a:t>
            </a:r>
          </a:p>
        </p:txBody>
      </p:sp>
      <p:sp>
        <p:nvSpPr>
          <p:cNvPr id="28" name="TextBox 27"/>
          <p:cNvSpPr txBox="1"/>
          <p:nvPr/>
        </p:nvSpPr>
        <p:spPr>
          <a:xfrm>
            <a:off x="6382512" y="423075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εξαγωγές</a:t>
            </a:r>
          </a:p>
        </p:txBody>
      </p:sp>
      <p:sp>
        <p:nvSpPr>
          <p:cNvPr id="29" name="TextBox 28"/>
          <p:cNvSpPr txBox="1"/>
          <p:nvPr/>
        </p:nvSpPr>
        <p:spPr>
          <a:xfrm>
            <a:off x="8201253" y="423075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527</a:t>
            </a:r>
          </a:p>
        </p:txBody>
      </p:sp>
      <p:sp>
        <p:nvSpPr>
          <p:cNvPr id="30" name="TextBox 29"/>
          <p:cNvSpPr txBox="1"/>
          <p:nvPr/>
        </p:nvSpPr>
        <p:spPr>
          <a:xfrm>
            <a:off x="9378086" y="423075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4,88</a:t>
            </a:r>
          </a:p>
        </p:txBody>
      </p:sp>
      <p:sp>
        <p:nvSpPr>
          <p:cNvPr id="31" name="TextBox 30"/>
          <p:cNvSpPr txBox="1"/>
          <p:nvPr/>
        </p:nvSpPr>
        <p:spPr>
          <a:xfrm>
            <a:off x="10661903" y="423075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3.161</a:t>
            </a:r>
          </a:p>
        </p:txBody>
      </p:sp>
      <p:sp>
        <p:nvSpPr>
          <p:cNvPr id="32" name="Rectangle 31"/>
          <p:cNvSpPr/>
          <p:nvPr/>
        </p:nvSpPr>
        <p:spPr>
          <a:xfrm>
            <a:off x="6291072" y="450507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382512" y="459651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εξαγωγές</a:t>
            </a:r>
          </a:p>
        </p:txBody>
      </p:sp>
      <p:sp>
        <p:nvSpPr>
          <p:cNvPr id="34" name="TextBox 33"/>
          <p:cNvSpPr txBox="1"/>
          <p:nvPr/>
        </p:nvSpPr>
        <p:spPr>
          <a:xfrm>
            <a:off x="8201253" y="459651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a:t>
            </a:r>
          </a:p>
        </p:txBody>
      </p:sp>
      <p:sp>
        <p:nvSpPr>
          <p:cNvPr id="35" name="TextBox 34"/>
          <p:cNvSpPr txBox="1"/>
          <p:nvPr/>
        </p:nvSpPr>
        <p:spPr>
          <a:xfrm>
            <a:off x="9378086" y="459651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220,7</a:t>
            </a:r>
          </a:p>
        </p:txBody>
      </p:sp>
      <p:sp>
        <p:nvSpPr>
          <p:cNvPr id="36" name="TextBox 35"/>
          <p:cNvSpPr txBox="1"/>
          <p:nvPr/>
        </p:nvSpPr>
        <p:spPr>
          <a:xfrm>
            <a:off x="10661903" y="459651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365.705</a:t>
            </a:r>
          </a:p>
        </p:txBody>
      </p:sp>
      <p:sp>
        <p:nvSpPr>
          <p:cNvPr id="37" name="TextBox 36"/>
          <p:cNvSpPr txBox="1"/>
          <p:nvPr/>
        </p:nvSpPr>
        <p:spPr>
          <a:xfrm>
            <a:off x="6382512" y="4962271"/>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Τακτικοί, ΗΒ</a:t>
            </a:r>
          </a:p>
        </p:txBody>
      </p:sp>
      <p:sp>
        <p:nvSpPr>
          <p:cNvPr id="38" name="TextBox 37"/>
          <p:cNvSpPr txBox="1"/>
          <p:nvPr/>
        </p:nvSpPr>
        <p:spPr>
          <a:xfrm>
            <a:off x="8201253" y="4962271"/>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5.309</a:t>
            </a:r>
          </a:p>
        </p:txBody>
      </p:sp>
      <p:sp>
        <p:nvSpPr>
          <p:cNvPr id="39" name="TextBox 38"/>
          <p:cNvSpPr txBox="1"/>
          <p:nvPr/>
        </p:nvSpPr>
        <p:spPr>
          <a:xfrm>
            <a:off x="9378086" y="4962271"/>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5,72</a:t>
            </a:r>
          </a:p>
        </p:txBody>
      </p:sp>
      <p:sp>
        <p:nvSpPr>
          <p:cNvPr id="40" name="TextBox 39"/>
          <p:cNvSpPr txBox="1"/>
          <p:nvPr/>
        </p:nvSpPr>
        <p:spPr>
          <a:xfrm>
            <a:off x="10661903" y="4962271"/>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2.138</a:t>
            </a:r>
          </a:p>
        </p:txBody>
      </p:sp>
      <p:sp>
        <p:nvSpPr>
          <p:cNvPr id="41" name="Rectangle 40"/>
          <p:cNvSpPr/>
          <p:nvPr/>
        </p:nvSpPr>
        <p:spPr>
          <a:xfrm>
            <a:off x="6291072" y="5236591"/>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382512" y="5328030"/>
            <a:ext cx="163586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Whales, ΗΒ</a:t>
            </a:r>
          </a:p>
        </p:txBody>
      </p:sp>
      <p:sp>
        <p:nvSpPr>
          <p:cNvPr id="43" name="TextBox 42"/>
          <p:cNvSpPr txBox="1"/>
          <p:nvPr/>
        </p:nvSpPr>
        <p:spPr>
          <a:xfrm>
            <a:off x="8201253" y="5328030"/>
            <a:ext cx="99395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25</a:t>
            </a:r>
          </a:p>
        </p:txBody>
      </p:sp>
      <p:sp>
        <p:nvSpPr>
          <p:cNvPr id="44" name="TextBox 43"/>
          <p:cNvSpPr txBox="1"/>
          <p:nvPr/>
        </p:nvSpPr>
        <p:spPr>
          <a:xfrm>
            <a:off x="9378086" y="5328030"/>
            <a:ext cx="1100937"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120,4</a:t>
            </a:r>
          </a:p>
        </p:txBody>
      </p:sp>
      <p:sp>
        <p:nvSpPr>
          <p:cNvPr id="45" name="TextBox 44"/>
          <p:cNvSpPr txBox="1"/>
          <p:nvPr/>
        </p:nvSpPr>
        <p:spPr>
          <a:xfrm>
            <a:off x="10661903" y="5328030"/>
            <a:ext cx="88696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114.404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ΠΡΟΒΛΕΨΗ</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 μήνας ήταν κομμένος, όχι πεσμένος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21</a:t>
            </a:r>
          </a:p>
        </p:txBody>
      </p:sp>
      <p:pic>
        <p:nvPicPr>
          <p:cNvPr id="6" name="Picture 5" descr="revenue-forecast.png"/>
          <p:cNvPicPr>
            <a:picLocks noChangeAspect="1"/>
          </p:cNvPicPr>
          <p:nvPr/>
        </p:nvPicPr>
        <p:blipFill>
          <a:blip r:embed="rId2"/>
          <a:stretch>
            <a:fillRect/>
          </a:stretch>
        </p:blipFill>
        <p:spPr>
          <a:xfrm>
            <a:off x="548640" y="2160882"/>
            <a:ext cx="5349240" cy="1945178"/>
          </a:xfrm>
          <a:prstGeom prst="rect">
            <a:avLst/>
          </a:prstGeom>
        </p:spPr>
      </p:pic>
      <p:sp>
        <p:nvSpPr>
          <p:cNvPr id="7" name="Rectangle 6"/>
          <p:cNvSpPr/>
          <p:nvPr/>
        </p:nvSpPr>
        <p:spPr>
          <a:xfrm>
            <a:off x="548640" y="2160882"/>
            <a:ext cx="5349240" cy="1945177"/>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197500"/>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Καθαρές πωλήσεις ανά μήνα και πρόβλεψη τριμήνου</a:t>
            </a:r>
          </a:p>
        </p:txBody>
      </p:sp>
      <p:sp>
        <p:nvSpPr>
          <p:cNvPr id="9" name="Rectangle 8"/>
          <p:cNvSpPr/>
          <p:nvPr/>
        </p:nvSpPr>
        <p:spPr>
          <a:xfrm>
            <a:off x="548640" y="4514238"/>
            <a:ext cx="5349240"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4596534"/>
            <a:ext cx="2170785"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Μέθοδος</a:t>
            </a:r>
          </a:p>
        </p:txBody>
      </p:sp>
      <p:sp>
        <p:nvSpPr>
          <p:cNvPr id="11" name="TextBox 10"/>
          <p:cNvSpPr txBox="1"/>
          <p:nvPr/>
        </p:nvSpPr>
        <p:spPr>
          <a:xfrm>
            <a:off x="2993745" y="4596534"/>
            <a:ext cx="120792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MAPE %</a:t>
            </a:r>
          </a:p>
        </p:txBody>
      </p:sp>
      <p:sp>
        <p:nvSpPr>
          <p:cNvPr id="12" name="TextBox 11"/>
          <p:cNvSpPr txBox="1"/>
          <p:nvPr/>
        </p:nvSpPr>
        <p:spPr>
          <a:xfrm>
            <a:off x="4384547" y="4596534"/>
            <a:ext cx="1421892"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Skill score</a:t>
            </a:r>
          </a:p>
        </p:txBody>
      </p:sp>
      <p:sp>
        <p:nvSpPr>
          <p:cNvPr id="13" name="TextBox 12"/>
          <p:cNvSpPr txBox="1"/>
          <p:nvPr/>
        </p:nvSpPr>
        <p:spPr>
          <a:xfrm>
            <a:off x="640080" y="4953149"/>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Απλοϊκή εκτίμηση</a:t>
            </a:r>
          </a:p>
        </p:txBody>
      </p:sp>
      <p:sp>
        <p:nvSpPr>
          <p:cNvPr id="14" name="TextBox 13"/>
          <p:cNvSpPr txBox="1"/>
          <p:nvPr/>
        </p:nvSpPr>
        <p:spPr>
          <a:xfrm>
            <a:off x="2993745" y="4953149"/>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38,48</a:t>
            </a:r>
          </a:p>
        </p:txBody>
      </p:sp>
      <p:sp>
        <p:nvSpPr>
          <p:cNvPr id="15" name="TextBox 14"/>
          <p:cNvSpPr txBox="1"/>
          <p:nvPr/>
        </p:nvSpPr>
        <p:spPr>
          <a:xfrm>
            <a:off x="4384547" y="4953149"/>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0,0000</a:t>
            </a:r>
          </a:p>
        </p:txBody>
      </p:sp>
      <p:sp>
        <p:nvSpPr>
          <p:cNvPr id="16" name="Rectangle 15"/>
          <p:cNvSpPr/>
          <p:nvPr/>
        </p:nvSpPr>
        <p:spPr>
          <a:xfrm>
            <a:off x="548640" y="5227470"/>
            <a:ext cx="5349240"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5318910"/>
            <a:ext cx="2170785"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Holt-Winters</a:t>
            </a:r>
          </a:p>
        </p:txBody>
      </p:sp>
      <p:sp>
        <p:nvSpPr>
          <p:cNvPr id="18" name="TextBox 17"/>
          <p:cNvSpPr txBox="1"/>
          <p:nvPr/>
        </p:nvSpPr>
        <p:spPr>
          <a:xfrm>
            <a:off x="2993745" y="5318910"/>
            <a:ext cx="120792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32,74</a:t>
            </a:r>
          </a:p>
        </p:txBody>
      </p:sp>
      <p:sp>
        <p:nvSpPr>
          <p:cNvPr id="19" name="TextBox 18"/>
          <p:cNvSpPr txBox="1"/>
          <p:nvPr/>
        </p:nvSpPr>
        <p:spPr>
          <a:xfrm>
            <a:off x="4384547" y="5318910"/>
            <a:ext cx="1421892"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+0,1421</a:t>
            </a:r>
          </a:p>
        </p:txBody>
      </p:sp>
      <p:sp>
        <p:nvSpPr>
          <p:cNvPr id="20" name="TextBox 19"/>
          <p:cNvSpPr txBox="1"/>
          <p:nvPr/>
        </p:nvSpPr>
        <p:spPr>
          <a:xfrm>
            <a:off x="6291072" y="2160882"/>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Η πρώτη εκτέλεση έβγαλε skill score μείον 0,21. Δηλαδή η πρόβλεψη έχανε από την πιο απλοϊκή εκτίμηση, το «ίδιο με τον προηγούμενο μήνα».</a:t>
            </a:r>
          </a:p>
          <a:p>
            <a:pPr algn="l">
              <a:lnSpc>
                <a:spcPct val="122000"/>
              </a:lnSpc>
              <a:spcAft>
                <a:spcPts val="900"/>
              </a:spcAft>
            </a:pPr>
            <a:r>
              <a:rPr sz="1500" b="0">
                <a:solidFill>
                  <a:srgbClr val="241F1B"/>
                </a:solidFill>
                <a:latin typeface="Calibri"/>
              </a:rPr>
              <a:t>Ο λόγος: τα δεδομένα σταματούν στις 9 Δεκεμβρίου 2011, οπότε ο τελευταίος μήνας έχει εννιά μέρες. Δεν ήταν κατάρρευση των πωλήσεων, ήταν κομμένη περίοδος.</a:t>
            </a:r>
          </a:p>
          <a:p>
            <a:pPr algn="l">
              <a:lnSpc>
                <a:spcPct val="122000"/>
              </a:lnSpc>
              <a:spcAft>
                <a:spcPts val="900"/>
              </a:spcAft>
            </a:pPr>
            <a:r>
              <a:rPr sz="1500" b="1">
                <a:solidFill>
                  <a:srgbClr val="241F1B"/>
                </a:solidFill>
                <a:latin typeface="Calibri"/>
              </a:rPr>
              <a:t>Βγάζοντάς τον έξω, το skill score γίνεται συν 0,1421. Ίδιο μοντέλο, ίδια δεδομένα, αντίθετο συμπέρασμα.</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πάνε τα έσοδα κάθε μήνα</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22</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Ο Gini δείχνει ότι τα έσοδα είναι πολύ άνισα μοιρασμένα, αλλά ο μεγαλύτερος πελάτης είναι μόλις 3,3%. Συγκέντρωση χωρίς εξάρτηση από έναν πελάτη σημαίνει υγιής χονδρική, όχι εύθραυστη.</a:t>
            </a:r>
          </a:p>
        </p:txBody>
      </p:sp>
      <p:pic>
        <p:nvPicPr>
          <p:cNvPr id="7" name="Picture 6" descr="growth-accounting.png"/>
          <p:cNvPicPr>
            <a:picLocks noChangeAspect="1"/>
          </p:cNvPicPr>
          <p:nvPr/>
        </p:nvPicPr>
        <p:blipFill>
          <a:blip r:embed="rId2"/>
          <a:stretch>
            <a:fillRect/>
          </a:stretch>
        </p:blipFill>
        <p:spPr>
          <a:xfrm>
            <a:off x="548640" y="1839468"/>
            <a:ext cx="5349240" cy="2228849"/>
          </a:xfrm>
          <a:prstGeom prst="rect">
            <a:avLst/>
          </a:prstGeom>
        </p:spPr>
      </p:pic>
      <p:sp>
        <p:nvSpPr>
          <p:cNvPr id="8" name="Rectangle 7"/>
          <p:cNvSpPr/>
          <p:nvPr/>
        </p:nvSpPr>
        <p:spPr>
          <a:xfrm>
            <a:off x="548640" y="1839468"/>
            <a:ext cx="5349240" cy="2228849"/>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Η μεταβολή εσόδων σπασμένη σε έξι ροές</a:t>
            </a:r>
          </a:p>
        </p:txBody>
      </p:sp>
      <p:pic>
        <p:nvPicPr>
          <p:cNvPr id="10" name="Picture 9" descr="quick-ratio.png"/>
          <p:cNvPicPr>
            <a:picLocks noChangeAspect="1"/>
          </p:cNvPicPr>
          <p:nvPr/>
        </p:nvPicPr>
        <p:blipFill>
          <a:blip r:embed="rId3"/>
          <a:stretch>
            <a:fillRect/>
          </a:stretch>
        </p:blipFill>
        <p:spPr>
          <a:xfrm>
            <a:off x="6291072" y="2102878"/>
            <a:ext cx="5349240" cy="1702030"/>
          </a:xfrm>
          <a:prstGeom prst="rect">
            <a:avLst/>
          </a:prstGeom>
        </p:spPr>
      </p:pic>
      <p:sp>
        <p:nvSpPr>
          <p:cNvPr id="11" name="Rectangle 10"/>
          <p:cNvSpPr/>
          <p:nvPr/>
        </p:nvSpPr>
        <p:spPr>
          <a:xfrm>
            <a:off x="6291072" y="2102878"/>
            <a:ext cx="5349240" cy="170203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4160901"/>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Quick ratio ανά μήνα. Κάτω από τη μονάδα, τα έσοδα συρρικνώνονται</a:t>
            </a:r>
          </a:p>
        </p:txBody>
      </p:sp>
      <p:sp>
        <p:nvSpPr>
          <p:cNvPr id="13" name="Rounded Rectangle 12"/>
          <p:cNvSpPr/>
          <p:nvPr/>
        </p:nvSpPr>
        <p:spPr>
          <a:xfrm>
            <a:off x="548640"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48640"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72,4%</a:t>
            </a:r>
          </a:p>
        </p:txBody>
      </p:sp>
      <p:sp>
        <p:nvSpPr>
          <p:cNvPr id="15" name="TextBox 14"/>
          <p:cNvSpPr txBox="1"/>
          <p:nvPr/>
        </p:nvSpPr>
        <p:spPr>
          <a:xfrm>
            <a:off x="603503"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Πελάτες που ξαναγόρασαν</a:t>
            </a:r>
          </a:p>
        </p:txBody>
      </p:sp>
      <p:sp>
        <p:nvSpPr>
          <p:cNvPr id="16" name="Rounded Rectangle 15"/>
          <p:cNvSpPr/>
          <p:nvPr/>
        </p:nvSpPr>
        <p:spPr>
          <a:xfrm>
            <a:off x="4294632"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94632"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0,740</a:t>
            </a:r>
          </a:p>
        </p:txBody>
      </p:sp>
      <p:sp>
        <p:nvSpPr>
          <p:cNvPr id="18" name="TextBox 17"/>
          <p:cNvSpPr txBox="1"/>
          <p:nvPr/>
        </p:nvSpPr>
        <p:spPr>
          <a:xfrm>
            <a:off x="4349495"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Συντελεστής Gini</a:t>
            </a:r>
          </a:p>
        </p:txBody>
      </p:sp>
      <p:sp>
        <p:nvSpPr>
          <p:cNvPr id="19" name="Rounded Rectangle 18"/>
          <p:cNvSpPr/>
          <p:nvPr/>
        </p:nvSpPr>
        <p:spPr>
          <a:xfrm>
            <a:off x="8040624" y="4532502"/>
            <a:ext cx="3599688" cy="969264"/>
          </a:xfrm>
          <a:prstGeom prst="round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040624" y="4623942"/>
            <a:ext cx="3599688" cy="384048"/>
          </a:xfrm>
          <a:prstGeom prst="rect">
            <a:avLst/>
          </a:prstGeom>
          <a:noFill/>
        </p:spPr>
        <p:txBody>
          <a:bodyPr wrap="square" anchor="t" lIns="0" rIns="0" tIns="0" bIns="0">
            <a:spAutoFit/>
          </a:bodyPr>
          <a:lstStyle/>
          <a:p>
            <a:pPr algn="ctr">
              <a:lnSpc>
                <a:spcPct val="122000"/>
              </a:lnSpc>
              <a:spcAft>
                <a:spcPts val="0"/>
              </a:spcAft>
            </a:pPr>
            <a:r>
              <a:rPr sz="2400" b="1">
                <a:solidFill>
                  <a:srgbClr val="2C5530"/>
                </a:solidFill>
                <a:latin typeface="Cambria"/>
              </a:rPr>
              <a:t>3,3%</a:t>
            </a:r>
          </a:p>
        </p:txBody>
      </p:sp>
      <p:sp>
        <p:nvSpPr>
          <p:cNvPr id="21" name="TextBox 20"/>
          <p:cNvSpPr txBox="1"/>
          <p:nvPr/>
        </p:nvSpPr>
        <p:spPr>
          <a:xfrm>
            <a:off x="8095488" y="5081142"/>
            <a:ext cx="3489960" cy="329184"/>
          </a:xfrm>
          <a:prstGeom prst="rect">
            <a:avLst/>
          </a:prstGeom>
          <a:noFill/>
        </p:spPr>
        <p:txBody>
          <a:bodyPr wrap="square" anchor="t" lIns="0" rIns="0" tIns="0" bIns="0">
            <a:spAutoFit/>
          </a:bodyPr>
          <a:lstStyle/>
          <a:p>
            <a:pPr algn="ctr">
              <a:lnSpc>
                <a:spcPct val="122000"/>
              </a:lnSpc>
              <a:spcAft>
                <a:spcPts val="0"/>
              </a:spcAft>
            </a:pPr>
            <a:r>
              <a:rPr sz="1100" b="0">
                <a:solidFill>
                  <a:srgbClr val="6B6259"/>
                </a:solidFill>
                <a:latin typeface="Calibri"/>
              </a:rPr>
              <a:t>Ο μεγαλύτερος πελάτης</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ΟΙΚΟΝΟΜΙΚΟΙ ΔΕΙΚΤΕΣ</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Κερδοφορία: σενάριο, όχι μέτρηση</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23</a:t>
            </a:r>
          </a:p>
        </p:txBody>
      </p:sp>
      <p:pic>
        <p:nvPicPr>
          <p:cNvPr id="6" name="Picture 5" descr="profitability-sensitivity.png"/>
          <p:cNvPicPr>
            <a:picLocks noChangeAspect="1"/>
          </p:cNvPicPr>
          <p:nvPr/>
        </p:nvPicPr>
        <p:blipFill>
          <a:blip r:embed="rId2"/>
          <a:stretch>
            <a:fillRect/>
          </a:stretch>
        </p:blipFill>
        <p:spPr>
          <a:xfrm>
            <a:off x="1022984" y="2258568"/>
            <a:ext cx="4400550" cy="2514600"/>
          </a:xfrm>
          <a:prstGeom prst="rect">
            <a:avLst/>
          </a:prstGeom>
        </p:spPr>
      </p:pic>
      <p:sp>
        <p:nvSpPr>
          <p:cNvPr id="7" name="Rectangle 6"/>
          <p:cNvSpPr/>
          <p:nvPr/>
        </p:nvSpPr>
        <p:spPr>
          <a:xfrm>
            <a:off x="1022984" y="2258568"/>
            <a:ext cx="4400550" cy="251460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48640" y="486460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LTV προς CAC για κάθε συνδυασμό παραδοχών</a:t>
            </a:r>
          </a:p>
        </p:txBody>
      </p:sp>
      <p:sp>
        <p:nvSpPr>
          <p:cNvPr id="9" name="TextBox 8"/>
          <p:cNvSpPr txBox="1"/>
          <p:nvPr/>
        </p:nvSpPr>
        <p:spPr>
          <a:xfrm>
            <a:off x="6291072"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Από τα δεκαέξι κελιά του πλέγματος, τα οκτώ περνάνε το όριο 3:1 και τα οκτώ όχι. Ίδια δεδομένα, αντίθετα συμπεράσματα, μόνο και μόνο επειδή αλλάζει η υπόθεση για το περιθώριο κέρδους.</a:t>
            </a:r>
          </a:p>
          <a:p>
            <a:pPr algn="l">
              <a:lnSpc>
                <a:spcPct val="122000"/>
              </a:lnSpc>
              <a:spcAft>
                <a:spcPts val="900"/>
              </a:spcAft>
            </a:pPr>
            <a:r>
              <a:rPr sz="1500" b="1">
                <a:solidFill>
                  <a:srgbClr val="241F1B"/>
                </a:solidFill>
                <a:latin typeface="Calibri"/>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p>
        </p:txBody>
      </p:sp>
      <p:sp>
        <p:nvSpPr>
          <p:cNvPr id="10" name="Rectangle 9"/>
          <p:cNvSpPr/>
          <p:nvPr/>
        </p:nvSpPr>
        <p:spPr>
          <a:xfrm>
            <a:off x="6291072" y="426034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91072" y="426034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19672" y="440664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Τα δεδομένα δεν έχουν ούτε κόστος πωληθέντων ούτε δαπάνες marketing, οπότε κάθε απάντηση φεύγει με τη σήμανση «σενάριο, όχι μέτρηση».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548640" y="1600200"/>
            <a:ext cx="11091672" cy="1645920"/>
          </a:xfrm>
          <a:prstGeom prst="rect">
            <a:avLst/>
          </a:prstGeom>
          <a:noFill/>
        </p:spPr>
        <p:txBody>
          <a:bodyPr wrap="square" anchor="t" lIns="0" rIns="0" tIns="0" bIns="0">
            <a:spAutoFit/>
          </a:bodyPr>
          <a:lstStyle/>
          <a:p>
            <a:pPr algn="l">
              <a:lnSpc>
                <a:spcPct val="122000"/>
              </a:lnSpc>
              <a:spcAft>
                <a:spcPts val="0"/>
              </a:spcAft>
            </a:pPr>
            <a:r>
              <a:rPr sz="9600" b="1">
                <a:solidFill>
                  <a:srgbClr val="3E6E43"/>
                </a:solidFill>
                <a:latin typeface="Cambria"/>
              </a:rPr>
              <a:t>04</a:t>
            </a:r>
          </a:p>
        </p:txBody>
      </p:sp>
      <p:sp>
        <p:nvSpPr>
          <p:cNvPr id="4" name="TextBox 3"/>
          <p:cNvSpPr txBox="1"/>
          <p:nvPr/>
        </p:nvSpPr>
        <p:spPr>
          <a:xfrm>
            <a:off x="548640" y="3474720"/>
            <a:ext cx="11091672" cy="292608"/>
          </a:xfrm>
          <a:prstGeom prst="rect">
            <a:avLst/>
          </a:prstGeom>
          <a:noFill/>
        </p:spPr>
        <p:txBody>
          <a:bodyPr wrap="square" anchor="t" lIns="0" rIns="0" tIns="0" bIns="0">
            <a:spAutoFit/>
          </a:bodyPr>
          <a:lstStyle/>
          <a:p>
            <a:pPr algn="l">
              <a:lnSpc>
                <a:spcPct val="122000"/>
              </a:lnSpc>
              <a:spcAft>
                <a:spcPts val="0"/>
              </a:spcAft>
            </a:pPr>
            <a:r>
              <a:rPr sz="1300" b="1">
                <a:solidFill>
                  <a:srgbClr val="E8A33D"/>
                </a:solidFill>
                <a:latin typeface="Calibri"/>
              </a:rPr>
              <a:t>ΕΝΟΤΗΤΑ</a:t>
            </a:r>
          </a:p>
        </p:txBody>
      </p:sp>
      <p:sp>
        <p:nvSpPr>
          <p:cNvPr id="5" name="TextBox 4"/>
          <p:cNvSpPr txBox="1"/>
          <p:nvPr/>
        </p:nvSpPr>
        <p:spPr>
          <a:xfrm>
            <a:off x="548640" y="3803904"/>
            <a:ext cx="11091672" cy="731520"/>
          </a:xfrm>
          <a:prstGeom prst="rect">
            <a:avLst/>
          </a:prstGeom>
          <a:noFill/>
        </p:spPr>
        <p:txBody>
          <a:bodyPr wrap="square" anchor="t" lIns="0" rIns="0" tIns="0" bIns="0">
            <a:spAutoFit/>
          </a:bodyPr>
          <a:lstStyle/>
          <a:p>
            <a:pPr algn="l">
              <a:lnSpc>
                <a:spcPct val="122000"/>
              </a:lnSpc>
              <a:spcAft>
                <a:spcPts val="0"/>
              </a:spcAft>
            </a:pPr>
            <a:r>
              <a:rPr sz="4400" b="1">
                <a:solidFill>
                  <a:srgbClr val="FFFFFF"/>
                </a:solidFill>
                <a:latin typeface="Cambria"/>
              </a:rPr>
              <a:t>Συμπεράσματα</a:t>
            </a:r>
          </a:p>
        </p:txBody>
      </p:sp>
      <p:sp>
        <p:nvSpPr>
          <p:cNvPr id="6" name="TextBox 5"/>
          <p:cNvSpPr txBox="1"/>
          <p:nvPr/>
        </p:nvSpPr>
        <p:spPr>
          <a:xfrm>
            <a:off x="548640" y="4645152"/>
            <a:ext cx="11091672" cy="365760"/>
          </a:xfrm>
          <a:prstGeom prst="rect">
            <a:avLst/>
          </a:prstGeom>
          <a:noFill/>
        </p:spPr>
        <p:txBody>
          <a:bodyPr wrap="square" anchor="t" lIns="0" rIns="0" tIns="0" bIns="0">
            <a:spAutoFit/>
          </a:bodyPr>
          <a:lstStyle/>
          <a:p>
            <a:pPr algn="l">
              <a:lnSpc>
                <a:spcPct val="122000"/>
              </a:lnSpc>
              <a:spcAft>
                <a:spcPts val="0"/>
              </a:spcAft>
            </a:pPr>
            <a:r>
              <a:rPr sz="1500" b="0">
                <a:solidFill>
                  <a:srgbClr val="D7E5D2"/>
                </a:solidFill>
                <a:latin typeface="Calibri"/>
              </a:rPr>
              <a:t>Τι κερδίζει η επιχείρηση και πού σταματάμε</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Διπλωματική εργασία</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Τι απαντήθηκε και τι κάνει κανείς με αυτό</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25</a:t>
            </a:r>
          </a:p>
        </p:txBody>
      </p:sp>
      <p:sp>
        <p:nvSpPr>
          <p:cNvPr id="6" name="TextBox 5"/>
          <p:cNvSpPr txBox="1"/>
          <p:nvPr/>
        </p:nvSpPr>
        <p:spPr>
          <a:xfrm>
            <a:off x="548640"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ΑΠΑΝΤΗΘΗΚΕ</a:t>
            </a:r>
          </a:p>
        </p:txBody>
      </p:sp>
      <p:sp>
        <p:nvSpPr>
          <p:cNvPr id="7" name="TextBox 6"/>
          <p:cNvSpPr txBox="1"/>
          <p:nvPr/>
        </p:nvSpPr>
        <p:spPr>
          <a:xfrm>
            <a:off x="548640"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Και τα επτά ερωτήματα, με τρεις οικογένειες τεχνικών από πάνω.</a:t>
            </a:r>
          </a:p>
          <a:p>
            <a:pPr algn="l">
              <a:lnSpc>
                <a:spcPct val="122000"/>
              </a:lnSpc>
              <a:spcAft>
                <a:spcPts val="1000"/>
              </a:spcAft>
            </a:pPr>
            <a:r>
              <a:rPr sz="1700" b="0">
                <a:solidFill>
                  <a:srgbClr val="241F1B"/>
                </a:solidFill>
                <a:latin typeface="Calibri"/>
              </a:rPr>
              <a:t>—  Ο Apriori και ο FP-Growth δίνουν ταυτόσημα αποτελέσματα. Η επιλογή είναι θέμα χρόνου, όχι ευρήματος.</a:t>
            </a:r>
          </a:p>
          <a:p>
            <a:pPr algn="l">
              <a:lnSpc>
                <a:spcPct val="122000"/>
              </a:lnSpc>
              <a:spcAft>
                <a:spcPts val="1000"/>
              </a:spcAft>
            </a:pPr>
            <a:r>
              <a:rPr sz="1700" b="0">
                <a:solidFill>
                  <a:srgbClr val="241F1B"/>
                </a:solidFill>
                <a:latin typeface="Calibri"/>
              </a:rPr>
              <a:t>—  Το πλήθος των ομάδων βγαίνει από τα ίδια τα δεδομένα, με silhouette, αντί να το βάζουμε εμείς.</a:t>
            </a:r>
          </a:p>
          <a:p>
            <a:pPr algn="l">
              <a:lnSpc>
                <a:spcPct val="122000"/>
              </a:lnSpc>
              <a:spcAft>
                <a:spcPts val="1000"/>
              </a:spcAft>
            </a:pPr>
            <a:r>
              <a:rPr sz="1700" b="0">
                <a:solidFill>
                  <a:srgbClr val="241F1B"/>
                </a:solidFill>
                <a:latin typeface="Calibri"/>
              </a:rPr>
              <a:t>—  Κάθε πρόβλεψη συγκρίνεται με μια απλοϊκή εκτίμηση, ώστε μια τετριμμένη πρόβλεψη να μη μοιάζει με επιτυχία.</a:t>
            </a:r>
          </a:p>
        </p:txBody>
      </p:sp>
      <p:sp>
        <p:nvSpPr>
          <p:cNvPr id="8" name="TextBox 7"/>
          <p:cNvSpPr txBox="1"/>
          <p:nvPr/>
        </p:nvSpPr>
        <p:spPr>
          <a:xfrm>
            <a:off x="6291072" y="2254885"/>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ΚΑΝΕΙ Η ΕΠΙΧΕΙΡΗΣΗ</a:t>
            </a:r>
          </a:p>
        </p:txBody>
      </p:sp>
      <p:sp>
        <p:nvSpPr>
          <p:cNvPr id="9" name="TextBox 8"/>
          <p:cNvSpPr txBox="1"/>
          <p:nvPr/>
        </p:nvSpPr>
        <p:spPr>
          <a:xfrm>
            <a:off x="6291072" y="2620645"/>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Προωθεί μαζί τα προϊόντα με lift πάνω από ένα.</a:t>
            </a:r>
          </a:p>
          <a:p>
            <a:pPr algn="l">
              <a:lnSpc>
                <a:spcPct val="122000"/>
              </a:lnSpc>
              <a:spcAft>
                <a:spcPts val="1000"/>
              </a:spcAft>
            </a:pPr>
            <a:r>
              <a:rPr sz="1700" b="0">
                <a:solidFill>
                  <a:srgbClr val="241F1B"/>
                </a:solidFill>
                <a:latin typeface="Calibri"/>
              </a:rPr>
              <a:t>—  Μιλάει διαφορετικά στους τακτικούς και στους μεγάλους πελάτες.</a:t>
            </a:r>
          </a:p>
          <a:p>
            <a:pPr algn="l">
              <a:lnSpc>
                <a:spcPct val="122000"/>
              </a:lnSpc>
              <a:spcAft>
                <a:spcPts val="1000"/>
              </a:spcAft>
            </a:pPr>
            <a:r>
              <a:rPr sz="1700" b="0">
                <a:solidFill>
                  <a:srgbClr val="241F1B"/>
                </a:solidFill>
                <a:latin typeface="Calibri"/>
              </a:rPr>
              <a:t>—  Προγραμματίζει το απόθεμα με βάση τη χρονική κατανομή και την πρόβλεψη.</a:t>
            </a:r>
          </a:p>
          <a:p>
            <a:pPr algn="l">
              <a:lnSpc>
                <a:spcPct val="122000"/>
              </a:lnSpc>
              <a:spcAft>
                <a:spcPts val="1000"/>
              </a:spcAft>
            </a:pPr>
            <a:r>
              <a:rPr sz="1700" b="0">
                <a:solidFill>
                  <a:srgbClr val="241F1B"/>
                </a:solidFill>
                <a:latin typeface="Calibri"/>
              </a:rPr>
              <a:t>—  Βλέπει πόσο εξαρτάται από λίγους πελάτες, κάτι που ο ρυθμός ανάπτυξης από μόνος του κρύβει.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ΣΥΜΠΕΡΑΣΜΑΤΑ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Πού σταματάμε και τι θα ερχόταν μετά</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26</a:t>
            </a:r>
          </a:p>
        </p:txBody>
      </p:sp>
      <p:sp>
        <p:nvSpPr>
          <p:cNvPr id="6" name="TextBox 5"/>
          <p:cNvSpPr txBox="1"/>
          <p:nvPr/>
        </p:nvSpPr>
        <p:spPr>
          <a:xfrm>
            <a:off x="548640"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ΠΟΥ ΣΤΑΜΑΤΑΜΕ</a:t>
            </a:r>
          </a:p>
        </p:txBody>
      </p:sp>
      <p:sp>
        <p:nvSpPr>
          <p:cNvPr id="7" name="TextBox 6"/>
          <p:cNvSpPr txBox="1"/>
          <p:nvPr/>
        </p:nvSpPr>
        <p:spPr>
          <a:xfrm>
            <a:off x="548640"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Δεν υπάρχουν κόστη, άρα η κερδοφορία μένει σενάριο.</a:t>
            </a:r>
          </a:p>
          <a:p>
            <a:pPr algn="l">
              <a:lnSpc>
                <a:spcPct val="122000"/>
              </a:lnSpc>
              <a:spcAft>
                <a:spcPts val="1000"/>
              </a:spcAft>
            </a:pPr>
            <a:r>
              <a:rPr sz="1700" b="0">
                <a:solidFill>
                  <a:srgbClr val="241F1B"/>
                </a:solidFill>
                <a:latin typeface="Calibri"/>
              </a:rPr>
              <a:t>—  Δεν υπάρχει επίσημη κατηγορία προϊόντος, άρα το 38,9% των εσόδων μένει αταξινόμητο.</a:t>
            </a:r>
          </a:p>
          <a:p>
            <a:pPr algn="l">
              <a:lnSpc>
                <a:spcPct val="122000"/>
              </a:lnSpc>
              <a:spcAft>
                <a:spcPts val="1000"/>
              </a:spcAft>
            </a:pPr>
            <a:r>
              <a:rPr sz="1700" b="0">
                <a:solidFill>
                  <a:srgbClr val="241F1B"/>
                </a:solidFill>
                <a:latin typeface="Calibri"/>
              </a:rPr>
              <a:t>—  Η γεωγραφία φτάνει μέχρι τη χώρα, όσο δίνει η πηγή.</a:t>
            </a:r>
          </a:p>
          <a:p>
            <a:pPr algn="l">
              <a:lnSpc>
                <a:spcPct val="122000"/>
              </a:lnSpc>
              <a:spcAft>
                <a:spcPts val="1000"/>
              </a:spcAft>
            </a:pPr>
            <a:r>
              <a:rPr sz="1700" b="0">
                <a:solidFill>
                  <a:srgbClr val="241F1B"/>
                </a:solidFill>
                <a:latin typeface="Calibri"/>
              </a:rPr>
              <a:t>—  Οι ανώνυμες πωλήσεις μένουν στις αναλύσεις προϊόντος και περιοχής, φεύγουν από τις αναλύσεις πελάτη.</a:t>
            </a:r>
          </a:p>
          <a:p>
            <a:pPr algn="l">
              <a:lnSpc>
                <a:spcPct val="122000"/>
              </a:lnSpc>
              <a:spcAft>
                <a:spcPts val="1000"/>
              </a:spcAft>
            </a:pPr>
            <a:r>
              <a:rPr sz="1700" b="0">
                <a:solidFill>
                  <a:srgbClr val="241F1B"/>
                </a:solidFill>
                <a:latin typeface="Calibri"/>
              </a:rPr>
              <a:t>—  Τα ευρήματα βγήκαν από ένα κατάστημα, μιας κατηγορίας.</a:t>
            </a:r>
          </a:p>
        </p:txBody>
      </p:sp>
      <p:sp>
        <p:nvSpPr>
          <p:cNvPr id="8" name="TextBox 7"/>
          <p:cNvSpPr txBox="1"/>
          <p:nvPr/>
        </p:nvSpPr>
        <p:spPr>
          <a:xfrm>
            <a:off x="6291072" y="2059686"/>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ΘΑ ΕΡΧΟΤΑΝ ΜΕΤΑ</a:t>
            </a:r>
          </a:p>
        </p:txBody>
      </p:sp>
      <p:sp>
        <p:nvSpPr>
          <p:cNvPr id="9" name="TextBox 8"/>
          <p:cNvSpPr txBox="1"/>
          <p:nvPr/>
        </p:nvSpPr>
        <p:spPr>
          <a:xfrm>
            <a:off x="6291072" y="2425446"/>
            <a:ext cx="5349240" cy="365760"/>
          </a:xfrm>
          <a:prstGeom prst="rect">
            <a:avLst/>
          </a:prstGeom>
          <a:noFill/>
        </p:spPr>
        <p:txBody>
          <a:bodyPr wrap="square" anchor="t" lIns="0" rIns="0" tIns="0" bIns="0">
            <a:spAutoFit/>
          </a:bodyPr>
          <a:lstStyle/>
          <a:p>
            <a:pPr algn="l">
              <a:lnSpc>
                <a:spcPct val="122000"/>
              </a:lnSpc>
              <a:spcAft>
                <a:spcPts val="1000"/>
              </a:spcAft>
            </a:pPr>
            <a:r>
              <a:rPr sz="1700" b="0">
                <a:solidFill>
                  <a:srgbClr val="241F1B"/>
                </a:solidFill>
                <a:latin typeface="Calibri"/>
              </a:rPr>
              <a:t>—  Δεύτερο πραγματικό κατάστημα, για σύγκριση ευρημάτων.</a:t>
            </a:r>
          </a:p>
          <a:p>
            <a:pPr algn="l">
              <a:lnSpc>
                <a:spcPct val="122000"/>
              </a:lnSpc>
              <a:spcAft>
                <a:spcPts val="1000"/>
              </a:spcAft>
            </a:pPr>
            <a:r>
              <a:rPr sz="1700" b="0">
                <a:solidFill>
                  <a:srgbClr val="241F1B"/>
                </a:solidFill>
                <a:latin typeface="Calibri"/>
              </a:rPr>
              <a:t>—  Μοντέλα BG/NBD και Gamma-Gamma, ώστε η παρατηρούμενη αξία του πελάτη να γίνει πρόβλεψη.</a:t>
            </a:r>
          </a:p>
          <a:p>
            <a:pPr algn="l">
              <a:lnSpc>
                <a:spcPct val="122000"/>
              </a:lnSpc>
              <a:spcAft>
                <a:spcPts val="1000"/>
              </a:spcAft>
            </a:pPr>
            <a:r>
              <a:rPr sz="1700" b="0">
                <a:solidFill>
                  <a:srgbClr val="241F1B"/>
                </a:solidFill>
                <a:latin typeface="Calibri"/>
              </a:rPr>
              <a:t>—  Γεωγραφικά επίπεδα κάτω από τη χώρα, χωρίς αλλαγή στον αναλυτικό κώδικα.</a:t>
            </a:r>
          </a:p>
          <a:p>
            <a:pPr algn="l">
              <a:lnSpc>
                <a:spcPct val="122000"/>
              </a:lnSpc>
              <a:spcAft>
                <a:spcPts val="1000"/>
              </a:spcAft>
            </a:pPr>
            <a:r>
              <a:rPr sz="1700" b="0">
                <a:solidFill>
                  <a:srgbClr val="241F1B"/>
                </a:solidFill>
                <a:latin typeface="Calibri"/>
              </a:rPr>
              <a:t>—  Σύγκριση διαδοχικών εκτελέσεων, για να φανεί ποιες συσχετίσεις εξασθενούν με τον καιρό.</a:t>
            </a:r>
          </a:p>
          <a:p>
            <a:pPr algn="l">
              <a:lnSpc>
                <a:spcPct val="122000"/>
              </a:lnSpc>
              <a:spcAft>
                <a:spcPts val="1000"/>
              </a:spcAft>
            </a:pPr>
            <a:r>
              <a:rPr sz="1700" b="0">
                <a:solidFill>
                  <a:srgbClr val="241F1B"/>
                </a:solidFill>
                <a:latin typeface="Calibri"/>
              </a:rPr>
              <a:t>—  Πραγματικά κόστη, που μετατρέπουν τα σενάρια σε μετρήσεις.</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5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548640" y="2011680"/>
            <a:ext cx="91440" cy="1463040"/>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960120" y="2057400"/>
            <a:ext cx="10680192" cy="1463040"/>
          </a:xfrm>
          <a:prstGeom prst="rect">
            <a:avLst/>
          </a:prstGeom>
          <a:noFill/>
        </p:spPr>
        <p:txBody>
          <a:bodyPr wrap="square" anchor="t" lIns="0" rIns="0" tIns="0" bIns="0">
            <a:spAutoFit/>
          </a:bodyPr>
          <a:lstStyle/>
          <a:p>
            <a:pPr algn="l">
              <a:lnSpc>
                <a:spcPct val="122000"/>
              </a:lnSpc>
              <a:spcAft>
                <a:spcPts val="600"/>
              </a:spcAft>
            </a:pPr>
            <a:r>
              <a:rPr sz="2700" b="0">
                <a:solidFill>
                  <a:srgbClr val="FFFFFF"/>
                </a:solidFill>
                <a:latin typeface="Cambria"/>
              </a:rPr>
              <a:t>Να απαντηθεί ό,τι ζήτησε η επιχείρηση,</a:t>
            </a:r>
          </a:p>
          <a:p>
            <a:pPr algn="l">
              <a:lnSpc>
                <a:spcPct val="122000"/>
              </a:lnSpc>
              <a:spcAft>
                <a:spcPts val="600"/>
              </a:spcAft>
            </a:pPr>
            <a:r>
              <a:rPr sz="2700" b="0">
                <a:solidFill>
                  <a:srgbClr val="FFFFFF"/>
                </a:solidFill>
                <a:latin typeface="Cambria"/>
              </a:rPr>
              <a:t>και να μην απαντηθεί ό,τι τα δεδομένα δεν επιτρέπουν.</a:t>
            </a:r>
          </a:p>
        </p:txBody>
      </p:sp>
      <p:sp>
        <p:nvSpPr>
          <p:cNvPr id="5" name="TextBox 4"/>
          <p:cNvSpPr txBox="1"/>
          <p:nvPr/>
        </p:nvSpPr>
        <p:spPr>
          <a:xfrm>
            <a:off x="960120" y="4023360"/>
            <a:ext cx="11091672" cy="457200"/>
          </a:xfrm>
          <a:prstGeom prst="rect">
            <a:avLst/>
          </a:prstGeom>
          <a:noFill/>
        </p:spPr>
        <p:txBody>
          <a:bodyPr wrap="square" anchor="t" lIns="0" rIns="0" tIns="0" bIns="0">
            <a:spAutoFit/>
          </a:bodyPr>
          <a:lstStyle/>
          <a:p>
            <a:pPr algn="l">
              <a:lnSpc>
                <a:spcPct val="122000"/>
              </a:lnSpc>
              <a:spcAft>
                <a:spcPts val="0"/>
              </a:spcAft>
            </a:pPr>
            <a:r>
              <a:rPr sz="2000" b="0">
                <a:solidFill>
                  <a:srgbClr val="D7E5D2"/>
                </a:solidFill>
                <a:latin typeface="Calibri"/>
              </a:rPr>
              <a:t>Ευχαριστώ για την προσοχή σας.</a:t>
            </a:r>
          </a:p>
        </p:txBody>
      </p:sp>
      <p:sp>
        <p:nvSpPr>
          <p:cNvPr id="6" name="TextBox 5"/>
          <p:cNvSpPr txBox="1"/>
          <p:nvPr/>
        </p:nvSpPr>
        <p:spPr>
          <a:xfrm>
            <a:off x="960120" y="4709160"/>
            <a:ext cx="11091672" cy="548640"/>
          </a:xfrm>
          <a:prstGeom prst="rect">
            <a:avLst/>
          </a:prstGeom>
          <a:noFill/>
        </p:spPr>
        <p:txBody>
          <a:bodyPr wrap="square" anchor="t" lIns="0" rIns="0" tIns="0" bIns="0">
            <a:spAutoFit/>
          </a:bodyPr>
          <a:lstStyle/>
          <a:p>
            <a:pPr algn="l">
              <a:lnSpc>
                <a:spcPct val="122000"/>
              </a:lnSpc>
              <a:spcAft>
                <a:spcPts val="0"/>
              </a:spcAft>
            </a:pPr>
            <a:r>
              <a:rPr sz="3400" b="1">
                <a:solidFill>
                  <a:srgbClr val="E8A33D"/>
                </a:solidFill>
                <a:latin typeface="Cambria"/>
              </a:rPr>
              <a:t>Ερωτήσεις</a:t>
            </a:r>
          </a:p>
        </p:txBody>
      </p:sp>
      <p:sp>
        <p:nvSpPr>
          <p:cNvPr id="7" name="TextBox 6"/>
          <p:cNvSpPr txBox="1"/>
          <p:nvPr/>
        </p:nvSpPr>
        <p:spPr>
          <a:xfrm>
            <a:off x="548640" y="6473952"/>
            <a:ext cx="5486400" cy="274320"/>
          </a:xfrm>
          <a:prstGeom prst="rect">
            <a:avLst/>
          </a:prstGeom>
          <a:noFill/>
        </p:spPr>
        <p:txBody>
          <a:bodyPr wrap="square" anchor="t" lIns="0" rIns="0" tIns="0" bIns="0">
            <a:spAutoFit/>
          </a:bodyPr>
          <a:lstStyle/>
          <a:p>
            <a:pPr algn="l">
              <a:lnSpc>
                <a:spcPct val="122000"/>
              </a:lnSpc>
              <a:spcAft>
                <a:spcPts val="0"/>
              </a:spcAft>
            </a:pPr>
            <a:r>
              <a:rPr sz="900" b="0">
                <a:solidFill>
                  <a:srgbClr val="D7E5D2"/>
                </a:solidFill>
                <a:latin typeface="Calibri"/>
              </a:rPr>
              <a:t>ENSIGHTS · Χρήστος Μουρτογιάννης</a:t>
            </a:r>
          </a:p>
        </p:txBody>
      </p:sp>
      <p:sp>
        <p:nvSpPr>
          <p:cNvPr id="8" name="TextBox 7"/>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D7E5D2"/>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εξόρυξης συχνών συνόλων</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B1</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support(X) = |{T ∈ D : X ⊆ T}| / |D|</a:t>
            </a:r>
          </a:p>
          <a:p>
            <a:pPr algn="l">
              <a:lnSpc>
                <a:spcPct val="122000"/>
              </a:lnSpc>
              <a:spcAft>
                <a:spcPts val="900"/>
              </a:spcAft>
            </a:pPr>
            <a:r>
              <a:rPr sz="1500" b="0">
                <a:solidFill>
                  <a:srgbClr val="241F1B"/>
                </a:solidFill>
                <a:latin typeface="Calibri"/>
              </a:rPr>
              <a:t>confidence(X→Y) = support(X ∪ Y) / support(X)</a:t>
            </a:r>
          </a:p>
          <a:p>
            <a:pPr algn="l">
              <a:lnSpc>
                <a:spcPct val="122000"/>
              </a:lnSpc>
              <a:spcAft>
                <a:spcPts val="900"/>
              </a:spcAft>
            </a:pPr>
            <a:r>
              <a:rPr sz="1500" b="0">
                <a:solidFill>
                  <a:srgbClr val="241F1B"/>
                </a:solidFill>
                <a:latin typeface="Calibri"/>
              </a:rPr>
              <a:t>lift(X→Y) = confidence(X→Y) / support(Y)</a:t>
            </a:r>
          </a:p>
        </p:txBody>
      </p:sp>
      <p:sp>
        <p:nvSpPr>
          <p:cNvPr id="7" name="Rectangle 6"/>
          <p:cNvSpPr/>
          <p:nvPr/>
        </p:nvSpPr>
        <p:spPr>
          <a:xfrm>
            <a:off x="548640" y="3445002"/>
            <a:ext cx="5349240" cy="910209"/>
          </a:xfrm>
          <a:prstGeom prst="rect">
            <a:avLst/>
          </a:prstGeom>
          <a:noFill/>
          <a:ln w="9525">
            <a:solidFill>
              <a:srgbClr val="D7E5D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48640" y="3445002"/>
            <a:ext cx="64008" cy="91020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777240" y="3591306"/>
            <a:ext cx="4937759" cy="617600"/>
          </a:xfrm>
          <a:prstGeom prst="rect">
            <a:avLst/>
          </a:prstGeom>
          <a:noFill/>
        </p:spPr>
        <p:txBody>
          <a:bodyPr wrap="square" anchor="t" lIns="0" rIns="0" tIns="0" bIns="0">
            <a:spAutoFit/>
          </a:bodyPr>
          <a:lstStyle/>
          <a:p>
            <a:pPr algn="l">
              <a:lnSpc>
                <a:spcPct val="122000"/>
              </a:lnSpc>
              <a:spcAft>
                <a:spcPts val="0"/>
              </a:spcAft>
            </a:pPr>
            <a:r>
              <a:rPr sz="1250" b="0">
                <a:solidFill>
                  <a:srgbClr val="6B6259"/>
                </a:solidFill>
                <a:latin typeface="Calibri"/>
              </a:rPr>
              <a:t>Ο Apriori στηρίζεται στην ιδιότητα ότι κάθε υποσύνολο ενός συχνού συνόλου είναι και αυτό συχνό, οπότε μπορεί να κλαδέψει υποψήφια χωρίς να τα μετρήσει.</a:t>
            </a:r>
          </a:p>
        </p:txBody>
      </p:sp>
      <p:sp>
        <p:nvSpPr>
          <p:cNvPr id="10" name="TextBox 9"/>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ΠΑΡΑΔΕΙΓΜΑ: 10 ΑΠΟΔΕΙΞΕΙΣ</a:t>
            </a:r>
          </a:p>
        </p:txBody>
      </p:sp>
      <p:sp>
        <p:nvSpPr>
          <p:cNvPr id="11" name="TextBox 10"/>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Οι 3 έχουν ψωμί και βούτυρο μαζί, άρα support 0,3.</a:t>
            </a:r>
          </a:p>
          <a:p>
            <a:pPr algn="l">
              <a:lnSpc>
                <a:spcPct val="122000"/>
              </a:lnSpc>
              <a:spcAft>
                <a:spcPts val="1000"/>
              </a:spcAft>
            </a:pPr>
            <a:r>
              <a:rPr sz="1500" b="0">
                <a:solidFill>
                  <a:srgbClr val="241F1B"/>
                </a:solidFill>
                <a:latin typeface="Calibri"/>
              </a:rPr>
              <a:t>—  Το ψωμί υπάρχει σε 5, άρα confidence 3/5 ίσον 0,6.</a:t>
            </a:r>
          </a:p>
          <a:p>
            <a:pPr algn="l">
              <a:lnSpc>
                <a:spcPct val="122000"/>
              </a:lnSpc>
              <a:spcAft>
                <a:spcPts val="1000"/>
              </a:spcAft>
            </a:pPr>
            <a:r>
              <a:rPr sz="1500" b="0">
                <a:solidFill>
                  <a:srgbClr val="241F1B"/>
                </a:solidFill>
                <a:latin typeface="Calibri"/>
              </a:rPr>
              <a:t>—  Αν το βούτυρο έχει support 0,8, lift ίσον 0,75. Κάτω από ένα, καμία σχέση.</a:t>
            </a:r>
          </a:p>
          <a:p>
            <a:pPr algn="l">
              <a:lnSpc>
                <a:spcPct val="122000"/>
              </a:lnSpc>
              <a:spcAft>
                <a:spcPts val="1000"/>
              </a:spcAft>
            </a:pPr>
            <a:r>
              <a:rPr sz="1500" b="0">
                <a:solidFill>
                  <a:srgbClr val="241F1B"/>
                </a:solidFill>
                <a:latin typeface="Calibri"/>
              </a:rPr>
              <a:t>—  Αν το βούτυρο έχει support 0,2, lift ίσον 3. Τριπλάσια πιθανότητα από την τύχη.</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Οι τύποι της ομαδοποίησης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B2</a:t>
            </a:r>
          </a:p>
        </p:txBody>
      </p:sp>
      <p:sp>
        <p:nvSpPr>
          <p:cNvPr id="6" name="TextBox 5"/>
          <p:cNvSpPr txBox="1"/>
          <p:nvPr/>
        </p:nvSpPr>
        <p:spPr>
          <a:xfrm>
            <a:off x="548640" y="2258568"/>
            <a:ext cx="5349240" cy="365760"/>
          </a:xfrm>
          <a:prstGeom prst="rect">
            <a:avLst/>
          </a:prstGeom>
          <a:noFill/>
        </p:spPr>
        <p:txBody>
          <a:bodyPr wrap="square" anchor="t" lIns="0" rIns="0" tIns="0" bIns="0">
            <a:spAutoFit/>
          </a:bodyPr>
          <a:lstStyle/>
          <a:p>
            <a:pPr algn="l">
              <a:lnSpc>
                <a:spcPct val="122000"/>
              </a:lnSpc>
              <a:spcAft>
                <a:spcPts val="900"/>
              </a:spcAft>
            </a:pPr>
            <a:r>
              <a:rPr sz="1500" b="0">
                <a:solidFill>
                  <a:srgbClr val="241F1B"/>
                </a:solidFill>
                <a:latin typeface="Calibri"/>
              </a:rPr>
              <a:t>k-means, MacQueen 1967:</a:t>
            </a:r>
          </a:p>
          <a:p>
            <a:pPr algn="l">
              <a:lnSpc>
                <a:spcPct val="122000"/>
              </a:lnSpc>
              <a:spcAft>
                <a:spcPts val="900"/>
              </a:spcAft>
            </a:pPr>
            <a:r>
              <a:rPr sz="1500" b="0">
                <a:solidFill>
                  <a:srgbClr val="241F1B"/>
                </a:solidFill>
                <a:latin typeface="Calibri"/>
              </a:rPr>
              <a:t>J = Σᵢ Σ(x ∈ Cᵢ) ‖x − μᵢ‖²</a:t>
            </a:r>
          </a:p>
          <a:p>
            <a:pPr algn="l">
              <a:lnSpc>
                <a:spcPct val="122000"/>
              </a:lnSpc>
              <a:spcAft>
                <a:spcPts val="900"/>
              </a:spcAft>
            </a:pPr>
            <a:r>
              <a:rPr sz="1500" b="0">
                <a:solidFill>
                  <a:srgbClr val="241F1B"/>
                </a:solidFill>
                <a:latin typeface="Calibri"/>
              </a:rPr>
              <a:t>Silhouette, Rousseeuw 1987:</a:t>
            </a:r>
          </a:p>
          <a:p>
            <a:pPr algn="l">
              <a:lnSpc>
                <a:spcPct val="122000"/>
              </a:lnSpc>
              <a:spcAft>
                <a:spcPts val="900"/>
              </a:spcAft>
            </a:pPr>
            <a:r>
              <a:rPr sz="1500" b="0">
                <a:solidFill>
                  <a:srgbClr val="241F1B"/>
                </a:solidFill>
                <a:latin typeface="Calibri"/>
              </a:rPr>
              <a:t>s(i) = (b(i) − a(i)) / max{a(i), b(i)},  s(i) ∈ [−1, 1]</a:t>
            </a:r>
          </a:p>
        </p:txBody>
      </p:sp>
      <p:sp>
        <p:nvSpPr>
          <p:cNvPr id="7" name="TextBox 6"/>
          <p:cNvSpPr txBox="1"/>
          <p:nvPr/>
        </p:nvSpPr>
        <p:spPr>
          <a:xfrm>
            <a:off x="6291072" y="2258568"/>
            <a:ext cx="5349240" cy="256032"/>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ΤΙ ΣΗΜΑΙΝΟΥΝ</a:t>
            </a:r>
          </a:p>
        </p:txBody>
      </p:sp>
      <p:sp>
        <p:nvSpPr>
          <p:cNvPr id="8" name="TextBox 7"/>
          <p:cNvSpPr txBox="1"/>
          <p:nvPr/>
        </p:nvSpPr>
        <p:spPr>
          <a:xfrm>
            <a:off x="6291072" y="2624328"/>
            <a:ext cx="5349240" cy="365760"/>
          </a:xfrm>
          <a:prstGeom prst="rect">
            <a:avLst/>
          </a:prstGeom>
          <a:noFill/>
        </p:spPr>
        <p:txBody>
          <a:bodyPr wrap="square" anchor="t" lIns="0" rIns="0" tIns="0" bIns="0">
            <a:spAutoFit/>
          </a:bodyPr>
          <a:lstStyle/>
          <a:p>
            <a:pPr algn="l">
              <a:lnSpc>
                <a:spcPct val="122000"/>
              </a:lnSpc>
              <a:spcAft>
                <a:spcPts val="1000"/>
              </a:spcAft>
            </a:pPr>
            <a:r>
              <a:rPr sz="1500" b="0">
                <a:solidFill>
                  <a:srgbClr val="241F1B"/>
                </a:solidFill>
                <a:latin typeface="Calibri"/>
              </a:rPr>
              <a:t>—  Το J μετράει πόσο μαζεμένη είναι κάθε ομάδα γύρω από το κέντρο της. Το θέλουμε όσο πιο μικρό γίνεται.</a:t>
            </a:r>
          </a:p>
          <a:p>
            <a:pPr algn="l">
              <a:lnSpc>
                <a:spcPct val="122000"/>
              </a:lnSpc>
              <a:spcAft>
                <a:spcPts val="1000"/>
              </a:spcAft>
            </a:pPr>
            <a:r>
              <a:rPr sz="1500" b="0">
                <a:solidFill>
                  <a:srgbClr val="241F1B"/>
                </a:solidFill>
                <a:latin typeface="Calibri"/>
              </a:rPr>
              <a:t>—  Το a(i) είναι η μέση απόσταση από τα μέλη της ίδιας ομάδας, το b(i) από την πιο κοντινή άλλη.</a:t>
            </a:r>
          </a:p>
          <a:p>
            <a:pPr algn="l">
              <a:lnSpc>
                <a:spcPct val="122000"/>
              </a:lnSpc>
              <a:spcAft>
                <a:spcPts val="1000"/>
              </a:spcAft>
            </a:pPr>
            <a:r>
              <a:rPr sz="1500" b="0">
                <a:solidFill>
                  <a:srgbClr val="241F1B"/>
                </a:solidFill>
                <a:latin typeface="Calibri"/>
              </a:rPr>
              <a:t>—  Η τυποποίηση των μεταβλητών πριν το clustering είναι προϋπόθεση, όχι βελτίωση. Χωρίς αυτήν κυριαρχεί η μεταβλητή με τη μεγαλύτερη κλίμακα.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Το πλήρες πλέγμα LTV προς CAC</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B3</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Μέση παρατηρούμενη αξία πελάτη 2.895. Οκτώ κελιά περνάνε το όριο 3:1, οκτώ όχι. Το «ναι» και το «όχι» δεν τα ορίζουν τα δεδομένα, τα ορίζει η παραδοχή για το περιθώριο.</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Περιθώριο</a:t>
            </a:r>
          </a:p>
        </p:txBody>
      </p:sp>
      <p:sp>
        <p:nvSpPr>
          <p:cNvPr id="9" name="TextBox 8"/>
          <p:cNvSpPr txBox="1"/>
          <p:nvPr/>
        </p:nvSpPr>
        <p:spPr>
          <a:xfrm>
            <a:off x="2858414"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100</a:t>
            </a:r>
          </a:p>
        </p:txBody>
      </p:sp>
      <p:sp>
        <p:nvSpPr>
          <p:cNvPr id="10" name="TextBox 9"/>
          <p:cNvSpPr txBox="1"/>
          <p:nvPr/>
        </p:nvSpPr>
        <p:spPr>
          <a:xfrm>
            <a:off x="5076748"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250</a:t>
            </a:r>
          </a:p>
        </p:txBody>
      </p:sp>
      <p:sp>
        <p:nvSpPr>
          <p:cNvPr id="11" name="TextBox 10"/>
          <p:cNvSpPr txBox="1"/>
          <p:nvPr/>
        </p:nvSpPr>
        <p:spPr>
          <a:xfrm>
            <a:off x="7295083"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500</a:t>
            </a:r>
          </a:p>
        </p:txBody>
      </p:sp>
      <p:sp>
        <p:nvSpPr>
          <p:cNvPr id="12" name="TextBox 11"/>
          <p:cNvSpPr txBox="1"/>
          <p:nvPr/>
        </p:nvSpPr>
        <p:spPr>
          <a:xfrm>
            <a:off x="9513417" y="2340864"/>
            <a:ext cx="2035454"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CAC 900</a:t>
            </a:r>
          </a:p>
        </p:txBody>
      </p:sp>
      <p:sp>
        <p:nvSpPr>
          <p:cNvPr id="13" name="TextBox 12"/>
          <p:cNvSpPr txBox="1"/>
          <p:nvPr/>
        </p:nvSpPr>
        <p:spPr>
          <a:xfrm>
            <a:off x="640080"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a:t>
            </a:r>
          </a:p>
        </p:txBody>
      </p:sp>
      <p:sp>
        <p:nvSpPr>
          <p:cNvPr id="14" name="TextBox 13"/>
          <p:cNvSpPr txBox="1"/>
          <p:nvPr/>
        </p:nvSpPr>
        <p:spPr>
          <a:xfrm>
            <a:off x="2858414"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4,34 ναι</a:t>
            </a:r>
          </a:p>
        </p:txBody>
      </p:sp>
      <p:sp>
        <p:nvSpPr>
          <p:cNvPr id="15" name="TextBox 14"/>
          <p:cNvSpPr txBox="1"/>
          <p:nvPr/>
        </p:nvSpPr>
        <p:spPr>
          <a:xfrm>
            <a:off x="5076748"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16" name="TextBox 15"/>
          <p:cNvSpPr txBox="1"/>
          <p:nvPr/>
        </p:nvSpPr>
        <p:spPr>
          <a:xfrm>
            <a:off x="7295083"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0,87 όχι</a:t>
            </a:r>
          </a:p>
        </p:txBody>
      </p:sp>
      <p:sp>
        <p:nvSpPr>
          <p:cNvPr id="17" name="TextBox 16"/>
          <p:cNvSpPr txBox="1"/>
          <p:nvPr/>
        </p:nvSpPr>
        <p:spPr>
          <a:xfrm>
            <a:off x="9513417" y="269748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0,48 όχι</a:t>
            </a:r>
          </a:p>
        </p:txBody>
      </p:sp>
      <p:sp>
        <p:nvSpPr>
          <p:cNvPr id="18" name="Rectangle 17"/>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30%</a:t>
            </a:r>
          </a:p>
        </p:txBody>
      </p:sp>
      <p:sp>
        <p:nvSpPr>
          <p:cNvPr id="20" name="TextBox 19"/>
          <p:cNvSpPr txBox="1"/>
          <p:nvPr/>
        </p:nvSpPr>
        <p:spPr>
          <a:xfrm>
            <a:off x="2858414"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8,69 ναι</a:t>
            </a:r>
          </a:p>
        </p:txBody>
      </p:sp>
      <p:sp>
        <p:nvSpPr>
          <p:cNvPr id="21" name="TextBox 20"/>
          <p:cNvSpPr txBox="1"/>
          <p:nvPr/>
        </p:nvSpPr>
        <p:spPr>
          <a:xfrm>
            <a:off x="5076748"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22" name="TextBox 21"/>
          <p:cNvSpPr txBox="1"/>
          <p:nvPr/>
        </p:nvSpPr>
        <p:spPr>
          <a:xfrm>
            <a:off x="7295083"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1,74 όχι</a:t>
            </a:r>
          </a:p>
        </p:txBody>
      </p:sp>
      <p:sp>
        <p:nvSpPr>
          <p:cNvPr id="23" name="TextBox 22"/>
          <p:cNvSpPr txBox="1"/>
          <p:nvPr/>
        </p:nvSpPr>
        <p:spPr>
          <a:xfrm>
            <a:off x="9513417" y="306324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0,97 όχι</a:t>
            </a:r>
          </a:p>
        </p:txBody>
      </p:sp>
      <p:sp>
        <p:nvSpPr>
          <p:cNvPr id="24" name="TextBox 23"/>
          <p:cNvSpPr txBox="1"/>
          <p:nvPr/>
        </p:nvSpPr>
        <p:spPr>
          <a:xfrm>
            <a:off x="640080"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45%</a:t>
            </a:r>
          </a:p>
        </p:txBody>
      </p:sp>
      <p:sp>
        <p:nvSpPr>
          <p:cNvPr id="25" name="TextBox 24"/>
          <p:cNvSpPr txBox="1"/>
          <p:nvPr/>
        </p:nvSpPr>
        <p:spPr>
          <a:xfrm>
            <a:off x="2858414"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13,03 ναι</a:t>
            </a:r>
          </a:p>
        </p:txBody>
      </p:sp>
      <p:sp>
        <p:nvSpPr>
          <p:cNvPr id="26" name="TextBox 25"/>
          <p:cNvSpPr txBox="1"/>
          <p:nvPr/>
        </p:nvSpPr>
        <p:spPr>
          <a:xfrm>
            <a:off x="5076748"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5,21 ναι</a:t>
            </a:r>
          </a:p>
        </p:txBody>
      </p:sp>
      <p:sp>
        <p:nvSpPr>
          <p:cNvPr id="27" name="TextBox 26"/>
          <p:cNvSpPr txBox="1"/>
          <p:nvPr/>
        </p:nvSpPr>
        <p:spPr>
          <a:xfrm>
            <a:off x="7295083"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2,61 όχι</a:t>
            </a:r>
          </a:p>
        </p:txBody>
      </p:sp>
      <p:sp>
        <p:nvSpPr>
          <p:cNvPr id="28" name="TextBox 27"/>
          <p:cNvSpPr txBox="1"/>
          <p:nvPr/>
        </p:nvSpPr>
        <p:spPr>
          <a:xfrm>
            <a:off x="9513417" y="342900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1,45 όχι</a:t>
            </a:r>
          </a:p>
        </p:txBody>
      </p:sp>
      <p:sp>
        <p:nvSpPr>
          <p:cNvPr id="29" name="Rectangle 28"/>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60%</a:t>
            </a:r>
          </a:p>
        </p:txBody>
      </p:sp>
      <p:sp>
        <p:nvSpPr>
          <p:cNvPr id="31" name="TextBox 30"/>
          <p:cNvSpPr txBox="1"/>
          <p:nvPr/>
        </p:nvSpPr>
        <p:spPr>
          <a:xfrm>
            <a:off x="2858414"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17,37 ναι</a:t>
            </a:r>
          </a:p>
        </p:txBody>
      </p:sp>
      <p:sp>
        <p:nvSpPr>
          <p:cNvPr id="32" name="TextBox 31"/>
          <p:cNvSpPr txBox="1"/>
          <p:nvPr/>
        </p:nvSpPr>
        <p:spPr>
          <a:xfrm>
            <a:off x="5076748"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6,95 ναι</a:t>
            </a:r>
          </a:p>
        </p:txBody>
      </p:sp>
      <p:sp>
        <p:nvSpPr>
          <p:cNvPr id="33" name="TextBox 32"/>
          <p:cNvSpPr txBox="1"/>
          <p:nvPr/>
        </p:nvSpPr>
        <p:spPr>
          <a:xfrm>
            <a:off x="7295083"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3,47 ναι</a:t>
            </a:r>
          </a:p>
        </p:txBody>
      </p:sp>
      <p:sp>
        <p:nvSpPr>
          <p:cNvPr id="34" name="TextBox 33"/>
          <p:cNvSpPr txBox="1"/>
          <p:nvPr/>
        </p:nvSpPr>
        <p:spPr>
          <a:xfrm>
            <a:off x="9513417" y="3794760"/>
            <a:ext cx="2035454"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1,93 όχι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Ευαισθησία στο κατώφλι support</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B4</a:t>
            </a:r>
          </a:p>
        </p:txBody>
      </p:sp>
      <p:sp>
        <p:nvSpPr>
          <p:cNvPr id="6" name="TextBox 5"/>
          <p:cNvSpPr txBox="1"/>
          <p:nvPr/>
        </p:nvSpPr>
        <p:spPr>
          <a:xfrm>
            <a:off x="548640" y="5986780"/>
            <a:ext cx="11091672" cy="432307"/>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Στο 5% κανένα ζευγάρι δεν εμφανίζεται σε αρκετά καλάθια ώστε να βγει κανόνας, σε κατάλογο 4.900 προϊόντων. Το κατώφλι 0,02 διαλέχτηκε γιατί δίνει αρκετούς κανόνες για να είναι χρήσιμοι και αρκετά λίγους για να διαβαστούν.</a:t>
            </a:r>
          </a:p>
        </p:txBody>
      </p:sp>
      <p:sp>
        <p:nvSpPr>
          <p:cNvPr id="7" name="Rectangle 6"/>
          <p:cNvSpPr/>
          <p:nvPr/>
        </p:nvSpPr>
        <p:spPr>
          <a:xfrm>
            <a:off x="548640" y="2258568"/>
            <a:ext cx="11091672" cy="347472"/>
          </a:xfrm>
          <a:prstGeom prst="rect">
            <a:avLst/>
          </a:prstGeom>
          <a:solidFill>
            <a:srgbClr val="D7E5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2340864"/>
            <a:ext cx="3588288"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Κατώφλι support</a:t>
            </a:r>
          </a:p>
        </p:txBody>
      </p:sp>
      <p:sp>
        <p:nvSpPr>
          <p:cNvPr id="9" name="TextBox 8"/>
          <p:cNvSpPr txBox="1"/>
          <p:nvPr/>
        </p:nvSpPr>
        <p:spPr>
          <a:xfrm>
            <a:off x="4411248"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Συχνά σύνολα</a:t>
            </a:r>
          </a:p>
        </p:txBody>
      </p:sp>
      <p:sp>
        <p:nvSpPr>
          <p:cNvPr id="10" name="TextBox 9"/>
          <p:cNvSpPr txBox="1"/>
          <p:nvPr/>
        </p:nvSpPr>
        <p:spPr>
          <a:xfrm>
            <a:off x="8071500" y="2340864"/>
            <a:ext cx="3477371" cy="237744"/>
          </a:xfrm>
          <a:prstGeom prst="rect">
            <a:avLst/>
          </a:prstGeom>
          <a:noFill/>
        </p:spPr>
        <p:txBody>
          <a:bodyPr wrap="square" anchor="t" lIns="0" rIns="0" tIns="0" bIns="0">
            <a:spAutoFit/>
          </a:bodyPr>
          <a:lstStyle/>
          <a:p>
            <a:pPr algn="l">
              <a:lnSpc>
                <a:spcPct val="122000"/>
              </a:lnSpc>
              <a:spcAft>
                <a:spcPts val="0"/>
              </a:spcAft>
            </a:pPr>
            <a:r>
              <a:rPr sz="1200" b="1">
                <a:solidFill>
                  <a:srgbClr val="2C5530"/>
                </a:solidFill>
                <a:latin typeface="Calibri"/>
              </a:rPr>
              <a:t>Κανόνες</a:t>
            </a:r>
          </a:p>
        </p:txBody>
      </p:sp>
      <p:sp>
        <p:nvSpPr>
          <p:cNvPr id="11" name="TextBox 10"/>
          <p:cNvSpPr txBox="1"/>
          <p:nvPr/>
        </p:nvSpPr>
        <p:spPr>
          <a:xfrm>
            <a:off x="640080" y="269748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0,01</a:t>
            </a:r>
          </a:p>
        </p:txBody>
      </p:sp>
      <p:sp>
        <p:nvSpPr>
          <p:cNvPr id="12" name="TextBox 11"/>
          <p:cNvSpPr txBox="1"/>
          <p:nvPr/>
        </p:nvSpPr>
        <p:spPr>
          <a:xfrm>
            <a:off x="4411248"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1.556</a:t>
            </a:r>
          </a:p>
        </p:txBody>
      </p:sp>
      <p:sp>
        <p:nvSpPr>
          <p:cNvPr id="13" name="TextBox 12"/>
          <p:cNvSpPr txBox="1"/>
          <p:nvPr/>
        </p:nvSpPr>
        <p:spPr>
          <a:xfrm>
            <a:off x="8071500" y="269748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1.185</a:t>
            </a:r>
          </a:p>
        </p:txBody>
      </p:sp>
      <p:sp>
        <p:nvSpPr>
          <p:cNvPr id="14" name="Rectangle 13"/>
          <p:cNvSpPr/>
          <p:nvPr/>
        </p:nvSpPr>
        <p:spPr>
          <a:xfrm>
            <a:off x="548640" y="297180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306324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0,02</a:t>
            </a:r>
          </a:p>
        </p:txBody>
      </p:sp>
      <p:sp>
        <p:nvSpPr>
          <p:cNvPr id="16" name="TextBox 15"/>
          <p:cNvSpPr txBox="1"/>
          <p:nvPr/>
        </p:nvSpPr>
        <p:spPr>
          <a:xfrm>
            <a:off x="4411248"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385</a:t>
            </a:r>
          </a:p>
        </p:txBody>
      </p:sp>
      <p:sp>
        <p:nvSpPr>
          <p:cNvPr id="17" name="TextBox 16"/>
          <p:cNvSpPr txBox="1"/>
          <p:nvPr/>
        </p:nvSpPr>
        <p:spPr>
          <a:xfrm>
            <a:off x="8071500" y="306324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134</a:t>
            </a:r>
          </a:p>
        </p:txBody>
      </p:sp>
      <p:sp>
        <p:nvSpPr>
          <p:cNvPr id="18" name="TextBox 17"/>
          <p:cNvSpPr txBox="1"/>
          <p:nvPr/>
        </p:nvSpPr>
        <p:spPr>
          <a:xfrm>
            <a:off x="640080" y="342900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0,03</a:t>
            </a:r>
          </a:p>
        </p:txBody>
      </p:sp>
      <p:sp>
        <p:nvSpPr>
          <p:cNvPr id="19" name="TextBox 18"/>
          <p:cNvSpPr txBox="1"/>
          <p:nvPr/>
        </p:nvSpPr>
        <p:spPr>
          <a:xfrm>
            <a:off x="4411248"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141</a:t>
            </a:r>
          </a:p>
        </p:txBody>
      </p:sp>
      <p:sp>
        <p:nvSpPr>
          <p:cNvPr id="20" name="TextBox 19"/>
          <p:cNvSpPr txBox="1"/>
          <p:nvPr/>
        </p:nvSpPr>
        <p:spPr>
          <a:xfrm>
            <a:off x="8071500" y="342900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17</a:t>
            </a:r>
          </a:p>
        </p:txBody>
      </p:sp>
      <p:sp>
        <p:nvSpPr>
          <p:cNvPr id="21" name="Rectangle 20"/>
          <p:cNvSpPr/>
          <p:nvPr/>
        </p:nvSpPr>
        <p:spPr>
          <a:xfrm>
            <a:off x="548640" y="3703320"/>
            <a:ext cx="11091672" cy="365760"/>
          </a:xfrm>
          <a:prstGeom prst="rect">
            <a:avLst/>
          </a:prstGeom>
          <a:solidFill>
            <a:srgbClr val="EEF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3794760"/>
            <a:ext cx="3588288"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0,05</a:t>
            </a:r>
          </a:p>
        </p:txBody>
      </p:sp>
      <p:sp>
        <p:nvSpPr>
          <p:cNvPr id="23" name="TextBox 22"/>
          <p:cNvSpPr txBox="1"/>
          <p:nvPr/>
        </p:nvSpPr>
        <p:spPr>
          <a:xfrm>
            <a:off x="4411248"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35</a:t>
            </a:r>
          </a:p>
        </p:txBody>
      </p:sp>
      <p:sp>
        <p:nvSpPr>
          <p:cNvPr id="24" name="TextBox 23"/>
          <p:cNvSpPr txBox="1"/>
          <p:nvPr/>
        </p:nvSpPr>
        <p:spPr>
          <a:xfrm>
            <a:off x="8071500" y="3794760"/>
            <a:ext cx="3477371" cy="237744"/>
          </a:xfrm>
          <a:prstGeom prst="rect">
            <a:avLst/>
          </a:prstGeom>
          <a:noFill/>
        </p:spPr>
        <p:txBody>
          <a:bodyPr wrap="square" anchor="t" lIns="0" rIns="0" tIns="0" bIns="0">
            <a:spAutoFit/>
          </a:bodyPr>
          <a:lstStyle/>
          <a:p>
            <a:pPr algn="l">
              <a:lnSpc>
                <a:spcPct val="122000"/>
              </a:lnSpc>
              <a:spcAft>
                <a:spcPts val="0"/>
              </a:spcAft>
            </a:pPr>
            <a:r>
              <a:rPr sz="1250" b="0">
                <a:solidFill>
                  <a:srgbClr val="241F1B"/>
                </a:solidFill>
                <a:latin typeface="Calibri"/>
              </a:rPr>
              <a:t>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091672" cy="274320"/>
          </a:xfrm>
          <a:prstGeom prst="rect">
            <a:avLst/>
          </a:prstGeom>
          <a:noFill/>
        </p:spPr>
        <p:txBody>
          <a:bodyPr wrap="square" anchor="t" lIns="0" rIns="0" tIns="0" bIns="0">
            <a:spAutoFit/>
          </a:bodyPr>
          <a:lstStyle/>
          <a:p>
            <a:pPr algn="l">
              <a:lnSpc>
                <a:spcPct val="122000"/>
              </a:lnSpc>
              <a:spcAft>
                <a:spcPts val="0"/>
              </a:spcAft>
            </a:pPr>
            <a:r>
              <a:rPr sz="1200" b="1">
                <a:solidFill>
                  <a:srgbClr val="E8A33D"/>
                </a:solidFill>
                <a:latin typeface="Calibri"/>
              </a:rPr>
              <a:t>ΕΦΕΔΡΙΚΗ ΔΙΑΦΑΝΕΙΑ</a:t>
            </a:r>
          </a:p>
        </p:txBody>
      </p:sp>
      <p:sp>
        <p:nvSpPr>
          <p:cNvPr id="3" name="TextBox 2"/>
          <p:cNvSpPr txBox="1"/>
          <p:nvPr/>
        </p:nvSpPr>
        <p:spPr>
          <a:xfrm>
            <a:off x="548640" y="749808"/>
            <a:ext cx="11091672" cy="640080"/>
          </a:xfrm>
          <a:prstGeom prst="rect">
            <a:avLst/>
          </a:prstGeom>
          <a:noFill/>
        </p:spPr>
        <p:txBody>
          <a:bodyPr wrap="square" anchor="t" lIns="0" rIns="0" tIns="0" bIns="0">
            <a:spAutoFit/>
          </a:bodyPr>
          <a:lstStyle/>
          <a:p>
            <a:pPr algn="l">
              <a:lnSpc>
                <a:spcPct val="122000"/>
              </a:lnSpc>
              <a:spcAft>
                <a:spcPts val="0"/>
              </a:spcAft>
            </a:pPr>
            <a:r>
              <a:rPr sz="3000" b="1">
                <a:solidFill>
                  <a:srgbClr val="2C5530"/>
                </a:solidFill>
                <a:latin typeface="Cambria"/>
              </a:rPr>
              <a:t>Δύο ακόμα κατανομές</a:t>
            </a:r>
          </a:p>
        </p:txBody>
      </p:sp>
      <p:sp>
        <p:nvSpPr>
          <p:cNvPr id="4" name="TextBox 3"/>
          <p:cNvSpPr txBox="1"/>
          <p:nvPr/>
        </p:nvSpPr>
        <p:spPr>
          <a:xfrm>
            <a:off x="548640" y="6473952"/>
            <a:ext cx="3657600" cy="274320"/>
          </a:xfrm>
          <a:prstGeom prst="rect">
            <a:avLst/>
          </a:prstGeom>
          <a:noFill/>
        </p:spPr>
        <p:txBody>
          <a:bodyPr wrap="square" anchor="t" lIns="0" rIns="0" tIns="0" bIns="0">
            <a:spAutoFit/>
          </a:bodyPr>
          <a:lstStyle/>
          <a:p>
            <a:pPr algn="l">
              <a:lnSpc>
                <a:spcPct val="122000"/>
              </a:lnSpc>
              <a:spcAft>
                <a:spcPts val="0"/>
              </a:spcAft>
            </a:pPr>
            <a:r>
              <a:rPr sz="900" b="0">
                <a:solidFill>
                  <a:srgbClr val="6B6259"/>
                </a:solidFill>
                <a:latin typeface="Calibri"/>
              </a:rPr>
              <a:t>ENSIGHTS</a:t>
            </a:r>
          </a:p>
        </p:txBody>
      </p:sp>
      <p:sp>
        <p:nvSpPr>
          <p:cNvPr id="5" name="TextBox 4"/>
          <p:cNvSpPr txBox="1"/>
          <p:nvPr/>
        </p:nvSpPr>
        <p:spPr>
          <a:xfrm>
            <a:off x="11094415" y="6473952"/>
            <a:ext cx="548640" cy="274320"/>
          </a:xfrm>
          <a:prstGeom prst="rect">
            <a:avLst/>
          </a:prstGeom>
          <a:noFill/>
        </p:spPr>
        <p:txBody>
          <a:bodyPr wrap="square" anchor="t" lIns="0" rIns="0" tIns="0" bIns="0">
            <a:spAutoFit/>
          </a:bodyPr>
          <a:lstStyle/>
          <a:p>
            <a:pPr algn="r">
              <a:lnSpc>
                <a:spcPct val="122000"/>
              </a:lnSpc>
              <a:spcAft>
                <a:spcPts val="0"/>
              </a:spcAft>
            </a:pPr>
            <a:r>
              <a:rPr sz="900" b="0">
                <a:solidFill>
                  <a:srgbClr val="6B6259"/>
                </a:solidFill>
                <a:latin typeface="Calibri"/>
              </a:rPr>
              <a:t>B5</a:t>
            </a:r>
          </a:p>
        </p:txBody>
      </p:sp>
      <p:sp>
        <p:nvSpPr>
          <p:cNvPr id="6" name="TextBox 5"/>
          <p:cNvSpPr txBox="1"/>
          <p:nvPr/>
        </p:nvSpPr>
        <p:spPr>
          <a:xfrm>
            <a:off x="548640" y="6157214"/>
            <a:ext cx="11091672" cy="261874"/>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Το 38,9% των εσόδων μένει αταξινόμητο, γιατί στα δεδομένα δεν υπάρχει κατηγορία προϊόντος, μόνο ελεύθερο κείμενο.</a:t>
            </a:r>
          </a:p>
        </p:txBody>
      </p:sp>
      <p:pic>
        <p:nvPicPr>
          <p:cNvPr id="7" name="Picture 6" descr="sales-weekday.png"/>
          <p:cNvPicPr>
            <a:picLocks noChangeAspect="1"/>
          </p:cNvPicPr>
          <p:nvPr/>
        </p:nvPicPr>
        <p:blipFill>
          <a:blip r:embed="rId2"/>
          <a:stretch>
            <a:fillRect/>
          </a:stretch>
        </p:blipFill>
        <p:spPr>
          <a:xfrm>
            <a:off x="548640" y="2258568"/>
            <a:ext cx="5349240" cy="2674620"/>
          </a:xfrm>
          <a:prstGeom prst="rect">
            <a:avLst/>
          </a:prstGeom>
        </p:spPr>
      </p:pic>
      <p:sp>
        <p:nvSpPr>
          <p:cNvPr id="8" name="Rectangle 7"/>
          <p:cNvSpPr/>
          <p:nvPr/>
        </p:nvSpPr>
        <p:spPr>
          <a:xfrm>
            <a:off x="548640" y="2258568"/>
            <a:ext cx="5349240" cy="267462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48640" y="5024628"/>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ημέρα της εβδομάδας</a:t>
            </a:r>
          </a:p>
        </p:txBody>
      </p:sp>
      <p:pic>
        <p:nvPicPr>
          <p:cNvPr id="10" name="Picture 9" descr="characteristics.png"/>
          <p:cNvPicPr>
            <a:picLocks noChangeAspect="1"/>
          </p:cNvPicPr>
          <p:nvPr/>
        </p:nvPicPr>
        <p:blipFill>
          <a:blip r:embed="rId3"/>
          <a:stretch>
            <a:fillRect/>
          </a:stretch>
        </p:blipFill>
        <p:spPr>
          <a:xfrm>
            <a:off x="6291072" y="2404872"/>
            <a:ext cx="5349240" cy="2377440"/>
          </a:xfrm>
          <a:prstGeom prst="rect">
            <a:avLst/>
          </a:prstGeom>
        </p:spPr>
      </p:pic>
      <p:sp>
        <p:nvSpPr>
          <p:cNvPr id="11" name="Rectangle 10"/>
          <p:cNvSpPr/>
          <p:nvPr/>
        </p:nvSpPr>
        <p:spPr>
          <a:xfrm>
            <a:off x="6291072" y="2404872"/>
            <a:ext cx="5349240" cy="2377440"/>
          </a:xfrm>
          <a:prstGeom prst="rect">
            <a:avLst/>
          </a:prstGeom>
          <a:noFill/>
          <a:ln w="9525">
            <a:solidFill>
              <a:srgbClr val="D8DE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91072" y="5020056"/>
            <a:ext cx="5349240" cy="292608"/>
          </a:xfrm>
          <a:prstGeom prst="rect">
            <a:avLst/>
          </a:prstGeom>
          <a:noFill/>
        </p:spPr>
        <p:txBody>
          <a:bodyPr wrap="square" anchor="t" lIns="0" rIns="0" tIns="0" bIns="0">
            <a:spAutoFit/>
          </a:bodyPr>
          <a:lstStyle/>
          <a:p>
            <a:pPr algn="l">
              <a:lnSpc>
                <a:spcPct val="122000"/>
              </a:lnSpc>
              <a:spcAft>
                <a:spcPts val="0"/>
              </a:spcAft>
            </a:pPr>
            <a:r>
              <a:rPr sz="1100" b="0">
                <a:solidFill>
                  <a:srgbClr val="6B6259"/>
                </a:solidFill>
                <a:latin typeface="Calibri"/>
              </a:rPr>
              <a:t>Έσοδα ανά είδος προϊόντος, από κανόνες λέξεων-κλειδιών</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