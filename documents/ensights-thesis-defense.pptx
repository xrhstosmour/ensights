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</p:sldIdLst>
  <p:sldSz cy="6858000" cx="12192000"/>
  <p:notesSz cx="7559675" cy="106918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1" roundtripDataSignature="AMtx7mizW0Z4ljqaDVkxQaUWaNVuc5aZ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customschemas.google.com/relationships/presentationmetadata" Target="metadata"/><Relationship Id="rId30" Type="http://schemas.openxmlformats.org/officeDocument/2006/relationships/slide" Target="slides/slide2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0" y="81252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" name="Google Shape;24;p1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" name="Google Shape;44;p2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2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3" name="Google Shape;73;p3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" name="Google Shape;85;p4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4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4" name="Google Shape;104;p5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5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" name="Google Shape;124;p6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6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7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7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8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8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8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5" name="Google Shape;185;p9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9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0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6" name="Google Shape;216;p10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0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1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1" name="Google Shape;231;p11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1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2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1" name="Google Shape;241;p12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2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3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5" name="Google Shape;255;p13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3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4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2" name="Google Shape;282;p14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4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5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7" name="Google Shape;297;p15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5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6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2" name="Google Shape;312;p16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6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7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7" name="Google Shape;327;p17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7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8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8" name="Google Shape;358;p18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8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9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3" name="Google Shape;373;p19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9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20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8" name="Google Shape;388;p20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20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1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2" name="Google Shape;432;p21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21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22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4" name="Google Shape;454;p22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22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p23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7" name="Google Shape;477;p23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23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24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9" name="Google Shape;489;p24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24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25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05" name="Google Shape;505;p25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25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26:notes"/>
          <p:cNvSpPr/>
          <p:nvPr>
            <p:ph idx="2" type="sldImg"/>
          </p:nvPr>
        </p:nvSpPr>
        <p:spPr>
          <a:xfrm>
            <a:off x="1143000" y="685800"/>
            <a:ext cx="4569120" cy="34261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7" name="Google Shape;517;p26:notes"/>
          <p:cNvSpPr txBox="1"/>
          <p:nvPr>
            <p:ph idx="1" type="body"/>
          </p:nvPr>
        </p:nvSpPr>
        <p:spPr>
          <a:xfrm>
            <a:off x="685800" y="4343400"/>
            <a:ext cx="5483520" cy="4111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sz="2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26:notes"/>
          <p:cNvSpPr txBox="1"/>
          <p:nvPr>
            <p:ph idx="12" type="sldNum"/>
          </p:nvPr>
        </p:nvSpPr>
        <p:spPr>
          <a:xfrm>
            <a:off x="3884760" y="8685360"/>
            <a:ext cx="2968920" cy="4543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 type="title">
  <p:cSld name="TITLE">
    <p:bg>
      <p:bgPr>
        <a:solidFill>
          <a:srgbClr val="FFFFFF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8"/>
          <p:cNvSpPr txBox="1"/>
          <p:nvPr>
            <p:ph type="title"/>
          </p:nvPr>
        </p:nvSpPr>
        <p:spPr>
          <a:xfrm>
            <a:off x="609480" y="510480"/>
            <a:ext cx="10969560" cy="670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" name="Google Shape;12;p28"/>
          <p:cNvSpPr txBox="1"/>
          <p:nvPr>
            <p:ph idx="11" type="ftr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3" name="Google Shape;13;p28"/>
          <p:cNvSpPr txBox="1"/>
          <p:nvPr>
            <p:ph idx="12" type="sldNum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" name="Google Shape;14;p28"/>
          <p:cNvSpPr txBox="1"/>
          <p:nvPr>
            <p:ph idx="10" type="dt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5" name="Google Shape;15;p28"/>
          <p:cNvSpPr txBox="1"/>
          <p:nvPr>
            <p:ph idx="1" type="body"/>
          </p:nvPr>
        </p:nvSpPr>
        <p:spPr>
          <a:xfrm>
            <a:off x="609480" y="1604520"/>
            <a:ext cx="10970280" cy="3975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1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561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7180" lvl="2" marL="1371600" marR="0" rtl="0" algn="l">
              <a:lnSpc>
                <a:spcPct val="100000"/>
              </a:lnSpc>
              <a:spcBef>
                <a:spcPts val="479"/>
              </a:spcBef>
              <a:spcAft>
                <a:spcPts val="0"/>
              </a:spcAft>
              <a:buClr>
                <a:srgbClr val="000000"/>
              </a:buClr>
              <a:buSzPts val="1080"/>
              <a:buFont typeface="Noto Sans Symbols"/>
              <a:buChar char="●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oto Sans Symbols"/>
              <a:buChar char="−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857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85750" lvl="5" marL="2743200" marR="0" rtl="0" algn="l">
              <a:lnSpc>
                <a:spcPct val="100000"/>
              </a:lnSpc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85750" lvl="6" marL="3200400" marR="0" rtl="0" algn="l">
              <a:lnSpc>
                <a:spcPct val="100000"/>
              </a:lnSpc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9"/>
          <p:cNvSpPr txBox="1"/>
          <p:nvPr>
            <p:ph idx="11" type="ftr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8" name="Google Shape;18;p29"/>
          <p:cNvSpPr txBox="1"/>
          <p:nvPr>
            <p:ph idx="12" type="sldNum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" name="Google Shape;19;p29"/>
          <p:cNvSpPr txBox="1"/>
          <p:nvPr>
            <p:ph idx="10" type="dt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0" name="Google Shape;20;p29"/>
          <p:cNvSpPr txBox="1"/>
          <p:nvPr>
            <p:ph type="title"/>
          </p:nvPr>
        </p:nvSpPr>
        <p:spPr>
          <a:xfrm>
            <a:off x="609480" y="273600"/>
            <a:ext cx="1097028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1" name="Google Shape;21;p29"/>
          <p:cNvSpPr txBox="1"/>
          <p:nvPr>
            <p:ph idx="1" type="body"/>
          </p:nvPr>
        </p:nvSpPr>
        <p:spPr>
          <a:xfrm>
            <a:off x="609480" y="1604520"/>
            <a:ext cx="10970280" cy="3975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1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lnSpc>
                <a:spcPct val="100000"/>
              </a:lnSpc>
              <a:spcBef>
                <a:spcPts val="561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Noto Sans Symbols"/>
              <a:buChar char="−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7180" lvl="2" marL="1371600" marR="0" rtl="0" algn="l">
              <a:lnSpc>
                <a:spcPct val="100000"/>
              </a:lnSpc>
              <a:spcBef>
                <a:spcPts val="479"/>
              </a:spcBef>
              <a:spcAft>
                <a:spcPts val="0"/>
              </a:spcAft>
              <a:buClr>
                <a:srgbClr val="000000"/>
              </a:buClr>
              <a:buSzPts val="1080"/>
              <a:buFont typeface="Noto Sans Symbols"/>
              <a:buChar char="●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oto Sans Symbols"/>
              <a:buChar char="−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857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85750" lvl="5" marL="2743200" marR="0" rtl="0" algn="l">
              <a:lnSpc>
                <a:spcPct val="100000"/>
              </a:lnSpc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85750" lvl="6" marL="3200400" marR="0" rtl="0" algn="l">
              <a:lnSpc>
                <a:spcPct val="100000"/>
              </a:lnSpc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jpg"/><Relationship Id="rId4" Type="http://schemas.openxmlformats.org/officeDocument/2006/relationships/image" Target="../media/image1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"/>
          <p:cNvSpPr/>
          <p:nvPr/>
        </p:nvSpPr>
        <p:spPr>
          <a:xfrm>
            <a:off x="0" y="0"/>
            <a:ext cx="12188880" cy="249840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548640" y="50292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ΔΙΠΛΩΜΑΤΙΚΗ ΕΡΓΑΣΙΑ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548640" y="868680"/>
            <a:ext cx="11088720" cy="1152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Εξαγωγή Ευφυών Αναλύσεων </a:t>
            </a:r>
            <a:endParaRPr b="0" i="0" sz="3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από Δεδομένα Ηλεκτρονικού Εμπορίου</a:t>
            </a:r>
            <a:endParaRPr b="0" i="0" sz="3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548640" y="2240280"/>
            <a:ext cx="11088720" cy="258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548640" y="3063240"/>
            <a:ext cx="11088720" cy="408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Μουρτογιάννης Χρήστος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48640" y="3736440"/>
            <a:ext cx="11088720" cy="496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Διατμηματικό ΠΜΣ «Διοίκηση και Οικονομική Τηλεπικοινωνιακών Δικτύων και Πληροφοριακών Συστημάτων»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Εθνικό και Καποδιστριακό Πανεπιστήμιο Αθηνών, Τμήμα Πληροφορικής και Τηλεπικοινωνιών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4389840" y="4480560"/>
            <a:ext cx="6580800" cy="155160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4664160" y="4645080"/>
            <a:ext cx="60321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ΤΡΙΜΕΛΗΣ ΕΞΕΤΑΣΤΙΚΗ ΕΠΙΤΡΟΠΗ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4664160" y="4992480"/>
            <a:ext cx="109440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Επιβλέπων: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5807160" y="4992480"/>
            <a:ext cx="484344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Ευστάθιος Χατζηευθυμιάδης, Καθηγητής, ΕΚΠΑ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4664160" y="5303520"/>
            <a:ext cx="109440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Εξεταστής: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5807160" y="5303520"/>
            <a:ext cx="484344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Κωνσταντίνος Κολομβάτσος, Πανεπιστήμιο Θεσσαλίας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4664160" y="5614560"/>
            <a:ext cx="109440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Εξεταστής: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1"/>
          <p:cNvSpPr/>
          <p:nvPr/>
        </p:nvSpPr>
        <p:spPr>
          <a:xfrm>
            <a:off x="5807160" y="5614560"/>
            <a:ext cx="484344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Μιλτιάδης Κυριακάκος, ΕΔΙΠ, ΕΚΠΑ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1"/>
          <p:cNvSpPr/>
          <p:nvPr/>
        </p:nvSpPr>
        <p:spPr>
          <a:xfrm>
            <a:off x="10287000" y="6400800"/>
            <a:ext cx="1807560" cy="22248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Αθήνα, Σεπτέμβριος 2026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ΠΕΡΙΕΧΟΜΕΝΑ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Τέσσερα μέρη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548640" y="6473880"/>
            <a:ext cx="3654720" cy="271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548640" y="1920240"/>
            <a:ext cx="2605320" cy="283176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548640" y="1920240"/>
            <a:ext cx="2605320" cy="7956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37425" lIns="90000" spcFirstLastPara="1" rIns="90000" wrap="square" tIns="37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804600" y="2240280"/>
            <a:ext cx="2093400" cy="74304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D7E5D2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804600" y="2971800"/>
            <a:ext cx="2093400" cy="31572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Το πρόβλημα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804600" y="3520440"/>
            <a:ext cx="2093400" cy="22248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Δεδομένα, στρατηγική ανάπτυξη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3376440" y="1920240"/>
            <a:ext cx="2605320" cy="283176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3376440" y="1920240"/>
            <a:ext cx="2605320" cy="7956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37425" lIns="90000" spcFirstLastPara="1" rIns="90000" wrap="square" tIns="37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3632400" y="2240280"/>
            <a:ext cx="2093400" cy="74304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D7E5D2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3632400" y="2971800"/>
            <a:ext cx="2093400" cy="31572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Το σύστημα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3632400" y="3520440"/>
            <a:ext cx="2093400" cy="22248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Δομή, αρχιτεκτονική, λειτουργία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6204240" y="1920240"/>
            <a:ext cx="2605320" cy="283176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6204240" y="1920240"/>
            <a:ext cx="2605320" cy="7956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37425" lIns="90000" spcFirstLastPara="1" rIns="90000" wrap="square" tIns="37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6460200" y="2240280"/>
            <a:ext cx="2093400" cy="74304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D7E5D2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6460200" y="2971800"/>
            <a:ext cx="2093400" cy="31572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Τα ευρήματα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6460200" y="3520440"/>
            <a:ext cx="2093400" cy="22248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Παρουσίαση και αξιολόγηση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9032040" y="1920240"/>
            <a:ext cx="2605320" cy="283176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9032040" y="1920240"/>
            <a:ext cx="2605320" cy="7956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37425" lIns="90000" spcFirstLastPara="1" rIns="90000" wrap="square" tIns="374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9288000" y="2240280"/>
            <a:ext cx="2093400" cy="74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D7E5D2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9288000" y="2971800"/>
            <a:ext cx="2093400" cy="31572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Συμπεράσματα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9288000" y="3520440"/>
            <a:ext cx="2093400" cy="22248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Προστιθέμενη αξία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548640" y="1600200"/>
            <a:ext cx="11088720" cy="178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548640" y="2971800"/>
            <a:ext cx="11088720" cy="74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1η ΕΝΟΤΗΤΑ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548640" y="3803760"/>
            <a:ext cx="11088720" cy="8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Το πρόβλημα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3"/>
          <p:cNvSpPr/>
          <p:nvPr/>
        </p:nvSpPr>
        <p:spPr>
          <a:xfrm>
            <a:off x="548640" y="4645080"/>
            <a:ext cx="11088720" cy="276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548640" y="6473880"/>
            <a:ext cx="5483520" cy="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ΤΟ ΠΡΟΒΛΗΜΑ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4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Αξιοποίηση των δεδομένων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4"/>
          <p:cNvSpPr/>
          <p:nvPr/>
        </p:nvSpPr>
        <p:spPr>
          <a:xfrm>
            <a:off x="548640" y="6473880"/>
            <a:ext cx="3654720" cy="271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4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548640" y="2286000"/>
            <a:ext cx="5346360" cy="28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3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baseline="30000" i="0" lang="en-US" sz="2589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Τα e-shops καταγράφουν τεράστιους όγκους δεδομένων, παραγγελίες, προϊόντα, επιστροφές.</a:t>
            </a:r>
            <a:endParaRPr b="0" i="0" sz="259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386"/>
              </a:lnSpc>
              <a:spcBef>
                <a:spcPts val="799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baseline="30000" i="0" lang="en-US" sz="2589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Τα τμήματα marketing και πωλήσεων συχνά δεν αξιοποιούν αυτή την πληροφορία στη λήψη αποφάσεων.</a:t>
            </a:r>
            <a:endParaRPr b="0" i="0" sz="259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799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1" baseline="30000" i="0" lang="en-US" sz="2589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Η παρούσα διπλωματική εργασία προτείνει έναν γρήγορο, αποδοτικό και προσιτό τρόπο αξιοποίησης αυτών των δεδομένων.</a:t>
            </a:r>
            <a:endParaRPr b="0" i="0" sz="259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6291000" y="2116800"/>
            <a:ext cx="5346360" cy="104868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6519600" y="2281320"/>
            <a:ext cx="4889160" cy="25020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ΤΙ ΕΧΟΥΜΕ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4"/>
          <p:cNvSpPr/>
          <p:nvPr/>
        </p:nvSpPr>
        <p:spPr>
          <a:xfrm>
            <a:off x="6519600" y="2619720"/>
            <a:ext cx="4889160" cy="25992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Πλήρεςιστορικό και δεδομένα πωλήσεων/επιστροφών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6291000" y="3351240"/>
            <a:ext cx="5346360" cy="1048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4"/>
          <p:cNvSpPr/>
          <p:nvPr/>
        </p:nvSpPr>
        <p:spPr>
          <a:xfrm>
            <a:off x="6519600" y="3515760"/>
            <a:ext cx="4889160" cy="25020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B0413E"/>
                </a:solidFill>
                <a:latin typeface="Cambria"/>
                <a:ea typeface="Cambria"/>
                <a:cs typeface="Cambria"/>
                <a:sym typeface="Cambria"/>
              </a:rPr>
              <a:t>ΤΟ ΚΕΝΟ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4"/>
          <p:cNvSpPr/>
          <p:nvPr/>
        </p:nvSpPr>
        <p:spPr>
          <a:xfrm>
            <a:off x="6519600" y="3854160"/>
            <a:ext cx="4889160" cy="25992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413E"/>
                </a:solidFill>
                <a:latin typeface="Calibri"/>
                <a:ea typeface="Calibri"/>
                <a:cs typeface="Calibri"/>
                <a:sym typeface="Calibri"/>
              </a:rPr>
              <a:t>Αποφάσεις χωρίς αξιοποίηση των πληροφοριών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4"/>
          <p:cNvSpPr/>
          <p:nvPr/>
        </p:nvSpPr>
        <p:spPr>
          <a:xfrm>
            <a:off x="6291000" y="4585680"/>
            <a:ext cx="5346360" cy="1048680"/>
          </a:xfrm>
          <a:prstGeom prst="roundRect">
            <a:avLst>
              <a:gd fmla="val 16667" name="adj"/>
            </a:avLst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6519600" y="4750200"/>
            <a:ext cx="4889160" cy="25020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ΤΙ ΘΕΛΟΥΜΕ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6519600" y="5088600"/>
            <a:ext cx="4889160" cy="25992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Αποφάσεις που στηρίζονται στα δεδομένα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ΟΙ ΣΤΟΧΟΙ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5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7 ερωτήματα που καλούνται να απαντήσουν οι επιχειρήσεις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548640" y="6473880"/>
            <a:ext cx="3654720" cy="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5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5"/>
          <p:cNvSpPr/>
          <p:nvPr/>
        </p:nvSpPr>
        <p:spPr>
          <a:xfrm>
            <a:off x="548640" y="6157080"/>
            <a:ext cx="11088720" cy="258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5"/>
          <p:cNvSpPr/>
          <p:nvPr/>
        </p:nvSpPr>
        <p:spPr>
          <a:xfrm>
            <a:off x="548640" y="2191680"/>
            <a:ext cx="491040" cy="296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5"/>
          <p:cNvSpPr/>
          <p:nvPr/>
        </p:nvSpPr>
        <p:spPr>
          <a:xfrm>
            <a:off x="581040" y="1907280"/>
            <a:ext cx="7646040" cy="3643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20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Ποια προϊόντα φέρνουν τα περισσότερα έσοδα?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20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Ποιοι πελάτες αγοράζουν τα περισσότερα?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0" i="0" lang="en-US" sz="28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b="0" i="0" lang="en-US" sz="20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Ποιες περιοχές αγοράζουν τα περισσότερα?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20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Πότε μέσα στον χρόνο γίνονται οι περισσότερες πωλήσεις?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5.</a:t>
            </a:r>
            <a:r>
              <a:rPr b="0" i="0" lang="en-US" sz="20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Ποια προϊόντα επιστρέφονται πιο συχνά?</a:t>
            </a:r>
            <a:br>
              <a:rPr b="0" i="0" lang="en-US" sz="2000" u="none" cap="none" strike="noStrike"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8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6.</a:t>
            </a:r>
            <a:r>
              <a:rPr b="0" i="0" lang="en-US" sz="20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Πώς μοιράζονται οι πωλήσεις ανά τιμή?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7.</a:t>
            </a:r>
            <a:r>
              <a:rPr b="0" i="0" lang="en-US" sz="20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Πώς μοιράζονται οι πωλήσεις ανά είδος προϊόντος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/>
          <p:nvPr/>
        </p:nvSpPr>
        <p:spPr>
          <a:xfrm>
            <a:off x="6231600" y="2191680"/>
            <a:ext cx="491040" cy="296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5"/>
          <p:cNvSpPr/>
          <p:nvPr/>
        </p:nvSpPr>
        <p:spPr>
          <a:xfrm>
            <a:off x="548640" y="3033000"/>
            <a:ext cx="491040" cy="29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5"/>
          <p:cNvSpPr/>
          <p:nvPr/>
        </p:nvSpPr>
        <p:spPr>
          <a:xfrm>
            <a:off x="1225440" y="3042000"/>
            <a:ext cx="4674240" cy="294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5"/>
          <p:cNvSpPr/>
          <p:nvPr/>
        </p:nvSpPr>
        <p:spPr>
          <a:xfrm>
            <a:off x="6231600" y="3033000"/>
            <a:ext cx="491040" cy="296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5"/>
          <p:cNvSpPr/>
          <p:nvPr/>
        </p:nvSpPr>
        <p:spPr>
          <a:xfrm>
            <a:off x="6908400" y="3042000"/>
            <a:ext cx="4674240" cy="591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5"/>
          <p:cNvSpPr/>
          <p:nvPr/>
        </p:nvSpPr>
        <p:spPr>
          <a:xfrm>
            <a:off x="548640" y="3873960"/>
            <a:ext cx="491040" cy="296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5"/>
          <p:cNvSpPr/>
          <p:nvPr/>
        </p:nvSpPr>
        <p:spPr>
          <a:xfrm>
            <a:off x="1225440" y="3883320"/>
            <a:ext cx="4674240" cy="294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5"/>
          <p:cNvSpPr/>
          <p:nvPr/>
        </p:nvSpPr>
        <p:spPr>
          <a:xfrm>
            <a:off x="1225440" y="4724640"/>
            <a:ext cx="4674240" cy="294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ΑΡΧΕΣ ΣΧΕΔΙΑΣΗΣ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Δύο κανόνες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548640" y="6473880"/>
            <a:ext cx="3654720" cy="271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548640" y="6157080"/>
            <a:ext cx="11088720" cy="258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548640" y="2234880"/>
            <a:ext cx="5451480" cy="2100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777240" y="2423160"/>
            <a:ext cx="4994280" cy="334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ΚΑΘΟΛΙΚΟΤΗΤΑ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718200" y="3044160"/>
            <a:ext cx="4994280" cy="766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6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Πρόκειται για ένα σύστημα γενικής εφαρμογής.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baseline="30000" i="0" lang="en-US" sz="34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baseline="30000" i="0" lang="en-US" sz="2758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Δεν είναι περιορισμένο σε ένα μόνο κατάστημα.</a:t>
            </a:r>
            <a:endParaRPr b="0" i="0" sz="27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6185880" y="2258640"/>
            <a:ext cx="5451480" cy="2100240"/>
          </a:xfrm>
          <a:prstGeom prst="roundRect">
            <a:avLst>
              <a:gd fmla="val 16667" name="adj"/>
            </a:avLst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6414480" y="2423160"/>
            <a:ext cx="4994280" cy="334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ΕΙΛΙΚΡΙΝΕΙΑ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6400800" y="2976120"/>
            <a:ext cx="4994280" cy="68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8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6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Αυστηρή μέτρηση όσων δεδομένων είναι διαθέσιμα.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66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6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 Χωρίς εικασίες.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7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548640" y="1600200"/>
            <a:ext cx="11088720" cy="164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7"/>
          <p:cNvSpPr/>
          <p:nvPr/>
        </p:nvSpPr>
        <p:spPr>
          <a:xfrm>
            <a:off x="548640" y="2971800"/>
            <a:ext cx="11088720" cy="74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2η ΕΝΟΤΗΤΑ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548640" y="3803760"/>
            <a:ext cx="11088720" cy="8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Το σύστημα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548640" y="4645080"/>
            <a:ext cx="11088720" cy="36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548640" y="6473880"/>
            <a:ext cx="5483520" cy="271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8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ΤΟ ΣΥΣΤΗΜΑ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Interfaces και outputs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512640" y="2452680"/>
            <a:ext cx="5346360" cy="56412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512640" y="2452680"/>
            <a:ext cx="79560" cy="56412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39950" spcFirstLastPara="1" rIns="3995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768600" y="2535120"/>
            <a:ext cx="1825920" cy="24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API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2615760" y="2553480"/>
            <a:ext cx="301464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Δέχεται τα αιτήματα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512640" y="3129480"/>
            <a:ext cx="5346360" cy="56412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512640" y="3129480"/>
            <a:ext cx="79560" cy="56412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39950" spcFirstLastPara="1" rIns="3995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768600" y="3211560"/>
            <a:ext cx="1825920" cy="24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Services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2615760" y="3229920"/>
            <a:ext cx="301464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Επιχειρησιακή λογική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512640" y="3805920"/>
            <a:ext cx="5346360" cy="56412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512640" y="3805920"/>
            <a:ext cx="79560" cy="56412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39950" spcFirstLastPara="1" rIns="3995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768600" y="3888360"/>
            <a:ext cx="1825920" cy="24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Repositories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2615760" y="3906720"/>
            <a:ext cx="301464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SQL queries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512640" y="4482720"/>
            <a:ext cx="5346360" cy="56412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512640" y="4482720"/>
            <a:ext cx="79560" cy="56412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39950" spcFirstLastPara="1" rIns="3995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768600" y="4565160"/>
            <a:ext cx="1825920" cy="24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PostgreSQL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2615760" y="4583160"/>
            <a:ext cx="301464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Βάση δεδομένων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6291000" y="1928520"/>
            <a:ext cx="5346360" cy="104868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6519600" y="2093040"/>
            <a:ext cx="4889160" cy="2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REST API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6519600" y="2431440"/>
            <a:ext cx="4889160" cy="259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JSON response with versioning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6291000" y="3162960"/>
            <a:ext cx="5346360" cy="104868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6519600" y="3327480"/>
            <a:ext cx="4889160" cy="2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METABASE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6519600" y="3665880"/>
            <a:ext cx="4889160" cy="259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Έτοιμοι πίνακες με στατιστικά και αναλύσεις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6291000" y="4397400"/>
            <a:ext cx="5346360" cy="104868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6519600" y="4561920"/>
            <a:ext cx="4889160" cy="2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JUPYTER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6519600" y="4900320"/>
            <a:ext cx="4889160" cy="259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Τα διαγράμματα της διπλωματικής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9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ΤΟ ΣΥΣΤΗΜΑ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Τρόποι εισαγωγής δεδομένων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5715000" y="3312360"/>
            <a:ext cx="4078080" cy="344520"/>
          </a:xfrm>
          <a:prstGeom prst="rect">
            <a:avLst/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5806440" y="3394440"/>
            <a:ext cx="238176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 Επιλογές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8373960" y="3394440"/>
            <a:ext cx="14191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Παραμετροποίση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5806440" y="3751200"/>
            <a:ext cx="23817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Batch API requests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8373960" y="3751200"/>
            <a:ext cx="14191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Όχι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5806440" y="4116960"/>
            <a:ext cx="238176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Database Reads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8373960" y="4116960"/>
            <a:ext cx="1419120" cy="23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Όχι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9"/>
          <p:cNvSpPr/>
          <p:nvPr/>
        </p:nvSpPr>
        <p:spPr>
          <a:xfrm>
            <a:off x="5806440" y="4482720"/>
            <a:ext cx="23817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Export Αρχείο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8373960" y="4482720"/>
            <a:ext cx="14191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Ναι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9"/>
          <p:cNvSpPr/>
          <p:nvPr/>
        </p:nvSpPr>
        <p:spPr>
          <a:xfrm>
            <a:off x="457200" y="2057400"/>
            <a:ext cx="5346360" cy="296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6 ΣΤΑΘΕΡΕΣ ΕΝΝΟΙΕΣ ΓΙΑ ΚΑΘΕ ΕΠΙΧΕΙΡΗΣΗ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914400" y="2514600"/>
            <a:ext cx="2607840" cy="381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9"/>
          <p:cNvSpPr/>
          <p:nvPr/>
        </p:nvSpPr>
        <p:spPr>
          <a:xfrm>
            <a:off x="914400" y="2606040"/>
            <a:ext cx="260784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Πελάτης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6291000" y="3017160"/>
            <a:ext cx="4889160" cy="2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Η ΑΠΟΔΕΙΞΗ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914400" y="3045240"/>
            <a:ext cx="2607840" cy="381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914400" y="3136680"/>
            <a:ext cx="2607840" cy="222480"/>
          </a:xfrm>
          <a:prstGeom prst="rect">
            <a:avLst/>
          </a:prstGeom>
          <a:solidFill>
            <a:srgbClr val="EEF3EC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Προϊόν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9"/>
          <p:cNvSpPr/>
          <p:nvPr/>
        </p:nvSpPr>
        <p:spPr>
          <a:xfrm>
            <a:off x="914400" y="3657600"/>
            <a:ext cx="2607840" cy="381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914400" y="3749040"/>
            <a:ext cx="2607840" cy="222480"/>
          </a:xfrm>
          <a:prstGeom prst="rect">
            <a:avLst/>
          </a:prstGeom>
          <a:solidFill>
            <a:srgbClr val="EEF3EC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Περιοχή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914400" y="4188240"/>
            <a:ext cx="2607840" cy="381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914400" y="4279680"/>
            <a:ext cx="2607840" cy="222480"/>
          </a:xfrm>
          <a:prstGeom prst="rect">
            <a:avLst/>
          </a:prstGeom>
          <a:solidFill>
            <a:srgbClr val="EEF3EC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Παραγγελία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9"/>
          <p:cNvSpPr/>
          <p:nvPr/>
        </p:nvSpPr>
        <p:spPr>
          <a:xfrm>
            <a:off x="914400" y="4800600"/>
            <a:ext cx="2607840" cy="381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914400" y="4892040"/>
            <a:ext cx="2607840" cy="222480"/>
          </a:xfrm>
          <a:prstGeom prst="rect">
            <a:avLst/>
          </a:prstGeom>
          <a:solidFill>
            <a:srgbClr val="EEF3EC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Γραμμή Παραγγελίας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9"/>
          <p:cNvSpPr/>
          <p:nvPr/>
        </p:nvSpPr>
        <p:spPr>
          <a:xfrm>
            <a:off x="914400" y="5331240"/>
            <a:ext cx="2607840" cy="381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914400" y="5422680"/>
            <a:ext cx="2607840" cy="222480"/>
          </a:xfrm>
          <a:prstGeom prst="rect">
            <a:avLst/>
          </a:prstGeom>
          <a:solidFill>
            <a:srgbClr val="EEF3EC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Επιστροφή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0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ΤΟ ΣΥΣΤΗΜΑ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API Responses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0"/>
          <p:cNvSpPr/>
          <p:nvPr/>
        </p:nvSpPr>
        <p:spPr>
          <a:xfrm>
            <a:off x="548640" y="6157080"/>
            <a:ext cx="11088720" cy="202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548640" y="2095200"/>
            <a:ext cx="5346360" cy="21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E8A33D"/>
                </a:solidFill>
                <a:latin typeface="Consolas"/>
                <a:ea typeface="Consolas"/>
                <a:cs typeface="Consolas"/>
                <a:sym typeface="Consolas"/>
              </a:rPr>
              <a:t>GET /api/v1/forecasting/revenue?horizon=3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0"/>
          <p:cNvSpPr/>
          <p:nvPr/>
        </p:nvSpPr>
        <p:spPr>
          <a:xfrm>
            <a:off x="548640" y="2442600"/>
            <a:ext cx="5346360" cy="2813040"/>
          </a:xfrm>
          <a:prstGeom prst="rect">
            <a:avLst/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694800" y="2570760"/>
            <a:ext cx="5053680" cy="2565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"method": "exponential_smoothing",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"horizon": 3,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"history_length": 25,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"forecast": [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	587222.83, 502905.56, 671261.41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],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"metrics": {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  "mean_absolute_percentage_error": 51.12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},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"skill_score": -0.21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6291000" y="2095200"/>
            <a:ext cx="5346360" cy="21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E8A33D"/>
                </a:solidFill>
                <a:latin typeface="Consolas"/>
                <a:ea typeface="Consolas"/>
                <a:cs typeface="Consolas"/>
                <a:sym typeface="Consolas"/>
              </a:rPr>
              <a:t>GET /api/v1/profitability/unit-economics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6291000" y="2442600"/>
            <a:ext cx="5346360" cy="2813040"/>
          </a:xfrm>
          <a:prstGeom prst="rect">
            <a:avLst/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6437520" y="2570760"/>
            <a:ext cx="5053680" cy="2565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"average_customer_revenue": 2895.0,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"lifetime_value": 1447.5,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"assumptions": {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  "gross_margin": 0.5,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  "customer_acquisition_cost": 0.0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},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"disclaimer": "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	Scenario output, not a measurement.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  	The source data contains no cost of goods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     and no marketing spend."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241F1B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ΤΟ ΣΥΣΤΗΜΑ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1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Metabase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1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metabase-dashboard.jpg" id="237" name="Google Shape;23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691640"/>
            <a:ext cx="5346360" cy="2649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etabase-association-rules.jpg" id="238" name="Google Shape;23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98560" y="3589560"/>
            <a:ext cx="5129280" cy="2580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2"/>
          <p:cNvSpPr/>
          <p:nvPr/>
        </p:nvSpPr>
        <p:spPr>
          <a:xfrm>
            <a:off x="548640" y="1600200"/>
            <a:ext cx="11088720" cy="178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2"/>
          <p:cNvSpPr/>
          <p:nvPr/>
        </p:nvSpPr>
        <p:spPr>
          <a:xfrm>
            <a:off x="360" y="360"/>
            <a:ext cx="12188880" cy="685512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2"/>
          <p:cNvSpPr/>
          <p:nvPr/>
        </p:nvSpPr>
        <p:spPr>
          <a:xfrm>
            <a:off x="549000" y="1600560"/>
            <a:ext cx="11088720" cy="164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2"/>
          <p:cNvSpPr/>
          <p:nvPr/>
        </p:nvSpPr>
        <p:spPr>
          <a:xfrm>
            <a:off x="549000" y="2972160"/>
            <a:ext cx="11088720" cy="74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3η ΕΝΟΤΗΤΑ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2"/>
          <p:cNvSpPr/>
          <p:nvPr/>
        </p:nvSpPr>
        <p:spPr>
          <a:xfrm>
            <a:off x="549000" y="3804120"/>
            <a:ext cx="11088720" cy="8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Τα ευρήματα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2"/>
          <p:cNvSpPr/>
          <p:nvPr/>
        </p:nvSpPr>
        <p:spPr>
          <a:xfrm>
            <a:off x="549000" y="4645440"/>
            <a:ext cx="11088720" cy="36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2"/>
          <p:cNvSpPr/>
          <p:nvPr/>
        </p:nvSpPr>
        <p:spPr>
          <a:xfrm>
            <a:off x="549000" y="6474240"/>
            <a:ext cx="5483520" cy="271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2"/>
          <p:cNvSpPr/>
          <p:nvPr/>
        </p:nvSpPr>
        <p:spPr>
          <a:xfrm>
            <a:off x="11094840" y="647424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3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ΤΑ ΔΕΔΟΜΕΝΑ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3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Online Retail II: το πείραμα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3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548640" y="2258640"/>
            <a:ext cx="1723680" cy="966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3"/>
          <p:cNvSpPr/>
          <p:nvPr/>
        </p:nvSpPr>
        <p:spPr>
          <a:xfrm>
            <a:off x="548640" y="2350080"/>
            <a:ext cx="1723680" cy="44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39.516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603360" y="2807280"/>
            <a:ext cx="161424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Παραγγελίες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3"/>
          <p:cNvSpPr/>
          <p:nvPr/>
        </p:nvSpPr>
        <p:spPr>
          <a:xfrm>
            <a:off x="2421720" y="2258640"/>
            <a:ext cx="1723680" cy="966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/>
          <p:nvPr/>
        </p:nvSpPr>
        <p:spPr>
          <a:xfrm>
            <a:off x="2421720" y="2350080"/>
            <a:ext cx="1723680" cy="44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1.002.423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3"/>
          <p:cNvSpPr/>
          <p:nvPr/>
        </p:nvSpPr>
        <p:spPr>
          <a:xfrm>
            <a:off x="2476440" y="2807280"/>
            <a:ext cx="161424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Γραμμές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3"/>
          <p:cNvSpPr/>
          <p:nvPr/>
        </p:nvSpPr>
        <p:spPr>
          <a:xfrm>
            <a:off x="4294800" y="2258640"/>
            <a:ext cx="1723680" cy="966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3"/>
          <p:cNvSpPr/>
          <p:nvPr/>
        </p:nvSpPr>
        <p:spPr>
          <a:xfrm>
            <a:off x="4294800" y="2350080"/>
            <a:ext cx="1723680" cy="44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17.925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3"/>
          <p:cNvSpPr/>
          <p:nvPr/>
        </p:nvSpPr>
        <p:spPr>
          <a:xfrm>
            <a:off x="4349520" y="2807280"/>
            <a:ext cx="161424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Επιστροφές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3"/>
          <p:cNvSpPr/>
          <p:nvPr/>
        </p:nvSpPr>
        <p:spPr>
          <a:xfrm>
            <a:off x="6167520" y="2258640"/>
            <a:ext cx="1723680" cy="966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3"/>
          <p:cNvSpPr/>
          <p:nvPr/>
        </p:nvSpPr>
        <p:spPr>
          <a:xfrm>
            <a:off x="6167520" y="2350080"/>
            <a:ext cx="1723680" cy="44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5.875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3"/>
          <p:cNvSpPr/>
          <p:nvPr/>
        </p:nvSpPr>
        <p:spPr>
          <a:xfrm>
            <a:off x="6222600" y="2807280"/>
            <a:ext cx="161424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Πελάτες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3"/>
          <p:cNvSpPr/>
          <p:nvPr/>
        </p:nvSpPr>
        <p:spPr>
          <a:xfrm>
            <a:off x="8040600" y="2258640"/>
            <a:ext cx="1723680" cy="966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3"/>
          <p:cNvSpPr/>
          <p:nvPr/>
        </p:nvSpPr>
        <p:spPr>
          <a:xfrm>
            <a:off x="8040600" y="2350080"/>
            <a:ext cx="1723680" cy="44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4.900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3"/>
          <p:cNvSpPr/>
          <p:nvPr/>
        </p:nvSpPr>
        <p:spPr>
          <a:xfrm>
            <a:off x="8095320" y="2807280"/>
            <a:ext cx="161424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Προϊόντα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3"/>
          <p:cNvSpPr/>
          <p:nvPr/>
        </p:nvSpPr>
        <p:spPr>
          <a:xfrm>
            <a:off x="9913680" y="2258640"/>
            <a:ext cx="1723680" cy="966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/>
          <p:nvPr/>
        </p:nvSpPr>
        <p:spPr>
          <a:xfrm>
            <a:off x="9913680" y="2350080"/>
            <a:ext cx="1723680" cy="44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43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3"/>
          <p:cNvSpPr/>
          <p:nvPr/>
        </p:nvSpPr>
        <p:spPr>
          <a:xfrm>
            <a:off x="9968400" y="2807280"/>
            <a:ext cx="161424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Περιοχές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3"/>
          <p:cNvSpPr/>
          <p:nvPr/>
        </p:nvSpPr>
        <p:spPr>
          <a:xfrm>
            <a:off x="548640" y="3891240"/>
            <a:ext cx="11088720" cy="203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Βρετανικό κατάστημα χονδρικής με είδη δώρων, από το 2009 ως το 2011 μέσω του δημοσίου συνόλου δεδομένων UCI.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Επιλέχθηκε καθώς: 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b="0" i="0" lang="en-US" sz="15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α. </a:t>
            </a: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είναι δημόσιο, άρα ο καθένας μπορεί να ελέγξει τα αποτελέσματα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b="0" i="0" lang="en-US" sz="15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β. </a:t>
            </a: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εχει χρησιμοποιήσει ήδη δημοσιευμένη έρευνα, άρα μπορούμε να συγκρίνουμε τα αποτελέσματα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b="0" i="0" lang="en-US" sz="15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γ. </a:t>
            </a: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κρατάει τα ακυρωμένα παραστατικά, χωρίς τα οποία το ερώτημα των επιστροφών θα ήταν αδύνατο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4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ΠΕΡΙΓΡΑΦΙΚΗ ΑΝΑΛΥΣΗ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4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Τι πουλάει και πού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4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op-products.png" id="288" name="Google Shape;28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837440"/>
            <a:ext cx="5346360" cy="2671920"/>
          </a:xfrm>
          <a:prstGeom prst="rect">
            <a:avLst/>
          </a:prstGeom>
          <a:solidFill>
            <a:srgbClr val="224B12"/>
          </a:solidFill>
          <a:ln>
            <a:noFill/>
          </a:ln>
        </p:spPr>
      </p:pic>
      <p:sp>
        <p:nvSpPr>
          <p:cNvPr id="289" name="Google Shape;289;p14"/>
          <p:cNvSpPr/>
          <p:nvPr/>
        </p:nvSpPr>
        <p:spPr>
          <a:xfrm>
            <a:off x="548640" y="1837440"/>
            <a:ext cx="5346360" cy="267192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4"/>
          <p:cNvSpPr/>
          <p:nvPr/>
        </p:nvSpPr>
        <p:spPr>
          <a:xfrm>
            <a:off x="548640" y="460368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Προϊόντα με τα υψηλότερα έσοδα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top-regions.png" id="291" name="Google Shape;29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91000" y="1837440"/>
            <a:ext cx="5346360" cy="267192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14"/>
          <p:cNvSpPr/>
          <p:nvPr/>
        </p:nvSpPr>
        <p:spPr>
          <a:xfrm>
            <a:off x="6291000" y="1837440"/>
            <a:ext cx="5346360" cy="267192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4"/>
          <p:cNvSpPr/>
          <p:nvPr/>
        </p:nvSpPr>
        <p:spPr>
          <a:xfrm>
            <a:off x="6291000" y="460368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Περιοχές με τα υψηλότερα έσοδα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457200" y="5401080"/>
            <a:ext cx="11088720" cy="857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1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Το REGENCY CAKESTAND βγαίνει πρώτο με 26.315 κομμάτια, ενώ το JUMBO BAG πουλάει σχεδόν τετραπλάσια κομμάτια και βγαίνει τρίτο.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1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Το Ηνωμένο Βασίλειο κάνει περίπου το 86% των εσόδων. Στην Ιρλανδία τρεις πελάτες φέρνουν περισσότερα από τους εκατόν επτά της Γερμανίας.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5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ΠΕΡΙΓΡΑΦΙΚΗ ΑΝΑΛΥΣΗ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5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Πότε πουλάει και σε τι τιμή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5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ales-monthly.png" id="303" name="Google Shape;30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2102760"/>
            <a:ext cx="5346360" cy="213696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15"/>
          <p:cNvSpPr/>
          <p:nvPr/>
        </p:nvSpPr>
        <p:spPr>
          <a:xfrm>
            <a:off x="548640" y="2102760"/>
            <a:ext cx="5346360" cy="213696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5"/>
          <p:cNvSpPr/>
          <p:nvPr/>
        </p:nvSpPr>
        <p:spPr>
          <a:xfrm>
            <a:off x="548640" y="459900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Μηνιαία κατανομή εσόδων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ice-bands.png" id="306" name="Google Shape;306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91000" y="1837440"/>
            <a:ext cx="5346360" cy="267192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15"/>
          <p:cNvSpPr/>
          <p:nvPr/>
        </p:nvSpPr>
        <p:spPr>
          <a:xfrm>
            <a:off x="6291000" y="1837440"/>
            <a:ext cx="5346360" cy="267192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5"/>
          <p:cNvSpPr/>
          <p:nvPr/>
        </p:nvSpPr>
        <p:spPr>
          <a:xfrm>
            <a:off x="6291000" y="460368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Έσοδα ανά εύρος τιμής μονάδας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5"/>
          <p:cNvSpPr/>
          <p:nvPr/>
        </p:nvSpPr>
        <p:spPr>
          <a:xfrm>
            <a:off x="567720" y="5301360"/>
            <a:ext cx="11088720" cy="11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1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Ο Νοέμβριος είναι ο πιο δυνατός μήνας και τις δύο χρονιές, λόγω της προετοιμασίας για τα Χριστούγεννα. 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1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Τα φθηνά προϊόντα, από μία ως πέντε λίρες τη μονάδα, φέρνουν το 64% των εσόδων.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t/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6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Η ΤΕΧΝΙΚΗ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6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Ποια προϊόντα αγοράζονται μαζί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6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6"/>
          <p:cNvSpPr/>
          <p:nvPr/>
        </p:nvSpPr>
        <p:spPr>
          <a:xfrm>
            <a:off x="548640" y="2435040"/>
            <a:ext cx="5346360" cy="1982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Σε σύνολο 10 καλαθιών, αν τα 3 περιέχουν κινητό και φορτιστή μαζί, το Support είναι 0,3.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2183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Αν ο φορτιστής είναι σπάνιο προϊόν, το Lift εκτοξεύεται στο 3, δηλαδή δείχνει τριπλάσια πιθανότητα αγοράς.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92"/>
              </a:spcBef>
              <a:spcAft>
                <a:spcPts val="0"/>
              </a:spcAft>
              <a:buNone/>
            </a:pPr>
            <a:r>
              <a:t/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6"/>
          <p:cNvSpPr/>
          <p:nvPr/>
        </p:nvSpPr>
        <p:spPr>
          <a:xfrm>
            <a:off x="6291000" y="2258640"/>
            <a:ext cx="5346360" cy="104868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6"/>
          <p:cNvSpPr/>
          <p:nvPr/>
        </p:nvSpPr>
        <p:spPr>
          <a:xfrm>
            <a:off x="6519600" y="2423160"/>
            <a:ext cx="4889160" cy="2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APRIORI, 1994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6"/>
          <p:cNvSpPr/>
          <p:nvPr/>
        </p:nvSpPr>
        <p:spPr>
          <a:xfrm>
            <a:off x="6519600" y="2761560"/>
            <a:ext cx="4889160" cy="259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Σαρώνει τη βάση πολλές φορές, ένα επίπεδο τη φορά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6"/>
          <p:cNvSpPr/>
          <p:nvPr/>
        </p:nvSpPr>
        <p:spPr>
          <a:xfrm>
            <a:off x="6291000" y="3493080"/>
            <a:ext cx="5346360" cy="104868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6"/>
          <p:cNvSpPr/>
          <p:nvPr/>
        </p:nvSpPr>
        <p:spPr>
          <a:xfrm>
            <a:off x="6519600" y="3657600"/>
            <a:ext cx="4889160" cy="2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FP-GROWTH, 2000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6"/>
          <p:cNvSpPr/>
          <p:nvPr/>
        </p:nvSpPr>
        <p:spPr>
          <a:xfrm>
            <a:off x="6519600" y="3996000"/>
            <a:ext cx="4889160" cy="259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Χτίζει ένα συμπιεσμένο δέντρο και αναζητά σε αυτό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7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ΕΞΟΡΥΞΗ ΣΥΧΝΩΝ ΣΥΝΟΛΩΝ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7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Apriori vs FP-Growth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7"/>
          <p:cNvSpPr/>
          <p:nvPr/>
        </p:nvSpPr>
        <p:spPr>
          <a:xfrm>
            <a:off x="548640" y="6473880"/>
            <a:ext cx="3654720" cy="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7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asket-sizes.png" id="334" name="Google Shape;3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2258640"/>
            <a:ext cx="5346360" cy="2374560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17"/>
          <p:cNvSpPr/>
          <p:nvPr/>
        </p:nvSpPr>
        <p:spPr>
          <a:xfrm>
            <a:off x="548640" y="2258640"/>
            <a:ext cx="5346360" cy="237456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7"/>
          <p:cNvSpPr/>
          <p:nvPr/>
        </p:nvSpPr>
        <p:spPr>
          <a:xfrm>
            <a:off x="548640" y="472752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Κατανομή μεγέθους καλαθιού, λογαριθμική κλίμακα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7"/>
          <p:cNvSpPr/>
          <p:nvPr/>
        </p:nvSpPr>
        <p:spPr>
          <a:xfrm>
            <a:off x="6248520" y="2419560"/>
            <a:ext cx="2598480" cy="966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7"/>
          <p:cNvSpPr/>
          <p:nvPr/>
        </p:nvSpPr>
        <p:spPr>
          <a:xfrm>
            <a:off x="6248520" y="2511000"/>
            <a:ext cx="2598480" cy="44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36.269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7"/>
          <p:cNvSpPr/>
          <p:nvPr/>
        </p:nvSpPr>
        <p:spPr>
          <a:xfrm>
            <a:off x="6303600" y="2968200"/>
            <a:ext cx="248868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Καλάθια με 2+ προϊόντα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7"/>
          <p:cNvSpPr/>
          <p:nvPr/>
        </p:nvSpPr>
        <p:spPr>
          <a:xfrm>
            <a:off x="8996400" y="2419560"/>
            <a:ext cx="2598480" cy="966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7"/>
          <p:cNvSpPr/>
          <p:nvPr/>
        </p:nvSpPr>
        <p:spPr>
          <a:xfrm>
            <a:off x="8996400" y="2511000"/>
            <a:ext cx="2598480" cy="44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17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7"/>
          <p:cNvSpPr/>
          <p:nvPr/>
        </p:nvSpPr>
        <p:spPr>
          <a:xfrm>
            <a:off x="9051120" y="2968200"/>
            <a:ext cx="248868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Προϊόντα στο καλάθι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7"/>
          <p:cNvSpPr/>
          <p:nvPr/>
        </p:nvSpPr>
        <p:spPr>
          <a:xfrm>
            <a:off x="6248520" y="3535200"/>
            <a:ext cx="5346360" cy="344520"/>
          </a:xfrm>
          <a:prstGeom prst="rect">
            <a:avLst/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7"/>
          <p:cNvSpPr/>
          <p:nvPr/>
        </p:nvSpPr>
        <p:spPr>
          <a:xfrm>
            <a:off x="6339960" y="3617280"/>
            <a:ext cx="163296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Αλγόριθμος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7"/>
          <p:cNvSpPr/>
          <p:nvPr/>
        </p:nvSpPr>
        <p:spPr>
          <a:xfrm>
            <a:off x="8158680" y="3617280"/>
            <a:ext cx="99108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Χρόνος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7"/>
          <p:cNvSpPr/>
          <p:nvPr/>
        </p:nvSpPr>
        <p:spPr>
          <a:xfrm>
            <a:off x="9335520" y="3617280"/>
            <a:ext cx="99108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Σύνολα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7"/>
          <p:cNvSpPr/>
          <p:nvPr/>
        </p:nvSpPr>
        <p:spPr>
          <a:xfrm>
            <a:off x="10512360" y="3617280"/>
            <a:ext cx="99108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Κανόνες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7"/>
          <p:cNvSpPr/>
          <p:nvPr/>
        </p:nvSpPr>
        <p:spPr>
          <a:xfrm>
            <a:off x="6339960" y="3974040"/>
            <a:ext cx="16329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Apriori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7"/>
          <p:cNvSpPr/>
          <p:nvPr/>
        </p:nvSpPr>
        <p:spPr>
          <a:xfrm>
            <a:off x="8158680" y="3974040"/>
            <a:ext cx="99108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5,14 s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7"/>
          <p:cNvSpPr/>
          <p:nvPr/>
        </p:nvSpPr>
        <p:spPr>
          <a:xfrm>
            <a:off x="9335520" y="3974040"/>
            <a:ext cx="99108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385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7"/>
          <p:cNvSpPr/>
          <p:nvPr/>
        </p:nvSpPr>
        <p:spPr>
          <a:xfrm>
            <a:off x="10512360" y="3974040"/>
            <a:ext cx="99108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134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7"/>
          <p:cNvSpPr/>
          <p:nvPr/>
        </p:nvSpPr>
        <p:spPr>
          <a:xfrm>
            <a:off x="6339960" y="4339800"/>
            <a:ext cx="16329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FP-Growth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7"/>
          <p:cNvSpPr/>
          <p:nvPr/>
        </p:nvSpPr>
        <p:spPr>
          <a:xfrm>
            <a:off x="8158680" y="4339800"/>
            <a:ext cx="99108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1,96 s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7"/>
          <p:cNvSpPr/>
          <p:nvPr/>
        </p:nvSpPr>
        <p:spPr>
          <a:xfrm>
            <a:off x="9335520" y="4339800"/>
            <a:ext cx="99108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385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7"/>
          <p:cNvSpPr/>
          <p:nvPr/>
        </p:nvSpPr>
        <p:spPr>
          <a:xfrm>
            <a:off x="10512360" y="4339800"/>
            <a:ext cx="99108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134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8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ΚΑΝΟΝΕΣ ΣΥΣΧΕΤΙΣΗΣ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8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Lift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8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ssociation-rules.png" id="364" name="Google Shape;36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9280" y="1755360"/>
            <a:ext cx="4825080" cy="3014640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18"/>
          <p:cNvSpPr/>
          <p:nvPr/>
        </p:nvSpPr>
        <p:spPr>
          <a:xfrm>
            <a:off x="809280" y="1755360"/>
            <a:ext cx="4825080" cy="301464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8"/>
          <p:cNvSpPr/>
          <p:nvPr/>
        </p:nvSpPr>
        <p:spPr>
          <a:xfrm>
            <a:off x="548640" y="486432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Οι 134 κανόνες: support έναντι confidence, χρώμα το lift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upport-sensitivity.png" id="367" name="Google Shape;367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91000" y="1926720"/>
            <a:ext cx="5346360" cy="2671920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p18"/>
          <p:cNvSpPr/>
          <p:nvPr/>
        </p:nvSpPr>
        <p:spPr>
          <a:xfrm>
            <a:off x="6291000" y="1926720"/>
            <a:ext cx="5346360" cy="267192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8"/>
          <p:cNvSpPr/>
          <p:nvPr/>
        </p:nvSpPr>
        <p:spPr>
          <a:xfrm>
            <a:off x="6291000" y="486432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Πλήθος συχνών συνόλων ανά κατώφλι support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8"/>
          <p:cNvSpPr/>
          <p:nvPr/>
        </p:nvSpPr>
        <p:spPr>
          <a:xfrm>
            <a:off x="548640" y="5389200"/>
            <a:ext cx="11088720" cy="857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3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Ο Lift αφορά τις χρωματικές παραλλαγές του REGENCY TEACUP AND SAUCER. Αγοράζονται μαζί εικοσιπέντε φορές πιο συχνά απ' ό,τι αν ήταν άσχετα μεταξύ τους.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-US" sz="13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3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Όσο ανεβαίνει το κατώφλι, τόσο λιγότεροι αλλά πιο σίγουροι κανόνες. Στο 5% δεν επιβιώνει κανένας, σε κατάλογο 4.900 προϊόντων.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9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Η ΤΕΧΝΙΚΗ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9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Ομαδοποίηση σε δύο επίπεδα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9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9"/>
          <p:cNvSpPr/>
          <p:nvPr/>
        </p:nvSpPr>
        <p:spPr>
          <a:xfrm>
            <a:off x="497880" y="2286000"/>
            <a:ext cx="5346360" cy="2692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Ο αλγόριθμος k-means ομαδοποιεί τα στοιχεία ανάλογα με τις ομοιότητές τους, τοποθετώντας τα στο πλησιέστερο κέντρο και επαναλαμβάνοντας τη διαδικασία μέχρι να σταθεροποιηθούν τα κέντρα.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2183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1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Για τον καθορισμό του αριθμού των ομάδων, δοκιμάζουμε πολλές τιμές και επιλέγουμε εκείνη που πετυχαίνει το καλύτερο silhouette score, το οποίο μετρά πόσο καθαρά έχουν διαχωριστεί οι ομάδες μεταξύ τους.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9"/>
          <p:cNvSpPr/>
          <p:nvPr/>
        </p:nvSpPr>
        <p:spPr>
          <a:xfrm>
            <a:off x="6291000" y="1828800"/>
            <a:ext cx="5346360" cy="168372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9"/>
          <p:cNvSpPr/>
          <p:nvPr/>
        </p:nvSpPr>
        <p:spPr>
          <a:xfrm>
            <a:off x="6538680" y="1828800"/>
            <a:ext cx="4889160" cy="2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ΠΡΩΤΟ ΕΠΙΠΕΔΟ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9"/>
          <p:cNvSpPr/>
          <p:nvPr/>
        </p:nvSpPr>
        <p:spPr>
          <a:xfrm>
            <a:off x="6519600" y="2286000"/>
            <a:ext cx="4889160" cy="1040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Ομαδοποίηση των περιοχών με βάση: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 - έσοδα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 - παραγγελίες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  - σε πόσους μήνες ήταν ενεργές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9"/>
          <p:cNvSpPr/>
          <p:nvPr/>
        </p:nvSpPr>
        <p:spPr>
          <a:xfrm>
            <a:off x="6310080" y="3657600"/>
            <a:ext cx="5346360" cy="1826640"/>
          </a:xfrm>
          <a:prstGeom prst="roundRect">
            <a:avLst>
              <a:gd fmla="val 16667" name="adj"/>
            </a:avLst>
          </a:prstGeom>
          <a:solidFill>
            <a:srgbClr val="224B12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9"/>
          <p:cNvSpPr/>
          <p:nvPr/>
        </p:nvSpPr>
        <p:spPr>
          <a:xfrm>
            <a:off x="6519600" y="3862800"/>
            <a:ext cx="4889160" cy="2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ΔΕΥΤΕΡΟ ΕΠΙΠΕΔΟ</a:t>
            </a:r>
            <a:endParaRPr b="0" i="0" sz="13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9"/>
          <p:cNvSpPr/>
          <p:nvPr/>
        </p:nvSpPr>
        <p:spPr>
          <a:xfrm>
            <a:off x="6519600" y="4343400"/>
            <a:ext cx="4889160" cy="1040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Μέσα σε κάθε ομάδα, νέα ομαδοποίηση των πελατών με RFM: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  - πόσο πρόσφατα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  - πόσο συχνά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  - πόσα ξοδεύει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20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ΟΜΑΔΟΠΟΙΗΣΗ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0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Ομαδοποίηση περιοχών και πελατών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20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ilhouette-level-one.png" id="394" name="Google Shape;39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8480" y="1908000"/>
            <a:ext cx="5026320" cy="2511720"/>
          </a:xfrm>
          <a:prstGeom prst="rect">
            <a:avLst/>
          </a:prstGeom>
          <a:noFill/>
          <a:ln>
            <a:noFill/>
          </a:ln>
        </p:spPr>
      </p:pic>
      <p:sp>
        <p:nvSpPr>
          <p:cNvPr id="395" name="Google Shape;395;p20"/>
          <p:cNvSpPr/>
          <p:nvPr/>
        </p:nvSpPr>
        <p:spPr>
          <a:xfrm>
            <a:off x="708480" y="1908000"/>
            <a:ext cx="5026320" cy="251172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0"/>
          <p:cNvSpPr/>
          <p:nvPr/>
        </p:nvSpPr>
        <p:spPr>
          <a:xfrm>
            <a:off x="548640" y="451404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Το silhouette διαλέγει k ίσον 2, με σκορ 0,8793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20"/>
          <p:cNvSpPr/>
          <p:nvPr/>
        </p:nvSpPr>
        <p:spPr>
          <a:xfrm>
            <a:off x="6291000" y="1908000"/>
            <a:ext cx="5346360" cy="21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ΠΡΩΤΟ ΕΠΙΠΕΔΟ: ΠΕΡΙΟΧΕΣ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20"/>
          <p:cNvSpPr/>
          <p:nvPr/>
        </p:nvSpPr>
        <p:spPr>
          <a:xfrm>
            <a:off x="6291000" y="2237400"/>
            <a:ext cx="5346360" cy="344520"/>
          </a:xfrm>
          <a:prstGeom prst="rect">
            <a:avLst/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20"/>
          <p:cNvSpPr/>
          <p:nvPr/>
        </p:nvSpPr>
        <p:spPr>
          <a:xfrm>
            <a:off x="6382440" y="2319480"/>
            <a:ext cx="21679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Ομάδα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20"/>
          <p:cNvSpPr/>
          <p:nvPr/>
        </p:nvSpPr>
        <p:spPr>
          <a:xfrm>
            <a:off x="8736120" y="2319480"/>
            <a:ext cx="12049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Μέλη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20"/>
          <p:cNvSpPr/>
          <p:nvPr/>
        </p:nvSpPr>
        <p:spPr>
          <a:xfrm>
            <a:off x="10127160" y="2319480"/>
            <a:ext cx="14191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Ενεργοί μήνες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20"/>
          <p:cNvSpPr/>
          <p:nvPr/>
        </p:nvSpPr>
        <p:spPr>
          <a:xfrm>
            <a:off x="6382440" y="2676240"/>
            <a:ext cx="21679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Εξαγωγές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20"/>
          <p:cNvSpPr/>
          <p:nvPr/>
        </p:nvSpPr>
        <p:spPr>
          <a:xfrm>
            <a:off x="8736120" y="2676240"/>
            <a:ext cx="12049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42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20"/>
          <p:cNvSpPr/>
          <p:nvPr/>
        </p:nvSpPr>
        <p:spPr>
          <a:xfrm>
            <a:off x="10127160" y="2676240"/>
            <a:ext cx="14191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12,8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20"/>
          <p:cNvSpPr/>
          <p:nvPr/>
        </p:nvSpPr>
        <p:spPr>
          <a:xfrm>
            <a:off x="6382440" y="3042000"/>
            <a:ext cx="21679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Ηνωμένο Βασίλειο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20"/>
          <p:cNvSpPr/>
          <p:nvPr/>
        </p:nvSpPr>
        <p:spPr>
          <a:xfrm>
            <a:off x="8736120" y="3042000"/>
            <a:ext cx="12049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20"/>
          <p:cNvSpPr/>
          <p:nvPr/>
        </p:nvSpPr>
        <p:spPr>
          <a:xfrm>
            <a:off x="10127160" y="3042000"/>
            <a:ext cx="14191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25,0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20"/>
          <p:cNvSpPr/>
          <p:nvPr/>
        </p:nvSpPr>
        <p:spPr>
          <a:xfrm>
            <a:off x="6291000" y="3462480"/>
            <a:ext cx="5346360" cy="21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ΔΕΥΤΕΡΟ ΕΠΙΠΕΔΟ: ΠΕΛΑΤΕΣ</a:t>
            </a:r>
            <a:endParaRPr b="0" i="0" sz="11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20"/>
          <p:cNvSpPr/>
          <p:nvPr/>
        </p:nvSpPr>
        <p:spPr>
          <a:xfrm>
            <a:off x="6291000" y="3791880"/>
            <a:ext cx="5346360" cy="344520"/>
          </a:xfrm>
          <a:prstGeom prst="rect">
            <a:avLst/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0"/>
          <p:cNvSpPr/>
          <p:nvPr/>
        </p:nvSpPr>
        <p:spPr>
          <a:xfrm>
            <a:off x="6382440" y="3873960"/>
            <a:ext cx="163296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Υποομάδα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20"/>
          <p:cNvSpPr/>
          <p:nvPr/>
        </p:nvSpPr>
        <p:spPr>
          <a:xfrm>
            <a:off x="8201160" y="3873960"/>
            <a:ext cx="99108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Πελάτες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20"/>
          <p:cNvSpPr/>
          <p:nvPr/>
        </p:nvSpPr>
        <p:spPr>
          <a:xfrm>
            <a:off x="9378000" y="3873960"/>
            <a:ext cx="109800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Παραγγελίες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20"/>
          <p:cNvSpPr/>
          <p:nvPr/>
        </p:nvSpPr>
        <p:spPr>
          <a:xfrm>
            <a:off x="10661760" y="3873960"/>
            <a:ext cx="88416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Αξία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20"/>
          <p:cNvSpPr/>
          <p:nvPr/>
        </p:nvSpPr>
        <p:spPr>
          <a:xfrm>
            <a:off x="6382440" y="4230720"/>
            <a:ext cx="16329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Τακτικοί, εξαγωγές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20"/>
          <p:cNvSpPr/>
          <p:nvPr/>
        </p:nvSpPr>
        <p:spPr>
          <a:xfrm>
            <a:off x="8201160" y="4230720"/>
            <a:ext cx="99108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527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20"/>
          <p:cNvSpPr/>
          <p:nvPr/>
        </p:nvSpPr>
        <p:spPr>
          <a:xfrm>
            <a:off x="9378000" y="4230720"/>
            <a:ext cx="109800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4,88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20"/>
          <p:cNvSpPr/>
          <p:nvPr/>
        </p:nvSpPr>
        <p:spPr>
          <a:xfrm>
            <a:off x="10661760" y="4230720"/>
            <a:ext cx="8841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3.161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20"/>
          <p:cNvSpPr/>
          <p:nvPr/>
        </p:nvSpPr>
        <p:spPr>
          <a:xfrm>
            <a:off x="6382440" y="4596480"/>
            <a:ext cx="16329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Whales, εξαγωγές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20"/>
          <p:cNvSpPr/>
          <p:nvPr/>
        </p:nvSpPr>
        <p:spPr>
          <a:xfrm>
            <a:off x="8201160" y="4596480"/>
            <a:ext cx="99108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20"/>
          <p:cNvSpPr/>
          <p:nvPr/>
        </p:nvSpPr>
        <p:spPr>
          <a:xfrm>
            <a:off x="9378000" y="4596480"/>
            <a:ext cx="109800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220,7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20"/>
          <p:cNvSpPr/>
          <p:nvPr/>
        </p:nvSpPr>
        <p:spPr>
          <a:xfrm>
            <a:off x="10661760" y="4596480"/>
            <a:ext cx="8841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365.705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20"/>
          <p:cNvSpPr/>
          <p:nvPr/>
        </p:nvSpPr>
        <p:spPr>
          <a:xfrm>
            <a:off x="6382440" y="4962240"/>
            <a:ext cx="16329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Τακτικοί, ΗΒ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20"/>
          <p:cNvSpPr/>
          <p:nvPr/>
        </p:nvSpPr>
        <p:spPr>
          <a:xfrm>
            <a:off x="8201160" y="4962240"/>
            <a:ext cx="99108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5.309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20"/>
          <p:cNvSpPr/>
          <p:nvPr/>
        </p:nvSpPr>
        <p:spPr>
          <a:xfrm>
            <a:off x="9378000" y="4962240"/>
            <a:ext cx="109800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5,72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20"/>
          <p:cNvSpPr/>
          <p:nvPr/>
        </p:nvSpPr>
        <p:spPr>
          <a:xfrm>
            <a:off x="10661760" y="4962240"/>
            <a:ext cx="8841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2.138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20"/>
          <p:cNvSpPr/>
          <p:nvPr/>
        </p:nvSpPr>
        <p:spPr>
          <a:xfrm>
            <a:off x="6382440" y="5328000"/>
            <a:ext cx="16329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Whales, ΗΒ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20"/>
          <p:cNvSpPr/>
          <p:nvPr/>
        </p:nvSpPr>
        <p:spPr>
          <a:xfrm>
            <a:off x="8201160" y="5328000"/>
            <a:ext cx="99108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20"/>
          <p:cNvSpPr/>
          <p:nvPr/>
        </p:nvSpPr>
        <p:spPr>
          <a:xfrm>
            <a:off x="9378000" y="5328000"/>
            <a:ext cx="109800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120,4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20"/>
          <p:cNvSpPr/>
          <p:nvPr/>
        </p:nvSpPr>
        <p:spPr>
          <a:xfrm>
            <a:off x="10661760" y="5328000"/>
            <a:ext cx="88416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114.404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1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ΠΡΟΒΛΕΨΗ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21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Skill score και περίοδος προβλέψεων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21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evenue-forecast.png" id="438" name="Google Shape;43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2160720"/>
            <a:ext cx="5346360" cy="194220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21"/>
          <p:cNvSpPr/>
          <p:nvPr/>
        </p:nvSpPr>
        <p:spPr>
          <a:xfrm>
            <a:off x="548640" y="2160720"/>
            <a:ext cx="5346360" cy="194220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21"/>
          <p:cNvSpPr/>
          <p:nvPr/>
        </p:nvSpPr>
        <p:spPr>
          <a:xfrm>
            <a:off x="548640" y="419760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Καθαρές πωλήσεις ανά μήνα και πρόβλεψη τριμήνου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21"/>
          <p:cNvSpPr/>
          <p:nvPr/>
        </p:nvSpPr>
        <p:spPr>
          <a:xfrm>
            <a:off x="548640" y="4514400"/>
            <a:ext cx="5346360" cy="344520"/>
          </a:xfrm>
          <a:prstGeom prst="rect">
            <a:avLst/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1"/>
          <p:cNvSpPr/>
          <p:nvPr/>
        </p:nvSpPr>
        <p:spPr>
          <a:xfrm>
            <a:off x="640080" y="4596480"/>
            <a:ext cx="21679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Μέθοδος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21"/>
          <p:cNvSpPr/>
          <p:nvPr/>
        </p:nvSpPr>
        <p:spPr>
          <a:xfrm>
            <a:off x="2993760" y="4596480"/>
            <a:ext cx="12049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MAPE %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21"/>
          <p:cNvSpPr/>
          <p:nvPr/>
        </p:nvSpPr>
        <p:spPr>
          <a:xfrm>
            <a:off x="4384440" y="4596480"/>
            <a:ext cx="14191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C5530"/>
                </a:solidFill>
                <a:latin typeface="Calibri"/>
                <a:ea typeface="Calibri"/>
                <a:cs typeface="Calibri"/>
                <a:sym typeface="Calibri"/>
              </a:rPr>
              <a:t>Skill score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21"/>
          <p:cNvSpPr/>
          <p:nvPr/>
        </p:nvSpPr>
        <p:spPr>
          <a:xfrm>
            <a:off x="640080" y="4953240"/>
            <a:ext cx="21679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Απλοϊκή εκτίμηση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21"/>
          <p:cNvSpPr/>
          <p:nvPr/>
        </p:nvSpPr>
        <p:spPr>
          <a:xfrm>
            <a:off x="2993760" y="4953240"/>
            <a:ext cx="12049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38,48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21"/>
          <p:cNvSpPr/>
          <p:nvPr/>
        </p:nvSpPr>
        <p:spPr>
          <a:xfrm>
            <a:off x="4384440" y="4953240"/>
            <a:ext cx="14191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0,0000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21"/>
          <p:cNvSpPr/>
          <p:nvPr/>
        </p:nvSpPr>
        <p:spPr>
          <a:xfrm>
            <a:off x="640080" y="5319000"/>
            <a:ext cx="21679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Holt-Winters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21"/>
          <p:cNvSpPr/>
          <p:nvPr/>
        </p:nvSpPr>
        <p:spPr>
          <a:xfrm>
            <a:off x="2993760" y="5319000"/>
            <a:ext cx="12049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32,74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21"/>
          <p:cNvSpPr/>
          <p:nvPr/>
        </p:nvSpPr>
        <p:spPr>
          <a:xfrm>
            <a:off x="4384440" y="5319000"/>
            <a:ext cx="1419120" cy="231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+0,1421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21"/>
          <p:cNvSpPr/>
          <p:nvPr/>
        </p:nvSpPr>
        <p:spPr>
          <a:xfrm>
            <a:off x="6291000" y="2743200"/>
            <a:ext cx="5346360" cy="24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Η πρώτη εκτέλεση έβγαλε skill score -0,21. Δηλαδή η πρόβλεψη έχανε από την πιο απλοϊκή εκτίμηση, τύπου το “ίδιο με τον προηγούμενο μήνα”.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Ο λόγος ήταν πως τα δεδομένα σταματούν στις 9 Δεκεμβρίου 2011, οπότε ο τελευταίος μήνας έχει 9 ημέρες.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1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Βγάζοντάς τον έξω, το skill score γίνεται  +0,1421. Ίδιο μοντέλο, ίδια δεδομένα, αντίθετο συμπέρασμα.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22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ΟΙΚΟΝΟΜΙΚΟΙ ΔΕΙΚΤΕΣ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22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Πού πάνε τα έσοδα κάθε μήνα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22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growth-accounting.png" id="460" name="Google Shape;46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1839600"/>
            <a:ext cx="5346360" cy="222588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22"/>
          <p:cNvSpPr/>
          <p:nvPr/>
        </p:nvSpPr>
        <p:spPr>
          <a:xfrm>
            <a:off x="548640" y="1839600"/>
            <a:ext cx="5346360" cy="222588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2"/>
          <p:cNvSpPr/>
          <p:nvPr/>
        </p:nvSpPr>
        <p:spPr>
          <a:xfrm>
            <a:off x="548640" y="416088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Η μεταβολή εσόδων σπασμένη σε έξι ροές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quick-ratio.png" id="463" name="Google Shape;46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91000" y="2102760"/>
            <a:ext cx="5346360" cy="1699200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22"/>
          <p:cNvSpPr/>
          <p:nvPr/>
        </p:nvSpPr>
        <p:spPr>
          <a:xfrm>
            <a:off x="6291000" y="2102760"/>
            <a:ext cx="5346360" cy="169920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2"/>
          <p:cNvSpPr/>
          <p:nvPr/>
        </p:nvSpPr>
        <p:spPr>
          <a:xfrm>
            <a:off x="6291000" y="416088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Quick ratio ανά μήνα. Κάτω από τη μονάδα, τα έσοδα συρρικνώνονται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22"/>
          <p:cNvSpPr/>
          <p:nvPr/>
        </p:nvSpPr>
        <p:spPr>
          <a:xfrm>
            <a:off x="548640" y="4532400"/>
            <a:ext cx="3596760" cy="966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2"/>
          <p:cNvSpPr/>
          <p:nvPr/>
        </p:nvSpPr>
        <p:spPr>
          <a:xfrm>
            <a:off x="548640" y="4623840"/>
            <a:ext cx="3596760" cy="44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72,4%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22"/>
          <p:cNvSpPr/>
          <p:nvPr/>
        </p:nvSpPr>
        <p:spPr>
          <a:xfrm>
            <a:off x="603360" y="5081040"/>
            <a:ext cx="34869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Πελάτες που ξαναγόρασαν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22"/>
          <p:cNvSpPr/>
          <p:nvPr/>
        </p:nvSpPr>
        <p:spPr>
          <a:xfrm>
            <a:off x="4294800" y="4532400"/>
            <a:ext cx="3596760" cy="966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22"/>
          <p:cNvSpPr/>
          <p:nvPr/>
        </p:nvSpPr>
        <p:spPr>
          <a:xfrm>
            <a:off x="4294800" y="4623840"/>
            <a:ext cx="3596760" cy="44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0,740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22"/>
          <p:cNvSpPr/>
          <p:nvPr/>
        </p:nvSpPr>
        <p:spPr>
          <a:xfrm>
            <a:off x="4349520" y="5081040"/>
            <a:ext cx="34869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Συντελεστής Gini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22"/>
          <p:cNvSpPr/>
          <p:nvPr/>
        </p:nvSpPr>
        <p:spPr>
          <a:xfrm>
            <a:off x="8040600" y="4532400"/>
            <a:ext cx="3596760" cy="966240"/>
          </a:xfrm>
          <a:prstGeom prst="roundRect">
            <a:avLst>
              <a:gd fmla="val 16667" name="adj"/>
            </a:avLst>
          </a:prstGeom>
          <a:solidFill>
            <a:srgbClr val="EEF3EC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2"/>
          <p:cNvSpPr/>
          <p:nvPr/>
        </p:nvSpPr>
        <p:spPr>
          <a:xfrm>
            <a:off x="8040600" y="4623840"/>
            <a:ext cx="3596760" cy="445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3,3%</a:t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22"/>
          <p:cNvSpPr/>
          <p:nvPr/>
        </p:nvSpPr>
        <p:spPr>
          <a:xfrm>
            <a:off x="8095320" y="5081040"/>
            <a:ext cx="34869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Ο μεγαλύτερος πελάτης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23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ΟΙΚΟΝΟΜΙΚΟΙ ΔΕΙΚΤΕΣ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23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Κερδοφορία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23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ofitability-sensitivity.png" id="483" name="Google Shape;48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3120" y="2258640"/>
            <a:ext cx="4397760" cy="2511720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23"/>
          <p:cNvSpPr/>
          <p:nvPr/>
        </p:nvSpPr>
        <p:spPr>
          <a:xfrm>
            <a:off x="1023120" y="2258640"/>
            <a:ext cx="4397760" cy="2511720"/>
          </a:xfrm>
          <a:prstGeom prst="rect">
            <a:avLst/>
          </a:prstGeom>
          <a:noFill/>
          <a:ln cap="flat" cmpd="sng" w="9525">
            <a:solidFill>
              <a:srgbClr val="376092"/>
            </a:solidFill>
            <a:prstDash val="solid"/>
            <a:round/>
            <a:headEnd len="sm" w="sm" type="none"/>
            <a:tailEnd len="sm" w="sm" type="none"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3"/>
          <p:cNvSpPr/>
          <p:nvPr/>
        </p:nvSpPr>
        <p:spPr>
          <a:xfrm>
            <a:off x="548640" y="4864680"/>
            <a:ext cx="5346360" cy="20412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LTV προς CAC για κάθε συνδυασμό παραδοχών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23"/>
          <p:cNvSpPr/>
          <p:nvPr/>
        </p:nvSpPr>
        <p:spPr>
          <a:xfrm>
            <a:off x="6291000" y="2514600"/>
            <a:ext cx="5346360" cy="1972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Από τα δεκαέξι κελιά του πλέγματος, τα 8 περνάνε το όριο 3:1 και τα 8 όχι. Ίδια δεδομένα, αντίθετα συμπεράσματα, μόνο και μόνο επειδή αλλάζει η υπόθεση για το περιθώριο κέρδους.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1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1" i="0" lang="en-US" sz="15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Αυτή η εξάρτηση είναι το εύρημα. Δεν διαλέγουμε ένα “λογικό” περιθώριο για να δώσουμε μία καθαρή απάντηση, γιατί θα ήταν υπόθεση ντυμένη σαν μέτρηση.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24"/>
          <p:cNvSpPr/>
          <p:nvPr/>
        </p:nvSpPr>
        <p:spPr>
          <a:xfrm>
            <a:off x="548640" y="3803760"/>
            <a:ext cx="11088720" cy="8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Συμπεράσματα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24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24"/>
          <p:cNvSpPr/>
          <p:nvPr/>
        </p:nvSpPr>
        <p:spPr>
          <a:xfrm>
            <a:off x="549000" y="1600560"/>
            <a:ext cx="11088720" cy="1782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24"/>
          <p:cNvSpPr/>
          <p:nvPr/>
        </p:nvSpPr>
        <p:spPr>
          <a:xfrm>
            <a:off x="11094840" y="647424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24"/>
          <p:cNvSpPr/>
          <p:nvPr/>
        </p:nvSpPr>
        <p:spPr>
          <a:xfrm>
            <a:off x="720" y="720"/>
            <a:ext cx="12188880" cy="685512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4"/>
          <p:cNvSpPr/>
          <p:nvPr/>
        </p:nvSpPr>
        <p:spPr>
          <a:xfrm>
            <a:off x="549360" y="1600920"/>
            <a:ext cx="11088720" cy="164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24"/>
          <p:cNvSpPr/>
          <p:nvPr/>
        </p:nvSpPr>
        <p:spPr>
          <a:xfrm>
            <a:off x="549360" y="2972520"/>
            <a:ext cx="11088720" cy="74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4η ΕΝΟΤΗΤΑ</a:t>
            </a:r>
            <a:endParaRPr b="0" i="0" sz="4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24"/>
          <p:cNvSpPr/>
          <p:nvPr/>
        </p:nvSpPr>
        <p:spPr>
          <a:xfrm>
            <a:off x="549360" y="3804480"/>
            <a:ext cx="11088720" cy="8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Συμπεράσματα</a:t>
            </a:r>
            <a:endParaRPr b="0" i="0" sz="4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24"/>
          <p:cNvSpPr/>
          <p:nvPr/>
        </p:nvSpPr>
        <p:spPr>
          <a:xfrm>
            <a:off x="549360" y="4645800"/>
            <a:ext cx="11088720" cy="36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24"/>
          <p:cNvSpPr/>
          <p:nvPr/>
        </p:nvSpPr>
        <p:spPr>
          <a:xfrm>
            <a:off x="549360" y="6474600"/>
            <a:ext cx="5483520" cy="271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24"/>
          <p:cNvSpPr/>
          <p:nvPr/>
        </p:nvSpPr>
        <p:spPr>
          <a:xfrm>
            <a:off x="11095200" y="647460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25"/>
          <p:cNvSpPr/>
          <p:nvPr/>
        </p:nvSpPr>
        <p:spPr>
          <a:xfrm>
            <a:off x="548640" y="457200"/>
            <a:ext cx="1108872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ΣΥΜΠΕΡΑΣΜΑΤΑ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25"/>
          <p:cNvSpPr/>
          <p:nvPr/>
        </p:nvSpPr>
        <p:spPr>
          <a:xfrm>
            <a:off x="548640" y="749880"/>
            <a:ext cx="11088720" cy="55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2C5530"/>
                </a:solidFill>
                <a:latin typeface="Cambria"/>
                <a:ea typeface="Cambria"/>
                <a:cs typeface="Cambria"/>
                <a:sym typeface="Cambria"/>
              </a:rPr>
              <a:t>Τι απαντήθηκε και τι προσφέρει στην επιχείρηση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25"/>
          <p:cNvSpPr/>
          <p:nvPr/>
        </p:nvSpPr>
        <p:spPr>
          <a:xfrm>
            <a:off x="11094480" y="6473880"/>
            <a:ext cx="545760" cy="1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259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 b="0" i="0" sz="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25"/>
          <p:cNvSpPr/>
          <p:nvPr/>
        </p:nvSpPr>
        <p:spPr>
          <a:xfrm>
            <a:off x="548640" y="2255040"/>
            <a:ext cx="534636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ΤΙ ΑΠΑΝΤΗΘΗΚΕ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25"/>
          <p:cNvSpPr/>
          <p:nvPr/>
        </p:nvSpPr>
        <p:spPr>
          <a:xfrm>
            <a:off x="548640" y="2620800"/>
            <a:ext cx="5346360" cy="23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7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Και τα 7 βασικά ερωτήματα που έχει μία επιχείρηση.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92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7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Ο αλγόριθμος Apriori και ο FP-Growth δίνουν ταυτόσημα αποτελέσματα. Η επιλογή είναι θέμα χρόνου, όχι ευρήματος.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1001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7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Κάθε πρόβλεψη συγκρίνεται με μια απλοϊκή εκτίμηση, ώστε μια τετριμμένη πρόβλεψη να μη μοιάζει με επιτυχία.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25"/>
          <p:cNvSpPr/>
          <p:nvPr/>
        </p:nvSpPr>
        <p:spPr>
          <a:xfrm>
            <a:off x="6291000" y="2255040"/>
            <a:ext cx="5346360" cy="2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A33D"/>
                </a:solidFill>
                <a:latin typeface="Calibri"/>
                <a:ea typeface="Calibri"/>
                <a:cs typeface="Calibri"/>
                <a:sym typeface="Calibri"/>
              </a:rPr>
              <a:t>ΤΙ ΠΡΕΠΕΙ ΝΑ ΚΑΝΕΙ Η ΕΠΙΧΕΙΡΗΣΗ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25"/>
          <p:cNvSpPr/>
          <p:nvPr/>
        </p:nvSpPr>
        <p:spPr>
          <a:xfrm>
            <a:off x="6291000" y="2570400"/>
            <a:ext cx="5346360" cy="20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7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Προωθεί μαζί τα προϊόντα με lift πάνω από 1.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1001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7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Μιλάει διαφορετικά στους τακτικούς και στους μεγάλους πελάτες.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1001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224B12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-US" sz="1700" u="none" cap="none" strike="noStrike">
                <a:solidFill>
                  <a:srgbClr val="241F1B"/>
                </a:solidFill>
                <a:latin typeface="Calibri"/>
                <a:ea typeface="Calibri"/>
                <a:cs typeface="Calibri"/>
                <a:sym typeface="Calibri"/>
              </a:rPr>
              <a:t>Προγραμματίζει το απόθεμα με βάση τη χρονική κατανομή και την πρόβλεψη.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26"/>
          <p:cNvSpPr/>
          <p:nvPr/>
        </p:nvSpPr>
        <p:spPr>
          <a:xfrm>
            <a:off x="0" y="0"/>
            <a:ext cx="12188880" cy="6855120"/>
          </a:xfrm>
          <a:prstGeom prst="rect">
            <a:avLst/>
          </a:prstGeom>
          <a:solidFill>
            <a:srgbClr val="28471F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6"/>
          <p:cNvSpPr/>
          <p:nvPr/>
        </p:nvSpPr>
        <p:spPr>
          <a:xfrm>
            <a:off x="548640" y="2011680"/>
            <a:ext cx="88560" cy="1460160"/>
          </a:xfrm>
          <a:prstGeom prst="rect">
            <a:avLst/>
          </a:prstGeom>
          <a:solidFill>
            <a:srgbClr val="E8A202"/>
          </a:solidFill>
          <a:ln>
            <a:noFill/>
          </a:ln>
          <a:effectLst>
            <a:outerShdw blurRad="39960" rotWithShape="0" dir="5400000" dist="23040">
              <a:srgbClr val="000000">
                <a:alpha val="34902"/>
              </a:srgbClr>
            </a:outerShdw>
          </a:effectLst>
        </p:spPr>
        <p:txBody>
          <a:bodyPr anchorCtr="0" anchor="ctr" bIns="45000" lIns="44275" spcFirstLastPara="1" rIns="44275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6"/>
          <p:cNvSpPr/>
          <p:nvPr/>
        </p:nvSpPr>
        <p:spPr>
          <a:xfrm>
            <a:off x="960120" y="2057400"/>
            <a:ext cx="10677240" cy="113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Να απαντηθεί ό,τι ζητάει μια επιχείρηση,</a:t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92"/>
              </a:spcBef>
              <a:spcAft>
                <a:spcPts val="0"/>
              </a:spcAft>
              <a:buNone/>
            </a:pPr>
            <a:r>
              <a:rPr b="0" i="0" lang="en-US" sz="2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και να μην απαντηθεί ό,τι τα δεδομένα δεν επιτρέπουν.</a:t>
            </a:r>
            <a:endParaRPr b="0" i="0" sz="2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p26"/>
          <p:cNvSpPr/>
          <p:nvPr/>
        </p:nvSpPr>
        <p:spPr>
          <a:xfrm rot="19200">
            <a:off x="5027040" y="5637600"/>
            <a:ext cx="7019640" cy="743400"/>
          </a:xfrm>
          <a:prstGeom prst="rect">
            <a:avLst/>
          </a:prstGeom>
          <a:noFill/>
          <a:ln>
            <a:noFill/>
          </a:ln>
        </p:spPr>
        <p:txBody>
          <a:bodyPr anchorCtr="1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Σας ευχαριστώ πολύ για τον χρόνο σας και την προσοχή σας.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D7E5D2"/>
                </a:solidFill>
                <a:latin typeface="Calibri"/>
                <a:ea typeface="Calibri"/>
                <a:cs typeface="Calibri"/>
                <a:sym typeface="Calibri"/>
              </a:rPr>
              <a:t>Μουρτογιάννης Χρήστος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