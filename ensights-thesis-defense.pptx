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03120"/>
            <a:ext cx="6400800" cy="64008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232D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ΔΙΠΛΩΜΑΤΙΚΗ ΕΡΓΑΣΙΑ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Εξαγωγή Ευφυών Αναλύσεων από Δεδομένα Ηλεκτρονικού Εμπορίου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Ensights: Extraction of Intelligent Analytics from E-Commerce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2011680" cy="0"/>
          </a:xfrm>
          <a:prstGeom prst="line">
            <a:avLst/>
          </a:prstGeom>
          <a:noFill/>
          <a:ln w="12700">
            <a:solidFill>
              <a:srgbClr val="3A45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Χρήστος Μουρτογιάννης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CADCFC"/>
                </a:solidFill>
              </a:rPr>
              <a:t>Διατμηματικό ΠΡΜΣ «Διοίκηση και Οικονομική Τηλεπικοινωνιακών Δικτύων και Πληροφοριακών Συστημάτων»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Εθνικό και Καποδιστριακό Πανεπιστήμιο Αθηνών, Τμήμα Πληροφορικής και Τηλεπικοινωνιών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Τριμελής Εξεταστική Επιτροπή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4023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Επιβλέπων: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Ευστάθιος Χατζηευθυμιάδης, Καθηγητής, ΕΚΠΑ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44074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Εξεταστής: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Κωνσταντίνος Κολομβάτσος, Παν. Θεσσαλίας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47914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Εξεταστής: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Μιλτιάδης Κυριακάκος, ΕΔΙΠ, ΕΚΠΑ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Αθήνα, Οκτώβριος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ΠΕΡΙΕΧΟΜΕΝΑ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Δομή παρουσίασης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173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761"/>
                </a:solidFill>
              </a:rPr>
              <a:t>Κίνητρο &amp; Στόχοι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Το κενό δεδομένων–αποφάσεων και τα επτά ερωτήματα της επιχείρησης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945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761"/>
                </a:solidFill>
              </a:rPr>
              <a:t>Θεωρητικό Υπόβαθρο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Εξόρυξη συχνών υποσυνόλων, συσταδοποίηση, RFM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71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761"/>
                </a:solidFill>
              </a:rPr>
              <a:t>Αρχιτεκτονική &amp; Δεδομένα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Το σύνολο Online Retail II και η γενικότητα του συστήματος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49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761"/>
                </a:solidFill>
              </a:rPr>
              <a:t>Αποτελέσματα ανά τεχνική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Περιγραφική ανάλυση, συχνά υποσύνολα, συσταδοποίηση, πρόβλεψη, οικονομικά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5262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761"/>
                </a:solidFill>
              </a:rPr>
              <a:t>Το Σύστημα στην Πράξη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API αποκρίσεις και πίνακες ελέγχου Metabase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035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761"/>
                </a:solidFill>
              </a:rPr>
              <a:t>Συμπεράσματα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Ευρήματα, πρακτική αξία, περιορισμοί, επεκτάσεις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14600"/>
            <a:ext cx="914400" cy="914400"/>
          </a:xfrm>
          <a:prstGeom prst="ellipse">
            <a:avLst/>
          </a:prstGeom>
          <a:solidFill>
            <a:srgbClr val="2A3573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ΠΡΩΤΗ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999232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Κίνητρο &amp; Στόχοι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κενό ανάμεσα σε όσα καταγράφονται και όσα αποφασίζονται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 · Διπλωματική εργασία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ΚΙΝΗΤΡΟ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κενό δεδομένων – αποφάσεων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παραγγελία, γραμμή προϊόντος και επιστροφή καταγράφεται με ακρίβεια πρωτόγνωρη για το παραδοσιακό λιανεμπόριο.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Στην πράξη τα δεδομένα παραμένουν συχνά αναξιοποίητα: οι αποφάσεις marketing και πωλήσεων λαμβάνονται με εμπειρία και διαίσθηση.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Αντικείμενο της εργασίας: εξαγωγή αξιοποιήσιμων αναλύσεων και προβλέψεων από δεδομένα αγοραπωλησιών, με τεχνικές εξόρυξης δεδομένων και μηχανικής μάθησης.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82880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ΔΕΔΟΜΕΝΑ ΣΥΝΑΛΛΑΓΩΝ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πλήρες, ακριβές ιστορικό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49640" y="306324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B23A4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54964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ΚΕΝΟ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3456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διαίσθηση, όχι ανάλυση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40880" y="41605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ΑΠΟΦΑΣΕΙΣ MARKETING &amp; ΠΩΛΗΣΕΩΝ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θα έπρεπε να στηρίζουν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ΣΤΟΧΟΙ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Επτά ερωτήματα από πραγματικές επιχειρήσεις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4721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Ποια προϊόντα έχουν τις μεγαλύτερες πωλήσεις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508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8076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14721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Ποιοι πελάτες αγοράζουν περισσότερο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20391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Ποιες περιοχές πουλάνε περισσότερο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076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0391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Πότε συγκεντρώνονται οι πωλήσεις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6426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2606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Ποια προϊόντα επιστρέφονται περισσότερο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26426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80760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2606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κατανέμονται οι πωλήσεις ανά εύρος τιμής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2095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31729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κατανέμονται οι πωλήσεις ανά χαρακτηριστικό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Επέκταση πέρα από την αρχική εκφώνηση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663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Οικονομικά μεγέθη που κρίνουν αν αξίζει να αξιοποιηθούν οι παραπάνω απαντήσεις: GMV, επαναληπτικότητα πελατών, λογιστική ανάπτυξης, κερδοφορία.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Τρεις οικογένειες τεχνικών: εξόρυξη συχνών υποσυνόλων · συσταδοποίηση δύο επιπέδων · πρόβλεψη χρονοσειρών.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ΑΡΧΕΣ ΣΧΕΔΙΑΣΗΣ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Δύο απαιτήσεις που διαπερνούν το σύστημα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ΓΕΝΙΚΟΤΗΤΑ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σύστημα δεν σχεδιάστηκε για ένα κατάστημα, αλλά για οποιοδήποτε, με ελάχιστη παραμετροποίηση.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ανάλυση δεν διαβάζει ποτέ το σχήμα μιας συγκεκριμένης πηγής· κάθε πηγή αντιστοιχίζεται σε δημοσιευμένο συμβόλαιο δεδομένων.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Αποφεύγονται απόλυτα κατώφλια όπου δεν δικαιολογούνται (π.χ. δείκτες λογιστικής ανάπτυξης, ανεξάρτητοι από το επιχειρηματικό μοντέλο).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ΕΙΛΙΚΡΙΝΕΙΑ ΤΩΝ ΑΠΟΤΕΛΕΣΜΑΤΩΝ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Ρητή διάκριση μεταξύ όσων μετρώνται και όσων υποτίθενται.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dataset δεν περιέχει κόστος πωληθέντων ούτε δαπάνες marketing ⇒ η κερδοφορία δεν μπορεί να απαντηθεί ως μέτρηση.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κερδοφορία υλοποιείται ως ρητή ανάλυση ευαισθησίας πάνω σε δηλωμένες παραδοχές, με τη δήλωση “σενάριο, όχι μέτρηση” να ταξιδεύει μαζί με κάθε απόκριση.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14600"/>
            <a:ext cx="914400" cy="914400"/>
          </a:xfrm>
          <a:prstGeom prst="ellipse">
            <a:avLst/>
          </a:prstGeom>
          <a:solidFill>
            <a:srgbClr val="2A3573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ΔΕΥΤΕΡΗ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999232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Θεωρητικό Υπόβαθρο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Han, Kamber &amp; Pei, Data Mining: Concepts and Techniques, κεφ. 2, 3, 6, 10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 · Διπλωματική εργασία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ΘΕΩΡΙΑ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Εξόρυξη συχνών υποσυνόλων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υποστήριξη δείχνει σε τι ποσοστό των συναλλαγών εμφανίζεται ένα σύνολο X: support(X) = |{T ∈ D : X ⊆ T}| / |D|.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εμπιστοσύνη είναι η πιθανότητα να δούμε το Y όταν έχει ήδη εμφανιστεί το X: confidence(X⇒Y) = support(X∪Y) / support(X).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Αυτή που μας ενδιαφέρει περισσότερο είναι η άρση (lift), γιατί διορθώνει την εμπιστοσύνη ως προς το πόσο δημοφιλές είναι το Y από μόνο του: lift = confidence(X⇒Y) / support(Y).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Πάνω από 1 σημαίνει ισχυρότερη συνεμφάνιση απ' ό,τι θα περίμενε κανείς τυχαία, ίση με 1 σημαίνει ανεξαρτησία, κάτω από 1 αρνητική συσχέτιση.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95935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Apriori  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B7280"/>
                </a:solidFill>
              </a:rPr>
              <a:t>Agrawal &amp; Srikant, 1994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0263B"/>
                </a:solidFill>
              </a:rPr>
              <a:t>Ανά επίπεδο, με το κλειστό-προς-τα-κάτω: κάθε υποσύνολο συχνού συνόλου είναι συχνό. Πολλαπλές διελεύσεις της βάσης.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37947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395935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FP-Growth  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B7280"/>
                </a:solidFill>
              </a:rPr>
              <a:t>Han, Pei &amp; Yin, 2000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0263B"/>
                </a:solidFill>
              </a:rPr>
              <a:t>Συμπιεσμένο δένδρο προθεμάτων, αναδρομική εξαγωγή, χωρίς παραγωγή υποψηφίων συνόλων.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το ίδιο κατώφλι υποστήριξης τα δύο αποτελέσματα βγαίνουν ταυτόσημα, η διαφορά είναι μόνο στον χρόνο εκτέλεσης.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ΘΕΩΡΙΑ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Συσταδοποίηση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k-means (MacQueen, 1967) ψάχνει τα κέντρα συστάδων που ελαχιστοποιούν το J = Σᵢ Σ_{x∈Cᵢ} ‖x − μᵢ‖², δηλαδή τις τετραγωνικές αποστάσεις κάθε σημείου από το κέντρο του.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Χρειάζεται συγκρίσιμες αποστάσεις μεταξύ διαστάσεων, οπότε η τυποποίηση των χαρακτηριστικών πριν τη συσταδοποίηση δεν είναι βελτίωση, είναι προϋπόθεση για να βγει σωστό αποτέλεσμα.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δείκτης περιγράμματος του Rousseeuw (1987), s(i) = (b(i) − a(i)) / max{a(i), b(i)} με τιμές στο [−1, 1], αξιολογεί μια κατάτμηση χωρίς να χρειάζεται να ξέρουμε την πραγματική ομαδοποίηση.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Χρησιμοποιείται εδώ για να επιλεγεί το πλήθος συστάδων k από τα ίδια τα δεδομένα, αντί να οριστεί εκ των προτέρων.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1600200"/>
            <a:ext cx="443484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0" y="1828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Εμφωλευμένη, δύο επιπέδων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86000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1ο επίπεδο: ομαδοποίηση ως προς περιοχή &amp; χρόνο.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2ο επίπεδο: εντός κάθε συστάδας, νέα ομαδοποίηση ως προς RFM.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Δένδρο συστάδων· ανεξάρτητη πληροφορία από κάθε κόμβο.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416052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Ακολουθεί την κατεύθυνση της επίβλεψης: ομαδοποίηση σε παραμέτρους σημασίας, με νέα ομαδοποίηση εντός κάθε συστάδας.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ΘΕΩΡΙΑ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&amp; Οικονομικοί δείκτες e-commerce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μοντέλο RFM περιγράφει έναν πελάτη με τρία μεγέθη: πόσο πρόσφατα αγόρασε (Recency), πόσο συχνά αγοράζει (Frequency) και πόσα ξοδεύει (Monetary). Απλό και άμεσα ερμηνεύσιμο.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Chen, Sain και Guo (2012) το συνδύασαν με συσταδοποίηση πάνω στο ίδιο dataset, κάτι που αποτέλεσε τη βάση για τη συσταδοποίηση δεύτερου επιπέδου εδώ.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Προσοχή: η χρηματική αξία είναι όσα έχει ήδη ξοδέψει ο πελάτης μέχρι σήμερα, όχι πρόβλεψη της μελλοντικής του αξίας. Η σύγχυση των δύο είναι συχνή και οδηγεί σε υπερεκτίμηση.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822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Μετρήσιμα απευθείας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2062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GMV, ποσοστό επαναληπτικών αγορών, διατήρηση ανά κοόρτη.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Λογιστική ανάπτυξης: 6 ροές εσόδων, business-model agnostic.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36576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BF1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3822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Απαιτούν παραδοχές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42062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CLV, το CAC και ο λόγος LTV:CAC χρειάζονται περιθώριο κέρδους και δαπάνες marketing.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περιέχονται στα δεδομένα συναλλαγών ⇒ υπολογίζονται μόνο ως ανάλυση ευαισθησίας.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14600"/>
            <a:ext cx="914400" cy="914400"/>
          </a:xfrm>
          <a:prstGeom prst="ellipse">
            <a:avLst/>
          </a:prstGeom>
          <a:solidFill>
            <a:srgbClr val="2A3573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ΤΡΙΤΗ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999232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Αρχιτεκτονική &amp; Δεδομένα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Ό,τι επιτρέπει στο ίδιο σύστημα να απαντά σε οποιοδήποτε κατάστημα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 · Διπλωματική εργασία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ΔΕΔΟΜΕΝΑ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Retail II (UCI)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Βρετανικό κατάστημα χονδρικής πώλησης ειδών δώρων, 2009–2011.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δημόσιο και αναπαραγώγιμο, το ίδιο dataset που χρησιμοποίησαν οι Chen, Sain και Guo (2012), και περιέχει ακυρωμένα παραστατικά, χωρίς τα οποία δεν θα απαντιόταν το ερώτημα των επιστροφών.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894990"/>
            <a:ext cx="175564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39.516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462833"/>
            <a:ext cx="16093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Παραγγελίες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32304" y="269748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32304" y="2894990"/>
            <a:ext cx="175564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1.002.423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05456" y="3462833"/>
            <a:ext cx="16093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Γραμμές παραγγελιών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269748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15968" y="2894990"/>
            <a:ext cx="175564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17.925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462833"/>
            <a:ext cx="16093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Επιστροφές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269748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99632" y="2894990"/>
            <a:ext cx="175564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5.875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3462833"/>
            <a:ext cx="16093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Πελάτες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269748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83296" y="2894990"/>
            <a:ext cx="175564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4.900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156448" y="3462833"/>
            <a:ext cx="16093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Προϊόντα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966960" y="269748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66960" y="2894990"/>
            <a:ext cx="175564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040112" y="3462833"/>
            <a:ext cx="16093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Περιοχές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06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σε ~140 δευτερόλεπτα: κατασκευή αντικειμένων απευθείας + δεσμευμένες συγγραφές ανά παρτίδα (batch).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Αποκλεισμός μη εμπορικών κωδικών (χειροκίνητες προσαρμογές, ταχυδρομικά τέλη, δωροεπιταγές) μέσω ρητού καταλόγου: ~4% των εσόδων, αλλά ποιοτική αλλαγή στην κατάταξη προϊόντων.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ΥΛΟΠΟΙΗΣΗ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Αρχιτεκτονική συστήματος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 + Celery, στρωματωμένη αρχιτεκτονική: διεπαφή → υπηρεσίες → αποθετήρια → μοντέλα.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αλγόριθμοι mining και μηχανικής μάθησης ζουν σε δικό τους επίπεδο, χωρίς καμία εξάρτηση από τη βάση ή το framework. Έτσι ελέγχονται με δεδομένα υπολογίσιμα με το χέρι, και ο ίδιος κώδικας τρέχει κατευθείαν από τα σημειωματάρια Jupyter.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Χρονοβόρες αναλύσεις (π.χ. εξόρυξη συχνών υποσυνόλων σε πλήρες ιστορικό) εκτελούνται ασύγχρονα σε εργάτες Celery.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07128" y="37033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07128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48" y="434340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748" y="466344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3748" y="4754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23748" y="5120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σε /api/v1/…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5848" y="434340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2788" y="466344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72788" y="4754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Metabase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72788" y="5120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read-only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5848" y="434340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1828" y="466344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1828" y="4754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1828" y="5120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Σχήματα διατριβής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οι τρεις τροφοδοτούνται από τις ίδιες ακριβώς συναρτήσεις, οπότε μια κάρτα του Metabase και το αντίστοιχο endpoint δίνουν πάντα τον ίδιο αριθμό.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ΥΛΟΠΟΙΗΣΗ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Γενικότητα στην πράξη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Κανονικοποιημένο σχήμα, έξι οντότητες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56132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Πελάτης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32788" y="178308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32788" y="1783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Προϊόν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20924" y="1783080"/>
            <a:ext cx="1056132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20924" y="178308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Περιοχή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05072" y="178308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05072" y="178308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Παραγγελία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77256" y="1783080"/>
            <a:ext cx="2112264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77256" y="1783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Γραμμή Παραγγελίας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17536" y="1783080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17536" y="1783080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Επιστροφή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377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Τρεις οδοί παράδοσης δεδομένων, μόνο η πρώτη χρειάζεται κώδικα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28803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Αρχείο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322783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κατάστημα εξάγει, ο προσαρμογέας διαβάζει.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78892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25112" y="28803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/ingestion/transactions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25112" y="322783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Παρτίδες σε κανονικοποιημένη μορφή, χωρίς κώδικα.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0" y="278892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36992" y="288036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Ανάγνωση βάσης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936992" y="322783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column mapping πάνω στη βάση του πελάτη, χωρίς κώδικα.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69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Τρεις σχεδιαστικές αποφάσεις σχήματος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43484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περιοχή αποθηκεύεται στην ίδια την παραγγελία, γιατί είναι ιδιότητα της πώλησης και όχι μόνο του πελάτη.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επιστροφές καταγράφονται ως ξεχωριστές εγγραφές με θετικά μεγέθη, ώστε να μην μπορούν ποτέ να αφαιρεθούν σιωπηρά από τα έσοδα.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τιμή αποθηκεύεται ανά γραμμή παραγγελίας, ώστε κάθε πώληση να προσμετράται στην τιμή που πράγματι χρεώθηκε.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ΠΕΡΙΓΡΑΦΙΚΗ ΑΝΑΛΥΣΗ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Προϊόντα &amp; Περιοχές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top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25780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257800" cy="306324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56285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Προϊόντα με τα υψηλότερα έσοδα</a:t>
            </a:r>
            <a:endParaRPr lang="en-US" sz="1050" dirty="0"/>
          </a:p>
        </p:txBody>
      </p:sp>
      <p:pic>
        <p:nvPicPr>
          <p:cNvPr id="7" name="Image 1" descr="/tmp/claude-0/-home-user-ensights/57acd941-a2c9-5cfa-90b7-9e5814c7c436/scratchpad/figures/top_reg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463040"/>
            <a:ext cx="5257800" cy="3063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26480" y="1463040"/>
            <a:ext cx="5257800" cy="306324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456285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Περιοχές με τα υψηλότερα έσοδα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892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Κατάταξη ως προς έσοδα, όχι μονάδες: το REGENCY CAKESTAND είναι 1ο σε έσοδα με 26.315 μονάδες, ενώ το JUMBO BAG πουλά σχεδόν τετραπλάσιες μονάδες (96.243) αλλά είναι 3ο.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Ηνωμένο Βασίλειο συγκεντρώνει περίπου το 86% των εσόδων. Στην Ιρλανδία μόλις 5 πελάτες παράγουν περισσότερα έσοδα από τους 107 της Γερμανίας, κάτι που δείχνει χονδρική και όχι λιανική σχέση.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ΠΕΡΙΓΡΑΦΙΚΗ ΑΝΑΛΥΣΗ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Χρονική κατανομή πωλήσεων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sales_month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1060704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10607040" cy="233172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78561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Μηνιαία κατανομή εσόδων: κορύφωση τον Νοέμβριο και τις δύο χρονιές, ο τελευταίος μήνας είναι ημιτελής</a:t>
            </a:r>
            <a:endParaRPr lang="en-US" sz="1050" dirty="0"/>
          </a:p>
        </p:txBody>
      </p:sp>
      <p:pic>
        <p:nvPicPr>
          <p:cNvPr id="7" name="Image 1" descr="/tmp/claude-0/-home-user-ensights/57acd941-a2c9-5cfa-90b7-9e5814c7c436/scratchpad/figures/sales_weekd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51760" y="4206240"/>
            <a:ext cx="6400800" cy="1965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651760" y="4206240"/>
            <a:ext cx="6400800" cy="196596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651760" y="62087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Κατανομή εσόδων ανά ημέρα εβδομάδας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ΠΕΡΙΓΡΑΦΙΚΗ ΑΝΑΛΥΣΗ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Εύρος τιμής &amp; χαρακτηριστικά προϊόντος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price_ban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2578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257800" cy="292608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42569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Έσοδα ανά εύρος τιμής μονάδας (1–5 ≈ 62% των εσόδων)</a:t>
            </a:r>
            <a:endParaRPr lang="en-US" sz="1050" dirty="0"/>
          </a:p>
        </p:txBody>
      </p:sp>
      <p:pic>
        <p:nvPicPr>
          <p:cNvPr id="7" name="Image 1" descr="/tmp/claude-0/-home-user-ensights/57acd941-a2c9-5cfa-90b7-9e5814c7c436/scratchpad/figures/characterist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463040"/>
            <a:ext cx="5257800" cy="2926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26480" y="1463040"/>
            <a:ext cx="5257800" cy="292608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442569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Έσοδα ανά χαρακτηριστικό προϊόντος (κανόνες λέξεων-κλειδιών)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7548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δομημένη κατηγοριοποίηση προϊόντων στο dataset, τα χαρακτηριστικά προκύπτουν από κανόνες λέξεων-κλειδιών επί ελεύθερου κειμένου.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38,9% των εσόδων μένει “uncategorised”. Δεν κρύβεται, δηλώνεται ανοιχτά ως το πραγματικό μέτρο ακρίβειας της μεθόδου.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ΕΞΟΡΥΞΗ ΣΥΧΝΩΝ ΥΠΟΣΥΝΟΛΩΝ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Καλάθια αγορών &amp; σύγκριση αλγορίθμων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basket_siz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493776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4937760" cy="292608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4256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Κατανομή μεγέθους καλαθιών (λογαριθμική κλίμακα)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0" y="168249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36.269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016752" y="2313432"/>
            <a:ext cx="22311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καλάθια ≥ 2 προϊόντων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58200" y="14630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458200" y="168249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1.108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531352" y="2313432"/>
            <a:ext cx="22311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διάμεσο / μέγιστο μέγεθος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0632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Σύγκριση Apriori και FP-Growth στο κατώφλι υποστήριξης 0,02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3383280"/>
          <a:ext cx="4983480" cy="914400"/>
        </p:xfrm>
        <a:graphic>
          <a:graphicData uri="http://schemas.openxmlformats.org/drawingml/2006/table">
            <a:tbl>
              <a:tblPr/>
              <a:tblGrid>
                <a:gridCol w="1245870"/>
                <a:gridCol w="1245870"/>
                <a:gridCol w="1245870"/>
                <a:gridCol w="124587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Αλγόριθμος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Χρόνος 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Σύνολα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Κανόνες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Apriori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FP-Growth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5943600" y="4480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αποτελέσματα βγαίνουν ταυτόσημα, διαφέρουν μόνο στον χρόνο εκτέλεσης: ο FP-Growth είναι περίπου 2,6 φορές ταχύτερος.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ΕΞΟΡΥΞΗ ΣΥΧΝΩΝ ΥΠΟΣΥΝΟΛΩΝ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Ευαισθησία κατωφλίου &amp; κανόνες συσχέτισης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support_sensi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029200" cy="2788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029200" cy="278892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2885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Πλήθος συνόλων/κανόνων ανά κατώφλι υποστήριξης</a:t>
            </a:r>
            <a:endParaRPr lang="en-US" sz="1050" dirty="0"/>
          </a:p>
        </p:txBody>
      </p:sp>
      <p:pic>
        <p:nvPicPr>
          <p:cNvPr id="7" name="Image 1" descr="/tmp/claude-0/-home-user-ensights/57acd941-a2c9-5cfa-90b7-9e5814c7c436/scratchpad/figures/association_rul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97880" y="1463040"/>
            <a:ext cx="5029200" cy="2788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97880" y="1463040"/>
            <a:ext cx="5029200" cy="278892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97880" y="42885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κανόνες: υποστήριξη vs. εμπιστοσύνη, χρωματισμένοι κατά άρση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470916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7240" y="4864608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ισχυρότερος κανόνας αφορά τις χρωματικές παραλλαγές του REGENCY TEACUP AND SAUCER, με άρση περίπου 25,2, δηλαδή 25 φορές πάνω από ό,τι θα περίμενε κανείς αν τα προϊόντα ήταν ανεξάρτητα.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 μεταφράζεται εύκολα σε δράση: αξίζει οι παραλλαγές να προωθηθούν μαζί, ως συλλογή.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ΣΥΣΤΑΔΟΠΟΙΗΣΗ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Πρώτο επίπεδο: Περιοχή και Χρόνος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silhouette_level_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3949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394960" cy="320040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70001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Δείκτης περιγράμματος ανά υποψήφιο k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2 επιλέγεται με δείκτη 0,8793</a:t>
            </a:r>
            <a:endParaRPr lang="en-US" sz="14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74520"/>
          <a:ext cx="5029200" cy="9144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Συστάδα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Μέλη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Μ.ό. εσόδων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Ενεργοί μήνες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Εξαγωγές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UK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16.679.730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355080" y="32461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Ηνωμένο Βασίλειο βγαίνει μόνο του σε ξεχωριστή συστάδα, και όχι μόνο λόγω μεγέθους: έχει δραστηριότητα σε όλους τους 25 μήνες, ενώ οι αγορές εξαγωγής κατά μέσο όρο μόλις σε 12,8.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ΣΥΣΤΑΔΟΠΟΙΗΣΗ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Δεύτερο επίπεδο: Υποσυστάδες RFM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rfm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3949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394960" cy="320040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70001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Υποσυστάδες RFM εντός της συστάδας εξαγωγών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Υποσυστάδα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Πελάτες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Συχνότ.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Χρημ. αξία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[1.1] τακτικοί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[1.2] whales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220,7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365.705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[2.1] τακτικοί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[2.2] whales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355080" y="30632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Ίδια δομή και στις δύο αγορές: πολυπληθής ομάδα περιστασιακών αγοραστών + μικρή ομάδα λογαριασμών τάξεις μεγέθους υψηλότερης συχνότητας/αξίας.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Επιβεβαιώνει με νούμερα αυτό που είδαμε στην Ιρλανδία: υπάρχει χονδρικός πυρήνας και λιανική ουρά, ανεξάρτητα από τη γεωγραφική αγορά.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ΠΡΟΒΛΕΨΗ: HOLT-WINTERS ΕΚΘΕΤΙΚΗ ΕΞΟΜΑΛΥΝΣΗ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Πρόβλεψη πωλήσεων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revenue_foreca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11094415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11094415" cy="228600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703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Καθαρή αξία πωλήσεων ανά μήνα και πρόβλεψη τριμήνου. Ο ημιτελής Δεκέμβριος του 2011 εξαιρείται από την προσαρμογή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6035040" cy="914400"/>
        </p:xfrm>
        <a:graphic>
          <a:graphicData uri="http://schemas.openxmlformats.org/drawingml/2006/table">
            <a:tbl>
              <a:tblPr/>
              <a:tblGrid>
                <a:gridCol w="1207008"/>
                <a:gridCol w="1207008"/>
                <a:gridCol w="1207008"/>
                <a:gridCol w="1207008"/>
                <a:gridCol w="120700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Μέθοδος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Αφελής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466.648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502.808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400.355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439.920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+0,1421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0" y="4160520"/>
            <a:ext cx="4800600" cy="18288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040880" y="4279392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Αρχικό skill score επί 25 μηνών: −0,21 (χειρότερο από αφελή πρόβλεψη).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λόγος: ο τελευταίος μήνας έχει μόνο 9 ημέρες, αφού το dataset σταματά στις 9/12/2011. Δεν είναι πτώση, είναι αποκοπή.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Μετά τον αποκλεισμό της ημιτελούς περιόδου: +0,1421.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ΟΙΚΟΝΟΜΙΚΟΙ ΔΕΙΚΤΕΣ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Λογιστική ανάπτυξης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growth_accoun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1060704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10607040" cy="224028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6758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Αποσύνθεση μεταβολής εσόδων σε 6 ροές: νέα, αναβιωμένα, διατηρημένα, επέκταση, συρρίκνωση, απώλεια</a:t>
            </a:r>
            <a:endParaRPr lang="en-US" sz="1050" dirty="0"/>
          </a:p>
        </p:txBody>
      </p:sp>
      <p:pic>
        <p:nvPicPr>
          <p:cNvPr id="7" name="Image 1" descr="/tmp/claude-0/-home-user-ensights/57acd941-a2c9-5cfa-90b7-9e5814c7c436/scratchpad/figures/quick_rati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08960" y="4069080"/>
            <a:ext cx="5486400" cy="1691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108960" y="4069080"/>
            <a:ext cx="5486400" cy="169164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108960" y="57790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Ταχύς λόγος ανά μήνα. Τιμή κάτω από τη μονάδα σημαίνει ότι τα έσοδα συρρικνώνονται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ΟΙΚΟΝΟΜΙΚΟΙ ΔΕΙΚΤΕΣ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Επαναληπτικότητα &amp; συγκέντρωση εσόδων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98955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72,4%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45766"/>
            <a:ext cx="3191256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Επαναληπτικοί πελάτες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69080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069080" y="1698955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142232" y="2245766"/>
            <a:ext cx="3191256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Παραγγελίες / πελάτη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0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589520" y="1698955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493,63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662672" y="2245766"/>
            <a:ext cx="3191256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Μέση αξία παραγγελίας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Συγκέντρωση εσόδων στους πελάτες</a:t>
            </a:r>
            <a:endParaRPr lang="en-US" sz="14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Μέγεθος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Τιμή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Συντελεστής Gini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Μερίδιο top 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Μερίδιο top 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Μερίδιο top 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Μεγαλύτερος πελάτης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537960" y="333756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766560" y="352044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κορυφαίο 20% των πελατών παράγει το 77% των εσόδων, μια πολύ έντονη ασυμμετρία.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μεγαλύτερος μεμονωμένος πελάτης αντιστοιχεί μόλις στο 3,3%.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Υψηλή συγκέντρωση + απουσία εξάρτησης από 1 πελάτη = υγιής χονδρική δομή, όχι εύθραυστη.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ΟΙΚΟΝΟΜΙΚΟΙ ΔΕΙΚΤΕΣ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Ανάλυση κερδοφορίας βάσει σεναρίων</a:t>
            </a:r>
            <a:endParaRPr lang="en-US" sz="3000" dirty="0"/>
          </a:p>
        </p:txBody>
      </p:sp>
      <p:pic>
        <p:nvPicPr>
          <p:cNvPr id="4" name="Image 0" descr="/tmp/claude-0/-home-user-ensights/57acd941-a2c9-5cfa-90b7-9e5814c7c436/scratchpad/figures/profitability_sensi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12064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120640" cy="288036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3799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για κάθε συνδυασμό παραδοχών (πλήρες πλέγμα στο Παράρτημα)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463040"/>
          <a:ext cx="5212080" cy="91440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Περιθώριο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LTV:CAC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3:1;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035040" y="32461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BF1E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217920" y="3337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 16 κελιά του πλέγματος, τα 8 περνάνε το όριο 3:1 και τα άλλα 8 όχι. Τα ίδια ακριβώς δεδομένα οδηγούν σε αντίθετα συμπεράσματα, ανάλογα μόνο με το ποιο περιθώριο κέρδους υποθέσουμε.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υπάρχει κόστος πωληθέντων ούτε δαπάνες marketing στο dataset ⇒ κάθε απόκριση φέρει ρητή δήλωση “Scenario output, not a measurement”.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14600"/>
            <a:ext cx="914400" cy="914400"/>
          </a:xfrm>
          <a:prstGeom prst="ellipse">
            <a:avLst/>
          </a:prstGeom>
          <a:solidFill>
            <a:srgbClr val="2A3573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ΤΕΤΑΡΤΗ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999232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Σύστημα στην Πράξη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Πραγματικές αποκρίσεις πάνω στο πλήρες σύνολο δεδομένων, από το API και το Metabase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 · Διπλωματική εργασία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Πραγματικές αποκρίσεις JSON (I)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ανάλυση εκτίθεται ως JSON, με τους ίδιους αριθμούς που βλέπουμε στο Metabase και στη διατριβή.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4114800"/>
          </a:xfrm>
          <a:prstGeom prst="roundRect">
            <a:avLst>
              <a:gd name="adj" fmla="val 1333"/>
            </a:avLst>
          </a:prstGeom>
          <a:solidFill>
            <a:srgbClr val="141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/api/v1/forecasting/revenue?horizon=3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94560"/>
            <a:ext cx="492861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"method": "exponential_smoothing",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"horizon": 3,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"history_length": 25,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"forecast": [587222.83, 502905.56,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671261.41],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"metrics": {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"mean_absolute_error": 419623.67,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"mean_absolute_percentage_error": 51.12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"baseline_metrics": {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"mean_absolute_error": 346864.32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"skill_score": -0.21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212080" cy="4114800"/>
          </a:xfrm>
          <a:prstGeom prst="roundRect">
            <a:avLst>
              <a:gd name="adj" fmla="val 1333"/>
            </a:avLst>
          </a:prstGeom>
          <a:solidFill>
            <a:srgbClr val="141A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45352" y="18745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/api/v1/growth-accounting/monthly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45352" y="2194560"/>
            <a:ext cx="48828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"period": "2010-01-01T00:00:00",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"revenue": 524504.67,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"new": 156527.47,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"retained": 265475.35,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"expansion": 102501.85,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"contraction": 130293.16,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"churned": 270131.82,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"gross_retention_rate": 0.399,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"quick_ratio": 0.647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Πραγματικές αποκρίσεις JSON (II)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141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4592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/api/v1/segmentation/regions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65960"/>
            <a:ext cx="4928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"chosen_k": 2, "silhouette": 0.8793,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"scores": {"2": 0.8793, "3": 0.7206,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"4": 0.6691, "5": 0.6347,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"6": 0.6264},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"clusters": [{"label": "1", "level": 1,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"size": 42,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"members": ["Australia", "..."]}]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141A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452628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4846320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Ο δείκτης περιγράμματος για κάθε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υποψήφιο k επιστρέφεται πάντα, ώστε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το chosen_k να ελέγχεται και όχι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να απλώς πιστεύεται.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41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45352" y="16459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/api/v1/profitability/unit-economics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1965960"/>
            <a:ext cx="48828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"average_customer_revenue": 2895.0,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"lifetime_value": 1447.5,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"assumptions": {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"gross_margin": 0.5,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"customer_acquisition_cost": 0.0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"disclaimer": "Scenario output,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a measurement. The source data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contains no cost of goods and no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marketing spend, so these figures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follow from the stated assumptions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hold only insofar as those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assumptions do."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D7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49834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BF1E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δήλωση “σενάριο, όχι μέτρηση” βρίσκεται μέσα στο ίδιο το αντικείμενο JSON, ώστε να μην μπορεί ποτέ να αφαιρεθεί κατά λάθος.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Πίνακες ελέγχου: το dashboard πωλήσεων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1417320"/>
            <a:ext cx="8686800" cy="4892040"/>
          </a:xfrm>
          <a:prstGeom prst="rect">
            <a:avLst/>
          </a:prstGeom>
          <a:ln/>
          <a:effectLst>
            <a:outerShdw sx="100000" sy="100000" kx="0" ky="0" algn="bl" rotWithShape="0" blurRad="177800" dist="50800" dir="5400000">
              <a:srgbClr val="1E2761">
                <a:alpha val="25000"/>
              </a:srgbClr>
            </a:outerShdw>
          </a:effectLst>
        </p:spPr>
      </p:sp>
      <p:pic>
        <p:nvPicPr>
          <p:cNvPr id="5" name="Image 0" descr="/home/user/ensights/documents/screenshots/metabase-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7360" y="1417320"/>
            <a:ext cx="868680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37360" y="1417320"/>
            <a:ext cx="8686800" cy="489204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κάρτες SQL σε 3 dashboards, ίδιοι αριθμοί με το API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&amp;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Κανόνες συσχέτισης &amp; Swagger UI</a:t>
            </a:r>
            <a:endParaRPr lang="en-US" sz="3000" dirty="0"/>
          </a:p>
        </p:txBody>
      </p:sp>
      <p:pic>
        <p:nvPicPr>
          <p:cNvPr id="4" name="Image 0" descr="/home/user/ensights/documents/screenshots/metabase-association-rul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2578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257800" cy="356616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166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Metabase: η κάρτα Association Rules</a:t>
            </a:r>
            <a:endParaRPr lang="en-US" sz="1050" dirty="0"/>
          </a:p>
        </p:txBody>
      </p:sp>
      <p:pic>
        <p:nvPicPr>
          <p:cNvPr id="7" name="Image 1" descr="/home/user/ensights/documents/screenshots/swagger-tr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554480"/>
            <a:ext cx="5257800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26480" y="1554480"/>
            <a:ext cx="5257800" cy="3566160"/>
          </a:xfrm>
          <a:prstGeom prst="rect">
            <a:avLst/>
          </a:prstGeom>
          <a:ln w="12700">
            <a:solidFill>
              <a:srgbClr val="D8DE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0" y="5166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Swagger UI στο /try, με “Try it out” σε κάθε endpoint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14600"/>
            <a:ext cx="914400" cy="914400"/>
          </a:xfrm>
          <a:prstGeom prst="ellipse">
            <a:avLst/>
          </a:prstGeom>
          <a:solidFill>
            <a:srgbClr val="2A3573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ΠΕΜΠΤΗ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999232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Συμπεράσματα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απαντήθηκε, τι αξιοποιείται, και πού σταματά τίμια η ανάλυση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 · Διπλωματική εργασία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ΣΥΜΠΕΡΑΣΜΑΤΑ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Σύνοψη ευρημάτων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Απαντήθηκαν και τα επτά ερωτήματα της επιχείρησης, εφαρμόστηκαν τρεις οικογένειες τεχνικών εξόρυξης δεδομένων &amp; μηχανικής μάθησης.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περιγραφικό σκέλος, οι κατηγοριοποιήσεις ανά εύρος τιμής και ανά χαρακτηριστικό διαμερίζουν πλήρως τα έσοδα, χωρίς διπλομέτρηση ή απώλεια, κάτι που ελέγχεται και αυτόματα.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Επαληθεύτηκε πειραματικά ότι ο Apriori και ο FP-Growth δίνουν ταυτόσημα αποτελέσματα, οπότε η επιλογή ανάμεσά τους είναι θέμα μόνο χρόνου εκτέλεσης.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εμφωλευμένη συσταδοποίηση επιλέγει το πλήθος συστάδων σε κάθε επίπεδο μέσω δείκτη περιγράμματος, αντί να το ορίζει εκ των προτέρων.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πρόβλεψη συνοδεύεται από μια αφελή βασική γραμμή και έναν δείκτη δεξιότητας, ώστε μια τετριμμένη πρόβλεψη να μη μπορεί να παρουσιαστεί ως επιτυχία.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λογιστική ανάπτυξης είναι το πιο ισχυρό μετρήσιμο τεκμήριο για την υγεία μιας επιχείρησης, χωρίς καμία παραδοχή στη μέση.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ΣΥΜΠΕΡΑΣΜΑΤΑ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Πρακτική αξιοποίηση από την επιχείρηση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Αποφάσεις Marketing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Κανόνες συσχέτισης με άρση &gt; 1 υποδεικνύουν προϊόντα που αξίζει να προωθηθούν από κοινού.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συστάδες πελατών επιτρέπουν διαφοροποιημένη επικοινωνία ανά ομάδα συμπεριφοράς.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ανάλυση συγκέντρωσης δείχνει εξάρτηση από λίγους μεγάλους πελάτες, έναν κίνδυνο που δεν φαίνεται αν κοιτάξει κανείς μόνο τον ρυθμό ανάπτυξης.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Αποφάσεις Πωλήσεων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402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χρονική κατανομή και η πρόβλεψη υποστηρίζουν τον προγραμματισμό αποθέματος.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ανάλυση επιστροφών εντοπίζει προϊόντα των οποίων το πραγματικό περιθώριο υπονομεύεται από το ποσοστό επιστροφών.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πλέγμα ευαισθησίας κερδοφορίας δείχνει ποιες παραδοχές αλλάζουν το συμπέρασμα, χρήσιμο ακόμη κι όταν η κερδοφορία δεν μετριέται απευθείας.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ΣΥΜΠΕΡΑΣΜΑΤΑ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Περιορισμοί, δηλωμένοι ανοιχτά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28016" cy="640080"/>
          </a:xfrm>
          <a:prstGeom prst="roundRect">
            <a:avLst>
              <a:gd name="adj" fmla="val 21429"/>
            </a:avLst>
          </a:prstGeom>
          <a:solidFill>
            <a:srgbClr val="B23A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774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E2761"/>
                </a:solidFill>
              </a:rPr>
              <a:t>Απουσία στοιχείων κόστους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Χωρίς κόστος πωληθέντων/marketing, η κερδοφορία απαντάται μόνο ως σενάριο, ποτέ ως μέτρηση.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128016" cy="640080"/>
          </a:xfrm>
          <a:prstGeom prst="roundRect">
            <a:avLst>
              <a:gd name="adj" fmla="val 21429"/>
            </a:avLst>
          </a:prstGeom>
          <a:solidFill>
            <a:srgbClr val="B23A4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04872"/>
            <a:ext cx="10774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E2761"/>
                </a:solidFill>
              </a:rPr>
              <a:t>Απουσία δομημένης κατηγοριοποίησης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Χαρακτηριστικά από λέξεις-κλειδιά· 38,9% των εσόδων uncategorised, δηλωμένο ρητά.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28016" cy="640080"/>
          </a:xfrm>
          <a:prstGeom prst="roundRect">
            <a:avLst>
              <a:gd name="adj" fmla="val 21429"/>
            </a:avLst>
          </a:prstGeom>
          <a:solidFill>
            <a:srgbClr val="B23A4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300984"/>
            <a:ext cx="10774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E2761"/>
                </a:solidFill>
              </a:rPr>
              <a:t>Γεωγραφία σε επίπεδο χώρας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Η συσταδοποίηση 1ου επιπέδου περιορίζεται στην ανάλυση που παρέχει η πηγή.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242816"/>
            <a:ext cx="128016" cy="640080"/>
          </a:xfrm>
          <a:prstGeom prst="roundRect">
            <a:avLst>
              <a:gd name="adj" fmla="val 21429"/>
            </a:avLst>
          </a:prstGeom>
          <a:solidFill>
            <a:srgbClr val="B23A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197096"/>
            <a:ext cx="10774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E2761"/>
                </a:solidFill>
              </a:rPr>
              <a:t>Ανώνυμες πωλήσεις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Διατηρούνται σε προϊόν/περιοχή/χρόνο, εξαιρούνται από αναλύσεις σε επίπεδο πελάτη.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138928"/>
            <a:ext cx="128016" cy="640080"/>
          </a:xfrm>
          <a:prstGeom prst="roundRect">
            <a:avLst>
              <a:gd name="adj" fmla="val 21429"/>
            </a:avLst>
          </a:prstGeom>
          <a:solidFill>
            <a:srgbClr val="B23A4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093208"/>
            <a:ext cx="10774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E2761"/>
                </a:solidFill>
              </a:rPr>
              <a:t>Ένα σύνολο δεδομένων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Τα ευρήματα προέρχονται από μία μόνο επιχείρηση, μίας κατηγορίας, οπότε το πόσο γενικεύονται παραμένει ανοιχτό ερώτημα.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ΣΥΜΠΕΡΑΣΜΑΤΑ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Μελλοντικές επεκτάσεις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Δεύτερο πραγματικό κατάστημα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0263B"/>
                </a:solidFill>
              </a:rPr>
              <a:t>Η προσάρτηση είναι πλέον παραμετροποίηση· εκκρεμεί η σύγκριση ευρημάτων μεταξύ δύο καταστημάτων.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6459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Προβλεπτική αξία διάρκειας ζωής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0263B"/>
                </a:solidFill>
              </a:rPr>
              <a:t>Τα μοντέλα BG/NBD και Gamma-Gamma πάνω στα ίδια τρία μεγέθη RFM θα μετέτρεπαν την παρατηρούμενη αξία σε πρόβλεψη.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2004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Γεωγραφική ιεραρχία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0263B"/>
                </a:solidFill>
              </a:rPr>
              <a:t>Επίπεδα κάτω από τη χώρα, χωρίς αλλαγή στον αναλυτικό κώδικα.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30632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32004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Χρονική εξέλιξη κανόνων συσχέτισης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0263B"/>
                </a:solidFill>
              </a:rPr>
              <a:t>Συγκρίνοντας διαδοχικές εκτελέσεις mining θα φαινόταν ποιες συσχετίσεις εμφανίζονται ή εξασθενούν με τον καιρό.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5488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8A33D"/>
                </a:solidFill>
              </a:rPr>
              <a:t>Ενσωμάτωση στοιχείων κόστους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Τα σενάρια κερδοφορίας γίνονται μετρήσεις· η αρχιτεκτονική το επιτρέπει χωρίς αλλαγή δομής.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232D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Επίλογος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Να απαντηθεί ό,τι ζήτησε η επιχείρηση,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και να μην απαντηθεί ό,τι τα δεδομένα δεν επιτρέπουν.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Ευχαριστώ για την προσοχή σας.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Ερωτήσεις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ENSIGHTS · Χρήστος Μουρτογιάννης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2026-08-26T13:26:58Z</dcterms:created>
  <dcterms:modified xsi:type="dcterms:W3CDTF">2026-08-26T13:26:58Z</dcterms:modified>
</cp:coreProperties>
</file>