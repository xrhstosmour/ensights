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2103120"/>
            <a:ext cx="6400800" cy="6400800"/>
          </a:xfrm>
          <a:prstGeom prst="ellipse">
            <a:avLst/>
          </a:prstGeom>
          <a:solidFill>
            <a:srgbClr val="1B3A1E"/>
          </a:solidFill>
          <a:ln/>
        </p:spPr>
      </p:sp>
      <p:sp>
        <p:nvSpPr>
          <p:cNvPr id="3" name="Shape 1"/>
          <p:cNvSpPr/>
          <p:nvPr/>
        </p:nvSpPr>
        <p:spPr>
          <a:xfrm>
            <a:off x="-2011680" y="4389120"/>
            <a:ext cx="4114800" cy="4114800"/>
          </a:xfrm>
          <a:prstGeom prst="ellipse">
            <a:avLst/>
          </a:prstGeom>
          <a:solidFill>
            <a:srgbClr val="27492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777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ΔΙΠΛΩΜΑΤΙΚΗ ΕΡΓΑΣΙΑ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Εξαγωγή Ευφυών Αναλύσεων από Δεδομένα Ηλεκτρονικού Εμπορίου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803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7E5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Ensights: Extraction of Intelligent Analytics from E-Commerce Data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3520440"/>
            <a:ext cx="2011680" cy="0"/>
          </a:xfrm>
          <a:prstGeom prst="line">
            <a:avLst/>
          </a:prstGeom>
          <a:noFill/>
          <a:ln w="12700">
            <a:solidFill>
              <a:srgbClr val="4A73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70332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Χρήστος Μουρτογιάννης</a:t>
            </a:r>
            <a:endParaRPr lang="en-US" sz="17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D7E5D2"/>
                </a:solidFill>
              </a:rPr>
              <a:t>Διατμηματικό ΠΡΜΣ «Διοίκηση και Οικονομική Τηλεπικοινωνιακών Δικτύων και Πληροφοριακών Συστημάτων»</a:t>
            </a:r>
            <a:endParaRPr lang="en-US" sz="1700" dirty="0"/>
          </a:p>
          <a:p>
            <a:pPr indent="0" marL="0">
              <a:buNone/>
            </a:pPr>
            <a:r>
              <a:rPr lang="en-US" sz="1250" dirty="0">
                <a:solidFill>
                  <a:srgbClr val="D7E5D2"/>
                </a:solidFill>
              </a:rPr>
              <a:t>Εθνικό και Καποδιστριακό Πανεπιστήμιο Αθηνών, Τμήμα Πληροφορικής και Τηλεπικοινωνιών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360920" y="37033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Τριμελής Εξεταστική Επιτροπή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60920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7E5D2"/>
                </a:solidFill>
              </a:rPr>
              <a:t>Επιβλέπων: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Ευστάθιος Χατζηευθυμιάδης, Καθηγητής, ΕΚΠΑ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360920" y="4407408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7E5D2"/>
                </a:solidFill>
              </a:rPr>
              <a:t>Εξεταστής: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Κωνσταντίνος Κολομβάτσος, Παν. Θεσσαλίας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360920" y="4791456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7E5D2"/>
                </a:solidFill>
              </a:rPr>
              <a:t>Εξεταστής: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Μιλτιάδης Κυριακάκος, ΕΔΙΠ, ΕΚΠΑ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263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E5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Αθήνα, Οκτώβριος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ΠΕΡΙΕΧΟΜΕΝΑ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Δομή παρουσίασης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02920" cy="502920"/>
          </a:xfrm>
          <a:prstGeom prst="ellipse">
            <a:avLst/>
          </a:prstGeom>
          <a:solidFill>
            <a:srgbClr val="2C553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41732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50" b="1" dirty="0">
                <a:solidFill>
                  <a:srgbClr val="2C5530"/>
                </a:solidFill>
              </a:rPr>
              <a:t>Κίνητρο &amp; Στόχοι</a:t>
            </a:r>
            <a:endParaRPr lang="en-US" sz="1450" dirty="0"/>
          </a:p>
          <a:p>
            <a:pPr indent="0" marL="0">
              <a:buNone/>
            </a:pPr>
            <a:r>
              <a:rPr lang="en-US" sz="1150" dirty="0">
                <a:solidFill>
                  <a:srgbClr val="6B6259"/>
                </a:solidFill>
              </a:rPr>
              <a:t>Το κενό δεδομένων–αποφάσεων και τα επτά ερωτήματα της επιχείρησης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48640" y="2240280"/>
            <a:ext cx="502920" cy="502920"/>
          </a:xfrm>
          <a:prstGeom prst="ellipse">
            <a:avLst/>
          </a:prstGeom>
          <a:solidFill>
            <a:srgbClr val="2C553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19456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50" b="1" dirty="0">
                <a:solidFill>
                  <a:srgbClr val="2C5530"/>
                </a:solidFill>
              </a:rPr>
              <a:t>Θεωρητικό Υπόβαθρο</a:t>
            </a:r>
            <a:endParaRPr lang="en-US" sz="1450" dirty="0"/>
          </a:p>
          <a:p>
            <a:pPr indent="0" marL="0">
              <a:buNone/>
            </a:pPr>
            <a:r>
              <a:rPr lang="en-US" sz="1150" dirty="0">
                <a:solidFill>
                  <a:srgbClr val="6B6259"/>
                </a:solidFill>
              </a:rPr>
              <a:t>Frequent itemset mining, clustering, RFM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3017520"/>
            <a:ext cx="502920" cy="502920"/>
          </a:xfrm>
          <a:prstGeom prst="ellipse">
            <a:avLst/>
          </a:prstGeom>
          <a:solidFill>
            <a:srgbClr val="2C553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297180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50" b="1" dirty="0">
                <a:solidFill>
                  <a:srgbClr val="2C5530"/>
                </a:solidFill>
              </a:rPr>
              <a:t>Αρχιτεκτονική &amp; Δεδομένα</a:t>
            </a:r>
            <a:endParaRPr lang="en-US" sz="1450" dirty="0"/>
          </a:p>
          <a:p>
            <a:pPr indent="0" marL="0">
              <a:buNone/>
            </a:pPr>
            <a:r>
              <a:rPr lang="en-US" sz="1150" dirty="0">
                <a:solidFill>
                  <a:srgbClr val="6B6259"/>
                </a:solidFill>
              </a:rPr>
              <a:t>Το σύνολο Online Retail II και η γενικότητα του συστήματος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502920" cy="502920"/>
          </a:xfrm>
          <a:prstGeom prst="ellipse">
            <a:avLst/>
          </a:prstGeom>
          <a:solidFill>
            <a:srgbClr val="2C553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74904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50" b="1" dirty="0">
                <a:solidFill>
                  <a:srgbClr val="2C5530"/>
                </a:solidFill>
              </a:rPr>
              <a:t>Αποτελέσματα ανά τεχνική</a:t>
            </a:r>
            <a:endParaRPr lang="en-US" sz="1450" dirty="0"/>
          </a:p>
          <a:p>
            <a:pPr indent="0" marL="0">
              <a:buNone/>
            </a:pPr>
            <a:r>
              <a:rPr lang="en-US" sz="1150" dirty="0">
                <a:solidFill>
                  <a:srgbClr val="6B6259"/>
                </a:solidFill>
              </a:rPr>
              <a:t>Περιγραφική ανάλυση, itemsets, clustering, πρόβλεψη, οικονομικά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48640" y="4572000"/>
            <a:ext cx="502920" cy="502920"/>
          </a:xfrm>
          <a:prstGeom prst="ellipse">
            <a:avLst/>
          </a:prstGeom>
          <a:solidFill>
            <a:srgbClr val="2C553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52628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50" b="1" dirty="0">
                <a:solidFill>
                  <a:srgbClr val="2C5530"/>
                </a:solidFill>
              </a:rPr>
              <a:t>Το Σύστημα στην Πράξη</a:t>
            </a:r>
            <a:endParaRPr lang="en-US" sz="1450" dirty="0"/>
          </a:p>
          <a:p>
            <a:pPr indent="0" marL="0">
              <a:buNone/>
            </a:pPr>
            <a:r>
              <a:rPr lang="en-US" sz="1150" dirty="0">
                <a:solidFill>
                  <a:srgbClr val="6B6259"/>
                </a:solidFill>
              </a:rPr>
              <a:t>API αποκρίσεις και πίνακες ελέγχου Metabase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48640" y="5349240"/>
            <a:ext cx="502920" cy="502920"/>
          </a:xfrm>
          <a:prstGeom prst="ellipse">
            <a:avLst/>
          </a:prstGeom>
          <a:solidFill>
            <a:srgbClr val="2C553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349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530352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50" b="1" dirty="0">
                <a:solidFill>
                  <a:srgbClr val="2C5530"/>
                </a:solidFill>
              </a:rPr>
              <a:t>Συμπεράσματα</a:t>
            </a:r>
            <a:endParaRPr lang="en-US" sz="1450" dirty="0"/>
          </a:p>
          <a:p>
            <a:pPr indent="0" marL="0">
              <a:buNone/>
            </a:pPr>
            <a:r>
              <a:rPr lang="en-US" sz="1150" dirty="0">
                <a:solidFill>
                  <a:srgbClr val="6B6259"/>
                </a:solidFill>
              </a:rPr>
              <a:t>Ευρήματα, πρακτική αξία, περιορισμοί, επεκτάσεις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C5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463040"/>
            <a:ext cx="4754880" cy="4754880"/>
          </a:xfrm>
          <a:prstGeom prst="ellipse">
            <a:avLst/>
          </a:prstGeom>
          <a:solidFill>
            <a:srgbClr val="1B3A1E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2514600"/>
            <a:ext cx="914400" cy="914400"/>
          </a:xfrm>
          <a:prstGeom prst="ellipse">
            <a:avLst/>
          </a:prstGeom>
          <a:solidFill>
            <a:srgbClr val="3D6B42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737360" y="2697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ΕΝΟΤΗΤΑ ΠΡΩΤΗ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2999232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Κίνητρο &amp; Στόχοι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39776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E5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κενό ανάμεσα σε όσα καταγράφονται και όσα αποφασίζονται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 · Διπλωματική εργασία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ΚΙΝΗΤΡΟ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Το κενό δεδομένων – αποφάσεων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60350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1800"/>
              </a:spcAft>
              <a:buSzPct val="100000"/>
              <a:buChar char="•"/>
            </a:pPr>
            <a:r>
              <a:rPr lang="en-US" sz="15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Κάθε παραγγελία, γραμμή προϊόντος και επιστροφή καταγράφεται με ακρίβεια πρωτόγνωρη για το παραδοσιακό λιανεμπόριο.</a:t>
            </a:r>
            <a:endParaRPr lang="en-US" sz="1500" dirty="0"/>
          </a:p>
          <a:p>
            <a:pPr marL="177800" indent="-177800">
              <a:lnSpc>
                <a:spcPct val="108000"/>
              </a:lnSpc>
              <a:spcAft>
                <a:spcPts val="1800"/>
              </a:spcAft>
              <a:buSzPct val="100000"/>
              <a:buChar char="•"/>
            </a:pPr>
            <a:r>
              <a:rPr lang="en-US" sz="15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Στην πράξη τα δεδομένα μένουν συχνά αναξιοποίητα: οι αποφάσεις marketing και πωλήσεων παίρνονται με εμπειρία και διαίσθηση.</a:t>
            </a:r>
            <a:endParaRPr lang="en-US" sz="1500" dirty="0"/>
          </a:p>
          <a:p>
            <a:pPr marL="177800" indent="-177800">
              <a:lnSpc>
                <a:spcPct val="108000"/>
              </a:lnSpc>
              <a:spcAft>
                <a:spcPts val="1800"/>
              </a:spcAft>
              <a:buSzPct val="100000"/>
              <a:buChar char="•"/>
            </a:pPr>
            <a:r>
              <a:rPr lang="en-US" sz="1500" b="1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Αντικείμενο της εργασίας: εξαγωγή αξιοποιήσιμων αναλύσεων και προβλέψεων από δεδομένα αγοραπωλησιών, με τεχνικές εξόρυξης δεδομένων και μηχανικής μάθησης.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040880" y="1828800"/>
            <a:ext cx="4572000" cy="1051560"/>
          </a:xfrm>
          <a:prstGeom prst="roundRect">
            <a:avLst>
              <a:gd name="adj" fmla="val 6957"/>
            </a:avLst>
          </a:prstGeom>
          <a:solidFill>
            <a:srgbClr val="EEF3E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040880" y="18288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ΔΕΔΟΜΕΝΑ ΣΥΝΑΛΛΑΓΩΝ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040880" y="23317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πλήρες, ακριβές ιστορικό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549640" y="3063240"/>
            <a:ext cx="15544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9050">
            <a:solidFill>
              <a:srgbClr val="B0413E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8549640" y="30632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041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ΚΕΝΟ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549640" y="345643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B04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διαίσθηση, όχι ανάλυση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040880" y="4160520"/>
            <a:ext cx="4572000" cy="1051560"/>
          </a:xfrm>
          <a:prstGeom prst="roundRect">
            <a:avLst>
              <a:gd name="adj" fmla="val 6957"/>
            </a:avLst>
          </a:prstGeom>
          <a:solidFill>
            <a:srgbClr val="2C553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40880" y="41605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ΑΠΟΦΑΣΕΙΣ MARKETING &amp; ΠΩΛΗΣΕΩΝ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7040880" y="4663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D7E5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τι θα έπρεπε να στηρίζουν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ΣΤΟΧΟΙ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Επτά ερωτήματα από πραγματικές επιχειρήσεις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E8A3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508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87552" y="147218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Ποια προϊόντα έχουν τις μεγαλύτερες πωλήσεις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080760" y="150876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E8A3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080760" y="1508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19672" y="147218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Ποιοι πελάτες αγοράζουν περισσότερο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07568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E8A3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075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2039112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Ποιες περιοχές πουλάνε περισσότερο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80760" y="207568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E8A3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080760" y="2075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19672" y="2039112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Πότε συγκεντρώνονται οι πωλήσεις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264261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E8A3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26426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87552" y="26060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Ποια προϊόντα επιστρέφονται περισσότερο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080760" y="264261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E8A3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080760" y="26426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19672" y="26060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Πώς κατανέμονται οι πωλήσεις ανά εύρος τιμής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320954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E8A33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32095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317296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Πώς κατανέμονται οι πωλήσεις ανά χαρακτηριστικό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4160520"/>
            <a:ext cx="11094415" cy="1691640"/>
          </a:xfrm>
          <a:prstGeom prst="roundRect">
            <a:avLst>
              <a:gd name="adj" fmla="val 4324"/>
            </a:avLst>
          </a:prstGeom>
          <a:solidFill>
            <a:srgbClr val="EEF3E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77240" y="42976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Επέκταση πέρα από την αρχική εκφώνηση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4663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Οικονομικά μεγέθη που δείχνουν αν αξίζει να αξιοποιηθούν οι παραπάνω απαντήσεις: GMV, repeat rate, Growth Accounting, κερδοφορία.</a:t>
            </a:r>
            <a:endParaRPr lang="en-US" sz="1200" dirty="0"/>
          </a:p>
          <a:p>
            <a:pPr marL="177800" indent="-1778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Τρεις τεχνικές: frequent itemset mining, clustering σε δύο επίπεδα, πρόβλεψη χρονοσειρών.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ΑΡΧΕΣ ΣΧΕΔΙΑΣΗΣ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Δύο απαιτήσεις που περνάνε παντού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120640" cy="4480560"/>
          </a:xfrm>
          <a:prstGeom prst="roundRect">
            <a:avLst>
              <a:gd name="adj" fmla="val 2041"/>
            </a:avLst>
          </a:prstGeom>
          <a:solidFill>
            <a:srgbClr val="EEF3E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ΓΕΝΙΚΟΤΗΤΑ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86000"/>
            <a:ext cx="4572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σύστημα δεν σχεδιάστηκε για ένα κατάστημα, αλλά για οποιοδήποτε, με ελάχιστη παραμετροποίηση.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ανάλυση δεν διαβάζει ποτέ το σχήμα μιας συγκεκριμένης πηγής· κάθε πηγή αντιστοιχίζεται σε δημοσιευμένο συμβόλαιο δεδομένων.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Αποφεύγονται απόλυτα κατώφλια όπου δεν βγάζουν νόημα, π.χ. το Growth Accounting δουλεύει το ίδιο σε κατάστημα συνδρομών ή σε χονδρεμπόριο.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26480" y="1600200"/>
            <a:ext cx="5120640" cy="4480560"/>
          </a:xfrm>
          <a:prstGeom prst="roundRect">
            <a:avLst>
              <a:gd name="adj" fmla="val 2041"/>
            </a:avLst>
          </a:prstGeom>
          <a:solidFill>
            <a:srgbClr val="2C553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0" y="1828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ΕΙΛΙΚΡΙΝΕΙΑ ΤΩΝ ΑΠΟΤΕΛΕΣΜΑΤΩΝ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2286000"/>
            <a:ext cx="4572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Ρητή διάκριση μεταξύ όσων μετρώνται και όσων υποτίθενται.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dataset δεν περιέχει κόστος πωληθέντων ούτε δαπάνες marketing ⇒ η κερδοφορία δεν μπορεί να απαντηθεί ως μέτρηση.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κερδοφορία βγαίνει ως ανάλυση ευαισθησίας πάνω σε παραδοχές που δηλώνονται ανοιχτά, και η σήμανση “σενάριο, όχι μέτρηση” πάει μαζί με κάθε απάντηση.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C5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463040"/>
            <a:ext cx="4754880" cy="4754880"/>
          </a:xfrm>
          <a:prstGeom prst="ellipse">
            <a:avLst/>
          </a:prstGeom>
          <a:solidFill>
            <a:srgbClr val="1B3A1E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2514600"/>
            <a:ext cx="914400" cy="914400"/>
          </a:xfrm>
          <a:prstGeom prst="ellipse">
            <a:avLst/>
          </a:prstGeom>
          <a:solidFill>
            <a:srgbClr val="3D6B42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737360" y="2697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ΕΝΟΤΗΤΑ ΔΕΥΤΕΡΗ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2999232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Θεωρητικό Υπόβαθρο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39776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E5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Han, Kamber &amp; Pei, Data Mining: Concepts and Techniques, κεφ. 2, 3, 6, 10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 · Διπλωματική εργασία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ΘΕΩΡΙΑ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Frequent Itemset Mining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1094415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Support: σε τι ποσοστό των παραγγελιών εμφανίζεται ένα σύνολο προϊόντων X. support(X) = |{T ∈ D : X ⊆ T}| / |D|.</a:t>
            </a:r>
            <a:endParaRPr lang="en-US" sz="1400" dirty="0"/>
          </a:p>
          <a:p>
            <a:pPr marL="177800" indent="-177800">
              <a:lnSpc>
                <a:spcPct val="108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Confidence: η πιθανότητα να δούμε το Y αφού έχει ήδη μπει στο καλάθι το X. confidence(X⇒Y) = support(X∪Y) / support(X).</a:t>
            </a:r>
            <a:endParaRPr lang="en-US" sz="1400" dirty="0"/>
          </a:p>
          <a:p>
            <a:pPr marL="177800" indent="-177800">
              <a:lnSpc>
                <a:spcPct val="108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πιο σημαντικό μέτρο είναι το lift, γιατί διορθώνει το confidence ως προς το πόσο δημοφιλές είναι το Y από μόνο του. lift = confidence(X⇒Y) / support(Y).</a:t>
            </a:r>
            <a:endParaRPr lang="en-US" sz="1400" dirty="0"/>
          </a:p>
          <a:p>
            <a:pPr marL="177800" indent="-177800">
              <a:lnSpc>
                <a:spcPct val="10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πάνω από 1: τα προϊόντα αγοράζονται μαζί πιο συχνά απ' ό,τι θα περίμενε κανείς τυχαία. Ίσο με 1: καμία σχέση. Κάτω από 1: αρνητική σχέση.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3794760"/>
            <a:ext cx="5120640" cy="1600200"/>
          </a:xfrm>
          <a:prstGeom prst="roundRect">
            <a:avLst>
              <a:gd name="adj" fmla="val 4571"/>
            </a:avLst>
          </a:prstGeom>
          <a:solidFill>
            <a:srgbClr val="EEF3E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3959352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C5530"/>
                </a:solidFill>
              </a:rPr>
              <a:t>Apriori  </a:t>
            </a:r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6B6259"/>
                </a:solidFill>
              </a:rPr>
              <a:t>Agrawal &amp; Srikant, 1994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241F1B"/>
                </a:solidFill>
              </a:rPr>
              <a:t>Ανά επίπεδο, με το κλειστό-προς-τα-κάτω: κάθε υποσύνολο συχνού συνόλου είναι συχνό. Πολλαπλές διελεύσεις της βάσης.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126480" y="3794760"/>
            <a:ext cx="5120640" cy="1600200"/>
          </a:xfrm>
          <a:prstGeom prst="roundRect">
            <a:avLst>
              <a:gd name="adj" fmla="val 4571"/>
            </a:avLst>
          </a:prstGeom>
          <a:solidFill>
            <a:srgbClr val="EEF3E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355080" y="3959352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C5530"/>
                </a:solidFill>
              </a:rPr>
              <a:t>FP-Growth  </a:t>
            </a:r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6B6259"/>
                </a:solidFill>
              </a:rPr>
              <a:t>Han, Pei &amp; Yin, 2000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241F1B"/>
                </a:solidFill>
              </a:rPr>
              <a:t>Συμπιεσμένο δένδρο προθεμάτων, αναδρομική εξαγωγή, χωρίς παραγωγή υποψηφίων συνόλων.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5321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C5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Για το ίδιο support threshold τα δύο αλγόριθμοι βγάζουν ίδιο αποτέλεσμα, διαφέρουν μόνο στον χρόνο εκτέλεσης.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ΘΕΩΡΙΑ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Clustering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6492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 k-means (MacQueen, 1967) ψάχνει τα κέντρα των clusters που ελαχιστοποιούν το J = Σᵢ Σ_{x∈Cᵢ} ‖x − μᵢ‖², δηλαδή το άθροισμα των αποστάσεων κάθε σημείου από το κέντρο του.</a:t>
            </a:r>
            <a:endParaRPr lang="en-US" sz="14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Χρειάζεται συγκρίσιμες αποστάσεις μεταξύ των μεταβλητών, οπότε η τυποποίηση πριν το clustering δεν είναι βελτίωση, είναι προϋπόθεση για σωστό αποτέλεσμα.</a:t>
            </a:r>
            <a:endParaRPr lang="en-US" sz="14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b="1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silhouette score του Rousseeuw (1987), s(i) = (b(i) − a(i)) / max{a(i), b(i)} με τιμές στο [−1, 1], δείχνει πόσο καλά χωρίστηκαν τα clusters χωρίς να ξέρουμε την πραγματική ομαδοποίηση.</a:t>
            </a:r>
            <a:endParaRPr lang="en-US" sz="14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Χρησιμοποιείται εδώ για να επιλεγεί το πλήθος των clusters, το k, από τα ίδια τα δεδομένα, αντί να το βάλουμε εμείς εκ των προτέρων.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223760" y="1600200"/>
            <a:ext cx="4434840" cy="4160520"/>
          </a:xfrm>
          <a:prstGeom prst="roundRect">
            <a:avLst>
              <a:gd name="adj" fmla="val 2198"/>
            </a:avLst>
          </a:prstGeom>
          <a:solidFill>
            <a:srgbClr val="2C55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0" y="182880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Δύο επίπεδα, nested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498080" y="2286000"/>
            <a:ext cx="3886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1ο επίπεδο: clustering ως προς περιοχή και χρόνο.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2ο επίπεδο: μέσα σε κάθε cluster, νέο clustering με RFM χαρακτηριστικά.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Δέντρο από clusters, με δική του πληροφορία σε κάθε κλαδί.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498080" y="4160520"/>
            <a:ext cx="3886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D7E5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Ακολουθεί την κατεύθυνση της επίβλεψης: πρώτα clustering στις πιο σημαντικές παραμέτρους, μετά ξανά clustering μέσα σε κάθε cluster.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ΘΕΩΡΙΑ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RFM &amp; Οικονομικοί δείκτες e-commerce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109441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μοντέλο RFM περιγράφει έναν πελάτη με τρία μεγέθη: πόσο πρόσφατα αγόρασε (Recency), πόσο συχνά αγοράζει (Frequency) και πόσα ξοδεύει (Monetary). Απλό και άμεσα ερμηνεύσιμο.</a:t>
            </a:r>
            <a:endParaRPr lang="en-US" sz="140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Οι Chen, Sain και Guo (2012) το συνδύασαν με clustering πάνω στο ίδιο dataset, κάτι που έγινε η βάση για το clustering δεύτερου επιπέδου εδώ.</a:t>
            </a:r>
            <a:endParaRPr lang="en-US" sz="140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Προσοχή: η χρηματική αξία είναι όσα έχει ήδη ξοδέψει ο πελάτης μέχρι σήμερα, όχι πρόβλεψη της μελλοντικής του αξίας. Η σύγχυση των δύο είναι συχνή και οδηγεί σε υπερεκτίμηση.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5120640" cy="2148840"/>
          </a:xfrm>
          <a:prstGeom prst="roundRect">
            <a:avLst>
              <a:gd name="adj" fmla="val 3404"/>
            </a:avLst>
          </a:prstGeom>
          <a:solidFill>
            <a:srgbClr val="EEF3E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382219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8A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Μετρήσιμα απευθείας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206240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GMV, repeat purchase rate, retention ανά κοόρτη.</a:t>
            </a:r>
            <a:endParaRPr lang="en-US" sz="12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Accounting: 6 ροές εσόδων, δουλεύει σε κάθε επιχειρηματικό μοντέλο.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26480" y="3657600"/>
            <a:ext cx="5120640" cy="2148840"/>
          </a:xfrm>
          <a:prstGeom prst="roundRect">
            <a:avLst>
              <a:gd name="adj" fmla="val 3404"/>
            </a:avLst>
          </a:prstGeom>
          <a:solidFill>
            <a:srgbClr val="FBF1E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55080" y="382219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72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Απαιτούν παραδοχές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355080" y="4206240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CLV, το CAC και ο λόγος LTV:CAC χρειάζονται περιθώριο κέρδους και δαπάνες marketing.</a:t>
            </a:r>
            <a:endParaRPr lang="en-US" sz="12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Δεν περιέχονται στα δεδομένα συναλλαγών ⇒ υπολογίζονται μόνο ως ανάλυση ευαισθησίας.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C5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463040"/>
            <a:ext cx="4754880" cy="4754880"/>
          </a:xfrm>
          <a:prstGeom prst="ellipse">
            <a:avLst/>
          </a:prstGeom>
          <a:solidFill>
            <a:srgbClr val="1B3A1E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2514600"/>
            <a:ext cx="914400" cy="914400"/>
          </a:xfrm>
          <a:prstGeom prst="ellipse">
            <a:avLst/>
          </a:prstGeom>
          <a:solidFill>
            <a:srgbClr val="3D6B42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737360" y="2697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ΕΝΟΤΗΤΑ ΤΡΙΤΗ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2999232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Αρχιτεκτονική &amp; Δεδομένα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39776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E5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Ό,τι επιτρέπει στο ίδιο σύστημα να απαντά σε οποιοδήποτε κατάστημα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 · Διπλωματική εργασία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ΔΕΔΟΜΕΝΑ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Online Retail II (UCI)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Βρετανικό κατάστημα χονδρικής πώλησης ειδών δώρων, 2009–2011.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Είναι δημόσιο και αναπαραγώγιμο, το ίδιο dataset που χρησιμοποίησαν οι Chen, Sain και Guo (2012), και περιέχει ακυρωμένα παραστατικά, χωρίς τα οποία δεν θα απαντιόταν το ερώτημα των επιστροφών.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697480"/>
            <a:ext cx="1755648" cy="1234440"/>
          </a:xfrm>
          <a:prstGeom prst="roundRect">
            <a:avLst>
              <a:gd name="adj" fmla="val 5926"/>
            </a:avLst>
          </a:prstGeom>
          <a:solidFill>
            <a:srgbClr val="EEF3EC"/>
          </a:solidFill>
          <a:ln/>
          <a:effectLst>
            <a:outerShdw sx="100000" sy="100000" kx="0" ky="0" algn="bl" rotWithShape="0" blurRad="76200" dist="25400" dir="5400000">
              <a:srgbClr val="2C5530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548640" y="2894990"/>
            <a:ext cx="1755648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39.516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3462833"/>
            <a:ext cx="160934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Παραγγελίες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432304" y="2697480"/>
            <a:ext cx="1755648" cy="1234440"/>
          </a:xfrm>
          <a:prstGeom prst="roundRect">
            <a:avLst>
              <a:gd name="adj" fmla="val 5926"/>
            </a:avLst>
          </a:prstGeom>
          <a:solidFill>
            <a:srgbClr val="EEF3EC"/>
          </a:solidFill>
          <a:ln/>
          <a:effectLst>
            <a:outerShdw sx="100000" sy="100000" kx="0" ky="0" algn="bl" rotWithShape="0" blurRad="76200" dist="25400" dir="5400000">
              <a:srgbClr val="2C553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432304" y="2894990"/>
            <a:ext cx="1755648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1.002.423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505456" y="3462833"/>
            <a:ext cx="160934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Γραμμές παραγγελιών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15968" y="2697480"/>
            <a:ext cx="1755648" cy="1234440"/>
          </a:xfrm>
          <a:prstGeom prst="roundRect">
            <a:avLst>
              <a:gd name="adj" fmla="val 5926"/>
            </a:avLst>
          </a:prstGeom>
          <a:solidFill>
            <a:srgbClr val="EEF3EC"/>
          </a:solidFill>
          <a:ln/>
          <a:effectLst>
            <a:outerShdw sx="100000" sy="100000" kx="0" ky="0" algn="bl" rotWithShape="0" blurRad="76200" dist="25400" dir="5400000">
              <a:srgbClr val="2C553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315968" y="2894990"/>
            <a:ext cx="1755648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17.925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389120" y="3462833"/>
            <a:ext cx="160934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Επιστροφές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99632" y="2697480"/>
            <a:ext cx="1755648" cy="1234440"/>
          </a:xfrm>
          <a:prstGeom prst="roundRect">
            <a:avLst>
              <a:gd name="adj" fmla="val 5926"/>
            </a:avLst>
          </a:prstGeom>
          <a:solidFill>
            <a:srgbClr val="EEF3EC"/>
          </a:solidFill>
          <a:ln/>
          <a:effectLst>
            <a:outerShdw sx="100000" sy="100000" kx="0" ky="0" algn="bl" rotWithShape="0" blurRad="76200" dist="25400" dir="5400000">
              <a:srgbClr val="2C5530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199632" y="2894990"/>
            <a:ext cx="1755648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5.875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272784" y="3462833"/>
            <a:ext cx="160934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Πελάτες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083296" y="2697480"/>
            <a:ext cx="1755648" cy="1234440"/>
          </a:xfrm>
          <a:prstGeom prst="roundRect">
            <a:avLst>
              <a:gd name="adj" fmla="val 5926"/>
            </a:avLst>
          </a:prstGeom>
          <a:solidFill>
            <a:srgbClr val="EEF3EC"/>
          </a:solidFill>
          <a:ln/>
          <a:effectLst>
            <a:outerShdw sx="100000" sy="100000" kx="0" ky="0" algn="bl" rotWithShape="0" blurRad="76200" dist="25400" dir="5400000">
              <a:srgbClr val="2C5530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083296" y="2894990"/>
            <a:ext cx="1755648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4.900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156448" y="3462833"/>
            <a:ext cx="160934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Προϊόντα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966960" y="2697480"/>
            <a:ext cx="1755648" cy="1234440"/>
          </a:xfrm>
          <a:prstGeom prst="roundRect">
            <a:avLst>
              <a:gd name="adj" fmla="val 5926"/>
            </a:avLst>
          </a:prstGeom>
          <a:solidFill>
            <a:srgbClr val="EEF3EC"/>
          </a:solidFill>
          <a:ln/>
          <a:effectLst>
            <a:outerShdw sx="100000" sy="100000" kx="0" ky="0" algn="bl" rotWithShape="0" blurRad="76200" dist="25400" dir="5400000">
              <a:srgbClr val="2C5530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966960" y="2894990"/>
            <a:ext cx="1755648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10040112" y="3462833"/>
            <a:ext cx="160934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Περιοχές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2062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Εισαγωγή σε ~140 δευτερόλεπτα: κατασκευή αντικειμένων απευθείας + δεσμευμένες συγγραφές ανά παρτίδα (batch).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Αποκλεισμός μη εμπορικών κωδικών (χειροκίνητες προσαρμογές, ταχυδρομικά τέλη, δωροεπιταγές) μέσω ρητού καταλόγου: ~4% των εσόδων, αλλά ποιοτική αλλαγή στην κατάταξη προϊόντων.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ΥΛΟΠΟΙΗΣΗ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Αρχιτεκτονική συστήματος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109441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PostgreSQL + Celery, σε layers: API → services → repositories → models.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Οι αλγόριθμοι mining και machine learning ζουν σε δικό τους layer, χωρίς καμία εξάρτηση από τη βάση ή το framework. Ελέγχονται με δεδομένα υπολογίσιμα με το χέρι, και ο ίδιος κώδικας τρέχει κατευθείαν μέσα από τα Jupyter notebooks.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Αργές αναλύσεις, π.χ. frequent itemset mining σε όλο το ιστορικό, τρέχουν ασύγχρονα σε Celery workers.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907128" y="3703320"/>
            <a:ext cx="2377440" cy="640080"/>
          </a:xfrm>
          <a:prstGeom prst="roundRect">
            <a:avLst>
              <a:gd name="adj" fmla="val 11429"/>
            </a:avLst>
          </a:prstGeom>
          <a:solidFill>
            <a:srgbClr val="2C55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907128" y="37033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PostgreSQL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095848" y="4343400"/>
            <a:ext cx="0" cy="320040"/>
          </a:xfrm>
          <a:prstGeom prst="line">
            <a:avLst/>
          </a:prstGeom>
          <a:noFill/>
          <a:ln w="19050">
            <a:solidFill>
              <a:srgbClr val="D7E5D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3748" y="4663440"/>
            <a:ext cx="3246120" cy="1005840"/>
          </a:xfrm>
          <a:prstGeom prst="roundRect">
            <a:avLst>
              <a:gd name="adj" fmla="val 7273"/>
            </a:avLst>
          </a:prstGeom>
          <a:solidFill>
            <a:srgbClr val="EEF3E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3748" y="475488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 API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23748" y="51206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σε /api/v1/…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95848" y="4343400"/>
            <a:ext cx="0" cy="320040"/>
          </a:xfrm>
          <a:prstGeom prst="line">
            <a:avLst/>
          </a:prstGeom>
          <a:noFill/>
          <a:ln w="19050">
            <a:solidFill>
              <a:srgbClr val="D7E5D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72788" y="4663440"/>
            <a:ext cx="3246120" cy="1005840"/>
          </a:xfrm>
          <a:prstGeom prst="roundRect">
            <a:avLst>
              <a:gd name="adj" fmla="val 7273"/>
            </a:avLst>
          </a:prstGeom>
          <a:solidFill>
            <a:srgbClr val="EEF3E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472788" y="475488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Metabase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472788" y="51206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Dashboards, read-only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95848" y="4343400"/>
            <a:ext cx="0" cy="320040"/>
          </a:xfrm>
          <a:prstGeom prst="line">
            <a:avLst/>
          </a:prstGeom>
          <a:noFill/>
          <a:ln w="19050">
            <a:solidFill>
              <a:srgbClr val="D7E5D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1828" y="4663440"/>
            <a:ext cx="3246120" cy="1005840"/>
          </a:xfrm>
          <a:prstGeom prst="roundRect">
            <a:avLst>
              <a:gd name="adj" fmla="val 7273"/>
            </a:avLst>
          </a:prstGeom>
          <a:solidFill>
            <a:srgbClr val="EEF3E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1828" y="475488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Jupyter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1828" y="51206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Σχήματα διατριβής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8064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2C5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Και οι τρεις τροφοδοτούνται από τις ίδιες ακριβώς συναρτήσεις, οπότε μια κάρτα του Metabase και το αντίστοιχο endpoint δίνουν πάντα τον ίδιο αριθμό.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ΥΛΟΠΟΙΗΣΗ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Γενικότητα στην πράξη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Κανονικοποιημένο σχήμα, έξι οντότητες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056132" cy="365760"/>
          </a:xfrm>
          <a:prstGeom prst="roundRect">
            <a:avLst>
              <a:gd name="adj" fmla="val 50000"/>
            </a:avLst>
          </a:prstGeom>
          <a:solidFill>
            <a:srgbClr val="2C55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783080"/>
            <a:ext cx="10561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Πελάτης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732788" y="1783080"/>
            <a:ext cx="960120" cy="365760"/>
          </a:xfrm>
          <a:prstGeom prst="roundRect">
            <a:avLst>
              <a:gd name="adj" fmla="val 50000"/>
            </a:avLst>
          </a:prstGeom>
          <a:solidFill>
            <a:srgbClr val="2C553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732788" y="1783080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Προϊόν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20924" y="1783080"/>
            <a:ext cx="1056132" cy="365760"/>
          </a:xfrm>
          <a:prstGeom prst="roundRect">
            <a:avLst>
              <a:gd name="adj" fmla="val 50000"/>
            </a:avLst>
          </a:prstGeom>
          <a:solidFill>
            <a:srgbClr val="2C553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820924" y="1783080"/>
            <a:ext cx="10561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Περιοχή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005072" y="1783080"/>
            <a:ext cx="1344168" cy="365760"/>
          </a:xfrm>
          <a:prstGeom prst="roundRect">
            <a:avLst>
              <a:gd name="adj" fmla="val 50000"/>
            </a:avLst>
          </a:prstGeom>
          <a:solidFill>
            <a:srgbClr val="2C553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005072" y="1783080"/>
            <a:ext cx="1344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Παραγγελία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77256" y="1783080"/>
            <a:ext cx="2112264" cy="365760"/>
          </a:xfrm>
          <a:prstGeom prst="roundRect">
            <a:avLst>
              <a:gd name="adj" fmla="val 50000"/>
            </a:avLst>
          </a:prstGeom>
          <a:solidFill>
            <a:srgbClr val="2C553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77256" y="1783080"/>
            <a:ext cx="211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Γραμμή Παραγγελίας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717536" y="1783080"/>
            <a:ext cx="1248156" cy="365760"/>
          </a:xfrm>
          <a:prstGeom prst="roundRect">
            <a:avLst>
              <a:gd name="adj" fmla="val 50000"/>
            </a:avLst>
          </a:prstGeom>
          <a:solidFill>
            <a:srgbClr val="2C553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17536" y="1783080"/>
            <a:ext cx="12481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Επιστροφή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23774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Τρεις οδοί παράδοσης δεδομένων, μόνο η πρώτη χρειάζεται κώδικα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2788920"/>
            <a:ext cx="3429000" cy="1051560"/>
          </a:xfrm>
          <a:prstGeom prst="roundRect">
            <a:avLst>
              <a:gd name="adj" fmla="val 6957"/>
            </a:avLst>
          </a:prstGeom>
          <a:solidFill>
            <a:srgbClr val="EEF3E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13232" y="2880360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Αρχείο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" y="3227832"/>
            <a:ext cx="3099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κατάστημα εξάγει, το adapter διαβάζει.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160520" y="2788920"/>
            <a:ext cx="3429000" cy="1051560"/>
          </a:xfrm>
          <a:prstGeom prst="roundRect">
            <a:avLst>
              <a:gd name="adj" fmla="val 6957"/>
            </a:avLst>
          </a:prstGeom>
          <a:solidFill>
            <a:srgbClr val="EEF3E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325112" y="2880360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/ingestion/transactions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325112" y="3227832"/>
            <a:ext cx="3099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Παρτίδες σε κανονικοποιημένη μορφή, χωρίς κώδικα.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0" y="2788920"/>
            <a:ext cx="3429000" cy="1051560"/>
          </a:xfrm>
          <a:prstGeom prst="roundRect">
            <a:avLst>
              <a:gd name="adj" fmla="val 6957"/>
            </a:avLst>
          </a:prstGeom>
          <a:solidFill>
            <a:srgbClr val="EEF3E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936992" y="2880360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Ανάγνωση βάσης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936992" y="3227832"/>
            <a:ext cx="3099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+ column mapping πάνω στη βάση του πελάτη, χωρίς κώδικα.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4069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Τρεις σχεδιαστικές αποφάσεις σχήματος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4434840"/>
            <a:ext cx="110944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περιοχή αποθηκεύεται στην ίδια την παραγγελία, γιατί είναι ιδιότητα της πώλησης και όχι μόνο του πελάτη.</a:t>
            </a:r>
            <a:endParaRPr lang="en-US" sz="1200" dirty="0"/>
          </a:p>
          <a:p>
            <a:pPr marL="177800" indent="-1778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Οι επιστροφές καταγράφονται ως ξεχωριστές εγγραφές με θετικά μεγέθη, ώστε να μην μπορούν ποτέ να αφαιρεθούν σιωπηρά από τα έσοδα.</a:t>
            </a:r>
            <a:endParaRPr lang="en-US" sz="1200" dirty="0"/>
          </a:p>
          <a:p>
            <a:pPr marL="177800" indent="-1778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τιμή αποθηκεύεται ανά γραμμή παραγγελίας, ώστε κάθε πώληση να προσμετράται στην τιμή που πράγματι χρεώθηκε.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ΠΕΡΙΓΡΑΦΙΚΗ ΑΝΑΛΥΣΗ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Προϊόντα &amp; Περιοχές</a:t>
            </a:r>
            <a:endParaRPr lang="en-US" sz="3000" dirty="0"/>
          </a:p>
        </p:txBody>
      </p:sp>
      <p:pic>
        <p:nvPicPr>
          <p:cNvPr id="4" name="Image 0" descr="/tmp/claude-0/-home-user-ensights/57acd941-a2c9-5cfa-90b7-9e5814c7c436/scratchpad/figures/top_produc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5257800" cy="3063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63040"/>
            <a:ext cx="5257800" cy="306324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562856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Προϊόντα με τα υψηλότερα έσοδα</a:t>
            </a:r>
            <a:endParaRPr lang="en-US" sz="1050" dirty="0"/>
          </a:p>
        </p:txBody>
      </p:sp>
      <p:pic>
        <p:nvPicPr>
          <p:cNvPr id="7" name="Image 1" descr="/tmp/claude-0/-home-user-ensights/57acd941-a2c9-5cfa-90b7-9e5814c7c436/scratchpad/figures/top_region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26480" y="1463040"/>
            <a:ext cx="5257800" cy="30632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126480" y="1463040"/>
            <a:ext cx="5257800" cy="306324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126480" y="4562856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Περιοχές με τα υψηλότερα έσοδα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4892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Κατάταξη ως προς έσοδα, όχι μονάδες: το REGENCY CAKESTAND είναι 1ο σε έσοδα με 26.315 μονάδες, ενώ το JUMBO BAG πουλά σχεδόν τετραπλάσιες μονάδες (96.243) αλλά είναι 3ο.</a:t>
            </a:r>
            <a:endParaRPr lang="en-US" sz="1150" dirty="0"/>
          </a:p>
          <a:p>
            <a:pPr marL="177800" indent="-1778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Ηνωμένο Βασίλειο συγκεντρώνει περίπου το 86% των εσόδων. Στην Ιρλανδία μόλις 5 πελάτες παράγουν περισσότερα έσοδα από τους 107 της Γερμανίας, κάτι που δείχνει χονδρική και όχι λιανική σχέση.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ΠΕΡΙΓΡΑΦΙΚΗ ΑΝΑΛΥΣΗ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Χρονική κατανομή πωλήσεων</a:t>
            </a:r>
            <a:endParaRPr lang="en-US" sz="3000" dirty="0"/>
          </a:p>
        </p:txBody>
      </p:sp>
      <p:pic>
        <p:nvPicPr>
          <p:cNvPr id="4" name="Image 0" descr="/tmp/claude-0/-home-user-ensights/57acd941-a2c9-5cfa-90b7-9e5814c7c436/scratchpad/figures/sales_monthl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17320"/>
            <a:ext cx="10607040" cy="2331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10607040" cy="233172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785616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Μηνιαία κατανομή εσόδων: κορύφωση τον Νοέμβριο και τις δύο χρονιές, ο τελευταίος μήνας είναι ημιτελής</a:t>
            </a:r>
            <a:endParaRPr lang="en-US" sz="1050" dirty="0"/>
          </a:p>
        </p:txBody>
      </p:sp>
      <p:pic>
        <p:nvPicPr>
          <p:cNvPr id="7" name="Image 1" descr="/tmp/claude-0/-home-user-ensights/57acd941-a2c9-5cfa-90b7-9e5814c7c436/scratchpad/figures/sales_weekda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651760" y="4206240"/>
            <a:ext cx="6400800" cy="19659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2651760" y="4206240"/>
            <a:ext cx="6400800" cy="196596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2651760" y="6208776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Κατανομή εσόδων ανά ημέρα εβδομάδας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ΠΕΡΙΓΡΑΦΙΚΗ ΑΝΑΛΥΣΗ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Εύρος τιμής &amp; χαρακτηριστικά προϊόντος</a:t>
            </a:r>
            <a:endParaRPr lang="en-US" sz="3000" dirty="0"/>
          </a:p>
        </p:txBody>
      </p:sp>
      <p:pic>
        <p:nvPicPr>
          <p:cNvPr id="4" name="Image 0" descr="/tmp/claude-0/-home-user-ensights/57acd941-a2c9-5cfa-90b7-9e5814c7c436/scratchpad/figures/price_ban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5257800" cy="2926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63040"/>
            <a:ext cx="5257800" cy="292608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425696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Έσοδα ανά εύρος τιμής μονάδας (1–5 ≈ 62% των εσόδων)</a:t>
            </a:r>
            <a:endParaRPr lang="en-US" sz="1050" dirty="0"/>
          </a:p>
        </p:txBody>
      </p:sp>
      <p:pic>
        <p:nvPicPr>
          <p:cNvPr id="7" name="Image 1" descr="/tmp/claude-0/-home-user-ensights/57acd941-a2c9-5cfa-90b7-9e5814c7c436/scratchpad/figures/characteristic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26480" y="1463040"/>
            <a:ext cx="5257800" cy="292608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126480" y="1463040"/>
            <a:ext cx="5257800" cy="292608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126480" y="4425696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Έσοδα ανά χαρακτηριστικό προϊόντος (κανόνες λέξεων-κλειδιών)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4754880"/>
            <a:ext cx="110944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Χωρίς δομημένη κατηγοριοποίηση προϊόντων στο dataset, τα χαρακτηριστικά προκύπτουν από κανόνες λέξεων-κλειδιών επί ελεύθερου κειμένου.</a:t>
            </a:r>
            <a:endParaRPr lang="en-US" sz="1150" dirty="0"/>
          </a:p>
          <a:p>
            <a:pPr marL="177800" indent="-1778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38,9% των εσόδων μένει “uncategorised”. Δεν κρύβεται, δηλώνεται ανοιχτά ως το πραγματικό μέτρο ακρίβειας της μεθόδου.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ITEMSET MINING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Καλάθια &amp; σύγκριση αλγορίθμων</a:t>
            </a:r>
            <a:endParaRPr lang="en-US" sz="3000" dirty="0"/>
          </a:p>
        </p:txBody>
      </p:sp>
      <p:pic>
        <p:nvPicPr>
          <p:cNvPr id="4" name="Image 0" descr="/tmp/claude-0/-home-user-ensights/57acd941-a2c9-5cfa-90b7-9e5814c7c436/scratchpad/figures/basket_siz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4937760" cy="2926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63040"/>
            <a:ext cx="4937760" cy="292608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425696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Κατανομή μεγέθους καλαθιών (λογαριθμική κλίμακα)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943600" y="1463040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EEF3EC"/>
          </a:solidFill>
          <a:ln/>
          <a:effectLst>
            <a:outerShdw sx="100000" sy="100000" kx="0" ky="0" algn="bl" rotWithShape="0" blurRad="76200" dist="25400" dir="5400000">
              <a:srgbClr val="2C553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5943600" y="1682496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36.269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6016752" y="2313432"/>
            <a:ext cx="223113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καλάθια ≥ 2 προϊόντων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458200" y="1463040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EEF3EC"/>
          </a:solidFill>
          <a:ln/>
          <a:effectLst>
            <a:outerShdw sx="100000" sy="100000" kx="0" ky="0" algn="bl" rotWithShape="0" blurRad="76200" dist="25400" dir="5400000">
              <a:srgbClr val="2C553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458200" y="1682496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 / 1.108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8531352" y="2313432"/>
            <a:ext cx="223113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διάμεσο / μέγιστο μέγεθος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943600" y="306324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Apriori vs. FP-Growth (support 0,02)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3383280"/>
          <a:ext cx="4983480" cy="914400"/>
        </p:xfrm>
        <a:graphic>
          <a:graphicData uri="http://schemas.openxmlformats.org/drawingml/2006/table">
            <a:tbl>
              <a:tblPr/>
              <a:tblGrid>
                <a:gridCol w="1245870"/>
                <a:gridCol w="1245870"/>
                <a:gridCol w="1245870"/>
                <a:gridCol w="124587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Αλγόριθμος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Χρόνος (s)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Σύνολα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Κανόνες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53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Apriori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FP-Growth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</a:tr>
            </a:tbl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5943600" y="44805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Τα αποτελέσματα βγαίνουν ταυτόσημα, διαφέρουν μόνο στον χρόνο εκτέλεσης: ο FP-Growth είναι περίπου 2,6 φορές ταχύτερος.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ITEMSET MINING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Ευαισθησία &amp; Association Rules</a:t>
            </a:r>
            <a:endParaRPr lang="en-US" sz="3000" dirty="0"/>
          </a:p>
        </p:txBody>
      </p:sp>
      <p:pic>
        <p:nvPicPr>
          <p:cNvPr id="4" name="Image 0" descr="/tmp/claude-0/-home-user-ensights/57acd941-a2c9-5cfa-90b7-9e5814c7c436/scratchpad/figures/support_sensitiv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5029200" cy="2788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63040"/>
            <a:ext cx="5029200" cy="278892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288536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Πλήθος itemsets/κανόνων ανά support threshold</a:t>
            </a:r>
            <a:endParaRPr lang="en-US" sz="1050" dirty="0"/>
          </a:p>
        </p:txBody>
      </p:sp>
      <p:pic>
        <p:nvPicPr>
          <p:cNvPr id="7" name="Image 1" descr="/tmp/claude-0/-home-user-ensights/57acd941-a2c9-5cfa-90b7-9e5814c7c436/scratchpad/figures/association_rule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897880" y="1463040"/>
            <a:ext cx="5029200" cy="27889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897880" y="1463040"/>
            <a:ext cx="5029200" cy="278892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897880" y="4288536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134 κανόνες: support vs. confidence, χρώμα = lift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48640" y="470916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2C5530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77240" y="4864608"/>
            <a:ext cx="106372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 πιο δυνατός κανόνας αφορά τις χρωματικές παραλλαγές του REGENCY TEACUP AND SAUCER, με lift περίπου 25,2: αγοράζονται μαζί 25 φορές πιο συχνά απ' ό,τι αν ήταν άσχετα προϊόντα.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D7E5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Αυτό μεταφράζεται εύκολα σε δράση: αξίζει οι παραλλαγές να προωθηθούν μαζί, ως συλλογή.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Πρώτο επίπεδο: Περιοχή και Χρόνος</a:t>
            </a:r>
            <a:endParaRPr lang="en-US" sz="3000" dirty="0"/>
          </a:p>
        </p:txBody>
      </p:sp>
      <p:pic>
        <p:nvPicPr>
          <p:cNvPr id="4" name="Image 0" descr="/tmp/claude-0/-home-user-ensights/57acd941-a2c9-5cfa-90b7-9e5814c7c436/scratchpad/figures/silhouette_level_on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539496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63040"/>
            <a:ext cx="5394960" cy="320040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700016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Silhouette score ανά υποψήφιο k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635508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 = 2 επιλέγεται με score 0,8793</a:t>
            </a:r>
            <a:endParaRPr lang="en-US" sz="14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874520"/>
          <a:ext cx="5029200" cy="914400"/>
        </p:xfrm>
        <a:graphic>
          <a:graphicData uri="http://schemas.openxmlformats.org/drawingml/2006/table">
            <a:tbl>
              <a:tblPr/>
              <a:tblGrid>
                <a:gridCol w="1257300"/>
                <a:gridCol w="1257300"/>
                <a:gridCol w="1257300"/>
                <a:gridCol w="12573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Μέλη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Μ.ό. εσόδων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Ενεργοί μήνες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5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[1] Εξαγωγές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67.298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[2] UK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16.679.730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355080" y="324612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Ηνωμένο Βασίλειο βγαίνει μόνο του σε ξεχωριστό cluster, και όχι μόνο λόγω μεγέθους: έχει δραστηριότητα σε όλους τους 25 μήνες, ενώ οι αγορές εξαγωγής κατά μέσο όρο μόλις σε 12,8.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Δεύτερο επίπεδο: RFM sub-clusters</a:t>
            </a:r>
            <a:endParaRPr lang="en-US" sz="3000" dirty="0"/>
          </a:p>
        </p:txBody>
      </p:sp>
      <p:pic>
        <p:nvPicPr>
          <p:cNvPr id="4" name="Image 0" descr="/tmp/claude-0/-home-user-ensights/57acd941-a2c9-5cfa-90b7-9e5814c7c436/scratchpad/figures/rfm_scatt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539496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63040"/>
            <a:ext cx="5394960" cy="320040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700016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RFM sub-clusters μέσα στο cluster των εξαγωγών</a:t>
            </a:r>
            <a:endParaRPr lang="en-US" sz="10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463040"/>
          <a:ext cx="5029200" cy="914400"/>
        </p:xfrm>
        <a:graphic>
          <a:graphicData uri="http://schemas.openxmlformats.org/drawingml/2006/table">
            <a:tbl>
              <a:tblPr/>
              <a:tblGrid>
                <a:gridCol w="1257300"/>
                <a:gridCol w="1257300"/>
                <a:gridCol w="1257300"/>
                <a:gridCol w="125730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Sub-cluster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Πελάτες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Συχνότ.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Χρημ. αξία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53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[1.1] τακτικοί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[1.2] whales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220,7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365.705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[2.1] τακτικοί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[2.2] whales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120,4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114.404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355080" y="3063240"/>
            <a:ext cx="5029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Ίδια δομή και στις δύο αγορές: πολυπληθής ομάδα περιστασιακών αγοραστών + μικρή ομάδα λογαριασμών τάξεις μεγέθους υψηλότερης συχνότητας/αξίας.</a:t>
            </a:r>
            <a:endParaRPr lang="en-US" sz="12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Επιβεβαιώνει με νούμερα αυτό που είδαμε στην Ιρλανδία: υπάρχει χονδρικός πυρήνας και λιανική ουρά, ανεξάρτητα από τη γεωγραφική αγορά.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ΠΡΟΒΛΕΨΗ: HOLT-WINTERS ΕΚΘΕΤΙΚΗ ΕΞΟΜΑΛΥΝΣΗ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Πρόβλεψη πωλήσεων</a:t>
            </a:r>
            <a:endParaRPr lang="en-US" sz="3000" dirty="0"/>
          </a:p>
        </p:txBody>
      </p:sp>
      <p:pic>
        <p:nvPicPr>
          <p:cNvPr id="4" name="Image 0" descr="/tmp/claude-0/-home-user-ensights/57acd941-a2c9-5cfa-90b7-9e5814c7c436/scratchpad/figures/revenue_foreca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17320"/>
            <a:ext cx="11094415" cy="2286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11094415" cy="228600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7033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Καθαρή αξία πωλήσεων ανά μήνα και πρόβλεψη τριμήνου. Ο ημιτελής Δεκέμβριος του 2011 εξαιρείται από την προσαρμογή</a:t>
            </a:r>
            <a:endParaRPr lang="en-US" sz="10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160520"/>
          <a:ext cx="603504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1207008"/>
                <a:gridCol w="1207008"/>
                <a:gridCol w="1207008"/>
                <a:gridCol w="1207008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Μέθοδος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MAPE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 score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5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466.648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502.808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38,48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Holt-Winters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400.355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439.920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32,74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+0,1421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6858000" y="4160520"/>
            <a:ext cx="4800600" cy="1828800"/>
          </a:xfrm>
          <a:prstGeom prst="roundRect">
            <a:avLst>
              <a:gd name="adj" fmla="val 4000"/>
            </a:avLst>
          </a:prstGeom>
          <a:solidFill>
            <a:srgbClr val="EEF3EC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040880" y="4279392"/>
            <a:ext cx="4480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Αρχικό skill score επί 25 μηνών: −0,21, χειρότερο από το naive baseline.</a:t>
            </a:r>
            <a:endParaRPr lang="en-US" sz="1150" dirty="0"/>
          </a:p>
          <a:p>
            <a:pPr marL="177800" indent="-1778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 λόγος: ο τελευταίος μήνας έχει μόνο 9 ημέρες, αφού το dataset σταματά στις 9/12/2011. Δεν είναι πτώση, είναι αποκοπή.</a:t>
            </a:r>
            <a:endParaRPr lang="en-US" sz="1150" dirty="0"/>
          </a:p>
          <a:p>
            <a:pPr marL="177800" indent="-1778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3E8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Μετά τον αποκλεισμό της ημιτελούς περιόδου: +0,1421.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ΟΙΚΟΝΟΜΙΚΟΙ ΔΕΙΚΤΕΣ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Growth Accounting</a:t>
            </a:r>
            <a:endParaRPr lang="en-US" sz="3000" dirty="0"/>
          </a:p>
        </p:txBody>
      </p:sp>
      <p:pic>
        <p:nvPicPr>
          <p:cNvPr id="4" name="Image 0" descr="/tmp/claude-0/-home-user-ensights/57acd941-a2c9-5cfa-90b7-9e5814c7c436/scratchpad/figures/growth_account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17320"/>
            <a:ext cx="10607040" cy="2240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10607040" cy="224028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67588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μεταβολή εσόδων σπάει σε 6 ροές: νέα, αναβιωμένα, διατηρημένα, επέκταση, συρρίκνωση, απώλεια</a:t>
            </a:r>
            <a:endParaRPr lang="en-US" sz="1050" dirty="0"/>
          </a:p>
        </p:txBody>
      </p:sp>
      <p:pic>
        <p:nvPicPr>
          <p:cNvPr id="7" name="Image 1" descr="/tmp/claude-0/-home-user-ensights/57acd941-a2c9-5cfa-90b7-9e5814c7c436/scratchpad/figures/quick_rat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108960" y="4069080"/>
            <a:ext cx="5486400" cy="16916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3108960" y="4069080"/>
            <a:ext cx="5486400" cy="169164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108960" y="577900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ratio ανά μήνα. Κάτω από τη μονάδα σημαίνει ότι τα έσοδα συρρικνώνονται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ΟΙΚΟΝΟΜΙΚΟΙ ΔΕΙΚΤΕΣ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Επαναληπτικότητα &amp; συγκέντρωση εσόδων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337560" cy="1188720"/>
          </a:xfrm>
          <a:prstGeom prst="roundRect">
            <a:avLst>
              <a:gd name="adj" fmla="val 6154"/>
            </a:avLst>
          </a:prstGeom>
          <a:solidFill>
            <a:srgbClr val="EEF3EC"/>
          </a:solidFill>
          <a:ln/>
          <a:effectLst>
            <a:outerShdw sx="100000" sy="100000" kx="0" ky="0" algn="bl" rotWithShape="0" blurRad="76200" dist="25400" dir="5400000">
              <a:srgbClr val="2C553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698955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72,4%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245766"/>
            <a:ext cx="3191256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Επαναληπτικοί πελάτες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069080" y="1508760"/>
            <a:ext cx="3337560" cy="1188720"/>
          </a:xfrm>
          <a:prstGeom prst="roundRect">
            <a:avLst>
              <a:gd name="adj" fmla="val 6154"/>
            </a:avLst>
          </a:prstGeom>
          <a:solidFill>
            <a:srgbClr val="EEF3EC"/>
          </a:solidFill>
          <a:ln/>
          <a:effectLst>
            <a:outerShdw sx="100000" sy="100000" kx="0" ky="0" algn="bl" rotWithShape="0" blurRad="76200" dist="25400" dir="5400000">
              <a:srgbClr val="2C553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069080" y="1698955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6,25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142232" y="2245766"/>
            <a:ext cx="3191256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Παραγγελίες / πελάτη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589520" y="1508760"/>
            <a:ext cx="3337560" cy="1188720"/>
          </a:xfrm>
          <a:prstGeom prst="roundRect">
            <a:avLst>
              <a:gd name="adj" fmla="val 6154"/>
            </a:avLst>
          </a:prstGeom>
          <a:solidFill>
            <a:srgbClr val="EEF3EC"/>
          </a:solidFill>
          <a:ln/>
          <a:effectLst>
            <a:outerShdw sx="100000" sy="100000" kx="0" ky="0" algn="bl" rotWithShape="0" blurRad="76200" dist="25400" dir="5400000">
              <a:srgbClr val="2C553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589520" y="1698955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493,63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662672" y="2245766"/>
            <a:ext cx="3191256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Μέση αξία παραγγελίας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971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Συγκέντρωση εσόδων στους πελάτες</a:t>
            </a:r>
            <a:endParaRPr lang="en-US" sz="14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37560"/>
          <a:ext cx="53035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65176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Μέγεθος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Τιμή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5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Συντελεστής Gini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0,740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Μερίδιο top 10%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63,7%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Μερίδιο top 20%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77,1%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Μερίδιο top 50%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93,5%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Μεγαλύτερος πελάτης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6537960" y="3337560"/>
            <a:ext cx="5074920" cy="2606040"/>
          </a:xfrm>
          <a:prstGeom prst="roundRect">
            <a:avLst>
              <a:gd name="adj" fmla="val 2807"/>
            </a:avLst>
          </a:prstGeom>
          <a:solidFill>
            <a:srgbClr val="2C553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766560" y="3520440"/>
            <a:ext cx="4663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κορυφαίο 20% των πελατών παράγει το 77% των εσόδων, μια πολύ έντονη ασυμμετρία.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 μεγαλύτερος μεμονωμένος πελάτης αντιστοιχεί μόλις στο 3,3%.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Υψηλή συγκέντρωση + απουσία εξάρτησης από 1 πελάτη = υγιής χονδρική δομή, όχι εύθραυστη.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ΟΙΚΟΝΟΜΙΚΟΙ ΔΕΙΚΤΕΣ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Ανάλυση κερδοφορίας βάσει σεναρίων</a:t>
            </a:r>
            <a:endParaRPr lang="en-US" sz="3000" dirty="0"/>
          </a:p>
        </p:txBody>
      </p:sp>
      <p:pic>
        <p:nvPicPr>
          <p:cNvPr id="4" name="Image 0" descr="/tmp/claude-0/-home-user-ensights/57acd941-a2c9-5cfa-90b7-9e5814c7c436/scratchpad/figures/profitability_sensitiv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5120640" cy="28803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63040"/>
            <a:ext cx="5120640" cy="288036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379976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LTV:CAC για κάθε συνδυασμό παραδοχών (πλήρες πλέγμα στο Παράρτημα)</a:t>
            </a:r>
            <a:endParaRPr lang="en-US" sz="10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1463040"/>
          <a:ext cx="5212080" cy="914400"/>
        </p:xfrm>
        <a:graphic>
          <a:graphicData uri="http://schemas.openxmlformats.org/drawingml/2006/table">
            <a:tbl>
              <a:tblPr/>
              <a:tblGrid>
                <a:gridCol w="1303020"/>
                <a:gridCol w="1303020"/>
                <a:gridCol w="1303020"/>
                <a:gridCol w="130302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Περιθώριο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LTV:CAC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3:1;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53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6035040" y="3246120"/>
            <a:ext cx="5212080" cy="1234440"/>
          </a:xfrm>
          <a:prstGeom prst="roundRect">
            <a:avLst>
              <a:gd name="adj" fmla="val 5926"/>
            </a:avLst>
          </a:prstGeom>
          <a:solidFill>
            <a:srgbClr val="FBF1E3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217920" y="333756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Στα 16 κελιά του πλέγματος, τα 8 περνάνε το όριο 3:1 και τα άλλα 8 όχι. Τα ίδια ακριβώς δεδομένα οδηγούν σε αντίθετα συμπεράσματα, ανάλογα μόνο με το ποιο περιθώριο κέρδους υποθέσουμε.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47091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C5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dataset δεν έχει κόστος πωληθέντων ούτε δαπάνες marketing, οπότε κάθε απάντηση βγαίνει με τη σήμανση “Scenario output, not a measurement”.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C5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463040"/>
            <a:ext cx="4754880" cy="4754880"/>
          </a:xfrm>
          <a:prstGeom prst="ellipse">
            <a:avLst/>
          </a:prstGeom>
          <a:solidFill>
            <a:srgbClr val="1B3A1E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2514600"/>
            <a:ext cx="914400" cy="914400"/>
          </a:xfrm>
          <a:prstGeom prst="ellipse">
            <a:avLst/>
          </a:prstGeom>
          <a:solidFill>
            <a:srgbClr val="3D6B42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737360" y="2697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ΕΝΟΤΗΤΑ ΤΕΤΑΡΤΗ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2999232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Το Σύστημα στην Πράξη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39776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E5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Πραγματικές αποκρίσεις πάνω στο πλήρες σύνολο δεδομένων, από το API και το Metabase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 · Διπλωματική εργασία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Πραγματικές αποκρίσεις JSON (I)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Κάθε ανάλυση εκτίθεται ως JSON, με τους ίδιους αριθμούς που βλέπουμε στο Metabase και στη διατριβή.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257800" cy="4114800"/>
          </a:xfrm>
          <a:prstGeom prst="roundRect">
            <a:avLst>
              <a:gd name="adj" fmla="val 1333"/>
            </a:avLst>
          </a:prstGeom>
          <a:solidFill>
            <a:srgbClr val="1B3A1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874520"/>
            <a:ext cx="492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/api/v1/forecasting/revenue?horizon=3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194560"/>
            <a:ext cx="4928616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"method": "exponential_smoothing",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"horizon": 3,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"history_length": 25,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"forecast": [587222.83, 502905.56,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671261.41],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"metrics": {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"mean_absolute_error": 419623.67,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"mean_absolute_percentage_error": 51.12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"baseline_metrics": {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"mean_absolute_error": 346864.32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"skill_score": -0.21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080760" y="1783080"/>
            <a:ext cx="5212080" cy="4114800"/>
          </a:xfrm>
          <a:prstGeom prst="roundRect">
            <a:avLst>
              <a:gd name="adj" fmla="val 1333"/>
            </a:avLst>
          </a:prstGeom>
          <a:solidFill>
            <a:srgbClr val="1B3A1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45352" y="1874520"/>
            <a:ext cx="4882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/api/v1/growth-accounting/monthly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245352" y="2194560"/>
            <a:ext cx="4882896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"period": "2010-01-01T00:00:00",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"revenue": 524504.67,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"new": 156527.47,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"retained": 265475.35,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"expansion": 102501.85,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"contraction": 130293.16,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"churned": 270131.82,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"gross_retention_rate": 0.399,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"quick_ratio": 0.647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Πραγματικές αποκρίσεις JSON (II)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257800" cy="2743200"/>
          </a:xfrm>
          <a:prstGeom prst="roundRect">
            <a:avLst>
              <a:gd name="adj" fmla="val 2000"/>
            </a:avLst>
          </a:prstGeom>
          <a:solidFill>
            <a:srgbClr val="1B3A1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13232" y="1645920"/>
            <a:ext cx="492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/api/v1/segmentation/regions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1965960"/>
            <a:ext cx="492861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"chosen_k": 2, "silhouette": 0.8793,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"scores": {"2": 0.8793, "3": 0.7206,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"4": 0.6691, "5": 0.6347,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"6": 0.6264},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"clusters": [{"label": "1", "level": 1,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"size": 42,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"members": ["Australia", "..."]}]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4434840"/>
            <a:ext cx="5257800" cy="1600200"/>
          </a:xfrm>
          <a:prstGeom prst="roundRect">
            <a:avLst>
              <a:gd name="adj" fmla="val 3429"/>
            </a:avLst>
          </a:prstGeom>
          <a:solidFill>
            <a:srgbClr val="1B3A1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4526280"/>
            <a:ext cx="492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4846320"/>
            <a:ext cx="49286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Το silhouette score για κάθε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υποψήφιο k επιστρέφεται πάντα, ώστε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το chosen_k να ελέγχεται και όχι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να απλώς πιστεύεται.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080760" y="1554480"/>
            <a:ext cx="5212080" cy="3291840"/>
          </a:xfrm>
          <a:prstGeom prst="roundRect">
            <a:avLst>
              <a:gd name="adj" fmla="val 1667"/>
            </a:avLst>
          </a:prstGeom>
          <a:solidFill>
            <a:srgbClr val="1B3A1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45352" y="1645920"/>
            <a:ext cx="4882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/api/v1/profitability/unit-economics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245352" y="1965960"/>
            <a:ext cx="488289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"average_customer_revenue": 2895.0,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"lifetime_value": 1447.5,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"assumptions": {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"gross_margin": 0.5,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"customer_acquisition_cost": 0.0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"disclaimer": "Scenario output,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not a measurement. The source data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contains no cost of goods and no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marketing spend, so these figures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follow from the stated assumptions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hold only insofar as those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assumptions do."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80760" y="4983480"/>
            <a:ext cx="5212080" cy="1051560"/>
          </a:xfrm>
          <a:prstGeom prst="roundRect">
            <a:avLst>
              <a:gd name="adj" fmla="val 6957"/>
            </a:avLst>
          </a:prstGeom>
          <a:solidFill>
            <a:srgbClr val="FBF1E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63640" y="507492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δήλωση “σενάριο, όχι μέτρηση” βρίσκεται μέσα στο ίδιο το αντικείμενο JSON, ώστε να μην μπορεί ποτέ να αφαιρεθεί κατά λάθος.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METABASE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Πίνακες ελέγχου: το dashboard πωλήσεων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737360" y="1417320"/>
            <a:ext cx="8686800" cy="4892040"/>
          </a:xfrm>
          <a:prstGeom prst="rect">
            <a:avLst/>
          </a:prstGeom>
          <a:ln/>
          <a:effectLst>
            <a:outerShdw sx="100000" sy="100000" kx="0" ky="0" algn="bl" rotWithShape="0" blurRad="177800" dist="50800" dir="5400000">
              <a:srgbClr val="2C5530">
                <a:alpha val="25000"/>
              </a:srgbClr>
            </a:outerShdw>
          </a:effectLst>
        </p:spPr>
      </p:sp>
      <p:pic>
        <p:nvPicPr>
          <p:cNvPr id="5" name="Image 0" descr="/home/user/ensights/documents/screenshots/metabase-dashboar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737360" y="1417320"/>
            <a:ext cx="8686800" cy="48920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737360" y="1417320"/>
            <a:ext cx="8686800" cy="489204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κάρτες SQL σε 3 dashboards, ίδιοι αριθμοί με το API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METABASE &amp; API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Association Rules &amp; Swagger UI</a:t>
            </a:r>
            <a:endParaRPr lang="en-US" sz="3000" dirty="0"/>
          </a:p>
        </p:txBody>
      </p:sp>
      <p:pic>
        <p:nvPicPr>
          <p:cNvPr id="4" name="Image 0" descr="/home/user/ensights/documents/screenshots/metabase-association-rule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5257800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5257800" cy="356616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516636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Metabase: η κάρτα Association Rules</a:t>
            </a:r>
            <a:endParaRPr lang="en-US" sz="1050" dirty="0"/>
          </a:p>
        </p:txBody>
      </p:sp>
      <p:pic>
        <p:nvPicPr>
          <p:cNvPr id="7" name="Image 1" descr="/home/user/ensights/documents/screenshots/swagger-try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26480" y="1554480"/>
            <a:ext cx="5257800" cy="3566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126480" y="1554480"/>
            <a:ext cx="5257800" cy="356616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126480" y="516636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Swagger UI στο /try, με “Try it out” σε κάθε endpoint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C5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463040"/>
            <a:ext cx="4754880" cy="4754880"/>
          </a:xfrm>
          <a:prstGeom prst="ellipse">
            <a:avLst/>
          </a:prstGeom>
          <a:solidFill>
            <a:srgbClr val="1B3A1E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2514600"/>
            <a:ext cx="914400" cy="914400"/>
          </a:xfrm>
          <a:prstGeom prst="ellipse">
            <a:avLst/>
          </a:prstGeom>
          <a:solidFill>
            <a:srgbClr val="3D6B42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737360" y="2697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ΕΝΟΤΗΤΑ ΠΕΜΠΤΗ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2999232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Συμπεράσματα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39776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E5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Τι απαντήθηκε, τι αξιοποιείται, και πού σταματά τίμια η ανάλυση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 · Διπλωματική εργασία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ΣΥΜΠΕΡΑΣΜΑΤΑ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Σύνοψη ευρημάτων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1109441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Απαντήθηκαν και τα επτά ερωτήματα της επιχείρησης, εφαρμόστηκαν τρεις οικογένειες τεχνικών εξόρυξης δεδομένων &amp; μηχανικής μάθησης.</a:t>
            </a:r>
            <a:endParaRPr lang="en-US" sz="14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Στο περιγραφικό σκέλος, οι κατηγοριοποιήσεις ανά εύρος τιμής και ανά χαρακτηριστικό διαμερίζουν πλήρως τα έσοδα, χωρίς διπλομέτρηση ή απώλεια, κάτι που ελέγχεται και αυτόματα.</a:t>
            </a:r>
            <a:endParaRPr lang="en-US" sz="14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Επαληθεύτηκε πειραματικά ότι ο Apriori και ο FP-Growth δίνουν ταυτόσημα αποτελέσματα, οπότε η επιλογή ανάμεσά τους είναι θέμα μόνο χρόνου εκτέλεσης.</a:t>
            </a:r>
            <a:endParaRPr lang="en-US" sz="14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nested clustering επιλέγει το πλήθος των clusters σε κάθε επίπεδο μέσω silhouette score, αντί να το βάζουμε εμείς εκ των προτέρων.</a:t>
            </a:r>
            <a:endParaRPr lang="en-US" sz="14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Κάθε πρόβλεψη συνοδεύεται από ένα naive baseline και ένα skill score, ώστε μια τετριμμένη πρόβλεψη να μη μπορεί να παρουσιαστεί ως επιτυχία.</a:t>
            </a:r>
            <a:endParaRPr lang="en-US" sz="14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b="1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Growth Accounting είναι το πιο ισχυρό μετρήσιμο τεκμήριο για την υγεία μιας επιχείρησης, χωρίς καμία παραδοχή στη μέση.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ΣΥΜΠΕΡΑΣΜΑΤΑ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Πρακτική αξιοποίηση από την επιχείρηση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120640" cy="4480560"/>
          </a:xfrm>
          <a:prstGeom prst="roundRect">
            <a:avLst>
              <a:gd name="adj" fmla="val 2041"/>
            </a:avLst>
          </a:prstGeom>
          <a:solidFill>
            <a:srgbClr val="EEF3E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Αποφάσεις Marketing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40280"/>
            <a:ext cx="4572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Association rules με lift πάνω από 1 δείχνουν προϊόντα που αξίζει να προωθηθούν μαζί.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Τα clusters πελατών επιτρέπουν διαφορετική επικοινωνία ανά ομάδα συμπεριφοράς.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ανάλυση συγκέντρωσης δείχνει εξάρτηση από λίγους μεγάλους πελάτες, έναν κίνδυνο που δεν φαίνεται αν κοιτάξει κανείς μόνο τον ρυθμό ανάπτυξης.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26480" y="1554480"/>
            <a:ext cx="5120640" cy="4480560"/>
          </a:xfrm>
          <a:prstGeom prst="roundRect">
            <a:avLst>
              <a:gd name="adj" fmla="val 2041"/>
            </a:avLst>
          </a:prstGeom>
          <a:solidFill>
            <a:srgbClr val="2C553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Αποφάσεις Πωλήσεων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2240280"/>
            <a:ext cx="4572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χρονική κατανομή και η πρόβλεψη υποστηρίζουν τον προγραμματισμό αποθέματος.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ανάλυση επιστροφών εντοπίζει προϊόντα των οποίων το πραγματικό περιθώριο υπονομεύεται από το ποσοστό επιστροφών.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πλέγμα ευαισθησίας κερδοφορίας δείχνει ποιες παραδοχές αλλάζουν το συμπέρασμα, χρήσιμο ακόμη κι όταν η κερδοφορία δεν μετριέται απευθείας.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ΣΥΜΠΕΡΑΣΜΑΤΑ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Περιορισμοί, δηλωμένοι ανοιχτά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28016" cy="640080"/>
          </a:xfrm>
          <a:prstGeom prst="roundRect">
            <a:avLst>
              <a:gd name="adj" fmla="val 21429"/>
            </a:avLst>
          </a:prstGeom>
          <a:solidFill>
            <a:srgbClr val="B041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508760"/>
            <a:ext cx="107743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C5530"/>
                </a:solidFill>
              </a:rPr>
              <a:t>Απουσία στοιχείων κόστους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6B6259"/>
                </a:solidFill>
              </a:rPr>
              <a:t>Χωρίς κόστος πωληθέντων/marketing, η κερδοφορία απαντάται μόνο ως σενάριο, ποτέ ως μέτρηση.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450592"/>
            <a:ext cx="128016" cy="640080"/>
          </a:xfrm>
          <a:prstGeom prst="roundRect">
            <a:avLst>
              <a:gd name="adj" fmla="val 21429"/>
            </a:avLst>
          </a:prstGeom>
          <a:solidFill>
            <a:srgbClr val="B0413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404872"/>
            <a:ext cx="107743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C5530"/>
                </a:solidFill>
              </a:rPr>
              <a:t>Απουσία δομημένης κατηγοριοποίησης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6B6259"/>
                </a:solidFill>
              </a:rPr>
              <a:t>Χαρακτηριστικά από λέξεις-κλειδιά, με το 38,9% των εσόδων uncategorised. Το λέμε ανοιχτά.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346704"/>
            <a:ext cx="128016" cy="640080"/>
          </a:xfrm>
          <a:prstGeom prst="roundRect">
            <a:avLst>
              <a:gd name="adj" fmla="val 21429"/>
            </a:avLst>
          </a:prstGeom>
          <a:solidFill>
            <a:srgbClr val="B0413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300984"/>
            <a:ext cx="107743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C5530"/>
                </a:solidFill>
              </a:rPr>
              <a:t>Γεωγραφία σε επίπεδο χώρας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6B6259"/>
                </a:solidFill>
              </a:rPr>
              <a:t>Το clustering πρώτου επιπέδου βλέπει όση ανάλυση δίνει η πηγή δεδομένων, όχι παραπάνω.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4242816"/>
            <a:ext cx="128016" cy="640080"/>
          </a:xfrm>
          <a:prstGeom prst="roundRect">
            <a:avLst>
              <a:gd name="adj" fmla="val 21429"/>
            </a:avLst>
          </a:prstGeom>
          <a:solidFill>
            <a:srgbClr val="B041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4197096"/>
            <a:ext cx="107743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C5530"/>
                </a:solidFill>
              </a:rPr>
              <a:t>Ανώνυμες πωλήσεις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6B6259"/>
                </a:solidFill>
              </a:rPr>
              <a:t>Διατηρούνται σε προϊόν/περιοχή/χρόνο, εξαιρούνται από αναλύσεις σε επίπεδο πελάτη.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5138928"/>
            <a:ext cx="128016" cy="640080"/>
          </a:xfrm>
          <a:prstGeom prst="roundRect">
            <a:avLst>
              <a:gd name="adj" fmla="val 21429"/>
            </a:avLst>
          </a:prstGeom>
          <a:solidFill>
            <a:srgbClr val="B0413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68680" y="5093208"/>
            <a:ext cx="107743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C5530"/>
                </a:solidFill>
              </a:rPr>
              <a:t>Ένα σύνολο δεδομένων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6B6259"/>
                </a:solidFill>
              </a:rPr>
              <a:t>Τα ευρήματα προέρχονται από μία μόνο επιχείρηση, μίας κατηγορίας, οπότε το πόσο γενικεύονται παραμένει ανοιχτό ερώτημα.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ΣΥΜΠΕΡΑΣΜΑΤΑ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Μελλοντικές επεκτάσεις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12064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645920"/>
            <a:ext cx="4754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2C5530"/>
                </a:solidFill>
              </a:rPr>
              <a:t>Δεύτερο πραγματικό κατάστημα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241F1B"/>
                </a:solidFill>
              </a:rPr>
              <a:t>Η προσάρτηση είναι πλέον παραμετροποίηση· εκκρεμεί η σύγκριση ευρημάτων μεταξύ δύο καταστημάτων.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26480" y="1508760"/>
            <a:ext cx="512064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309360" y="1645920"/>
            <a:ext cx="4754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2C5530"/>
                </a:solidFill>
              </a:rPr>
              <a:t>Προβλεπτική αξία διάρκειας ζωής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241F1B"/>
                </a:solidFill>
              </a:rPr>
              <a:t>Τα μοντέλα BG/NBD και Gamma-Gamma πάνω στα ίδια τρία μεγέθη RFM θα μετέτρεπαν την παρατηρούμενη αξία σε πρόβλεψη.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063240"/>
            <a:ext cx="512064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3200400"/>
            <a:ext cx="4754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2C5530"/>
                </a:solidFill>
              </a:rPr>
              <a:t>Γεωγραφική ιεραρχία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241F1B"/>
                </a:solidFill>
              </a:rPr>
              <a:t>Επίπεδα κάτω από τη χώρα, χωρίς αλλαγή στον αναλυτικό κώδικα.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26480" y="3063240"/>
            <a:ext cx="512064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09360" y="3200400"/>
            <a:ext cx="4754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2C5530"/>
                </a:solidFill>
              </a:rPr>
              <a:t>Χρονική εξέλιξη κανόνων συσχέτισης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241F1B"/>
                </a:solidFill>
              </a:rPr>
              <a:t>Συγκρίνοντας διαδοχικές εκτελέσεις mining θα φαινόταν ποιες συσχετίσεις εμφανίζονται ή εξασθενούν με τον καιρό.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617720"/>
            <a:ext cx="10698480" cy="1417320"/>
          </a:xfrm>
          <a:prstGeom prst="roundRect">
            <a:avLst>
              <a:gd name="adj" fmla="val 5161"/>
            </a:avLst>
          </a:prstGeom>
          <a:solidFill>
            <a:srgbClr val="2C553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4754880"/>
            <a:ext cx="10241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E8A33D"/>
                </a:solidFill>
              </a:rPr>
              <a:t>Ενσωμάτωση στοιχείων κόστους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Τα σενάρια κερδοφορίας γίνονται μετρήσεις· η αρχιτεκτονική το επιτρέπει χωρίς αλλαγή δομής.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C5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-2286000"/>
            <a:ext cx="5486400" cy="5486400"/>
          </a:xfrm>
          <a:prstGeom prst="ellipse">
            <a:avLst/>
          </a:prstGeom>
          <a:solidFill>
            <a:srgbClr val="1B3A1E"/>
          </a:solidFill>
          <a:ln/>
        </p:spPr>
      </p:sp>
      <p:sp>
        <p:nvSpPr>
          <p:cNvPr id="3" name="Shape 1"/>
          <p:cNvSpPr/>
          <p:nvPr/>
        </p:nvSpPr>
        <p:spPr>
          <a:xfrm>
            <a:off x="8686800" y="4114800"/>
            <a:ext cx="5029200" cy="5029200"/>
          </a:xfrm>
          <a:prstGeom prst="ellipse">
            <a:avLst/>
          </a:prstGeom>
          <a:solidFill>
            <a:srgbClr val="27492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Επίλογος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Να απαντηθεί ό,τι ζήτησε η επιχείρηση,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και να μην απαντηθεί ό,τι τα δεδομένα δεν επιτρέπουν.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114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D7E5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Ευχαριστώ για την προσοχή σας.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892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Ερωτήσεις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 · Χρήστος Μουρτογιάννης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2026-08-26T18:03:13Z</dcterms:created>
  <dcterms:modified xsi:type="dcterms:W3CDTF">2026-08-26T18:03:13Z</dcterms:modified>
</cp:coreProperties>
</file>