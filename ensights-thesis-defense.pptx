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Η πρώτη διαφάνεια: ποιος είσαι, ποιο είναι το θέμα, ποιος σε επιβλέπει, πότε γίνεται η παρουσίαση. Τίποτα τεχνικό, απλές συστάσεις.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Ο χάρτης της παρουσίασης: τι θα πεις πρώτα, τι μετά, πώς κλείνει. Βοηθάει το κοινό να ξέρει πού βρίσκεσαι ανά πάσα στιγμή.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Απλή διαφάνεια-τίτλος. Λέει «τώρα μπαίνουμε στην πρώτη ενότητα». Καμία πληροφορία, μόνο αλλαγή θέματος.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Φαντάσου ένα μαγαζί που έχει καταγράψει κάθε πώληση εδώ και χρόνια, αλλά ο ιδιοκτήτης παίρνει αποφάσεις με το μάτι, χωρίς ποτέ να κοιτάξει αυτά τα δεδομένα. Αυτό είναι το πρόβλημα: τα δεδομένα υπάρχουν, αλλά κανείς δεν τα χρησιμοποιεί. Η δουλειά φτιάχνει το εργαλείο που τα διαβάζει και βγάζει χρήσιμα συμπεράσματα.
ΠΙΘΑΝΗ ΕΡΩΤΗΣΗ: «Γιατί δεν το κάνει ήδη η επιχείρηση μόνη της;» Επειδή χρειάζεται εξειδικευμένη γνώση data mining και machine learning. Δεν είναι κάτι που κάνεις με ένα απλό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Οι 7 απλές ερωτήσεις που θα έκανε κάθε μαγαζάτορας: «ποιο προϊόν πουλάει καλύτερα;», «ποιος πελάτης αγοράζει πιο πολύ;» και ούτω καθεξής. Η δουλειά ξεκίνησε απαντώντας ακριβώς σε αυτά, και μετά πρόσθεσε πιο σύνθετα κομμάτια: οικονομικά μεγέθη και τρεις τεχνικές μηχανικής μάθησης.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Δύο κανόνες που ακολουθεί όλη η δουλειά.
ΜΑΘΗΜΑΤΙΚΑ: Γενικότητα: το σύστημα δεν είναι φτιαγμένο μόνο για αυτό το μαγαζί, δουλεύει με οποιοδήποτε μαγαζί, σαν πρίζα που ταιριάζει παντού. Ειλικρίνεια: αν κάτι δεν μπορεί να μετρηθεί με σιγουριά, π.χ. το κέρδος γιατί δεν ξέρουμε το κόστος, το σύστημα δεν προσποιείται ότι το ξέρει. Λέει ξεκάθαρα «αυτό είναι υπόθεση, όχι μέτρηση».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Αλλαγή ενότητας: τώρα εξηγείς τη θεωρία πίσω από τις τεχνικές, πριν δείξεις τα αποτελέσματα.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Φαντάσου χιλιάδες αποδείξεις από ένα μαγαζί. Θέλεις να βρεις ποια προϊόντα αγοράζονται μαζί συχνά, π.χ. «όποιος παίρνει ψωμί, συχνά παίρνει και βούτυρο».
ΜΑΘΗΜΑΤΙΚΑ: 10 αποδείξεις, οι 3 έχουν ψωμί+βούτυρο. Support = 3/10 = 0,3. Το ψωμί σε 5 συνολικά, άρα Confidence(ψωμί→βούτυρο) = 3/5 = 0,6. Αν το βούτυρο είναι ούτως ή άλλως δημοφιλές (support 0,8): Lift = 0,6/0,8 = 0,75, κάτω από 1, καμία πραγματική σχέση. Αν είναι σπάνιο (support 0,2): Lift = 0,6/0,2 = 3, τριπλάσια πιθανότητα από την τύχη. Το lift δείχνει αληθινή σχέση, όχι δημοφιλία του ενός.
ΠΙΘΑΝΗ ΕΡΩΤΗΣΗ: «Γιατί δύο αλγόριθμοι για το ίδιο πράγμα;» Το ζήτησε η επίβλεψη, και επέτρεψε να αποδειχθεί πειραματικά ότι δίνουν ταυτόσημο αποτέλεσμα, διαφέρουν μόνο στην ταχύτητα.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Έχεις έναν σωρό στοιχεία, π.χ. χώρες ή πελάτες, και θες να τα χωρίσεις σε ομάδες (clusters) όπου τα μέλη μοιάζουν μεταξύ τους. Ο k-means διαλέγει k κέντρα, βάζει κάθε στοιχείο στο πλησιέστερο, μετακινεί τα κέντρα στο μέσο της ομάδας, και επαναλαμβάνει μέχρι να σταθεροποιηθεί.
ΜΑΘΗΜΑΤΙΚΑ: Το J = Σ (απόσταση κάθε σημείου από το κέντρο του)² μετράει πόσο μαζεμένη είναι κάθε ομάδα, το θέλουμε όσο πιο μικρό γίνεται. Silhouette: συγκρίνει πόσο κοντά είναι κάθε σημείο στη δική του ομάδα σε σχέση με την πιο κοντινή άλλη. Κοντά στο +1 καλό, στο 0 μπερδεμένο, στο −1 λάθος ομάδα. Δοκιμάζουμε πολλά k και κρατάμε το καλύτερο μέσο score.
ΠΙΘΑΝΗ ΕΡΩΤΗΣΗ: «Γιατί δύο επίπεδα clustering;» Το ζήτησε η επίβλεψη: πρώτα ανά περιοχή και χρόνο, μετά μέσα σε κάθε ομάδα ξανά με RFM. Πληροφορία σε δύο επίπεδα αντί για ένα.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RFM είναι 3 απλοί αριθμοί για κάθε πελάτη: Recency, πόσο πρόσφατα αγόρασε, Frequency, πόσο συχνά αγοράζει, και Monetary, πόσα έχει ξοδέψει συνολικά. Κάποια οικονομικά μεγέθη, π.χ. πόσα έσοδα μπήκαν συνολικά, υπολογίζονται απευθείας από τα δεδομένα. Άλλα, π.χ. πόσο κέρδος θα φέρει ένας πελάτης στο μέλλον, χρειάζονται υποθέσεις που δεν υπάρχουν στα δεδομένα.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Αλλαγή ενότητας: τώρα εξηγείς πώς είναι φτιαγμένο το σύστημα και τι δεδομένα χρησιμοποιεί.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Αυτό είναι το πείραμα πάνω στο οποίο δοκιμάστηκε όλο το σύστημα: πραγματικές πωλήσεις ενός βρετανικού καταστήματος χονδρικής πώλησης δώρων, 2009 έως 2011. Πάνω από ένα εκατομμύριο γραμμές δεδομένων.
ΠΙΘΑΝΗ ΕΡΩΤΗΣΗ: «Γιατί αυτό το dataset;» Είναι δημόσιο, οπότε ο καθένας μπορεί να το ελέγξει. Το χρησιμοποίησε ήδη άλλη επιστημονική εργασία, οπότε μπορείς να συγκρίνεις. Και έχει επιστροφές, οπότε μπορείς να απαντήσεις το ερώτημα των επιστροφών.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πίσω μέρος του συστήματος. Φαντάσου το σαν κτίριο με τέσσερις ορόφους: πάνω-πάνω το API, που δέχεται ερωτήματα, μετά τα services, η λογική της επιχείρησης, μετά τα repositories, που πάνε και φέρνουν δεδομένα, και κάτω-κάτω η βάση δεδομένων. Κάθε όροφος μιλάει μόνο με τον διπλανό του, ποτέ δεν παρακάμπτει επίπεδα. Έτσι, αν χρειαστεί να αλλάξεις κάτι σε έναν όροφο, δεν χρειάζεται να πειράξεις τους υπόλοιπους.
ΠΙΘΑΝΗ ΕΡΩΤΗΣΗ: «Γιατί FastAPI, PostgreSQL και Celery;» Το FastAPI είναι φτιαγμένο για ασύγχρονη δουλειά, ταιριάζει με αργές αναλύσεις. Η PostgreSQL κάνει σύνθετα ερωτήματα απευθείας στη βάση. Το Celery τρέχει δουλειές στο παρασκήνιο χωρίς να μπλοκάρει τον χρήστη που περιμένει απάντηση.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Δείχνει πώς το σύστημα δουλεύει με οποιοδήποτε μαγαζί, όχι μόνο με το συγκεκριμένο dataset. Κάθε μαγαζί έχει δικά του «Πελάτες», «Προϊόντα» και τα λοιπά, αλλά όλα μεταφράζονται στην ίδια κοινή γλώσσα, έξι βασικές έννοιες. Υπάρχουν τρεις τρόποι να στείλεις δεδομένα στο σύστημα, και μόνο ο ένας χρειάζεται να γραφτεί καινούριος κώδικας.
ΠΙΘΑΝΗ ΕΡΩΤΗΣΗ: «Πώς αποδεικνύεται ότι είναι πραγματικά γενικό, και όχι απλώς σχεδιασμένο να φαίνεται έτσι;» Δοκιμάστηκε πάνω σε δεύτερη πηγή δεδομένων, εντελώς διαφορετική σε σχήμα και ονόματα από το Online Retail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Δύο απλά γραφήματα: ποια προϊόντα έφεραν τα περισσότερα έσοδα, ποιες χώρες αγόρασαν τα περισσότερα. Έκπληξη: το προϊόν με τις περισσότερες μονάδες δεν είναι πάντα αυτό με τα περισσότερα έσοδα. Ένα ακριβό προϊόν μπορεί να πουλήσει λιγότερα κομμάτια αλλά να φέρει περισσότερα χρήματα συνολικά.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Πότε μέσα στο χρόνο γίνονται οι πωλήσεις; Ο Νοέμβριος είναι ο πιο δυνατός μήνας, λόγω προετοιμασίας για τα Χριστούγεννα, και κάποιες μέρες της εβδομάδας πουλάνε καλύτερα από άλλες.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Χωρίζει τα προϊόντα σε φθηνά και ακριβά, και σε κατηγορίες όπως κουζίνα ή vintage, βασισμένα στις λέξεις της περιγραφής τους. Τίμιο σημείο: το 38,9% των εσόδων δεν μπόρεσε να κατηγοριοποιηθεί, γιατί δεν υπήρχε επίσημη κατηγορία στα δεδομένα, μόνο ελεύθερο κείμενο. Αυτό λέγεται ανοιχτά αντί να κρύβεται.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Καλάθι σημαίνει όλα τα προϊόντα μιας παραγγελίας μαζί. Ο πελάτης στη μέση (το διάμεσο, όχι ο μέσος όρος) έβαζε 17 διαφορετικά προϊόντα σε ένα καλάθι, χαρακτηριστικό χονδρεμπορίου και όχι απλής λιανικής. Δείχνει επίσης ότι οι δύο αλγόριθμοι έδωσαν ακριβώς το ίδιο αποτέλεσμα, με τον FP-Growth περίπου 2,6 φορές πιο γρήγορο.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Δείχνει τι συμβαίνει αν αλλάξεις το κατώφλι, δηλαδή πόσο σπάνιο επιτρέπεις να είναι ένα σύνολο προϊόντων για να το μετρήσουμε. Πιο αυστηρό κατώφλι σημαίνει λιγότεροι αλλά πιο σίγουροι κανόνες. Ο πιο δυνατός κανόνας: τρία χρώματα του ίδιου σετ τσαγιού αγοράζονται μαζί 25 φορές πιο συχνά απ' ό,τι τυχαία. Βλέπε τη Διαφάνεια 8 για το πώς υπολογίζεται το lift.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Χωρίζει τις χώρες σε ομάδες βάσει εσόδων, παραγγελιών και δραστηριότητας μέσα στον χρόνο. Το αποτέλεσμα: μόνο δύο ομάδες βγαίνουν φυσικά. Το Ηνωμένο Βασίλειο μόνο του, γιατί αγοράζει σχεδόν κάθε μήνα, και όλες οι υπόλοιπες 42 χώρες μαζί, γιατί αγοράζουν σποραδικά, λίγες φορές τον χρόνο.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Μέσα σε κάθε ομάδα χωρών, ξαναχωρίζουμε τους πελάτες σε δύο τύπους: τους συνηθισμένους, πολλοί σε αριθμό αλλά αγοράζουν λίγες φορές και μικρά ποσά, και τους λεγόμενους whales, ελάχιστοι σε αριθμό αλλά αγοράζουν συχνά και τεράστια ποσά. Αυτή η ίδια δομή εμφανίζεται και στις δύο ομάδες χωρών, ανεξάρτητα.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Μαντεύει τις πωλήσεις των επόμενων μηνών από το ιστορικό: γενική τάση, και αν φτάνει το ιστορικό, ετήσιο μοτίβο. Ενδιαφέρουσα ιστορία: το πρώτο αποτέλεσμα φαινόταν χειρότερο από το χαζό μάντεμα. Ο τελευταίος μήνας είχε μόνο 9 μέρες αντί για 30, οπότε έμοιαζε με κατάρρευση ενώ ήταν απλώς κομμένος. Μόλις εξαιρέθηκε, το μοντέλο βγήκε καλύτερο.
ΜΑΘΗΜΑΤΙΚΑ: Skill score = 1 − (δικό μας σφάλμα / σφάλμα του χαζού μαντέματος «ίδιο με τον προηγούμενο μήνα»). Θετικό: νικάμε το χαζό μάντεμα. Αρνητικό: χάνουμε από αυτό.
ΠΙΘΑΝΗ ΕΡΩΤΗΣΗ: «Γιατί Holt-Winters και όχι ARIMA ή deep learning;» Διαφανές, λίγες παράμετροι, δουλεύει με λίγο ιστορικό. Έχουμε μόλις 24-25 μήνες. Δηλώνεται ρητά ότι δεν είναι η ακριβέστερη, το skill score δείχνει το όριο.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Σπάει τη μεταβολή των εσόδων κάθε μήνα σε έξι κουβάδες: πόσα έφεραν νέοι πελάτες, πόσα έφεραν παλιοί που ξαναγύρισαν, πόσα ήταν ίδια με πριν, πόσα ήταν μπόνους από υπάρχοντες πελάτες που ξόδεψαν παραπάνω, πόσα χάθηκαν από πελάτες που ξόδεψαν λιγότερο, και πόσα χάθηκαν εντελώς από πελάτες που έφυγαν.
ΜΑΘΗΜΑΤΙΚΑ: Quick ratio = (καλά πράγματα) / (κακά πράγματα), δηλαδή (νέα + αναβιωμένα + επέκταση) / (συρρίκνωση + απώλεια). Πάνω από 1 σημαίνει ότι η επιχείρηση μεγαλώνει. Κάτω από 1 σημαίνει ότι μικραίνει.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72,4% των πελατών ξαναγόρασαν, πολύ υψηλό ποσοστό που δείχνει χονδρεμπόριο και όχι απλή λιανική. Ο συντελεστής Gini δείχνει πόσο άνισα μοιράζονται τα έσοδα ανάμεσα στους πελάτες. Αλλά ο μεγαλύτερος μεμονωμένος πελάτης είναι μόλις 3,3% των εσόδων, άρα δεν υπάρχει κίνδυνος αν φύγει ένας και μόνο πελάτης.
ΜΑΘΗΜΑΤΙΚΑ: Ο δείκτης Gini: φαντάσου 100 ανθρώπους κι ένα χρηματοκιβώτιο. Αν όλοι έχουν ακριβώς τα ίδια λεφτά, αυτό είναι απόλυτα δίκαιο, Gini = 0. Αν ένας άνθρωπος έχει όλα τα λεφτά και οι υπόλοιποι τίποτα, αυτό είναι απόλυτα άδικο, Gini = 1. Το δικό μας νούμερο, 0,740, είναι πιο κοντά στο άδικο άκρο, αλλά όχι στο μέγιστο.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πιο σημαντικό κομμάτι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τόσο, τότε βγαίνει αυτό. Και δοκιμάζουμε πολλούς συνδυασμούς.
ΜΑΘΗΜΑΤΙΚΑ: LTV:CAC = πόσα φέρνει συνολικά ένας πελάτης (LTV) διά πόσο κόστισε να τον αποκτήσεις (CAC). Πληρώνεις 100 και σου φέρνει 300 κέρδος: 3:1, καλή επένδυση. Σου φέρνει 90: έχασες λεφτά.
ΠΙΘΑΝΗ ΕΡΩΤΗΣΗ: «Γιατί δεν υποθέτετε ένα λογικό περιθώριο για μια τελική απάντηση;» Θα ήταν υπόθεση ντυμένη σαν εύρημα. Δηλώνουμε τις παραδοχές και δείχνουμε πώς αλλάζει το συμπέρασμα.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Αλλαγή ενότητας: τώρα δείχνεις πραγματικά screenshots και πραγματικές αποκρίσεις του συστήματος, όχι μόνο θεωρία.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Δείχνει την πραγματική απάντηση που δίνει το σύστημα όταν κάποιος, πρόγραμμα ή άνθρωπος, ζητήσει μια ανάλυση, σε μορφή JSON: έναν απλό τρόπο να γράφεις δεδομένα ώστε να τα διαβάζουν εύκολα υπολογιστές. Δεν είναι εφεύρεση για την παρουσίαση. Είναι ακριβώς ό,τι επιστρέφει το πρόγραμμα όταν του ζητήσεις πρόβλεψη πωλήσεων ή Growth Accounting.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Δύο ακόμα πραγματικές αποκρίσεις: το clustering (με το silhouette score μέσα στην ίδια απάντηση, ώστε να ελέγχεται) και η κερδοφορία, όπου η δήλωση «σενάριο, όχι μέτρηση» υπάρχει κυριολεκτικά μέσα στο JSON, ώστε να μην μπορεί να αφαιρεθεί κατά λάθος.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του πραγματικού dashboard, εκεί όπου ο ιδιοκτήτης του μαγαζιού, που δεν ξέρει προγραμματισμό, μπορεί να δει τα ίδια νούμερα σε πίνακες, χωρίς να χρειάζεται να καλέσει το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Δύο ακόμα screenshots: πώς φαίνονται οι κανόνες συσχέτισης μέσα στο Metabase, και πώς φαίνεται η σελίδα όπου μπορεί κανείς να δοκιμάσει ζωντανά το API, το λεγόμενο Swagger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Αλλαγή ενότητας: τώρα κλείνεις με το τι βρέθηκε, τι αξίζει, τι δεν μπορεί να κάνει η δουλειά, και τι θα μπορούσε να γίνει μετά.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Η περίληψη όλης της δουλειάς σε έξι προτάσεις. Αν κάποιος θυμάται μόνο μία διαφάνεια από όλη την παρουσίαση, καλό είναι να είναι αυτή.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«Και λοιπόν, τι κάνει ο ιδιοκτήτης του μαγαζιού με όλα αυτά;» Δύο στήλες: τι βοηθάει στις αποφάσεις marketing, τι βοηθάει στις αποφάσεις πωλήσεων και αποθέματος.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Τα πέντε πράγματα που η δουλειά δεν μπορεί να κάνει, δηλωμένα ανοιχτά αντί να κρύβονται. Το πιο σημαντικό: δεν ξέρουμε το κόστος του μαγαζιού, οπότε δεν μπορούμε να πούμε με σιγουριά αν είναι πραγματικά κερδοφόρο.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Πέντε ιδέες για το τι θα μπορούσε να γίνει μετά, αν κάποιος συνέχιζε αυτή τη δουλειά: δεύτερο πραγματικό κατάστημα για σύγκριση, προβλεπτική αξία πελάτη, γεωγραφική ιεραρχία, εξέλιξη κανόνων συσχέτισης με τον καιρό, και ενσωμάτωση πραγματικού κόστους.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Η τελευταία διαφάνεια, 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7863840" y="-2103120"/>
            <a:ext cx="6400800" cy="6400800"/>
          </a:xfrm>
          <a:prstGeom prst="ellipse">
            <a:avLst/>
          </a:prstGeom>
          <a:solidFill>
            <a:srgbClr val="1B3A1E"/>
          </a:solidFill>
          <a:ln/>
        </p:spPr>
      </p:sp>
      <p:sp>
        <p:nvSpPr>
          <p:cNvPr id="4" name="Shape 1"/>
          <p:cNvSpPr/>
          <p:nvPr/>
        </p:nvSpPr>
        <p:spPr>
          <a:xfrm>
            <a:off x="-2011680" y="4389120"/>
            <a:ext cx="4114800" cy="4114800"/>
          </a:xfrm>
          <a:prstGeom prst="ellipse">
            <a:avLst/>
          </a:prstGeom>
          <a:solidFill>
            <a:srgbClr val="27492B"/>
          </a:solidFill>
          <a:ln/>
        </p:spPr>
      </p:sp>
      <p:sp>
        <p:nvSpPr>
          <p:cNvPr id="5" name="Text 2"/>
          <p:cNvSpPr txBox="1"/>
          <p:nvPr/>
        </p:nvSpPr>
        <p:spPr>
          <a:xfrm>
            <a:off x="548640" y="777240"/>
            <a:ext cx="10058400" cy="365760"/>
          </a:xfrm>
          <a:prstGeom prst="rect">
            <a:avLst/>
          </a:prstGeom>
          <a:noFill/>
          <a:ln/>
        </p:spPr>
        <p:txBody>
          <a:bodyPr wrap="square" lIns="0" tIns="0" rIns="0" bIns="0" rtlCol="0" anchor="ctr"/>
          <a:lstStyle/>
          <a:p>
            <a:pPr indent="0" marL="0">
              <a:buNone/>
            </a:pPr>
            <a:r>
              <a:rPr lang="en-US" sz="1400" b="1" spc="300" kern="0" dirty="0">
                <a:solidFill>
                  <a:srgbClr val="E8A33D"/>
                </a:solidFill>
                <a:latin typeface="Calibri" pitchFamily="34" charset="0"/>
                <a:ea typeface="Calibri" pitchFamily="34" charset="-122"/>
                <a:cs typeface="Calibri" pitchFamily="34" charset="-120"/>
              </a:rPr>
              <a:t>ΔΙΠΛΩΜΑΤΙΚΗ ΕΡΓΑΣΙΑ</a:t>
            </a:r>
            <a:endParaRPr lang="en-US" sz="1400" dirty="0"/>
          </a:p>
        </p:txBody>
      </p:sp>
      <p:sp>
        <p:nvSpPr>
          <p:cNvPr id="6" name="Text 3"/>
          <p:cNvSpPr txBox="1"/>
          <p:nvPr/>
        </p:nvSpPr>
        <p:spPr>
          <a:xfrm>
            <a:off x="548640" y="1234440"/>
            <a:ext cx="10058400" cy="1645920"/>
          </a:xfrm>
          <a:prstGeom prst="rect">
            <a:avLst/>
          </a:prstGeom>
          <a:noFill/>
          <a:ln/>
        </p:spPr>
        <p:txBody>
          <a:bodyPr wrap="square" lIns="0" tIns="0" rIns="0" bIns="0" rtlCol="0" anchor="ctr"/>
          <a:lstStyle/>
          <a:p>
            <a:pPr indent="0" marL="0">
              <a:lnSpc>
                <a:spcPct val="108000"/>
              </a:lnSpc>
              <a:buNone/>
            </a:pPr>
            <a:r>
              <a:rPr lang="en-US" sz="3800" b="1" dirty="0">
                <a:solidFill>
                  <a:srgbClr val="FFFFFF"/>
                </a:solidFill>
                <a:latin typeface="Cambria" pitchFamily="34" charset="0"/>
                <a:ea typeface="Cambria" pitchFamily="34" charset="-122"/>
                <a:cs typeface="Cambria" pitchFamily="34" charset="-120"/>
              </a:rPr>
              <a:t>Εξαγωγή Ευφυών Αναλύσεων από Δεδομένα Ηλεκτρονικού Εμπορίου</a:t>
            </a:r>
            <a:endParaRPr lang="en-US" sz="3800" dirty="0"/>
          </a:p>
        </p:txBody>
      </p:sp>
      <p:sp>
        <p:nvSpPr>
          <p:cNvPr id="7" name="Text 4"/>
          <p:cNvSpPr txBox="1"/>
          <p:nvPr/>
        </p:nvSpPr>
        <p:spPr>
          <a:xfrm>
            <a:off x="548640" y="2880360"/>
            <a:ext cx="10058400" cy="411480"/>
          </a:xfrm>
          <a:prstGeom prst="rect">
            <a:avLst/>
          </a:prstGeom>
          <a:noFill/>
          <a:ln/>
        </p:spPr>
        <p:txBody>
          <a:bodyPr wrap="square" lIns="0" tIns="0" rIns="0" bIns="0" rtlCol="0" anchor="ctr"/>
          <a:lstStyle/>
          <a:p>
            <a:pPr indent="0" marL="0">
              <a:buNone/>
            </a:pPr>
            <a:r>
              <a:rPr lang="en-US" sz="1600" i="1" dirty="0">
                <a:solidFill>
                  <a:srgbClr val="D7E5D2"/>
                </a:solidFill>
                <a:latin typeface="Calibri" pitchFamily="34" charset="0"/>
                <a:ea typeface="Calibri" pitchFamily="34" charset="-122"/>
                <a:cs typeface="Calibri" pitchFamily="34" charset="-120"/>
              </a:rPr>
              <a:t>Ensights: Extraction of Intelligent Analytics from E-Commerce Data</a:t>
            </a:r>
            <a:endParaRPr lang="en-US" sz="1600" dirty="0"/>
          </a:p>
        </p:txBody>
      </p:sp>
      <p:sp>
        <p:nvSpPr>
          <p:cNvPr id="8" name="Shape 5"/>
          <p:cNvSpPr/>
          <p:nvPr/>
        </p:nvSpPr>
        <p:spPr>
          <a:xfrm>
            <a:off x="548640" y="3520440"/>
            <a:ext cx="2011680" cy="0"/>
          </a:xfrm>
          <a:prstGeom prst="line">
            <a:avLst/>
          </a:prstGeom>
          <a:noFill/>
          <a:ln w="12700">
            <a:solidFill>
              <a:srgbClr val="4A7350"/>
            </a:solidFill>
            <a:prstDash val="solid"/>
          </a:ln>
        </p:spPr>
      </p:sp>
      <p:sp>
        <p:nvSpPr>
          <p:cNvPr id="9" name="Text 6"/>
          <p:cNvSpPr txBox="1"/>
          <p:nvPr/>
        </p:nvSpPr>
        <p:spPr>
          <a:xfrm>
            <a:off x="548640" y="3703320"/>
            <a:ext cx="6949440" cy="1371600"/>
          </a:xfrm>
          <a:prstGeom prst="rect">
            <a:avLst/>
          </a:prstGeom>
          <a:noFill/>
          <a:ln/>
        </p:spPr>
        <p:txBody>
          <a:bodyPr wrap="square" lIns="0" tIns="0" rIns="0" bIns="0" rtlCol="0" anchor="t"/>
          <a:lstStyle/>
          <a:p>
            <a:pPr indent="0" marL="0">
              <a:spcAft>
                <a:spcPts val="400"/>
              </a:spcAft>
              <a:buNone/>
            </a:pPr>
            <a:r>
              <a:rPr lang="en-US" sz="1700" b="1" dirty="0">
                <a:solidFill>
                  <a:srgbClr val="FFFFFF"/>
                </a:solidFill>
              </a:rPr>
              <a:t>Χρήστος Μουρτογιάννης</a:t>
            </a:r>
            <a:endParaRPr lang="en-US" sz="1700" dirty="0"/>
          </a:p>
          <a:p>
            <a:pPr indent="0" marL="0">
              <a:spcAft>
                <a:spcPts val="1200"/>
              </a:spcAft>
              <a:buNone/>
            </a:pPr>
            <a:r>
              <a:rPr lang="en-US" sz="1250" dirty="0">
                <a:solidFill>
                  <a:srgbClr val="D7E5D2"/>
                </a:solidFill>
              </a:rPr>
              <a:t>Διατμηματικό ΠΡΜΣ «Διοίκηση και Οικονομική Τηλεπικοινωνιακών Δικτύων και Πληροφοριακών Συστημάτων»</a:t>
            </a:r>
            <a:endParaRPr lang="en-US" sz="1700" dirty="0"/>
          </a:p>
          <a:p>
            <a:pPr indent="0" marL="0">
              <a:buNone/>
            </a:pPr>
            <a:r>
              <a:rPr lang="en-US" sz="1250" dirty="0">
                <a:solidFill>
                  <a:srgbClr val="D7E5D2"/>
                </a:solidFill>
              </a:rPr>
              <a:t>Εθνικό και Καποδιστριακό Πανεπιστήμιο Αθηνών, Τμήμα Πληροφορικής και Τηλεπικοινωνιών</a:t>
            </a:r>
            <a:endParaRPr lang="en-US" sz="1700" dirty="0"/>
          </a:p>
        </p:txBody>
      </p:sp>
      <p:sp>
        <p:nvSpPr>
          <p:cNvPr id="10" name="Text 7"/>
          <p:cNvSpPr txBox="1"/>
          <p:nvPr/>
        </p:nvSpPr>
        <p:spPr>
          <a:xfrm>
            <a:off x="7360920" y="3703320"/>
            <a:ext cx="4297680" cy="27432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Τριμελής Εξεταστική Επιτροπή</a:t>
            </a:r>
            <a:endParaRPr lang="en-US" sz="1200" dirty="0"/>
          </a:p>
        </p:txBody>
      </p:sp>
      <p:sp>
        <p:nvSpPr>
          <p:cNvPr id="11" name="Text 8"/>
          <p:cNvSpPr txBox="1"/>
          <p:nvPr/>
        </p:nvSpPr>
        <p:spPr>
          <a:xfrm>
            <a:off x="7360920" y="4023360"/>
            <a:ext cx="4297680" cy="384048"/>
          </a:xfrm>
          <a:prstGeom prst="rect">
            <a:avLst/>
          </a:prstGeom>
          <a:noFill/>
          <a:ln/>
        </p:spPr>
        <p:txBody>
          <a:bodyPr wrap="square" lIns="0" tIns="0" rIns="0" bIns="0" rtlCol="0" anchor="t"/>
          <a:lstStyle/>
          <a:p>
            <a:pPr indent="0" marL="0">
              <a:buNone/>
            </a:pPr>
            <a:r>
              <a:rPr lang="en-US" sz="1100" b="1" dirty="0">
                <a:solidFill>
                  <a:srgbClr val="D7E5D2"/>
                </a:solidFill>
              </a:rPr>
              <a:t>Επιβλέπων:  </a:t>
            </a:r>
            <a:pPr indent="0" marL="0">
              <a:buNone/>
            </a:pPr>
            <a:r>
              <a:rPr lang="en-US" sz="1100" dirty="0">
                <a:solidFill>
                  <a:srgbClr val="FFFFFF"/>
                </a:solidFill>
              </a:rPr>
              <a:t>Ευστάθιος Χατζηευθυμιάδης, Καθηγητής, ΕΚΠΑ</a:t>
            </a:r>
            <a:endParaRPr lang="en-US" sz="1100" dirty="0"/>
          </a:p>
        </p:txBody>
      </p:sp>
      <p:sp>
        <p:nvSpPr>
          <p:cNvPr id="12" name="Text 9"/>
          <p:cNvSpPr txBox="1"/>
          <p:nvPr/>
        </p:nvSpPr>
        <p:spPr>
          <a:xfrm>
            <a:off x="7360920" y="4407408"/>
            <a:ext cx="4297680" cy="384048"/>
          </a:xfrm>
          <a:prstGeom prst="rect">
            <a:avLst/>
          </a:prstGeom>
          <a:noFill/>
          <a:ln/>
        </p:spPr>
        <p:txBody>
          <a:bodyPr wrap="square" lIns="0" tIns="0" rIns="0" bIns="0" rtlCol="0" anchor="t"/>
          <a:lstStyle/>
          <a:p>
            <a:pPr indent="0" marL="0">
              <a:buNone/>
            </a:pPr>
            <a:r>
              <a:rPr lang="en-US" sz="1100" b="1" dirty="0">
                <a:solidFill>
                  <a:srgbClr val="D7E5D2"/>
                </a:solidFill>
              </a:rPr>
              <a:t>Εξεταστής:  </a:t>
            </a:r>
            <a:pPr indent="0" marL="0">
              <a:buNone/>
            </a:pPr>
            <a:r>
              <a:rPr lang="en-US" sz="1100" dirty="0">
                <a:solidFill>
                  <a:srgbClr val="FFFFFF"/>
                </a:solidFill>
              </a:rPr>
              <a:t>Κωνσταντίνος Κολομβάτσος, Παν. Θεσσαλίας</a:t>
            </a:r>
            <a:endParaRPr lang="en-US" sz="1100" dirty="0"/>
          </a:p>
        </p:txBody>
      </p:sp>
      <p:sp>
        <p:nvSpPr>
          <p:cNvPr id="13" name="Text 10"/>
          <p:cNvSpPr txBox="1"/>
          <p:nvPr/>
        </p:nvSpPr>
        <p:spPr>
          <a:xfrm>
            <a:off x="7360920" y="4791456"/>
            <a:ext cx="4297680" cy="384048"/>
          </a:xfrm>
          <a:prstGeom prst="rect">
            <a:avLst/>
          </a:prstGeom>
          <a:noFill/>
          <a:ln/>
        </p:spPr>
        <p:txBody>
          <a:bodyPr wrap="square" lIns="0" tIns="0" rIns="0" bIns="0" rtlCol="0" anchor="t"/>
          <a:lstStyle/>
          <a:p>
            <a:pPr indent="0" marL="0">
              <a:buNone/>
            </a:pPr>
            <a:r>
              <a:rPr lang="en-US" sz="1100" b="1" dirty="0">
                <a:solidFill>
                  <a:srgbClr val="D7E5D2"/>
                </a:solidFill>
              </a:rPr>
              <a:t>Εξεταστής:  </a:t>
            </a:r>
            <a:pPr indent="0" marL="0">
              <a:buNone/>
            </a:pPr>
            <a:r>
              <a:rPr lang="en-US" sz="1100" dirty="0">
                <a:solidFill>
                  <a:srgbClr val="FFFFFF"/>
                </a:solidFill>
              </a:rPr>
              <a:t>Μιλτιάδης Κυριακάκος, ΕΔΙΠ, ΕΚΠΑ</a:t>
            </a:r>
            <a:endParaRPr lang="en-US" sz="1100" dirty="0"/>
          </a:p>
        </p:txBody>
      </p:sp>
      <p:sp>
        <p:nvSpPr>
          <p:cNvPr id="14" name="Text 11"/>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200" dirty="0">
                <a:solidFill>
                  <a:srgbClr val="D7E5D2"/>
                </a:solidFill>
                <a:latin typeface="Calibri" pitchFamily="34" charset="0"/>
                <a:ea typeface="Calibri" pitchFamily="34" charset="-122"/>
                <a:cs typeface="Calibri" pitchFamily="34" charset="-120"/>
              </a:rPr>
              <a:t>Αθήνα, Οκτώβριος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ΠΕΡΙΕΧΟΜΕΝΑ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Δομή παρουσίασης</a:t>
            </a:r>
            <a:endParaRPr lang="en-US" sz="3000" dirty="0"/>
          </a:p>
        </p:txBody>
      </p:sp>
      <p:sp>
        <p:nvSpPr>
          <p:cNvPr id="5" name="Shape 2"/>
          <p:cNvSpPr/>
          <p:nvPr/>
        </p:nvSpPr>
        <p:spPr>
          <a:xfrm>
            <a:off x="548640" y="1463040"/>
            <a:ext cx="502920" cy="502920"/>
          </a:xfrm>
          <a:prstGeom prst="ellipse">
            <a:avLst/>
          </a:prstGeom>
          <a:solidFill>
            <a:srgbClr val="2C5530"/>
          </a:solidFill>
          <a:ln/>
        </p:spPr>
      </p:sp>
      <p:sp>
        <p:nvSpPr>
          <p:cNvPr id="6" name="Text 3"/>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400" b="1" dirty="0">
                <a:solidFill>
                  <a:srgbClr val="E8A33D"/>
                </a:solidFill>
                <a:latin typeface="Cambria" pitchFamily="34" charset="0"/>
                <a:ea typeface="Cambria" pitchFamily="34" charset="-122"/>
                <a:cs typeface="Cambria" pitchFamily="34" charset="-120"/>
              </a:rPr>
              <a:t>01</a:t>
            </a:r>
            <a:endParaRPr lang="en-US" sz="1400" dirty="0"/>
          </a:p>
        </p:txBody>
      </p:sp>
      <p:sp>
        <p:nvSpPr>
          <p:cNvPr id="7" name="Text 4"/>
          <p:cNvSpPr txBox="1"/>
          <p:nvPr/>
        </p:nvSpPr>
        <p:spPr>
          <a:xfrm>
            <a:off x="1280160" y="1417320"/>
            <a:ext cx="9875520" cy="777240"/>
          </a:xfrm>
          <a:prstGeom prst="rect">
            <a:avLst/>
          </a:prstGeom>
          <a:noFill/>
          <a:ln/>
        </p:spPr>
        <p:txBody>
          <a:bodyPr wrap="square" lIns="0" tIns="0" rIns="0" bIns="0" rtlCol="0" anchor="t"/>
          <a:lstStyle/>
          <a:p>
            <a:pPr indent="0" marL="0">
              <a:spcAft>
                <a:spcPts val="200"/>
              </a:spcAft>
              <a:buNone/>
            </a:pPr>
            <a:r>
              <a:rPr lang="en-US" sz="1450" b="1" dirty="0">
                <a:solidFill>
                  <a:srgbClr val="2C5530"/>
                </a:solidFill>
              </a:rPr>
              <a:t>Κίνητρο &amp; Στόχοι</a:t>
            </a:r>
            <a:endParaRPr lang="en-US" sz="1450" dirty="0"/>
          </a:p>
          <a:p>
            <a:pPr indent="0" marL="0">
              <a:buNone/>
            </a:pPr>
            <a:r>
              <a:rPr lang="en-US" sz="1150" dirty="0">
                <a:solidFill>
                  <a:srgbClr val="6B6259"/>
                </a:solidFill>
              </a:rPr>
              <a:t>Το κενό δεδομένων–αποφάσεων και τα επτά ερωτήματα της επιχείρησης</a:t>
            </a:r>
            <a:endParaRPr lang="en-US" sz="1450" dirty="0"/>
          </a:p>
        </p:txBody>
      </p:sp>
      <p:sp>
        <p:nvSpPr>
          <p:cNvPr id="8" name="Shape 5"/>
          <p:cNvSpPr/>
          <p:nvPr/>
        </p:nvSpPr>
        <p:spPr>
          <a:xfrm>
            <a:off x="548640" y="2240280"/>
            <a:ext cx="502920" cy="502920"/>
          </a:xfrm>
          <a:prstGeom prst="ellipse">
            <a:avLst/>
          </a:prstGeom>
          <a:solidFill>
            <a:srgbClr val="2C5530"/>
          </a:solidFill>
          <a:ln/>
        </p:spPr>
      </p:sp>
      <p:sp>
        <p:nvSpPr>
          <p:cNvPr id="9"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400" b="1" dirty="0">
                <a:solidFill>
                  <a:srgbClr val="E8A33D"/>
                </a:solidFill>
                <a:latin typeface="Cambria" pitchFamily="34" charset="0"/>
                <a:ea typeface="Cambria" pitchFamily="34" charset="-122"/>
                <a:cs typeface="Cambria" pitchFamily="34" charset="-120"/>
              </a:rPr>
              <a:t>02</a:t>
            </a:r>
            <a:endParaRPr lang="en-US" sz="1400" dirty="0"/>
          </a:p>
        </p:txBody>
      </p:sp>
      <p:sp>
        <p:nvSpPr>
          <p:cNvPr id="10" name="Text 7"/>
          <p:cNvSpPr txBox="1"/>
          <p:nvPr/>
        </p:nvSpPr>
        <p:spPr>
          <a:xfrm>
            <a:off x="1280160" y="2194560"/>
            <a:ext cx="9875520" cy="777240"/>
          </a:xfrm>
          <a:prstGeom prst="rect">
            <a:avLst/>
          </a:prstGeom>
          <a:noFill/>
          <a:ln/>
        </p:spPr>
        <p:txBody>
          <a:bodyPr wrap="square" lIns="0" tIns="0" rIns="0" bIns="0" rtlCol="0" anchor="t"/>
          <a:lstStyle/>
          <a:p>
            <a:pPr indent="0" marL="0">
              <a:spcAft>
                <a:spcPts val="200"/>
              </a:spcAft>
              <a:buNone/>
            </a:pPr>
            <a:r>
              <a:rPr lang="en-US" sz="1450" b="1" dirty="0">
                <a:solidFill>
                  <a:srgbClr val="2C5530"/>
                </a:solidFill>
              </a:rPr>
              <a:t>Θεωρητικό Υπόβαθρο</a:t>
            </a:r>
            <a:endParaRPr lang="en-US" sz="1450" dirty="0"/>
          </a:p>
          <a:p>
            <a:pPr indent="0" marL="0">
              <a:buNone/>
            </a:pPr>
            <a:r>
              <a:rPr lang="en-US" sz="1150" dirty="0">
                <a:solidFill>
                  <a:srgbClr val="6B6259"/>
                </a:solidFill>
              </a:rPr>
              <a:t>Frequent itemset mining, clustering, RFM</a:t>
            </a:r>
            <a:endParaRPr lang="en-US" sz="1450" dirty="0"/>
          </a:p>
        </p:txBody>
      </p:sp>
      <p:sp>
        <p:nvSpPr>
          <p:cNvPr id="11" name="Shape 8"/>
          <p:cNvSpPr/>
          <p:nvPr/>
        </p:nvSpPr>
        <p:spPr>
          <a:xfrm>
            <a:off x="548640" y="3017520"/>
            <a:ext cx="502920" cy="502920"/>
          </a:xfrm>
          <a:prstGeom prst="ellipse">
            <a:avLst/>
          </a:prstGeom>
          <a:solidFill>
            <a:srgbClr val="2C5530"/>
          </a:solidFill>
          <a:ln/>
        </p:spPr>
      </p:sp>
      <p:sp>
        <p:nvSpPr>
          <p:cNvPr id="12" name="Text 9"/>
          <p:cNvSpPr txBox="1"/>
          <p:nvPr/>
        </p:nvSpPr>
        <p:spPr>
          <a:xfrm>
            <a:off x="548640" y="3017520"/>
            <a:ext cx="502920" cy="502920"/>
          </a:xfrm>
          <a:prstGeom prst="rect">
            <a:avLst/>
          </a:prstGeom>
          <a:noFill/>
          <a:ln/>
        </p:spPr>
        <p:txBody>
          <a:bodyPr wrap="square" lIns="0" tIns="0" rIns="0" bIns="0" rtlCol="0" anchor="ctr"/>
          <a:lstStyle/>
          <a:p>
            <a:pPr algn="ctr" indent="0" marL="0">
              <a:buNone/>
            </a:pPr>
            <a:r>
              <a:rPr lang="en-US" sz="1400" b="1" dirty="0">
                <a:solidFill>
                  <a:srgbClr val="E8A33D"/>
                </a:solidFill>
                <a:latin typeface="Cambria" pitchFamily="34" charset="0"/>
                <a:ea typeface="Cambria" pitchFamily="34" charset="-122"/>
                <a:cs typeface="Cambria" pitchFamily="34" charset="-120"/>
              </a:rPr>
              <a:t>03</a:t>
            </a:r>
            <a:endParaRPr lang="en-US" sz="1400" dirty="0"/>
          </a:p>
        </p:txBody>
      </p:sp>
      <p:sp>
        <p:nvSpPr>
          <p:cNvPr id="13" name="Text 10"/>
          <p:cNvSpPr txBox="1"/>
          <p:nvPr/>
        </p:nvSpPr>
        <p:spPr>
          <a:xfrm>
            <a:off x="1280160" y="2971800"/>
            <a:ext cx="9875520" cy="777240"/>
          </a:xfrm>
          <a:prstGeom prst="rect">
            <a:avLst/>
          </a:prstGeom>
          <a:noFill/>
          <a:ln/>
        </p:spPr>
        <p:txBody>
          <a:bodyPr wrap="square" lIns="0" tIns="0" rIns="0" bIns="0" rtlCol="0" anchor="t"/>
          <a:lstStyle/>
          <a:p>
            <a:pPr indent="0" marL="0">
              <a:spcAft>
                <a:spcPts val="200"/>
              </a:spcAft>
              <a:buNone/>
            </a:pPr>
            <a:r>
              <a:rPr lang="en-US" sz="1450" b="1" dirty="0">
                <a:solidFill>
                  <a:srgbClr val="2C5530"/>
                </a:solidFill>
              </a:rPr>
              <a:t>Αρχιτεκτονική &amp; Δεδομένα</a:t>
            </a:r>
            <a:endParaRPr lang="en-US" sz="1450" dirty="0"/>
          </a:p>
          <a:p>
            <a:pPr indent="0" marL="0">
              <a:buNone/>
            </a:pPr>
            <a:r>
              <a:rPr lang="en-US" sz="1150" dirty="0">
                <a:solidFill>
                  <a:srgbClr val="6B6259"/>
                </a:solidFill>
              </a:rPr>
              <a:t>Το σύνολο Online Retail II και η γενικότητα του συστήματος</a:t>
            </a:r>
            <a:endParaRPr lang="en-US" sz="1450" dirty="0"/>
          </a:p>
        </p:txBody>
      </p:sp>
      <p:sp>
        <p:nvSpPr>
          <p:cNvPr id="14" name="Shape 11"/>
          <p:cNvSpPr/>
          <p:nvPr/>
        </p:nvSpPr>
        <p:spPr>
          <a:xfrm>
            <a:off x="548640" y="3794760"/>
            <a:ext cx="502920" cy="502920"/>
          </a:xfrm>
          <a:prstGeom prst="ellipse">
            <a:avLst/>
          </a:prstGeom>
          <a:solidFill>
            <a:srgbClr val="2C5530"/>
          </a:solidFill>
          <a:ln/>
        </p:spPr>
      </p:sp>
      <p:sp>
        <p:nvSpPr>
          <p:cNvPr id="15" name="Text 12"/>
          <p:cNvSpPr txBox="1"/>
          <p:nvPr/>
        </p:nvSpPr>
        <p:spPr>
          <a:xfrm>
            <a:off x="548640" y="3794760"/>
            <a:ext cx="502920" cy="502920"/>
          </a:xfrm>
          <a:prstGeom prst="rect">
            <a:avLst/>
          </a:prstGeom>
          <a:noFill/>
          <a:ln/>
        </p:spPr>
        <p:txBody>
          <a:bodyPr wrap="square" lIns="0" tIns="0" rIns="0" bIns="0" rtlCol="0" anchor="ctr"/>
          <a:lstStyle/>
          <a:p>
            <a:pPr algn="ctr" indent="0" marL="0">
              <a:buNone/>
            </a:pPr>
            <a:r>
              <a:rPr lang="en-US" sz="1400" b="1" dirty="0">
                <a:solidFill>
                  <a:srgbClr val="E8A33D"/>
                </a:solidFill>
                <a:latin typeface="Cambria" pitchFamily="34" charset="0"/>
                <a:ea typeface="Cambria" pitchFamily="34" charset="-122"/>
                <a:cs typeface="Cambria" pitchFamily="34" charset="-120"/>
              </a:rPr>
              <a:t>04</a:t>
            </a:r>
            <a:endParaRPr lang="en-US" sz="1400" dirty="0"/>
          </a:p>
        </p:txBody>
      </p:sp>
      <p:sp>
        <p:nvSpPr>
          <p:cNvPr id="16" name="Text 13"/>
          <p:cNvSpPr txBox="1"/>
          <p:nvPr/>
        </p:nvSpPr>
        <p:spPr>
          <a:xfrm>
            <a:off x="1280160" y="3749040"/>
            <a:ext cx="9875520" cy="777240"/>
          </a:xfrm>
          <a:prstGeom prst="rect">
            <a:avLst/>
          </a:prstGeom>
          <a:noFill/>
          <a:ln/>
        </p:spPr>
        <p:txBody>
          <a:bodyPr wrap="square" lIns="0" tIns="0" rIns="0" bIns="0" rtlCol="0" anchor="t"/>
          <a:lstStyle/>
          <a:p>
            <a:pPr indent="0" marL="0">
              <a:spcAft>
                <a:spcPts val="200"/>
              </a:spcAft>
              <a:buNone/>
            </a:pPr>
            <a:r>
              <a:rPr lang="en-US" sz="1450" b="1" dirty="0">
                <a:solidFill>
                  <a:srgbClr val="2C5530"/>
                </a:solidFill>
              </a:rPr>
              <a:t>Αποτελέσματα ανά τεχνική</a:t>
            </a:r>
            <a:endParaRPr lang="en-US" sz="1450" dirty="0"/>
          </a:p>
          <a:p>
            <a:pPr indent="0" marL="0">
              <a:buNone/>
            </a:pPr>
            <a:r>
              <a:rPr lang="en-US" sz="1150" dirty="0">
                <a:solidFill>
                  <a:srgbClr val="6B6259"/>
                </a:solidFill>
              </a:rPr>
              <a:t>Περιγραφική ανάλυση, itemsets, clustering, πρόβλεψη, οικονομικά</a:t>
            </a:r>
            <a:endParaRPr lang="en-US" sz="1450" dirty="0"/>
          </a:p>
        </p:txBody>
      </p:sp>
      <p:sp>
        <p:nvSpPr>
          <p:cNvPr id="17" name="Shape 14"/>
          <p:cNvSpPr/>
          <p:nvPr/>
        </p:nvSpPr>
        <p:spPr>
          <a:xfrm>
            <a:off x="548640" y="4572000"/>
            <a:ext cx="502920" cy="502920"/>
          </a:xfrm>
          <a:prstGeom prst="ellipse">
            <a:avLst/>
          </a:prstGeom>
          <a:solidFill>
            <a:srgbClr val="2C5530"/>
          </a:solidFill>
          <a:ln/>
        </p:spPr>
      </p:sp>
      <p:sp>
        <p:nvSpPr>
          <p:cNvPr id="18" name="Text 15"/>
          <p:cNvSpPr txBox="1"/>
          <p:nvPr/>
        </p:nvSpPr>
        <p:spPr>
          <a:xfrm>
            <a:off x="548640" y="4572000"/>
            <a:ext cx="502920" cy="502920"/>
          </a:xfrm>
          <a:prstGeom prst="rect">
            <a:avLst/>
          </a:prstGeom>
          <a:noFill/>
          <a:ln/>
        </p:spPr>
        <p:txBody>
          <a:bodyPr wrap="square" lIns="0" tIns="0" rIns="0" bIns="0" rtlCol="0" anchor="ctr"/>
          <a:lstStyle/>
          <a:p>
            <a:pPr algn="ctr" indent="0" marL="0">
              <a:buNone/>
            </a:pPr>
            <a:r>
              <a:rPr lang="en-US" sz="1400" b="1" dirty="0">
                <a:solidFill>
                  <a:srgbClr val="E8A33D"/>
                </a:solidFill>
                <a:latin typeface="Cambria" pitchFamily="34" charset="0"/>
                <a:ea typeface="Cambria" pitchFamily="34" charset="-122"/>
                <a:cs typeface="Cambria" pitchFamily="34" charset="-120"/>
              </a:rPr>
              <a:t>05</a:t>
            </a:r>
            <a:endParaRPr lang="en-US" sz="1400" dirty="0"/>
          </a:p>
        </p:txBody>
      </p:sp>
      <p:sp>
        <p:nvSpPr>
          <p:cNvPr id="19" name="Text 16"/>
          <p:cNvSpPr txBox="1"/>
          <p:nvPr/>
        </p:nvSpPr>
        <p:spPr>
          <a:xfrm>
            <a:off x="1280160" y="4526280"/>
            <a:ext cx="9875520" cy="777240"/>
          </a:xfrm>
          <a:prstGeom prst="rect">
            <a:avLst/>
          </a:prstGeom>
          <a:noFill/>
          <a:ln/>
        </p:spPr>
        <p:txBody>
          <a:bodyPr wrap="square" lIns="0" tIns="0" rIns="0" bIns="0" rtlCol="0" anchor="t"/>
          <a:lstStyle/>
          <a:p>
            <a:pPr indent="0" marL="0">
              <a:spcAft>
                <a:spcPts val="200"/>
              </a:spcAft>
              <a:buNone/>
            </a:pPr>
            <a:r>
              <a:rPr lang="en-US" sz="1450" b="1" dirty="0">
                <a:solidFill>
                  <a:srgbClr val="2C5530"/>
                </a:solidFill>
              </a:rPr>
              <a:t>Το Σύστημα στην Πράξη</a:t>
            </a:r>
            <a:endParaRPr lang="en-US" sz="1450" dirty="0"/>
          </a:p>
          <a:p>
            <a:pPr indent="0" marL="0">
              <a:buNone/>
            </a:pPr>
            <a:r>
              <a:rPr lang="en-US" sz="1150" dirty="0">
                <a:solidFill>
                  <a:srgbClr val="6B6259"/>
                </a:solidFill>
              </a:rPr>
              <a:t>API αποκρίσεις και πίνακες ελέγχου Metabase</a:t>
            </a:r>
            <a:endParaRPr lang="en-US" sz="1450" dirty="0"/>
          </a:p>
        </p:txBody>
      </p:sp>
      <p:sp>
        <p:nvSpPr>
          <p:cNvPr id="20" name="Shape 17"/>
          <p:cNvSpPr/>
          <p:nvPr/>
        </p:nvSpPr>
        <p:spPr>
          <a:xfrm>
            <a:off x="548640" y="5349240"/>
            <a:ext cx="502920" cy="502920"/>
          </a:xfrm>
          <a:prstGeom prst="ellipse">
            <a:avLst/>
          </a:prstGeom>
          <a:solidFill>
            <a:srgbClr val="2C5530"/>
          </a:solidFill>
          <a:ln/>
        </p:spPr>
      </p:sp>
      <p:sp>
        <p:nvSpPr>
          <p:cNvPr id="21" name="Text 18"/>
          <p:cNvSpPr txBox="1"/>
          <p:nvPr/>
        </p:nvSpPr>
        <p:spPr>
          <a:xfrm>
            <a:off x="548640" y="5349240"/>
            <a:ext cx="502920" cy="502920"/>
          </a:xfrm>
          <a:prstGeom prst="rect">
            <a:avLst/>
          </a:prstGeom>
          <a:noFill/>
          <a:ln/>
        </p:spPr>
        <p:txBody>
          <a:bodyPr wrap="square" lIns="0" tIns="0" rIns="0" bIns="0" rtlCol="0" anchor="ctr"/>
          <a:lstStyle/>
          <a:p>
            <a:pPr algn="ctr" indent="0" marL="0">
              <a:buNone/>
            </a:pPr>
            <a:r>
              <a:rPr lang="en-US" sz="1400" b="1" dirty="0">
                <a:solidFill>
                  <a:srgbClr val="E8A33D"/>
                </a:solidFill>
                <a:latin typeface="Cambria" pitchFamily="34" charset="0"/>
                <a:ea typeface="Cambria" pitchFamily="34" charset="-122"/>
                <a:cs typeface="Cambria" pitchFamily="34" charset="-120"/>
              </a:rPr>
              <a:t>06</a:t>
            </a:r>
            <a:endParaRPr lang="en-US" sz="1400" dirty="0"/>
          </a:p>
        </p:txBody>
      </p:sp>
      <p:sp>
        <p:nvSpPr>
          <p:cNvPr id="22" name="Text 19"/>
          <p:cNvSpPr txBox="1"/>
          <p:nvPr/>
        </p:nvSpPr>
        <p:spPr>
          <a:xfrm>
            <a:off x="1280160" y="5303520"/>
            <a:ext cx="9875520" cy="777240"/>
          </a:xfrm>
          <a:prstGeom prst="rect">
            <a:avLst/>
          </a:prstGeom>
          <a:noFill/>
          <a:ln/>
        </p:spPr>
        <p:txBody>
          <a:bodyPr wrap="square" lIns="0" tIns="0" rIns="0" bIns="0" rtlCol="0" anchor="t"/>
          <a:lstStyle/>
          <a:p>
            <a:pPr indent="0" marL="0">
              <a:spcAft>
                <a:spcPts val="200"/>
              </a:spcAft>
              <a:buNone/>
            </a:pPr>
            <a:r>
              <a:rPr lang="en-US" sz="1450" b="1" dirty="0">
                <a:solidFill>
                  <a:srgbClr val="2C5530"/>
                </a:solidFill>
              </a:rPr>
              <a:t>Συμπεράσματα</a:t>
            </a:r>
            <a:endParaRPr lang="en-US" sz="1450" dirty="0"/>
          </a:p>
          <a:p>
            <a:pPr indent="0" marL="0">
              <a:buNone/>
            </a:pPr>
            <a:r>
              <a:rPr lang="en-US" sz="1150" dirty="0">
                <a:solidFill>
                  <a:srgbClr val="6B6259"/>
                </a:solidFill>
              </a:rPr>
              <a:t>Ευρήματα, πρακτική αξία, περιορισμοί, επεκτάσεις</a:t>
            </a:r>
            <a:endParaRPr lang="en-US" sz="1450" dirty="0"/>
          </a:p>
        </p:txBody>
      </p:sp>
      <p:sp>
        <p:nvSpPr>
          <p:cNvPr id="23" name="Text 20"/>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24" name="Text 21"/>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8899855" y="-1463040"/>
            <a:ext cx="4754880" cy="4754880"/>
          </a:xfrm>
          <a:prstGeom prst="ellipse">
            <a:avLst/>
          </a:prstGeom>
          <a:solidFill>
            <a:srgbClr val="1B3A1E"/>
          </a:solidFill>
          <a:ln/>
        </p:spPr>
      </p:sp>
      <p:sp>
        <p:nvSpPr>
          <p:cNvPr id="4" name="Shape 1"/>
          <p:cNvSpPr/>
          <p:nvPr/>
        </p:nvSpPr>
        <p:spPr>
          <a:xfrm>
            <a:off x="548640" y="2514600"/>
            <a:ext cx="914400" cy="914400"/>
          </a:xfrm>
          <a:prstGeom prst="ellipse">
            <a:avLst/>
          </a:prstGeom>
          <a:solidFill>
            <a:srgbClr val="3D6B42"/>
          </a:solidFill>
          <a:ln w="19050">
            <a:solidFill>
              <a:srgbClr val="E8A33D"/>
            </a:solidFill>
            <a:prstDash val="solid"/>
          </a:ln>
        </p:spPr>
      </p:sp>
      <p:sp>
        <p:nvSpPr>
          <p:cNvPr id="5" name="Text 2"/>
          <p:cNvSpPr txBox="1"/>
          <p:nvPr/>
        </p:nvSpPr>
        <p:spPr>
          <a:xfrm>
            <a:off x="548640" y="2514600"/>
            <a:ext cx="9144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Cambria" pitchFamily="34" charset="0"/>
                <a:ea typeface="Cambria" pitchFamily="34" charset="-122"/>
                <a:cs typeface="Cambria" pitchFamily="34" charset="-120"/>
              </a:rPr>
              <a:t>01</a:t>
            </a:r>
            <a:endParaRPr lang="en-US" sz="2600" dirty="0"/>
          </a:p>
        </p:txBody>
      </p:sp>
      <p:sp>
        <p:nvSpPr>
          <p:cNvPr id="6" name="Text 3"/>
          <p:cNvSpPr txBox="1"/>
          <p:nvPr/>
        </p:nvSpPr>
        <p:spPr>
          <a:xfrm>
            <a:off x="1737360" y="2697480"/>
            <a:ext cx="8229600" cy="320040"/>
          </a:xfrm>
          <a:prstGeom prst="rect">
            <a:avLst/>
          </a:prstGeom>
          <a:noFill/>
          <a:ln/>
        </p:spPr>
        <p:txBody>
          <a:bodyPr wrap="square" lIns="0" tIns="0" rIns="0" bIns="0" rtlCol="0" anchor="ctr"/>
          <a:lstStyle/>
          <a:p>
            <a:pPr indent="0" marL="0">
              <a:buNone/>
            </a:pPr>
            <a:r>
              <a:rPr lang="en-US" sz="1300" b="1" spc="200" kern="0" dirty="0">
                <a:solidFill>
                  <a:srgbClr val="E8A33D"/>
                </a:solidFill>
                <a:latin typeface="Calibri" pitchFamily="34" charset="0"/>
                <a:ea typeface="Calibri" pitchFamily="34" charset="-122"/>
                <a:cs typeface="Calibri" pitchFamily="34" charset="-120"/>
              </a:rPr>
              <a:t>ΕΝΟΤΗΤΑ ΠΡΩΤΗ</a:t>
            </a:r>
            <a:endParaRPr lang="en-US" sz="1300" dirty="0"/>
          </a:p>
        </p:txBody>
      </p:sp>
      <p:sp>
        <p:nvSpPr>
          <p:cNvPr id="7" name="Text 4"/>
          <p:cNvSpPr txBox="1"/>
          <p:nvPr/>
        </p:nvSpPr>
        <p:spPr>
          <a:xfrm>
            <a:off x="1737360" y="2999232"/>
            <a:ext cx="987552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Κίνητρο &amp; Στόχοι</a:t>
            </a:r>
            <a:endParaRPr lang="en-US" sz="3400" dirty="0"/>
          </a:p>
        </p:txBody>
      </p:sp>
      <p:sp>
        <p:nvSpPr>
          <p:cNvPr id="8" name="Text 5"/>
          <p:cNvSpPr txBox="1"/>
          <p:nvPr/>
        </p:nvSpPr>
        <p:spPr>
          <a:xfrm>
            <a:off x="1737360" y="3977640"/>
            <a:ext cx="9144000" cy="548640"/>
          </a:xfrm>
          <a:prstGeom prst="rect">
            <a:avLst/>
          </a:prstGeom>
          <a:noFill/>
          <a:ln/>
        </p:spPr>
        <p:txBody>
          <a:bodyPr wrap="square" lIns="0" tIns="0" rIns="0" bIns="0" rtlCol="0" anchor="ctr"/>
          <a:lstStyle/>
          <a:p>
            <a:pPr indent="0" marL="0">
              <a:buNone/>
            </a:pPr>
            <a:r>
              <a:rPr lang="en-US" sz="1400" dirty="0">
                <a:solidFill>
                  <a:srgbClr val="D7E5D2"/>
                </a:solidFill>
                <a:latin typeface="Calibri" pitchFamily="34" charset="0"/>
                <a:ea typeface="Calibri" pitchFamily="34" charset="-122"/>
                <a:cs typeface="Calibri" pitchFamily="34" charset="-120"/>
              </a:rPr>
              <a:t>Το κενό ανάμεσα σε όσα καταγράφονται και όσα αποφασίζονται</a:t>
            </a:r>
            <a:endParaRPr lang="en-US" sz="1400" dirty="0"/>
          </a:p>
        </p:txBody>
      </p:sp>
      <p:sp>
        <p:nvSpPr>
          <p:cNvPr id="9"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 · Διπλωματική εργασία</a:t>
            </a:r>
            <a:endParaRPr lang="en-US" sz="900" dirty="0"/>
          </a:p>
        </p:txBody>
      </p:sp>
      <p:sp>
        <p:nvSpPr>
          <p:cNvPr id="10"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ΚΙΝΗΤΡΟ</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Το κενό δεδομένων – αποφάσεων</a:t>
            </a:r>
            <a:endParaRPr lang="en-US" sz="3000" dirty="0"/>
          </a:p>
        </p:txBody>
      </p:sp>
      <p:sp>
        <p:nvSpPr>
          <p:cNvPr id="5" name="Text 2"/>
          <p:cNvSpPr txBox="1"/>
          <p:nvPr/>
        </p:nvSpPr>
        <p:spPr>
          <a:xfrm>
            <a:off x="548640" y="1600200"/>
            <a:ext cx="6035040" cy="4206240"/>
          </a:xfrm>
          <a:prstGeom prst="rect">
            <a:avLst/>
          </a:prstGeom>
          <a:noFill/>
          <a:ln/>
        </p:spPr>
        <p:txBody>
          <a:bodyPr wrap="square" lIns="0" tIns="0" rIns="0" bIns="0" rtlCol="0" anchor="t"/>
          <a:lstStyle/>
          <a:p>
            <a:pPr marL="177800" indent="-177800">
              <a:lnSpc>
                <a:spcPct val="108000"/>
              </a:lnSpc>
              <a:spcAft>
                <a:spcPts val="1800"/>
              </a:spcAft>
              <a:buSzPct val="100000"/>
              <a:buChar char="•"/>
            </a:pPr>
            <a:r>
              <a:rPr lang="en-US" sz="1500" dirty="0">
                <a:solidFill>
                  <a:srgbClr val="241F1B"/>
                </a:solidFill>
                <a:latin typeface="Calibri" pitchFamily="34" charset="0"/>
                <a:ea typeface="Calibri" pitchFamily="34" charset="-122"/>
                <a:cs typeface="Calibri" pitchFamily="34" charset="-120"/>
              </a:rPr>
              <a:t>Κάθε παραγγελία, γραμμή προϊόντος και επιστροφή καταγράφεται με ακρίβεια πρωτόγνωρη για το παραδοσιακό λιανεμπόριο.</a:t>
            </a:r>
            <a:endParaRPr lang="en-US" sz="1500" dirty="0"/>
          </a:p>
          <a:p>
            <a:pPr marL="177800" indent="-177800">
              <a:lnSpc>
                <a:spcPct val="108000"/>
              </a:lnSpc>
              <a:spcAft>
                <a:spcPts val="1800"/>
              </a:spcAft>
              <a:buSzPct val="100000"/>
              <a:buChar char="•"/>
            </a:pPr>
            <a:r>
              <a:rPr lang="en-US" sz="1500" dirty="0">
                <a:solidFill>
                  <a:srgbClr val="241F1B"/>
                </a:solidFill>
                <a:latin typeface="Calibri" pitchFamily="34" charset="0"/>
                <a:ea typeface="Calibri" pitchFamily="34" charset="-122"/>
                <a:cs typeface="Calibri" pitchFamily="34" charset="-120"/>
              </a:rPr>
              <a:t>Στην πράξη τα δεδομένα μένουν συχνά αναξιοποίητα: οι αποφάσεις marketing και πωλήσεων παίρνονται με εμπειρία και διαίσθηση.</a:t>
            </a:r>
            <a:endParaRPr lang="en-US" sz="1500" dirty="0"/>
          </a:p>
          <a:p>
            <a:pPr marL="177800" indent="-177800">
              <a:lnSpc>
                <a:spcPct val="108000"/>
              </a:lnSpc>
              <a:spcAft>
                <a:spcPts val="1800"/>
              </a:spcAft>
              <a:buSzPct val="100000"/>
              <a:buChar char="•"/>
            </a:pPr>
            <a:r>
              <a:rPr lang="en-US" sz="1500" b="1" dirty="0">
                <a:solidFill>
                  <a:srgbClr val="241F1B"/>
                </a:solidFill>
                <a:latin typeface="Calibri" pitchFamily="34" charset="0"/>
                <a:ea typeface="Calibri" pitchFamily="34" charset="-122"/>
                <a:cs typeface="Calibri" pitchFamily="34" charset="-120"/>
              </a:rPr>
              <a:t>Αντικείμενο της εργασίας: εξαγωγή αξιοποιήσιμων αναλύσεων και προβλέψεων από δεδομένα αγοραπωλησιών, με τεχνικές εξόρυξης δεδομένων και μηχανικής μάθησης.</a:t>
            </a:r>
            <a:endParaRPr lang="en-US" sz="1500" dirty="0"/>
          </a:p>
        </p:txBody>
      </p:sp>
      <p:sp>
        <p:nvSpPr>
          <p:cNvPr id="6" name="Shape 3"/>
          <p:cNvSpPr/>
          <p:nvPr/>
        </p:nvSpPr>
        <p:spPr>
          <a:xfrm>
            <a:off x="7040880" y="1828800"/>
            <a:ext cx="4572000" cy="1051560"/>
          </a:xfrm>
          <a:prstGeom prst="roundRect">
            <a:avLst>
              <a:gd name="adj" fmla="val 6957"/>
            </a:avLst>
          </a:prstGeom>
          <a:solidFill>
            <a:srgbClr val="EEF3EC"/>
          </a:solidFill>
          <a:ln/>
        </p:spPr>
      </p:sp>
      <p:sp>
        <p:nvSpPr>
          <p:cNvPr id="7" name="Text 4"/>
          <p:cNvSpPr txBox="1"/>
          <p:nvPr/>
        </p:nvSpPr>
        <p:spPr>
          <a:xfrm>
            <a:off x="7040880" y="1828800"/>
            <a:ext cx="4572000" cy="548640"/>
          </a:xfrm>
          <a:prstGeom prst="rect">
            <a:avLst/>
          </a:prstGeom>
          <a:noFill/>
          <a:ln/>
        </p:spPr>
        <p:txBody>
          <a:bodyPr wrap="square" lIns="0" tIns="0" rIns="0" bIns="0" rtlCol="0" anchor="b"/>
          <a:lstStyle/>
          <a:p>
            <a:pPr algn="ctr" indent="0" marL="0">
              <a:buNone/>
            </a:pPr>
            <a:r>
              <a:rPr lang="en-US" sz="1400" b="1" dirty="0">
                <a:solidFill>
                  <a:srgbClr val="2C5530"/>
                </a:solidFill>
                <a:latin typeface="Cambria" pitchFamily="34" charset="0"/>
                <a:ea typeface="Cambria" pitchFamily="34" charset="-122"/>
                <a:cs typeface="Cambria" pitchFamily="34" charset="-120"/>
              </a:rPr>
              <a:t>ΔΕΔΟΜΕΝΑ ΣΥΝΑΛΛΑΓΩΝ</a:t>
            </a:r>
            <a:endParaRPr lang="en-US" sz="1400" dirty="0"/>
          </a:p>
        </p:txBody>
      </p:sp>
      <p:sp>
        <p:nvSpPr>
          <p:cNvPr id="8" name="Text 5"/>
          <p:cNvSpPr txBox="1"/>
          <p:nvPr/>
        </p:nvSpPr>
        <p:spPr>
          <a:xfrm>
            <a:off x="7040880" y="2331720"/>
            <a:ext cx="4572000" cy="457200"/>
          </a:xfrm>
          <a:prstGeom prst="rect">
            <a:avLst/>
          </a:prstGeom>
          <a:noFill/>
          <a:ln/>
        </p:spPr>
        <p:txBody>
          <a:bodyPr wrap="square" lIns="0" tIns="0" rIns="0" bIns="0" rtlCol="0" anchor="ctr"/>
          <a:lstStyle/>
          <a:p>
            <a:pPr algn="ctr" indent="0" marL="0">
              <a:buNone/>
            </a:pPr>
            <a:r>
              <a:rPr lang="en-US" sz="1100" i="1" dirty="0">
                <a:solidFill>
                  <a:srgbClr val="6B6259"/>
                </a:solidFill>
                <a:latin typeface="Calibri" pitchFamily="34" charset="0"/>
                <a:ea typeface="Calibri" pitchFamily="34" charset="-122"/>
                <a:cs typeface="Calibri" pitchFamily="34" charset="-120"/>
              </a:rPr>
              <a:t>πλήρες, ακριβές ιστορικό</a:t>
            </a:r>
            <a:endParaRPr lang="en-US" sz="1100" dirty="0"/>
          </a:p>
        </p:txBody>
      </p:sp>
      <p:sp>
        <p:nvSpPr>
          <p:cNvPr id="9" name="Shape 6"/>
          <p:cNvSpPr/>
          <p:nvPr/>
        </p:nvSpPr>
        <p:spPr>
          <a:xfrm>
            <a:off x="8549640" y="3063240"/>
            <a:ext cx="1554480" cy="777240"/>
          </a:xfrm>
          <a:prstGeom prst="roundRect">
            <a:avLst>
              <a:gd name="adj" fmla="val 7059"/>
            </a:avLst>
          </a:prstGeom>
          <a:solidFill>
            <a:srgbClr val="FFFFFF"/>
          </a:solidFill>
          <a:ln w="19050">
            <a:solidFill>
              <a:srgbClr val="B0413E"/>
            </a:solidFill>
            <a:prstDash val="dash"/>
          </a:ln>
        </p:spPr>
      </p:sp>
      <p:sp>
        <p:nvSpPr>
          <p:cNvPr id="10" name="Text 7"/>
          <p:cNvSpPr txBox="1"/>
          <p:nvPr/>
        </p:nvSpPr>
        <p:spPr>
          <a:xfrm>
            <a:off x="8549640" y="3063240"/>
            <a:ext cx="1554480" cy="411480"/>
          </a:xfrm>
          <a:prstGeom prst="rect">
            <a:avLst/>
          </a:prstGeom>
          <a:noFill/>
          <a:ln/>
        </p:spPr>
        <p:txBody>
          <a:bodyPr wrap="square" lIns="0" tIns="0" rIns="0" bIns="0" rtlCol="0" anchor="b"/>
          <a:lstStyle/>
          <a:p>
            <a:pPr algn="ctr" indent="0" marL="0">
              <a:buNone/>
            </a:pPr>
            <a:r>
              <a:rPr lang="en-US" sz="1300" b="1" dirty="0">
                <a:solidFill>
                  <a:srgbClr val="B0413E"/>
                </a:solidFill>
                <a:latin typeface="Cambria" pitchFamily="34" charset="0"/>
                <a:ea typeface="Cambria" pitchFamily="34" charset="-122"/>
                <a:cs typeface="Cambria" pitchFamily="34" charset="-120"/>
              </a:rPr>
              <a:t>ΚΕΝΟ</a:t>
            </a:r>
            <a:endParaRPr lang="en-US" sz="1300" dirty="0"/>
          </a:p>
        </p:txBody>
      </p:sp>
      <p:sp>
        <p:nvSpPr>
          <p:cNvPr id="11" name="Text 8"/>
          <p:cNvSpPr txBox="1"/>
          <p:nvPr/>
        </p:nvSpPr>
        <p:spPr>
          <a:xfrm>
            <a:off x="8549640" y="3456432"/>
            <a:ext cx="1554480" cy="365760"/>
          </a:xfrm>
          <a:prstGeom prst="rect">
            <a:avLst/>
          </a:prstGeom>
          <a:noFill/>
          <a:ln/>
        </p:spPr>
        <p:txBody>
          <a:bodyPr wrap="square" lIns="0" tIns="0" rIns="0" bIns="0" rtlCol="0" anchor="ctr"/>
          <a:lstStyle/>
          <a:p>
            <a:pPr algn="ctr" indent="0" marL="0">
              <a:buNone/>
            </a:pPr>
            <a:r>
              <a:rPr lang="en-US" sz="950" i="1" dirty="0">
                <a:solidFill>
                  <a:srgbClr val="B0413E"/>
                </a:solidFill>
                <a:latin typeface="Calibri" pitchFamily="34" charset="0"/>
                <a:ea typeface="Calibri" pitchFamily="34" charset="-122"/>
                <a:cs typeface="Calibri" pitchFamily="34" charset="-120"/>
              </a:rPr>
              <a:t>διαίσθηση, όχι ανάλυση</a:t>
            </a:r>
            <a:endParaRPr lang="en-US" sz="950" dirty="0"/>
          </a:p>
        </p:txBody>
      </p:sp>
      <p:sp>
        <p:nvSpPr>
          <p:cNvPr id="12" name="Shape 9"/>
          <p:cNvSpPr/>
          <p:nvPr/>
        </p:nvSpPr>
        <p:spPr>
          <a:xfrm>
            <a:off x="7040880" y="4160520"/>
            <a:ext cx="4572000" cy="1051560"/>
          </a:xfrm>
          <a:prstGeom prst="roundRect">
            <a:avLst>
              <a:gd name="adj" fmla="val 6957"/>
            </a:avLst>
          </a:prstGeom>
          <a:solidFill>
            <a:srgbClr val="2C5530"/>
          </a:solidFill>
          <a:ln/>
        </p:spPr>
      </p:sp>
      <p:sp>
        <p:nvSpPr>
          <p:cNvPr id="13" name="Text 10"/>
          <p:cNvSpPr txBox="1"/>
          <p:nvPr/>
        </p:nvSpPr>
        <p:spPr>
          <a:xfrm>
            <a:off x="7040880" y="4160520"/>
            <a:ext cx="4572000" cy="548640"/>
          </a:xfrm>
          <a:prstGeom prst="rect">
            <a:avLst/>
          </a:prstGeom>
          <a:noFill/>
          <a:ln/>
        </p:spPr>
        <p:txBody>
          <a:bodyPr wrap="square" lIns="0" tIns="0" rIns="0" bIns="0" rtlCol="0" anchor="b"/>
          <a:lstStyle/>
          <a:p>
            <a:pPr algn="ctr" indent="0" marL="0">
              <a:buNone/>
            </a:pPr>
            <a:r>
              <a:rPr lang="en-US" sz="1350" b="1" dirty="0">
                <a:solidFill>
                  <a:srgbClr val="FFFFFF"/>
                </a:solidFill>
                <a:latin typeface="Cambria" pitchFamily="34" charset="0"/>
                <a:ea typeface="Cambria" pitchFamily="34" charset="-122"/>
                <a:cs typeface="Cambria" pitchFamily="34" charset="-120"/>
              </a:rPr>
              <a:t>ΑΠΟΦΑΣΕΙΣ MARKETING &amp; ΠΩΛΗΣΕΩΝ</a:t>
            </a:r>
            <a:endParaRPr lang="en-US" sz="1350" dirty="0"/>
          </a:p>
        </p:txBody>
      </p:sp>
      <p:sp>
        <p:nvSpPr>
          <p:cNvPr id="14" name="Text 11"/>
          <p:cNvSpPr txBox="1"/>
          <p:nvPr/>
        </p:nvSpPr>
        <p:spPr>
          <a:xfrm>
            <a:off x="7040880" y="4663440"/>
            <a:ext cx="4572000" cy="457200"/>
          </a:xfrm>
          <a:prstGeom prst="rect">
            <a:avLst/>
          </a:prstGeom>
          <a:noFill/>
          <a:ln/>
        </p:spPr>
        <p:txBody>
          <a:bodyPr wrap="square" lIns="0" tIns="0" rIns="0" bIns="0" rtlCol="0" anchor="ctr"/>
          <a:lstStyle/>
          <a:p>
            <a:pPr algn="ctr" indent="0" marL="0">
              <a:buNone/>
            </a:pPr>
            <a:r>
              <a:rPr lang="en-US" sz="1100" i="1" dirty="0">
                <a:solidFill>
                  <a:srgbClr val="D7E5D2"/>
                </a:solidFill>
                <a:latin typeface="Calibri" pitchFamily="34" charset="0"/>
                <a:ea typeface="Calibri" pitchFamily="34" charset="-122"/>
                <a:cs typeface="Calibri" pitchFamily="34" charset="-120"/>
              </a:rPr>
              <a:t>τι θα έπρεπε να στηρίζουν</a:t>
            </a:r>
            <a:endParaRPr lang="en-US" sz="1100" dirty="0"/>
          </a:p>
        </p:txBody>
      </p:sp>
      <p:sp>
        <p:nvSpPr>
          <p:cNvPr id="15" name="Text 12"/>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6" name="Text 13"/>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ΣΤΟΧΟΙ</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Επτά ερωτήματα από πραγματικές επιχειρήσεις</a:t>
            </a:r>
            <a:endParaRPr lang="en-US" sz="3000" dirty="0"/>
          </a:p>
        </p:txBody>
      </p:sp>
      <p:sp>
        <p:nvSpPr>
          <p:cNvPr id="5" name="Shape 2"/>
          <p:cNvSpPr/>
          <p:nvPr/>
        </p:nvSpPr>
        <p:spPr>
          <a:xfrm>
            <a:off x="548640" y="1508760"/>
            <a:ext cx="310896" cy="310896"/>
          </a:xfrm>
          <a:prstGeom prst="roundRect">
            <a:avLst>
              <a:gd name="adj" fmla="val 17647"/>
            </a:avLst>
          </a:prstGeom>
          <a:solidFill>
            <a:srgbClr val="E8A33D"/>
          </a:solidFill>
          <a:ln/>
        </p:spPr>
      </p:sp>
      <p:sp>
        <p:nvSpPr>
          <p:cNvPr id="6" name="Text 3"/>
          <p:cNvSpPr txBox="1"/>
          <p:nvPr/>
        </p:nvSpPr>
        <p:spPr>
          <a:xfrm>
            <a:off x="548640" y="1508760"/>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1</a:t>
            </a:r>
            <a:endParaRPr lang="en-US" sz="1200" dirty="0"/>
          </a:p>
        </p:txBody>
      </p:sp>
      <p:sp>
        <p:nvSpPr>
          <p:cNvPr id="7" name="Text 4"/>
          <p:cNvSpPr txBox="1"/>
          <p:nvPr/>
        </p:nvSpPr>
        <p:spPr>
          <a:xfrm>
            <a:off x="987552" y="1472184"/>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Ποια προϊόντα έχουν τις μεγαλύτερες πωλήσεις</a:t>
            </a:r>
            <a:endParaRPr lang="en-US" sz="1250" dirty="0"/>
          </a:p>
        </p:txBody>
      </p:sp>
      <p:sp>
        <p:nvSpPr>
          <p:cNvPr id="8" name="Shape 5"/>
          <p:cNvSpPr/>
          <p:nvPr/>
        </p:nvSpPr>
        <p:spPr>
          <a:xfrm>
            <a:off x="6080760" y="1508760"/>
            <a:ext cx="310896" cy="310896"/>
          </a:xfrm>
          <a:prstGeom prst="roundRect">
            <a:avLst>
              <a:gd name="adj" fmla="val 17647"/>
            </a:avLst>
          </a:prstGeom>
          <a:solidFill>
            <a:srgbClr val="E8A33D"/>
          </a:solidFill>
          <a:ln/>
        </p:spPr>
      </p:sp>
      <p:sp>
        <p:nvSpPr>
          <p:cNvPr id="9" name="Text 6"/>
          <p:cNvSpPr txBox="1"/>
          <p:nvPr/>
        </p:nvSpPr>
        <p:spPr>
          <a:xfrm>
            <a:off x="6080760" y="1508760"/>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2</a:t>
            </a:r>
            <a:endParaRPr lang="en-US" sz="1200" dirty="0"/>
          </a:p>
        </p:txBody>
      </p:sp>
      <p:sp>
        <p:nvSpPr>
          <p:cNvPr id="10" name="Text 7"/>
          <p:cNvSpPr txBox="1"/>
          <p:nvPr/>
        </p:nvSpPr>
        <p:spPr>
          <a:xfrm>
            <a:off x="6519672" y="1472184"/>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Ποιοι πελάτες αγοράζουν περισσότερο</a:t>
            </a:r>
            <a:endParaRPr lang="en-US" sz="1250" dirty="0"/>
          </a:p>
        </p:txBody>
      </p:sp>
      <p:sp>
        <p:nvSpPr>
          <p:cNvPr id="11" name="Shape 8"/>
          <p:cNvSpPr/>
          <p:nvPr/>
        </p:nvSpPr>
        <p:spPr>
          <a:xfrm>
            <a:off x="548640" y="2075688"/>
            <a:ext cx="310896" cy="310896"/>
          </a:xfrm>
          <a:prstGeom prst="roundRect">
            <a:avLst>
              <a:gd name="adj" fmla="val 17647"/>
            </a:avLst>
          </a:prstGeom>
          <a:solidFill>
            <a:srgbClr val="E8A33D"/>
          </a:solidFill>
          <a:ln/>
        </p:spPr>
      </p:sp>
      <p:sp>
        <p:nvSpPr>
          <p:cNvPr id="12" name="Text 9"/>
          <p:cNvSpPr txBox="1"/>
          <p:nvPr/>
        </p:nvSpPr>
        <p:spPr>
          <a:xfrm>
            <a:off x="548640" y="2075688"/>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3</a:t>
            </a:r>
            <a:endParaRPr lang="en-US" sz="1200" dirty="0"/>
          </a:p>
        </p:txBody>
      </p:sp>
      <p:sp>
        <p:nvSpPr>
          <p:cNvPr id="13" name="Text 10"/>
          <p:cNvSpPr txBox="1"/>
          <p:nvPr/>
        </p:nvSpPr>
        <p:spPr>
          <a:xfrm>
            <a:off x="987552" y="2039112"/>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Ποιες περιοχές πουλάνε περισσότερο</a:t>
            </a:r>
            <a:endParaRPr lang="en-US" sz="1250" dirty="0"/>
          </a:p>
        </p:txBody>
      </p:sp>
      <p:sp>
        <p:nvSpPr>
          <p:cNvPr id="14" name="Shape 11"/>
          <p:cNvSpPr/>
          <p:nvPr/>
        </p:nvSpPr>
        <p:spPr>
          <a:xfrm>
            <a:off x="6080760" y="2075688"/>
            <a:ext cx="310896" cy="310896"/>
          </a:xfrm>
          <a:prstGeom prst="roundRect">
            <a:avLst>
              <a:gd name="adj" fmla="val 17647"/>
            </a:avLst>
          </a:prstGeom>
          <a:solidFill>
            <a:srgbClr val="E8A33D"/>
          </a:solidFill>
          <a:ln/>
        </p:spPr>
      </p:sp>
      <p:sp>
        <p:nvSpPr>
          <p:cNvPr id="15" name="Text 12"/>
          <p:cNvSpPr txBox="1"/>
          <p:nvPr/>
        </p:nvSpPr>
        <p:spPr>
          <a:xfrm>
            <a:off x="6080760" y="2075688"/>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4</a:t>
            </a:r>
            <a:endParaRPr lang="en-US" sz="1200" dirty="0"/>
          </a:p>
        </p:txBody>
      </p:sp>
      <p:sp>
        <p:nvSpPr>
          <p:cNvPr id="16" name="Text 13"/>
          <p:cNvSpPr txBox="1"/>
          <p:nvPr/>
        </p:nvSpPr>
        <p:spPr>
          <a:xfrm>
            <a:off x="6519672" y="2039112"/>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Πότε συγκεντρώνονται οι πωλήσεις</a:t>
            </a:r>
            <a:endParaRPr lang="en-US" sz="1250" dirty="0"/>
          </a:p>
        </p:txBody>
      </p:sp>
      <p:sp>
        <p:nvSpPr>
          <p:cNvPr id="17" name="Shape 14"/>
          <p:cNvSpPr/>
          <p:nvPr/>
        </p:nvSpPr>
        <p:spPr>
          <a:xfrm>
            <a:off x="548640" y="2642616"/>
            <a:ext cx="310896" cy="310896"/>
          </a:xfrm>
          <a:prstGeom prst="roundRect">
            <a:avLst>
              <a:gd name="adj" fmla="val 17647"/>
            </a:avLst>
          </a:prstGeom>
          <a:solidFill>
            <a:srgbClr val="E8A33D"/>
          </a:solidFill>
          <a:ln/>
        </p:spPr>
      </p:sp>
      <p:sp>
        <p:nvSpPr>
          <p:cNvPr id="18" name="Text 15"/>
          <p:cNvSpPr txBox="1"/>
          <p:nvPr/>
        </p:nvSpPr>
        <p:spPr>
          <a:xfrm>
            <a:off x="548640" y="2642616"/>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5</a:t>
            </a:r>
            <a:endParaRPr lang="en-US" sz="1200" dirty="0"/>
          </a:p>
        </p:txBody>
      </p:sp>
      <p:sp>
        <p:nvSpPr>
          <p:cNvPr id="19" name="Text 16"/>
          <p:cNvSpPr txBox="1"/>
          <p:nvPr/>
        </p:nvSpPr>
        <p:spPr>
          <a:xfrm>
            <a:off x="987552" y="2606040"/>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Ποια προϊόντα επιστρέφονται περισσότερο</a:t>
            </a:r>
            <a:endParaRPr lang="en-US" sz="1250" dirty="0"/>
          </a:p>
        </p:txBody>
      </p:sp>
      <p:sp>
        <p:nvSpPr>
          <p:cNvPr id="20" name="Shape 17"/>
          <p:cNvSpPr/>
          <p:nvPr/>
        </p:nvSpPr>
        <p:spPr>
          <a:xfrm>
            <a:off x="6080760" y="2642616"/>
            <a:ext cx="310896" cy="310896"/>
          </a:xfrm>
          <a:prstGeom prst="roundRect">
            <a:avLst>
              <a:gd name="adj" fmla="val 17647"/>
            </a:avLst>
          </a:prstGeom>
          <a:solidFill>
            <a:srgbClr val="E8A33D"/>
          </a:solidFill>
          <a:ln/>
        </p:spPr>
      </p:sp>
      <p:sp>
        <p:nvSpPr>
          <p:cNvPr id="21" name="Text 18"/>
          <p:cNvSpPr txBox="1"/>
          <p:nvPr/>
        </p:nvSpPr>
        <p:spPr>
          <a:xfrm>
            <a:off x="6080760" y="2642616"/>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6</a:t>
            </a:r>
            <a:endParaRPr lang="en-US" sz="1200" dirty="0"/>
          </a:p>
        </p:txBody>
      </p:sp>
      <p:sp>
        <p:nvSpPr>
          <p:cNvPr id="22" name="Text 19"/>
          <p:cNvSpPr txBox="1"/>
          <p:nvPr/>
        </p:nvSpPr>
        <p:spPr>
          <a:xfrm>
            <a:off x="6519672" y="2606040"/>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Πώς κατανέμονται οι πωλήσεις ανά εύρος τιμής</a:t>
            </a:r>
            <a:endParaRPr lang="en-US" sz="1250" dirty="0"/>
          </a:p>
        </p:txBody>
      </p:sp>
      <p:sp>
        <p:nvSpPr>
          <p:cNvPr id="23" name="Shape 20"/>
          <p:cNvSpPr/>
          <p:nvPr/>
        </p:nvSpPr>
        <p:spPr>
          <a:xfrm>
            <a:off x="548640" y="3209544"/>
            <a:ext cx="310896" cy="310896"/>
          </a:xfrm>
          <a:prstGeom prst="roundRect">
            <a:avLst>
              <a:gd name="adj" fmla="val 17647"/>
            </a:avLst>
          </a:prstGeom>
          <a:solidFill>
            <a:srgbClr val="E8A33D"/>
          </a:solidFill>
          <a:ln/>
        </p:spPr>
      </p:sp>
      <p:sp>
        <p:nvSpPr>
          <p:cNvPr id="24" name="Text 21"/>
          <p:cNvSpPr txBox="1"/>
          <p:nvPr/>
        </p:nvSpPr>
        <p:spPr>
          <a:xfrm>
            <a:off x="548640" y="3209544"/>
            <a:ext cx="310896" cy="310896"/>
          </a:xfrm>
          <a:prstGeom prst="rect">
            <a:avLst/>
          </a:prstGeom>
          <a:noFill/>
          <a:ln/>
        </p:spPr>
        <p:txBody>
          <a:bodyPr wrap="square" lIns="0" tIns="0" rIns="0" bIns="0" rtlCol="0" anchor="ctr"/>
          <a:lstStyle/>
          <a:p>
            <a:pPr algn="ctr" indent="0" marL="0">
              <a:buNone/>
            </a:pPr>
            <a:r>
              <a:rPr lang="en-US" sz="1200" b="1" dirty="0">
                <a:solidFill>
                  <a:srgbClr val="1B3A1E"/>
                </a:solidFill>
                <a:latin typeface="Cambria" pitchFamily="34" charset="0"/>
                <a:ea typeface="Cambria" pitchFamily="34" charset="-122"/>
                <a:cs typeface="Cambria" pitchFamily="34" charset="-120"/>
              </a:rPr>
              <a:t>7</a:t>
            </a:r>
            <a:endParaRPr lang="en-US" sz="1200" dirty="0"/>
          </a:p>
        </p:txBody>
      </p:sp>
      <p:sp>
        <p:nvSpPr>
          <p:cNvPr id="25" name="Text 22"/>
          <p:cNvSpPr txBox="1"/>
          <p:nvPr/>
        </p:nvSpPr>
        <p:spPr>
          <a:xfrm>
            <a:off x="987552" y="3172968"/>
            <a:ext cx="4617720" cy="457200"/>
          </a:xfrm>
          <a:prstGeom prst="rect">
            <a:avLst/>
          </a:prstGeom>
          <a:noFill/>
          <a:ln/>
        </p:spPr>
        <p:txBody>
          <a:bodyPr wrap="square" lIns="0" tIns="0" rIns="0" bIns="0" rtlCol="0" anchor="ctr"/>
          <a:lstStyle/>
          <a:p>
            <a:pPr indent="0" marL="0">
              <a:buNone/>
            </a:pPr>
            <a:r>
              <a:rPr lang="en-US" sz="1250" dirty="0">
                <a:solidFill>
                  <a:srgbClr val="241F1B"/>
                </a:solidFill>
                <a:latin typeface="Calibri" pitchFamily="34" charset="0"/>
                <a:ea typeface="Calibri" pitchFamily="34" charset="-122"/>
                <a:cs typeface="Calibri" pitchFamily="34" charset="-120"/>
              </a:rPr>
              <a:t>Πώς κατανέμονται οι πωλήσεις ανά χαρακτηριστικό</a:t>
            </a:r>
            <a:endParaRPr lang="en-US" sz="1250" dirty="0"/>
          </a:p>
        </p:txBody>
      </p:sp>
      <p:sp>
        <p:nvSpPr>
          <p:cNvPr id="26" name="Shape 23"/>
          <p:cNvSpPr/>
          <p:nvPr/>
        </p:nvSpPr>
        <p:spPr>
          <a:xfrm>
            <a:off x="548640" y="4160520"/>
            <a:ext cx="11094415" cy="1691640"/>
          </a:xfrm>
          <a:prstGeom prst="roundRect">
            <a:avLst>
              <a:gd name="adj" fmla="val 4324"/>
            </a:avLst>
          </a:prstGeom>
          <a:solidFill>
            <a:srgbClr val="EEF3EC"/>
          </a:solidFill>
          <a:ln/>
        </p:spPr>
      </p:sp>
      <p:sp>
        <p:nvSpPr>
          <p:cNvPr id="27" name="Text 24"/>
          <p:cNvSpPr txBox="1"/>
          <p:nvPr/>
        </p:nvSpPr>
        <p:spPr>
          <a:xfrm>
            <a:off x="777240" y="4297680"/>
            <a:ext cx="10058400" cy="320040"/>
          </a:xfrm>
          <a:prstGeom prst="rect">
            <a:avLst/>
          </a:prstGeom>
          <a:noFill/>
          <a:ln/>
        </p:spPr>
        <p:txBody>
          <a:bodyPr wrap="square" lIns="0" tIns="0" rIns="0" bIns="0" rtlCol="0" anchor="ctr"/>
          <a:lstStyle/>
          <a:p>
            <a:pPr indent="0" marL="0">
              <a:buNone/>
            </a:pPr>
            <a:r>
              <a:rPr lang="en-US" sz="1350" b="1" dirty="0">
                <a:solidFill>
                  <a:srgbClr val="2C5530"/>
                </a:solidFill>
                <a:latin typeface="Cambria" pitchFamily="34" charset="0"/>
                <a:ea typeface="Cambria" pitchFamily="34" charset="-122"/>
                <a:cs typeface="Cambria" pitchFamily="34" charset="-120"/>
              </a:rPr>
              <a:t>Επέκταση πέρα από την αρχική εκφώνηση</a:t>
            </a:r>
            <a:endParaRPr lang="en-US" sz="1350" dirty="0"/>
          </a:p>
        </p:txBody>
      </p:sp>
      <p:sp>
        <p:nvSpPr>
          <p:cNvPr id="28" name="Text 25"/>
          <p:cNvSpPr txBox="1"/>
          <p:nvPr/>
        </p:nvSpPr>
        <p:spPr>
          <a:xfrm>
            <a:off x="777240" y="4663440"/>
            <a:ext cx="10607040" cy="1097280"/>
          </a:xfrm>
          <a:prstGeom prst="rect">
            <a:avLst/>
          </a:prstGeom>
          <a:noFill/>
          <a:ln/>
        </p:spPr>
        <p:txBody>
          <a:bodyPr wrap="square" lIns="0" tIns="0" rIns="0" bIns="0" rtlCol="0" anchor="t"/>
          <a:lstStyle/>
          <a:p>
            <a:pPr marL="177800" indent="-177800">
              <a:lnSpc>
                <a:spcPct val="108000"/>
              </a:lnSpc>
              <a:spcAft>
                <a:spcPts val="600"/>
              </a:spcAft>
              <a:buSzPct val="100000"/>
              <a:buChar char="•"/>
            </a:pPr>
            <a:r>
              <a:rPr lang="en-US" sz="1200" dirty="0">
                <a:solidFill>
                  <a:srgbClr val="241F1B"/>
                </a:solidFill>
                <a:latin typeface="Calibri" pitchFamily="34" charset="0"/>
                <a:ea typeface="Calibri" pitchFamily="34" charset="-122"/>
                <a:cs typeface="Calibri" pitchFamily="34" charset="-120"/>
              </a:rPr>
              <a:t>Οικονομικά μεγέθη που δείχνουν αν αξίζει να αξιοποιηθούν οι παραπάνω απαντήσεις: GMV, repeat rate, Growth Accounting, κερδοφορία.</a:t>
            </a:r>
            <a:endParaRPr lang="en-US" sz="1200" dirty="0"/>
          </a:p>
          <a:p>
            <a:pPr marL="177800" indent="-177800">
              <a:lnSpc>
                <a:spcPct val="108000"/>
              </a:lnSpc>
              <a:spcAft>
                <a:spcPts val="600"/>
              </a:spcAft>
              <a:buSzPct val="100000"/>
              <a:buChar char="•"/>
            </a:pPr>
            <a:r>
              <a:rPr lang="en-US" sz="1200" dirty="0">
                <a:solidFill>
                  <a:srgbClr val="241F1B"/>
                </a:solidFill>
                <a:latin typeface="Calibri" pitchFamily="34" charset="0"/>
                <a:ea typeface="Calibri" pitchFamily="34" charset="-122"/>
                <a:cs typeface="Calibri" pitchFamily="34" charset="-120"/>
              </a:rPr>
              <a:t>Τρεις τεχνικές: frequent itemset mining, clustering σε δύο επίπεδα, πρόβλεψη χρονοσειρών.</a:t>
            </a:r>
            <a:endParaRPr lang="en-US" sz="1200" dirty="0"/>
          </a:p>
        </p:txBody>
      </p:sp>
      <p:sp>
        <p:nvSpPr>
          <p:cNvPr id="29" name="Text 2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30" name="Text 2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ΑΡΧΕΣ ΣΧΕΔΙΑΣΗΣ</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Δύο απαιτήσεις που περνάνε παντού</a:t>
            </a:r>
            <a:endParaRPr lang="en-US" sz="3000" dirty="0"/>
          </a:p>
        </p:txBody>
      </p:sp>
      <p:sp>
        <p:nvSpPr>
          <p:cNvPr id="5" name="Shape 2"/>
          <p:cNvSpPr/>
          <p:nvPr/>
        </p:nvSpPr>
        <p:spPr>
          <a:xfrm>
            <a:off x="548640" y="1600200"/>
            <a:ext cx="5120640" cy="4480560"/>
          </a:xfrm>
          <a:prstGeom prst="roundRect">
            <a:avLst>
              <a:gd name="adj" fmla="val 2041"/>
            </a:avLst>
          </a:prstGeom>
          <a:solidFill>
            <a:srgbClr val="EEF3EC"/>
          </a:solidFill>
          <a:ln/>
        </p:spPr>
      </p:sp>
      <p:sp>
        <p:nvSpPr>
          <p:cNvPr id="6" name="Text 3"/>
          <p:cNvSpPr txBox="1"/>
          <p:nvPr/>
        </p:nvSpPr>
        <p:spPr>
          <a:xfrm>
            <a:off x="822960" y="1828800"/>
            <a:ext cx="4572000" cy="365760"/>
          </a:xfrm>
          <a:prstGeom prst="rect">
            <a:avLst/>
          </a:prstGeom>
          <a:noFill/>
          <a:ln/>
        </p:spPr>
        <p:txBody>
          <a:bodyPr wrap="square" lIns="0" tIns="0" rIns="0" bIns="0" rtlCol="0" anchor="ctr"/>
          <a:lstStyle/>
          <a:p>
            <a:pPr indent="0" marL="0">
              <a:buNone/>
            </a:pPr>
            <a:r>
              <a:rPr lang="en-US" sz="1600" b="1" dirty="0">
                <a:solidFill>
                  <a:srgbClr val="2C5530"/>
                </a:solidFill>
                <a:latin typeface="Cambria" pitchFamily="34" charset="0"/>
                <a:ea typeface="Cambria" pitchFamily="34" charset="-122"/>
                <a:cs typeface="Cambria" pitchFamily="34" charset="-120"/>
              </a:rPr>
              <a:t>ΓΕΝΙΚΟΤΗΤΑ</a:t>
            </a:r>
            <a:endParaRPr lang="en-US" sz="1600" dirty="0"/>
          </a:p>
        </p:txBody>
      </p:sp>
      <p:sp>
        <p:nvSpPr>
          <p:cNvPr id="7" name="Text 4"/>
          <p:cNvSpPr txBox="1"/>
          <p:nvPr/>
        </p:nvSpPr>
        <p:spPr>
          <a:xfrm>
            <a:off x="822960" y="2286000"/>
            <a:ext cx="4572000" cy="3566160"/>
          </a:xfrm>
          <a:prstGeom prst="rect">
            <a:avLst/>
          </a:prstGeom>
          <a:noFill/>
          <a:ln/>
        </p:spPr>
        <p:txBody>
          <a:bodyPr wrap="square" lIns="0" tIns="0" rIns="0" bIns="0" rtlCol="0" anchor="t"/>
          <a:lstStyle/>
          <a:p>
            <a:pPr marL="177800" indent="-177800">
              <a:lnSpc>
                <a:spcPct val="108000"/>
              </a:lnSpc>
              <a:spcAft>
                <a:spcPts val="1400"/>
              </a:spcAft>
              <a:buSzPct val="100000"/>
              <a:buChar char="•"/>
            </a:pPr>
            <a:r>
              <a:rPr lang="en-US" sz="1300" dirty="0">
                <a:solidFill>
                  <a:srgbClr val="241F1B"/>
                </a:solidFill>
                <a:latin typeface="Calibri" pitchFamily="34" charset="0"/>
                <a:ea typeface="Calibri" pitchFamily="34" charset="-122"/>
                <a:cs typeface="Calibri" pitchFamily="34" charset="-120"/>
              </a:rPr>
              <a:t>Το σύστημα δεν σχεδιάστηκε για ένα κατάστημα, αλλά για οποιοδήποτε, με ελάχιστη παραμετροποίηση.</a:t>
            </a:r>
            <a:endParaRPr lang="en-US" sz="1300" dirty="0"/>
          </a:p>
          <a:p>
            <a:pPr marL="177800" indent="-177800">
              <a:lnSpc>
                <a:spcPct val="108000"/>
              </a:lnSpc>
              <a:spcAft>
                <a:spcPts val="1400"/>
              </a:spcAft>
              <a:buSzPct val="100000"/>
              <a:buChar char="•"/>
            </a:pPr>
            <a:r>
              <a:rPr lang="en-US" sz="1300" dirty="0">
                <a:solidFill>
                  <a:srgbClr val="241F1B"/>
                </a:solidFill>
                <a:latin typeface="Calibri" pitchFamily="34" charset="0"/>
                <a:ea typeface="Calibri" pitchFamily="34" charset="-122"/>
                <a:cs typeface="Calibri" pitchFamily="34" charset="-120"/>
              </a:rPr>
              <a:t>Η ανάλυση δεν διαβάζει ποτέ το σχήμα μιας συγκεκριμένης πηγής· κάθε πηγή αντιστοιχίζεται σε δημοσιευμένο συμβόλαιο δεδομένων.</a:t>
            </a:r>
            <a:endParaRPr lang="en-US" sz="1300" dirty="0"/>
          </a:p>
          <a:p>
            <a:pPr marL="177800" indent="-177800">
              <a:lnSpc>
                <a:spcPct val="108000"/>
              </a:lnSpc>
              <a:spcAft>
                <a:spcPts val="1400"/>
              </a:spcAft>
              <a:buSzPct val="100000"/>
              <a:buChar char="•"/>
            </a:pPr>
            <a:r>
              <a:rPr lang="en-US" sz="1300" dirty="0">
                <a:solidFill>
                  <a:srgbClr val="241F1B"/>
                </a:solidFill>
                <a:latin typeface="Calibri" pitchFamily="34" charset="0"/>
                <a:ea typeface="Calibri" pitchFamily="34" charset="-122"/>
                <a:cs typeface="Calibri" pitchFamily="34" charset="-120"/>
              </a:rPr>
              <a:t>Αποφεύγονται απόλυτα κατώφλια όπου δεν βγάζουν νόημα, π.χ. το Growth Accounting δουλεύει το ίδιο σε κατάστημα συνδρομών ή σε χονδρεμπόριο.</a:t>
            </a:r>
            <a:endParaRPr lang="en-US" sz="1300" dirty="0"/>
          </a:p>
        </p:txBody>
      </p:sp>
      <p:sp>
        <p:nvSpPr>
          <p:cNvPr id="8" name="Shape 5"/>
          <p:cNvSpPr/>
          <p:nvPr/>
        </p:nvSpPr>
        <p:spPr>
          <a:xfrm>
            <a:off x="6126480" y="1600200"/>
            <a:ext cx="5120640" cy="4480560"/>
          </a:xfrm>
          <a:prstGeom prst="roundRect">
            <a:avLst>
              <a:gd name="adj" fmla="val 2041"/>
            </a:avLst>
          </a:prstGeom>
          <a:solidFill>
            <a:srgbClr val="2C5530"/>
          </a:solidFill>
          <a:ln/>
        </p:spPr>
      </p:sp>
      <p:sp>
        <p:nvSpPr>
          <p:cNvPr id="9" name="Text 6"/>
          <p:cNvSpPr txBox="1"/>
          <p:nvPr/>
        </p:nvSpPr>
        <p:spPr>
          <a:xfrm>
            <a:off x="6400800" y="1828800"/>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ambria" pitchFamily="34" charset="0"/>
                <a:ea typeface="Cambria" pitchFamily="34" charset="-122"/>
                <a:cs typeface="Cambria" pitchFamily="34" charset="-120"/>
              </a:rPr>
              <a:t>ΕΙΛΙΚΡΙΝΕΙΑ ΤΩΝ ΑΠΟΤΕΛΕΣΜΑΤΩΝ</a:t>
            </a:r>
            <a:endParaRPr lang="en-US" sz="1500" dirty="0"/>
          </a:p>
        </p:txBody>
      </p:sp>
      <p:sp>
        <p:nvSpPr>
          <p:cNvPr id="10" name="Text 7"/>
          <p:cNvSpPr txBox="1"/>
          <p:nvPr/>
        </p:nvSpPr>
        <p:spPr>
          <a:xfrm>
            <a:off x="6400800" y="2286000"/>
            <a:ext cx="4572000" cy="3566160"/>
          </a:xfrm>
          <a:prstGeom prst="rect">
            <a:avLst/>
          </a:prstGeom>
          <a:noFill/>
          <a:ln/>
        </p:spPr>
        <p:txBody>
          <a:bodyPr wrap="square" lIns="0" tIns="0" rIns="0" bIns="0" rtlCol="0" anchor="t"/>
          <a:lstStyle/>
          <a:p>
            <a:pPr marL="177800" indent="-177800">
              <a:lnSpc>
                <a:spcPct val="108000"/>
              </a:lnSpc>
              <a:spcAft>
                <a:spcPts val="1400"/>
              </a:spcAft>
              <a:buSzPct val="100000"/>
              <a:buChar char="•"/>
            </a:pPr>
            <a:r>
              <a:rPr lang="en-US" sz="1300" dirty="0">
                <a:solidFill>
                  <a:srgbClr val="FFFFFF"/>
                </a:solidFill>
                <a:latin typeface="Calibri" pitchFamily="34" charset="0"/>
                <a:ea typeface="Calibri" pitchFamily="34" charset="-122"/>
                <a:cs typeface="Calibri" pitchFamily="34" charset="-120"/>
              </a:rPr>
              <a:t>Ρητή διάκριση μεταξύ όσων μετρώνται και όσων υποτίθενται.</a:t>
            </a:r>
            <a:endParaRPr lang="en-US" sz="1300" dirty="0"/>
          </a:p>
          <a:p>
            <a:pPr marL="177800" indent="-177800">
              <a:lnSpc>
                <a:spcPct val="108000"/>
              </a:lnSpc>
              <a:spcAft>
                <a:spcPts val="1400"/>
              </a:spcAft>
              <a:buSzPct val="100000"/>
              <a:buChar char="•"/>
            </a:pPr>
            <a:r>
              <a:rPr lang="en-US" sz="1300" dirty="0">
                <a:solidFill>
                  <a:srgbClr val="FFFFFF"/>
                </a:solidFill>
                <a:latin typeface="Calibri" pitchFamily="34" charset="0"/>
                <a:ea typeface="Calibri" pitchFamily="34" charset="-122"/>
                <a:cs typeface="Calibri" pitchFamily="34" charset="-120"/>
              </a:rPr>
              <a:t>Το dataset δεν περιέχει κόστος πωληθέντων ούτε δαπάνες marketing ⇒ η κερδοφορία δεν μπορεί να απαντηθεί ως μέτρηση.</a:t>
            </a:r>
            <a:endParaRPr lang="en-US" sz="1300" dirty="0"/>
          </a:p>
          <a:p>
            <a:pPr marL="177800" indent="-177800">
              <a:lnSpc>
                <a:spcPct val="108000"/>
              </a:lnSpc>
              <a:spcAft>
                <a:spcPts val="1400"/>
              </a:spcAft>
              <a:buSzPct val="100000"/>
              <a:buChar char="•"/>
            </a:pPr>
            <a:r>
              <a:rPr lang="en-US" sz="1300" b="1" dirty="0">
                <a:solidFill>
                  <a:srgbClr val="FFFFFF"/>
                </a:solidFill>
                <a:latin typeface="Calibri" pitchFamily="34" charset="0"/>
                <a:ea typeface="Calibri" pitchFamily="34" charset="-122"/>
                <a:cs typeface="Calibri" pitchFamily="34" charset="-120"/>
              </a:rPr>
              <a:t>Η κερδοφορία βγαίνει ως ανάλυση ευαισθησίας πάνω σε παραδοχές που δηλώνονται ανοιχτά, και η σήμανση “σενάριο, όχι μέτρηση” πάει μαζί με κάθε απάντηση.</a:t>
            </a:r>
            <a:endParaRPr lang="en-US" sz="1300" dirty="0"/>
          </a:p>
        </p:txBody>
      </p:sp>
      <p:sp>
        <p:nvSpPr>
          <p:cNvPr id="11" name="Text 8"/>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9"/>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8899855" y="-1463040"/>
            <a:ext cx="4754880" cy="4754880"/>
          </a:xfrm>
          <a:prstGeom prst="ellipse">
            <a:avLst/>
          </a:prstGeom>
          <a:solidFill>
            <a:srgbClr val="1B3A1E"/>
          </a:solidFill>
          <a:ln/>
        </p:spPr>
      </p:sp>
      <p:sp>
        <p:nvSpPr>
          <p:cNvPr id="4" name="Shape 1"/>
          <p:cNvSpPr/>
          <p:nvPr/>
        </p:nvSpPr>
        <p:spPr>
          <a:xfrm>
            <a:off x="548640" y="2514600"/>
            <a:ext cx="914400" cy="914400"/>
          </a:xfrm>
          <a:prstGeom prst="ellipse">
            <a:avLst/>
          </a:prstGeom>
          <a:solidFill>
            <a:srgbClr val="3D6B42"/>
          </a:solidFill>
          <a:ln w="19050">
            <a:solidFill>
              <a:srgbClr val="E8A33D"/>
            </a:solidFill>
            <a:prstDash val="solid"/>
          </a:ln>
        </p:spPr>
      </p:sp>
      <p:sp>
        <p:nvSpPr>
          <p:cNvPr id="5" name="Text 2"/>
          <p:cNvSpPr txBox="1"/>
          <p:nvPr/>
        </p:nvSpPr>
        <p:spPr>
          <a:xfrm>
            <a:off x="548640" y="2514600"/>
            <a:ext cx="9144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Cambria" pitchFamily="34" charset="0"/>
                <a:ea typeface="Cambria" pitchFamily="34" charset="-122"/>
                <a:cs typeface="Cambria" pitchFamily="34" charset="-120"/>
              </a:rPr>
              <a:t>02</a:t>
            </a:r>
            <a:endParaRPr lang="en-US" sz="2600" dirty="0"/>
          </a:p>
        </p:txBody>
      </p:sp>
      <p:sp>
        <p:nvSpPr>
          <p:cNvPr id="6" name="Text 3"/>
          <p:cNvSpPr txBox="1"/>
          <p:nvPr/>
        </p:nvSpPr>
        <p:spPr>
          <a:xfrm>
            <a:off x="1737360" y="2697480"/>
            <a:ext cx="8229600" cy="320040"/>
          </a:xfrm>
          <a:prstGeom prst="rect">
            <a:avLst/>
          </a:prstGeom>
          <a:noFill/>
          <a:ln/>
        </p:spPr>
        <p:txBody>
          <a:bodyPr wrap="square" lIns="0" tIns="0" rIns="0" bIns="0" rtlCol="0" anchor="ctr"/>
          <a:lstStyle/>
          <a:p>
            <a:pPr indent="0" marL="0">
              <a:buNone/>
            </a:pPr>
            <a:r>
              <a:rPr lang="en-US" sz="1300" b="1" spc="200" kern="0" dirty="0">
                <a:solidFill>
                  <a:srgbClr val="E8A33D"/>
                </a:solidFill>
                <a:latin typeface="Calibri" pitchFamily="34" charset="0"/>
                <a:ea typeface="Calibri" pitchFamily="34" charset="-122"/>
                <a:cs typeface="Calibri" pitchFamily="34" charset="-120"/>
              </a:rPr>
              <a:t>ΕΝΟΤΗΤΑ ΔΕΥΤΕΡΗ</a:t>
            </a:r>
            <a:endParaRPr lang="en-US" sz="1300" dirty="0"/>
          </a:p>
        </p:txBody>
      </p:sp>
      <p:sp>
        <p:nvSpPr>
          <p:cNvPr id="7" name="Text 4"/>
          <p:cNvSpPr txBox="1"/>
          <p:nvPr/>
        </p:nvSpPr>
        <p:spPr>
          <a:xfrm>
            <a:off x="1737360" y="2999232"/>
            <a:ext cx="987552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Θεωρητικό Υπόβαθρο</a:t>
            </a:r>
            <a:endParaRPr lang="en-US" sz="3400" dirty="0"/>
          </a:p>
        </p:txBody>
      </p:sp>
      <p:sp>
        <p:nvSpPr>
          <p:cNvPr id="8" name="Text 5"/>
          <p:cNvSpPr txBox="1"/>
          <p:nvPr/>
        </p:nvSpPr>
        <p:spPr>
          <a:xfrm>
            <a:off x="1737360" y="3977640"/>
            <a:ext cx="9144000" cy="548640"/>
          </a:xfrm>
          <a:prstGeom prst="rect">
            <a:avLst/>
          </a:prstGeom>
          <a:noFill/>
          <a:ln/>
        </p:spPr>
        <p:txBody>
          <a:bodyPr wrap="square" lIns="0" tIns="0" rIns="0" bIns="0" rtlCol="0" anchor="ctr"/>
          <a:lstStyle/>
          <a:p>
            <a:pPr indent="0" marL="0">
              <a:buNone/>
            </a:pPr>
            <a:r>
              <a:rPr lang="en-US" sz="1400" dirty="0">
                <a:solidFill>
                  <a:srgbClr val="D7E5D2"/>
                </a:solidFill>
                <a:latin typeface="Calibri" pitchFamily="34" charset="0"/>
                <a:ea typeface="Calibri" pitchFamily="34" charset="-122"/>
                <a:cs typeface="Calibri" pitchFamily="34" charset="-120"/>
              </a:rPr>
              <a:t>Han, Kamber &amp; Pei, Data Mining: Concepts and Techniques, κεφ. 2, 3, 6, 10</a:t>
            </a:r>
            <a:endParaRPr lang="en-US" sz="1400" dirty="0"/>
          </a:p>
        </p:txBody>
      </p:sp>
      <p:sp>
        <p:nvSpPr>
          <p:cNvPr id="9"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 · Διπλωματική εργασία</a:t>
            </a:r>
            <a:endParaRPr lang="en-US" sz="900" dirty="0"/>
          </a:p>
        </p:txBody>
      </p:sp>
      <p:sp>
        <p:nvSpPr>
          <p:cNvPr id="10"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ΘΕΩΡΙΑ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Frequent Itemset Mining</a:t>
            </a:r>
            <a:endParaRPr lang="en-US" sz="3000" dirty="0"/>
          </a:p>
        </p:txBody>
      </p:sp>
      <p:sp>
        <p:nvSpPr>
          <p:cNvPr id="5" name="Text 2"/>
          <p:cNvSpPr txBox="1"/>
          <p:nvPr/>
        </p:nvSpPr>
        <p:spPr>
          <a:xfrm>
            <a:off x="548640" y="1554480"/>
            <a:ext cx="11094415" cy="2286000"/>
          </a:xfrm>
          <a:prstGeom prst="rect">
            <a:avLst/>
          </a:prstGeom>
          <a:noFill/>
          <a:ln/>
        </p:spPr>
        <p:txBody>
          <a:bodyPr wrap="square" lIns="0" tIns="0" rIns="0" bIns="0" rtlCol="0" anchor="t"/>
          <a:lstStyle/>
          <a:p>
            <a:pPr marL="177800" indent="-177800">
              <a:lnSpc>
                <a:spcPct val="108000"/>
              </a:lnSpc>
              <a:spcAft>
                <a:spcPts val="1200"/>
              </a:spcAft>
              <a:buSzPct val="100000"/>
              <a:buChar char="•"/>
            </a:pPr>
            <a:r>
              <a:rPr lang="en-US" sz="1400" dirty="0">
                <a:solidFill>
                  <a:srgbClr val="241F1B"/>
                </a:solidFill>
                <a:latin typeface="Calibri" pitchFamily="34" charset="0"/>
                <a:ea typeface="Calibri" pitchFamily="34" charset="-122"/>
                <a:cs typeface="Calibri" pitchFamily="34" charset="-120"/>
              </a:rPr>
              <a:t>Support: σε τι ποσοστό των παραγγελιών εμφανίζεται ένα σύνολο προϊόντων X. support(X) = |{T ∈ D : X ⊆ T}| / |D|.</a:t>
            </a:r>
            <a:endParaRPr lang="en-US" sz="1400" dirty="0"/>
          </a:p>
          <a:p>
            <a:pPr marL="177800" indent="-177800">
              <a:lnSpc>
                <a:spcPct val="108000"/>
              </a:lnSpc>
              <a:spcAft>
                <a:spcPts val="1200"/>
              </a:spcAft>
              <a:buSzPct val="100000"/>
              <a:buChar char="•"/>
            </a:pPr>
            <a:r>
              <a:rPr lang="en-US" sz="1400" dirty="0">
                <a:solidFill>
                  <a:srgbClr val="241F1B"/>
                </a:solidFill>
                <a:latin typeface="Calibri" pitchFamily="34" charset="0"/>
                <a:ea typeface="Calibri" pitchFamily="34" charset="-122"/>
                <a:cs typeface="Calibri" pitchFamily="34" charset="-120"/>
              </a:rPr>
              <a:t>Confidence: η πιθανότητα να δούμε το Y αφού έχει ήδη μπει στο καλάθι το X. confidence(X⇒Y) = support(X∪Y) / support(X).</a:t>
            </a:r>
            <a:endParaRPr lang="en-US" sz="1400" dirty="0"/>
          </a:p>
          <a:p>
            <a:pPr marL="177800" indent="-177800">
              <a:lnSpc>
                <a:spcPct val="108000"/>
              </a:lnSpc>
              <a:spcAft>
                <a:spcPts val="1200"/>
              </a:spcAft>
              <a:buSzPct val="100000"/>
              <a:buChar char="•"/>
            </a:pPr>
            <a:r>
              <a:rPr lang="en-US" sz="1400" b="1" dirty="0">
                <a:solidFill>
                  <a:srgbClr val="241F1B"/>
                </a:solidFill>
                <a:latin typeface="Calibri" pitchFamily="34" charset="0"/>
                <a:ea typeface="Calibri" pitchFamily="34" charset="-122"/>
                <a:cs typeface="Calibri" pitchFamily="34" charset="-120"/>
              </a:rPr>
              <a:t>Το πιο σημαντικό μέτρο είναι το lift, γιατί διορθώνει το confidence ως προς το πόσο δημοφιλές είναι το Y από μόνο του. lift = confidence(X⇒Y) / support(Y).</a:t>
            </a:r>
            <a:endParaRPr lang="en-US" sz="1400" dirty="0"/>
          </a:p>
          <a:p>
            <a:pPr marL="177800" indent="-177800">
              <a:lnSpc>
                <a:spcPct val="108000"/>
              </a:lnSpc>
              <a:spcAft>
                <a:spcPts val="1200"/>
              </a:spcAft>
              <a:buSzPct val="100000"/>
              <a:buChar char="•"/>
            </a:pPr>
            <a:r>
              <a:rPr lang="en-US" sz="1300" dirty="0">
                <a:solidFill>
                  <a:srgbClr val="241F1B"/>
                </a:solidFill>
                <a:latin typeface="Calibri" pitchFamily="34" charset="0"/>
                <a:ea typeface="Calibri" pitchFamily="34" charset="-122"/>
                <a:cs typeface="Calibri" pitchFamily="34" charset="-120"/>
              </a:rPr>
              <a:t>Lift πάνω από 1: τα προϊόντα αγοράζονται μαζί πιο συχνά απ' ό,τι θα περίμενε κανείς τυχαία. Ίσο με 1: καμία σχέση. Κάτω από 1: αρνητική σχέση.</a:t>
            </a:r>
            <a:endParaRPr lang="en-US" sz="1400" dirty="0"/>
          </a:p>
        </p:txBody>
      </p:sp>
      <p:sp>
        <p:nvSpPr>
          <p:cNvPr id="6" name="Shape 3"/>
          <p:cNvSpPr/>
          <p:nvPr/>
        </p:nvSpPr>
        <p:spPr>
          <a:xfrm>
            <a:off x="548640" y="3794760"/>
            <a:ext cx="5120640" cy="1600200"/>
          </a:xfrm>
          <a:prstGeom prst="roundRect">
            <a:avLst>
              <a:gd name="adj" fmla="val 4571"/>
            </a:avLst>
          </a:prstGeom>
          <a:solidFill>
            <a:srgbClr val="EEF3EC"/>
          </a:solidFill>
          <a:ln/>
        </p:spPr>
      </p:sp>
      <p:sp>
        <p:nvSpPr>
          <p:cNvPr id="7" name="Text 4"/>
          <p:cNvSpPr txBox="1"/>
          <p:nvPr/>
        </p:nvSpPr>
        <p:spPr>
          <a:xfrm>
            <a:off x="777240" y="3959352"/>
            <a:ext cx="4663440" cy="1280160"/>
          </a:xfrm>
          <a:prstGeom prst="rect">
            <a:avLst/>
          </a:prstGeom>
          <a:noFill/>
          <a:ln/>
        </p:spPr>
        <p:txBody>
          <a:bodyPr wrap="square" lIns="0" tIns="0" rIns="0" bIns="0" rtlCol="0" anchor="t"/>
          <a:lstStyle/>
          <a:p>
            <a:pPr indent="0" marL="0">
              <a:buNone/>
            </a:pPr>
            <a:r>
              <a:rPr lang="en-US" sz="1600" b="1" dirty="0">
                <a:solidFill>
                  <a:srgbClr val="2C5530"/>
                </a:solidFill>
              </a:rPr>
              <a:t>Apriori  </a:t>
            </a:r>
            <a:pPr indent="0" marL="0">
              <a:spcAft>
                <a:spcPts val="600"/>
              </a:spcAft>
              <a:buNone/>
            </a:pPr>
            <a:r>
              <a:rPr lang="en-US" sz="1100" i="1" dirty="0">
                <a:solidFill>
                  <a:srgbClr val="6B6259"/>
                </a:solidFill>
              </a:rPr>
              <a:t>Agrawal &amp; Srikant, 1994</a:t>
            </a:r>
            <a:endParaRPr lang="en-US" sz="1600" dirty="0"/>
          </a:p>
          <a:p>
            <a:pPr indent="0" marL="0">
              <a:buNone/>
            </a:pPr>
            <a:r>
              <a:rPr lang="en-US" sz="1200" dirty="0">
                <a:solidFill>
                  <a:srgbClr val="241F1B"/>
                </a:solidFill>
              </a:rPr>
              <a:t>Ανά επίπεδο, με το κλειστό-προς-τα-κάτω: κάθε υποσύνολο συχνού συνόλου είναι συχνό. Πολλαπλές διελεύσεις της βάσης.</a:t>
            </a:r>
            <a:endParaRPr lang="en-US" sz="1600" dirty="0"/>
          </a:p>
        </p:txBody>
      </p:sp>
      <p:sp>
        <p:nvSpPr>
          <p:cNvPr id="8" name="Shape 5"/>
          <p:cNvSpPr/>
          <p:nvPr/>
        </p:nvSpPr>
        <p:spPr>
          <a:xfrm>
            <a:off x="6126480" y="3794760"/>
            <a:ext cx="5120640" cy="1600200"/>
          </a:xfrm>
          <a:prstGeom prst="roundRect">
            <a:avLst>
              <a:gd name="adj" fmla="val 4571"/>
            </a:avLst>
          </a:prstGeom>
          <a:solidFill>
            <a:srgbClr val="EEF3EC"/>
          </a:solidFill>
          <a:ln/>
        </p:spPr>
      </p:sp>
      <p:sp>
        <p:nvSpPr>
          <p:cNvPr id="9" name="Text 6"/>
          <p:cNvSpPr txBox="1"/>
          <p:nvPr/>
        </p:nvSpPr>
        <p:spPr>
          <a:xfrm>
            <a:off x="6355080" y="3959352"/>
            <a:ext cx="4663440" cy="1280160"/>
          </a:xfrm>
          <a:prstGeom prst="rect">
            <a:avLst/>
          </a:prstGeom>
          <a:noFill/>
          <a:ln/>
        </p:spPr>
        <p:txBody>
          <a:bodyPr wrap="square" lIns="0" tIns="0" rIns="0" bIns="0" rtlCol="0" anchor="t"/>
          <a:lstStyle/>
          <a:p>
            <a:pPr indent="0" marL="0">
              <a:buNone/>
            </a:pPr>
            <a:r>
              <a:rPr lang="en-US" sz="1600" b="1" dirty="0">
                <a:solidFill>
                  <a:srgbClr val="2C5530"/>
                </a:solidFill>
              </a:rPr>
              <a:t>FP-Growth  </a:t>
            </a:r>
            <a:pPr indent="0" marL="0">
              <a:spcAft>
                <a:spcPts val="600"/>
              </a:spcAft>
              <a:buNone/>
            </a:pPr>
            <a:r>
              <a:rPr lang="en-US" sz="1100" i="1" dirty="0">
                <a:solidFill>
                  <a:srgbClr val="6B6259"/>
                </a:solidFill>
              </a:rPr>
              <a:t>Han, Pei &amp; Yin, 2000</a:t>
            </a:r>
            <a:endParaRPr lang="en-US" sz="1600" dirty="0"/>
          </a:p>
          <a:p>
            <a:pPr indent="0" marL="0">
              <a:buNone/>
            </a:pPr>
            <a:r>
              <a:rPr lang="en-US" sz="1200" dirty="0">
                <a:solidFill>
                  <a:srgbClr val="241F1B"/>
                </a:solidFill>
              </a:rPr>
              <a:t>Συμπιεσμένο δένδρο προθεμάτων, αναδρομική εξαγωγή, χωρίς παραγωγή υποψηφίων συνόλων.</a:t>
            </a:r>
            <a:endParaRPr lang="en-US" sz="1600" dirty="0"/>
          </a:p>
        </p:txBody>
      </p:sp>
      <p:sp>
        <p:nvSpPr>
          <p:cNvPr id="10" name="Text 7"/>
          <p:cNvSpPr txBox="1"/>
          <p:nvPr/>
        </p:nvSpPr>
        <p:spPr>
          <a:xfrm>
            <a:off x="548640" y="5532120"/>
            <a:ext cx="11094415" cy="457200"/>
          </a:xfrm>
          <a:prstGeom prst="rect">
            <a:avLst/>
          </a:prstGeom>
          <a:noFill/>
          <a:ln/>
        </p:spPr>
        <p:txBody>
          <a:bodyPr wrap="square" lIns="0" tIns="0" rIns="0" bIns="0" rtlCol="0" anchor="ctr"/>
          <a:lstStyle/>
          <a:p>
            <a:pPr indent="0" marL="0">
              <a:buNone/>
            </a:pPr>
            <a:r>
              <a:rPr lang="en-US" sz="1250" i="1" dirty="0">
                <a:solidFill>
                  <a:srgbClr val="2C5530"/>
                </a:solidFill>
                <a:latin typeface="Calibri" pitchFamily="34" charset="0"/>
                <a:ea typeface="Calibri" pitchFamily="34" charset="-122"/>
                <a:cs typeface="Calibri" pitchFamily="34" charset="-120"/>
              </a:rPr>
              <a:t>Για το ίδιο support threshold τα δύο αλγόριθμοι βγάζουν ίδιο αποτέλεσμα, διαφέρουν μόνο στον χρόνο εκτέλεσης.</a:t>
            </a:r>
            <a:endParaRPr lang="en-US" sz="1250" dirty="0"/>
          </a:p>
        </p:txBody>
      </p:sp>
      <p:sp>
        <p:nvSpPr>
          <p:cNvPr id="11" name="Text 8"/>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9"/>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ΘΕΩΡΙΑ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Clustering</a:t>
            </a:r>
            <a:endParaRPr lang="en-US" sz="3000" dirty="0"/>
          </a:p>
        </p:txBody>
      </p:sp>
      <p:sp>
        <p:nvSpPr>
          <p:cNvPr id="5" name="Text 2"/>
          <p:cNvSpPr txBox="1"/>
          <p:nvPr/>
        </p:nvSpPr>
        <p:spPr>
          <a:xfrm>
            <a:off x="548640" y="1554480"/>
            <a:ext cx="6492240" cy="4206240"/>
          </a:xfrm>
          <a:prstGeom prst="rect">
            <a:avLst/>
          </a:prstGeom>
          <a:noFill/>
          <a:ln/>
        </p:spPr>
        <p:txBody>
          <a:bodyPr wrap="square" lIns="0" tIns="0" rIns="0" bIns="0" rtlCol="0" anchor="t"/>
          <a:lstStyle/>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Ο k-means (MacQueen, 1967) ψάχνει τα κέντρα των clusters που ελαχιστοποιούν το J = Σᵢ Σ_{x∈Cᵢ} ‖x − μᵢ‖², δηλαδή το άθροισμα των αποστάσεων κάθε σημείου από το κέντρο του.</a:t>
            </a:r>
            <a:endParaRPr lang="en-US" sz="1400" dirty="0"/>
          </a:p>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Χρειάζεται συγκρίσιμες αποστάσεις μεταξύ των μεταβλητών, οπότε η τυποποίηση πριν το clustering δεν είναι βελτίωση, είναι προϋπόθεση για σωστό αποτέλεσμα.</a:t>
            </a:r>
            <a:endParaRPr lang="en-US" sz="1400" dirty="0"/>
          </a:p>
          <a:p>
            <a:pPr marL="177800" indent="-177800">
              <a:lnSpc>
                <a:spcPct val="108000"/>
              </a:lnSpc>
              <a:spcAft>
                <a:spcPts val="1400"/>
              </a:spcAft>
              <a:buSzPct val="100000"/>
              <a:buChar char="•"/>
            </a:pPr>
            <a:r>
              <a:rPr lang="en-US" sz="1400" b="1" dirty="0">
                <a:solidFill>
                  <a:srgbClr val="241F1B"/>
                </a:solidFill>
                <a:latin typeface="Calibri" pitchFamily="34" charset="0"/>
                <a:ea typeface="Calibri" pitchFamily="34" charset="-122"/>
                <a:cs typeface="Calibri" pitchFamily="34" charset="-120"/>
              </a:rPr>
              <a:t>Το silhouette score του Rousseeuw (1987), s(i) = (b(i) − a(i)) / max{a(i), b(i)} με τιμές στο [−1, 1], δείχνει πόσο καλά χωρίστηκαν τα clusters χωρίς να ξέρουμε την πραγματική ομαδοποίηση.</a:t>
            </a:r>
            <a:endParaRPr lang="en-US" sz="1400" dirty="0"/>
          </a:p>
          <a:p>
            <a:pPr marL="177800" indent="-177800">
              <a:lnSpc>
                <a:spcPct val="108000"/>
              </a:lnSpc>
              <a:spcAft>
                <a:spcPts val="1400"/>
              </a:spcAft>
              <a:buSzPct val="100000"/>
              <a:buChar char="•"/>
            </a:pPr>
            <a:r>
              <a:rPr lang="en-US" sz="1300" dirty="0">
                <a:solidFill>
                  <a:srgbClr val="241F1B"/>
                </a:solidFill>
                <a:latin typeface="Calibri" pitchFamily="34" charset="0"/>
                <a:ea typeface="Calibri" pitchFamily="34" charset="-122"/>
                <a:cs typeface="Calibri" pitchFamily="34" charset="-120"/>
              </a:rPr>
              <a:t>Χρησιμοποιείται εδώ για να επιλεγεί το πλήθος των clusters, το k, από τα ίδια τα δεδομένα, αντί να το βάλουμε εμείς εκ των προτέρων.</a:t>
            </a:r>
            <a:endParaRPr lang="en-US" sz="1400" dirty="0"/>
          </a:p>
        </p:txBody>
      </p:sp>
      <p:sp>
        <p:nvSpPr>
          <p:cNvPr id="6" name="Shape 3"/>
          <p:cNvSpPr/>
          <p:nvPr/>
        </p:nvSpPr>
        <p:spPr>
          <a:xfrm>
            <a:off x="7223760" y="1600200"/>
            <a:ext cx="4434840" cy="4160520"/>
          </a:xfrm>
          <a:prstGeom prst="roundRect">
            <a:avLst>
              <a:gd name="adj" fmla="val 2198"/>
            </a:avLst>
          </a:prstGeom>
          <a:solidFill>
            <a:srgbClr val="2C5530"/>
          </a:solidFill>
          <a:ln/>
        </p:spPr>
      </p:sp>
      <p:sp>
        <p:nvSpPr>
          <p:cNvPr id="7" name="Text 4"/>
          <p:cNvSpPr txBox="1"/>
          <p:nvPr/>
        </p:nvSpPr>
        <p:spPr>
          <a:xfrm>
            <a:off x="7498080" y="1828800"/>
            <a:ext cx="3886200" cy="365760"/>
          </a:xfrm>
          <a:prstGeom prst="rect">
            <a:avLst/>
          </a:prstGeom>
          <a:noFill/>
          <a:ln/>
        </p:spPr>
        <p:txBody>
          <a:bodyPr wrap="square" lIns="0" tIns="0" rIns="0" bIns="0" rtlCol="0" anchor="ctr"/>
          <a:lstStyle/>
          <a:p>
            <a:pPr indent="0" marL="0">
              <a:buNone/>
            </a:pPr>
            <a:r>
              <a:rPr lang="en-US" sz="1500" b="1" dirty="0">
                <a:solidFill>
                  <a:srgbClr val="E8A33D"/>
                </a:solidFill>
                <a:latin typeface="Cambria" pitchFamily="34" charset="0"/>
                <a:ea typeface="Cambria" pitchFamily="34" charset="-122"/>
                <a:cs typeface="Cambria" pitchFamily="34" charset="-120"/>
              </a:rPr>
              <a:t>Δύο επίπεδα, nested</a:t>
            </a:r>
            <a:endParaRPr lang="en-US" sz="1500" dirty="0"/>
          </a:p>
        </p:txBody>
      </p:sp>
      <p:sp>
        <p:nvSpPr>
          <p:cNvPr id="8" name="Text 5"/>
          <p:cNvSpPr txBox="1"/>
          <p:nvPr/>
        </p:nvSpPr>
        <p:spPr>
          <a:xfrm>
            <a:off x="7498080" y="2286000"/>
            <a:ext cx="3886200" cy="1737360"/>
          </a:xfrm>
          <a:prstGeom prst="rect">
            <a:avLst/>
          </a:prstGeom>
          <a:noFill/>
          <a:ln/>
        </p:spPr>
        <p:txBody>
          <a:bodyPr wrap="square" lIns="0" tIns="0" rIns="0" bIns="0" rtlCol="0" anchor="t"/>
          <a:lstStyle/>
          <a:p>
            <a:pPr marL="177800" indent="-177800">
              <a:lnSpc>
                <a:spcPct val="108000"/>
              </a:lnSpc>
              <a:spcAft>
                <a:spcPts val="1000"/>
              </a:spcAft>
              <a:buSzPct val="100000"/>
              <a:buChar char="•"/>
            </a:pPr>
            <a:r>
              <a:rPr lang="en-US" sz="1250" dirty="0">
                <a:solidFill>
                  <a:srgbClr val="FFFFFF"/>
                </a:solidFill>
                <a:latin typeface="Calibri" pitchFamily="34" charset="0"/>
                <a:ea typeface="Calibri" pitchFamily="34" charset="-122"/>
                <a:cs typeface="Calibri" pitchFamily="34" charset="-120"/>
              </a:rPr>
              <a:t>1ο επίπεδο: clustering ως προς περιοχή και χρόνο.</a:t>
            </a:r>
            <a:endParaRPr lang="en-US" sz="1250" dirty="0"/>
          </a:p>
          <a:p>
            <a:pPr marL="177800" indent="-177800">
              <a:lnSpc>
                <a:spcPct val="108000"/>
              </a:lnSpc>
              <a:spcAft>
                <a:spcPts val="1000"/>
              </a:spcAft>
              <a:buSzPct val="100000"/>
              <a:buChar char="•"/>
            </a:pPr>
            <a:r>
              <a:rPr lang="en-US" sz="1250" dirty="0">
                <a:solidFill>
                  <a:srgbClr val="FFFFFF"/>
                </a:solidFill>
                <a:latin typeface="Calibri" pitchFamily="34" charset="0"/>
                <a:ea typeface="Calibri" pitchFamily="34" charset="-122"/>
                <a:cs typeface="Calibri" pitchFamily="34" charset="-120"/>
              </a:rPr>
              <a:t>2ο επίπεδο: μέσα σε κάθε cluster, νέο clustering με RFM χαρακτηριστικά.</a:t>
            </a:r>
            <a:endParaRPr lang="en-US" sz="1250" dirty="0"/>
          </a:p>
          <a:p>
            <a:pPr marL="177800" indent="-177800">
              <a:lnSpc>
                <a:spcPct val="108000"/>
              </a:lnSpc>
              <a:spcAft>
                <a:spcPts val="1000"/>
              </a:spcAft>
              <a:buSzPct val="100000"/>
              <a:buChar char="•"/>
            </a:pPr>
            <a:r>
              <a:rPr lang="en-US" sz="1250" dirty="0">
                <a:solidFill>
                  <a:srgbClr val="FFFFFF"/>
                </a:solidFill>
                <a:latin typeface="Calibri" pitchFamily="34" charset="0"/>
                <a:ea typeface="Calibri" pitchFamily="34" charset="-122"/>
                <a:cs typeface="Calibri" pitchFamily="34" charset="-120"/>
              </a:rPr>
              <a:t>Δέντρο από clusters, με δική του πληροφορία σε κάθε κλαδί.</a:t>
            </a:r>
            <a:endParaRPr lang="en-US" sz="1250" dirty="0"/>
          </a:p>
        </p:txBody>
      </p:sp>
      <p:sp>
        <p:nvSpPr>
          <p:cNvPr id="9" name="Text 6"/>
          <p:cNvSpPr txBox="1"/>
          <p:nvPr/>
        </p:nvSpPr>
        <p:spPr>
          <a:xfrm>
            <a:off x="7498080" y="4160520"/>
            <a:ext cx="3886200" cy="1463040"/>
          </a:xfrm>
          <a:prstGeom prst="rect">
            <a:avLst/>
          </a:prstGeom>
          <a:noFill/>
          <a:ln/>
        </p:spPr>
        <p:txBody>
          <a:bodyPr wrap="square" lIns="0" tIns="0" rIns="0" bIns="0" rtlCol="0" anchor="t"/>
          <a:lstStyle/>
          <a:p>
            <a:pPr indent="0" marL="0">
              <a:buNone/>
            </a:pPr>
            <a:r>
              <a:rPr lang="en-US" sz="1150" i="1" dirty="0">
                <a:solidFill>
                  <a:srgbClr val="D7E5D2"/>
                </a:solidFill>
                <a:latin typeface="Calibri" pitchFamily="34" charset="0"/>
                <a:ea typeface="Calibri" pitchFamily="34" charset="-122"/>
                <a:cs typeface="Calibri" pitchFamily="34" charset="-120"/>
              </a:rPr>
              <a:t>Ακολουθεί την κατεύθυνση της επίβλεψης: πρώτα clustering στις πιο σημαντικές παραμέτρους, μετά ξανά clustering μέσα σε κάθε cluster.</a:t>
            </a:r>
            <a:endParaRPr lang="en-US" sz="1150" dirty="0"/>
          </a:p>
        </p:txBody>
      </p:sp>
      <p:sp>
        <p:nvSpPr>
          <p:cNvPr id="10" name="Text 7"/>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1" name="Text 8"/>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ΘΕΩΡΙΑ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RFM &amp; Οικονομικοί δείκτες e-commerce</a:t>
            </a:r>
            <a:endParaRPr lang="en-US" sz="3000" dirty="0"/>
          </a:p>
        </p:txBody>
      </p:sp>
      <p:sp>
        <p:nvSpPr>
          <p:cNvPr id="5" name="Text 2"/>
          <p:cNvSpPr txBox="1"/>
          <p:nvPr/>
        </p:nvSpPr>
        <p:spPr>
          <a:xfrm>
            <a:off x="548640" y="1554480"/>
            <a:ext cx="11094415" cy="1965960"/>
          </a:xfrm>
          <a:prstGeom prst="rect">
            <a:avLst/>
          </a:prstGeom>
          <a:noFill/>
          <a:ln/>
        </p:spPr>
        <p:txBody>
          <a:bodyPr wrap="square" lIns="0" tIns="0" rIns="0" bIns="0" rtlCol="0" anchor="t"/>
          <a:lstStyle/>
          <a:p>
            <a:pPr marL="177800" indent="-177800">
              <a:lnSpc>
                <a:spcPct val="108000"/>
              </a:lnSpc>
              <a:spcAft>
                <a:spcPts val="1000"/>
              </a:spcAft>
              <a:buSzPct val="100000"/>
              <a:buChar char="•"/>
            </a:pPr>
            <a:r>
              <a:rPr lang="en-US" sz="1400" dirty="0">
                <a:solidFill>
                  <a:srgbClr val="241F1B"/>
                </a:solidFill>
                <a:latin typeface="Calibri" pitchFamily="34" charset="0"/>
                <a:ea typeface="Calibri" pitchFamily="34" charset="-122"/>
                <a:cs typeface="Calibri" pitchFamily="34" charset="-120"/>
              </a:rPr>
              <a:t>Το μοντέλο RFM περιγράφει έναν πελάτη με τρία μεγέθη: πόσο πρόσφατα αγόρασε (Recency), πόσο συχνά αγοράζει (Frequency) και πόσα ξοδεύει (Monetary). Απλό και άμεσα ερμηνεύσιμο.</a:t>
            </a:r>
            <a:endParaRPr lang="en-US" sz="1400" dirty="0"/>
          </a:p>
          <a:p>
            <a:pPr marL="177800" indent="-177800">
              <a:lnSpc>
                <a:spcPct val="108000"/>
              </a:lnSpc>
              <a:spcAft>
                <a:spcPts val="1000"/>
              </a:spcAft>
              <a:buSzPct val="100000"/>
              <a:buChar char="•"/>
            </a:pPr>
            <a:r>
              <a:rPr lang="en-US" sz="1400" dirty="0">
                <a:solidFill>
                  <a:srgbClr val="241F1B"/>
                </a:solidFill>
                <a:latin typeface="Calibri" pitchFamily="34" charset="0"/>
                <a:ea typeface="Calibri" pitchFamily="34" charset="-122"/>
                <a:cs typeface="Calibri" pitchFamily="34" charset="-120"/>
              </a:rPr>
              <a:t>Οι Chen, Sain και Guo (2012) το συνδύασαν με clustering πάνω στο ίδιο dataset, κάτι που έγινε η βάση για το clustering δεύτερου επιπέδου εδώ.</a:t>
            </a:r>
            <a:endParaRPr lang="en-US" sz="1400" dirty="0"/>
          </a:p>
          <a:p>
            <a:pPr marL="177800" indent="-177800">
              <a:lnSpc>
                <a:spcPct val="108000"/>
              </a:lnSpc>
              <a:spcAft>
                <a:spcPts val="1000"/>
              </a:spcAft>
              <a:buSzPct val="100000"/>
              <a:buChar char="•"/>
            </a:pPr>
            <a:r>
              <a:rPr lang="en-US" sz="1300" dirty="0">
                <a:solidFill>
                  <a:srgbClr val="241F1B"/>
                </a:solidFill>
                <a:latin typeface="Calibri" pitchFamily="34" charset="0"/>
                <a:ea typeface="Calibri" pitchFamily="34" charset="-122"/>
                <a:cs typeface="Calibri" pitchFamily="34" charset="-120"/>
              </a:rPr>
              <a:t>Προσοχή: η χρηματική αξία είναι όσα έχει ήδη ξοδέψει ο πελάτης μέχρι σήμερα, όχι πρόβλεψη της μελλοντικής του αξίας. Η σύγχυση των δύο είναι συχνή και οδηγεί σε υπερεκτίμηση.</a:t>
            </a:r>
            <a:endParaRPr lang="en-US" sz="1400" dirty="0"/>
          </a:p>
        </p:txBody>
      </p:sp>
      <p:sp>
        <p:nvSpPr>
          <p:cNvPr id="6" name="Shape 3"/>
          <p:cNvSpPr/>
          <p:nvPr/>
        </p:nvSpPr>
        <p:spPr>
          <a:xfrm>
            <a:off x="548640" y="3657600"/>
            <a:ext cx="5120640" cy="2148840"/>
          </a:xfrm>
          <a:prstGeom prst="roundRect">
            <a:avLst>
              <a:gd name="adj" fmla="val 3404"/>
            </a:avLst>
          </a:prstGeom>
          <a:solidFill>
            <a:srgbClr val="EEF3EC"/>
          </a:solidFill>
          <a:ln/>
        </p:spPr>
      </p:sp>
      <p:sp>
        <p:nvSpPr>
          <p:cNvPr id="7" name="Text 4"/>
          <p:cNvSpPr txBox="1"/>
          <p:nvPr/>
        </p:nvSpPr>
        <p:spPr>
          <a:xfrm>
            <a:off x="777240" y="3822192"/>
            <a:ext cx="4663440" cy="320040"/>
          </a:xfrm>
          <a:prstGeom prst="rect">
            <a:avLst/>
          </a:prstGeom>
          <a:noFill/>
          <a:ln/>
        </p:spPr>
        <p:txBody>
          <a:bodyPr wrap="square" lIns="0" tIns="0" rIns="0" bIns="0" rtlCol="0" anchor="ctr"/>
          <a:lstStyle/>
          <a:p>
            <a:pPr indent="0" marL="0">
              <a:buNone/>
            </a:pPr>
            <a:r>
              <a:rPr lang="en-US" sz="1400" b="1" dirty="0">
                <a:solidFill>
                  <a:srgbClr val="3E8A46"/>
                </a:solidFill>
                <a:latin typeface="Cambria" pitchFamily="34" charset="0"/>
                <a:ea typeface="Cambria" pitchFamily="34" charset="-122"/>
                <a:cs typeface="Cambria" pitchFamily="34" charset="-120"/>
              </a:rPr>
              <a:t>Μετρήσιμα απευθείας</a:t>
            </a:r>
            <a:endParaRPr lang="en-US" sz="1400" dirty="0"/>
          </a:p>
        </p:txBody>
      </p:sp>
      <p:sp>
        <p:nvSpPr>
          <p:cNvPr id="8" name="Text 5"/>
          <p:cNvSpPr txBox="1"/>
          <p:nvPr/>
        </p:nvSpPr>
        <p:spPr>
          <a:xfrm>
            <a:off x="777240" y="4206240"/>
            <a:ext cx="4663440" cy="1463040"/>
          </a:xfrm>
          <a:prstGeom prst="rect">
            <a:avLst/>
          </a:prstGeom>
          <a:noFill/>
          <a:ln/>
        </p:spPr>
        <p:txBody>
          <a:bodyPr wrap="square" lIns="0" tIns="0" rIns="0" bIns="0" rtlCol="0" anchor="t"/>
          <a:lstStyle/>
          <a:p>
            <a:pPr marL="177800" indent="-177800">
              <a:lnSpc>
                <a:spcPct val="108000"/>
              </a:lnSpc>
              <a:spcAft>
                <a:spcPts val="800"/>
              </a:spcAft>
              <a:buSzPct val="100000"/>
              <a:buChar char="•"/>
            </a:pPr>
            <a:r>
              <a:rPr lang="en-US" sz="1200" dirty="0">
                <a:solidFill>
                  <a:srgbClr val="241F1B"/>
                </a:solidFill>
                <a:latin typeface="Calibri" pitchFamily="34" charset="0"/>
                <a:ea typeface="Calibri" pitchFamily="34" charset="-122"/>
                <a:cs typeface="Calibri" pitchFamily="34" charset="-120"/>
              </a:rPr>
              <a:t>GMV, repeat purchase rate, retention ανά κοόρτη.</a:t>
            </a:r>
            <a:endParaRPr lang="en-US" sz="1200" dirty="0"/>
          </a:p>
          <a:p>
            <a:pPr marL="177800" indent="-177800">
              <a:lnSpc>
                <a:spcPct val="108000"/>
              </a:lnSpc>
              <a:spcAft>
                <a:spcPts val="800"/>
              </a:spcAft>
              <a:buSzPct val="100000"/>
              <a:buChar char="•"/>
            </a:pPr>
            <a:r>
              <a:rPr lang="en-US" sz="1200" dirty="0">
                <a:solidFill>
                  <a:srgbClr val="241F1B"/>
                </a:solidFill>
                <a:latin typeface="Calibri" pitchFamily="34" charset="0"/>
                <a:ea typeface="Calibri" pitchFamily="34" charset="-122"/>
                <a:cs typeface="Calibri" pitchFamily="34" charset="-120"/>
              </a:rPr>
              <a:t>Growth Accounting: 6 ροές εσόδων, δουλεύει σε κάθε επιχειρηματικό μοντέλο.</a:t>
            </a:r>
            <a:endParaRPr lang="en-US" sz="1200" dirty="0"/>
          </a:p>
        </p:txBody>
      </p:sp>
      <p:sp>
        <p:nvSpPr>
          <p:cNvPr id="9" name="Shape 6"/>
          <p:cNvSpPr/>
          <p:nvPr/>
        </p:nvSpPr>
        <p:spPr>
          <a:xfrm>
            <a:off x="6126480" y="3657600"/>
            <a:ext cx="5120640" cy="2148840"/>
          </a:xfrm>
          <a:prstGeom prst="roundRect">
            <a:avLst>
              <a:gd name="adj" fmla="val 3404"/>
            </a:avLst>
          </a:prstGeom>
          <a:solidFill>
            <a:srgbClr val="FBF1E3"/>
          </a:solidFill>
          <a:ln/>
        </p:spPr>
      </p:sp>
      <p:sp>
        <p:nvSpPr>
          <p:cNvPr id="10" name="Text 7"/>
          <p:cNvSpPr txBox="1"/>
          <p:nvPr/>
        </p:nvSpPr>
        <p:spPr>
          <a:xfrm>
            <a:off x="6355080" y="3822192"/>
            <a:ext cx="4663440" cy="320040"/>
          </a:xfrm>
          <a:prstGeom prst="rect">
            <a:avLst/>
          </a:prstGeom>
          <a:noFill/>
          <a:ln/>
        </p:spPr>
        <p:txBody>
          <a:bodyPr wrap="square" lIns="0" tIns="0" rIns="0" bIns="0" rtlCol="0" anchor="ctr"/>
          <a:lstStyle/>
          <a:p>
            <a:pPr indent="0" marL="0">
              <a:buNone/>
            </a:pPr>
            <a:r>
              <a:rPr lang="en-US" sz="1400" b="1" dirty="0">
                <a:solidFill>
                  <a:srgbClr val="B8722A"/>
                </a:solidFill>
                <a:latin typeface="Cambria" pitchFamily="34" charset="0"/>
                <a:ea typeface="Cambria" pitchFamily="34" charset="-122"/>
                <a:cs typeface="Cambria" pitchFamily="34" charset="-120"/>
              </a:rPr>
              <a:t>Απαιτούν παραδοχές</a:t>
            </a:r>
            <a:endParaRPr lang="en-US" sz="1400" dirty="0"/>
          </a:p>
        </p:txBody>
      </p:sp>
      <p:sp>
        <p:nvSpPr>
          <p:cNvPr id="11" name="Text 8"/>
          <p:cNvSpPr txBox="1"/>
          <p:nvPr/>
        </p:nvSpPr>
        <p:spPr>
          <a:xfrm>
            <a:off x="6355080" y="4206240"/>
            <a:ext cx="4663440" cy="1463040"/>
          </a:xfrm>
          <a:prstGeom prst="rect">
            <a:avLst/>
          </a:prstGeom>
          <a:noFill/>
          <a:ln/>
        </p:spPr>
        <p:txBody>
          <a:bodyPr wrap="square" lIns="0" tIns="0" rIns="0" bIns="0" rtlCol="0" anchor="t"/>
          <a:lstStyle/>
          <a:p>
            <a:pPr marL="177800" indent="-177800">
              <a:lnSpc>
                <a:spcPct val="108000"/>
              </a:lnSpc>
              <a:spcAft>
                <a:spcPts val="800"/>
              </a:spcAft>
              <a:buSzPct val="100000"/>
              <a:buChar char="•"/>
            </a:pPr>
            <a:r>
              <a:rPr lang="en-US" sz="1200" dirty="0">
                <a:solidFill>
                  <a:srgbClr val="241F1B"/>
                </a:solidFill>
                <a:latin typeface="Calibri" pitchFamily="34" charset="0"/>
                <a:ea typeface="Calibri" pitchFamily="34" charset="-122"/>
                <a:cs typeface="Calibri" pitchFamily="34" charset="-120"/>
              </a:rPr>
              <a:t>Το CLV, το CAC και ο λόγος LTV:CAC χρειάζονται περιθώριο κέρδους και δαπάνες marketing.</a:t>
            </a:r>
            <a:endParaRPr lang="en-US" sz="1200" dirty="0"/>
          </a:p>
          <a:p>
            <a:pPr marL="177800" indent="-177800">
              <a:lnSpc>
                <a:spcPct val="108000"/>
              </a:lnSpc>
              <a:spcAft>
                <a:spcPts val="800"/>
              </a:spcAft>
              <a:buSzPct val="100000"/>
              <a:buChar char="•"/>
            </a:pPr>
            <a:r>
              <a:rPr lang="en-US" sz="1200" dirty="0">
                <a:solidFill>
                  <a:srgbClr val="241F1B"/>
                </a:solidFill>
                <a:latin typeface="Calibri" pitchFamily="34" charset="0"/>
                <a:ea typeface="Calibri" pitchFamily="34" charset="-122"/>
                <a:cs typeface="Calibri" pitchFamily="34" charset="-120"/>
              </a:rPr>
              <a:t>Δεν περιέχονται στα δεδομένα συναλλαγών ⇒ υπολογίζονται μόνο ως ανάλυση ευαισθησίας.</a:t>
            </a:r>
            <a:endParaRPr lang="en-US" sz="1200" dirty="0"/>
          </a:p>
        </p:txBody>
      </p:sp>
      <p:sp>
        <p:nvSpPr>
          <p:cNvPr id="12" name="Text 9"/>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3" name="Text 10"/>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8899855" y="-1463040"/>
            <a:ext cx="4754880" cy="4754880"/>
          </a:xfrm>
          <a:prstGeom prst="ellipse">
            <a:avLst/>
          </a:prstGeom>
          <a:solidFill>
            <a:srgbClr val="1B3A1E"/>
          </a:solidFill>
          <a:ln/>
        </p:spPr>
      </p:sp>
      <p:sp>
        <p:nvSpPr>
          <p:cNvPr id="4" name="Shape 1"/>
          <p:cNvSpPr/>
          <p:nvPr/>
        </p:nvSpPr>
        <p:spPr>
          <a:xfrm>
            <a:off x="548640" y="2514600"/>
            <a:ext cx="914400" cy="914400"/>
          </a:xfrm>
          <a:prstGeom prst="ellipse">
            <a:avLst/>
          </a:prstGeom>
          <a:solidFill>
            <a:srgbClr val="3D6B42"/>
          </a:solidFill>
          <a:ln w="19050">
            <a:solidFill>
              <a:srgbClr val="E8A33D"/>
            </a:solidFill>
            <a:prstDash val="solid"/>
          </a:ln>
        </p:spPr>
      </p:sp>
      <p:sp>
        <p:nvSpPr>
          <p:cNvPr id="5" name="Text 2"/>
          <p:cNvSpPr txBox="1"/>
          <p:nvPr/>
        </p:nvSpPr>
        <p:spPr>
          <a:xfrm>
            <a:off x="548640" y="2514600"/>
            <a:ext cx="9144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Cambria" pitchFamily="34" charset="0"/>
                <a:ea typeface="Cambria" pitchFamily="34" charset="-122"/>
                <a:cs typeface="Cambria" pitchFamily="34" charset="-120"/>
              </a:rPr>
              <a:t>03</a:t>
            </a:r>
            <a:endParaRPr lang="en-US" sz="2600" dirty="0"/>
          </a:p>
        </p:txBody>
      </p:sp>
      <p:sp>
        <p:nvSpPr>
          <p:cNvPr id="6" name="Text 3"/>
          <p:cNvSpPr txBox="1"/>
          <p:nvPr/>
        </p:nvSpPr>
        <p:spPr>
          <a:xfrm>
            <a:off x="1737360" y="2697480"/>
            <a:ext cx="8229600" cy="320040"/>
          </a:xfrm>
          <a:prstGeom prst="rect">
            <a:avLst/>
          </a:prstGeom>
          <a:noFill/>
          <a:ln/>
        </p:spPr>
        <p:txBody>
          <a:bodyPr wrap="square" lIns="0" tIns="0" rIns="0" bIns="0" rtlCol="0" anchor="ctr"/>
          <a:lstStyle/>
          <a:p>
            <a:pPr indent="0" marL="0">
              <a:buNone/>
            </a:pPr>
            <a:r>
              <a:rPr lang="en-US" sz="1300" b="1" spc="200" kern="0" dirty="0">
                <a:solidFill>
                  <a:srgbClr val="E8A33D"/>
                </a:solidFill>
                <a:latin typeface="Calibri" pitchFamily="34" charset="0"/>
                <a:ea typeface="Calibri" pitchFamily="34" charset="-122"/>
                <a:cs typeface="Calibri" pitchFamily="34" charset="-120"/>
              </a:rPr>
              <a:t>ΕΝΟΤΗΤΑ ΤΡΙΤΗ</a:t>
            </a:r>
            <a:endParaRPr lang="en-US" sz="1300" dirty="0"/>
          </a:p>
        </p:txBody>
      </p:sp>
      <p:sp>
        <p:nvSpPr>
          <p:cNvPr id="7" name="Text 4"/>
          <p:cNvSpPr txBox="1"/>
          <p:nvPr/>
        </p:nvSpPr>
        <p:spPr>
          <a:xfrm>
            <a:off x="1737360" y="2999232"/>
            <a:ext cx="987552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Αρχιτεκτονική &amp; Δεδομένα</a:t>
            </a:r>
            <a:endParaRPr lang="en-US" sz="3400" dirty="0"/>
          </a:p>
        </p:txBody>
      </p:sp>
      <p:sp>
        <p:nvSpPr>
          <p:cNvPr id="8" name="Text 5"/>
          <p:cNvSpPr txBox="1"/>
          <p:nvPr/>
        </p:nvSpPr>
        <p:spPr>
          <a:xfrm>
            <a:off x="1737360" y="3977640"/>
            <a:ext cx="9144000" cy="548640"/>
          </a:xfrm>
          <a:prstGeom prst="rect">
            <a:avLst/>
          </a:prstGeom>
          <a:noFill/>
          <a:ln/>
        </p:spPr>
        <p:txBody>
          <a:bodyPr wrap="square" lIns="0" tIns="0" rIns="0" bIns="0" rtlCol="0" anchor="ctr"/>
          <a:lstStyle/>
          <a:p>
            <a:pPr indent="0" marL="0">
              <a:buNone/>
            </a:pPr>
            <a:r>
              <a:rPr lang="en-US" sz="1400" dirty="0">
                <a:solidFill>
                  <a:srgbClr val="D7E5D2"/>
                </a:solidFill>
                <a:latin typeface="Calibri" pitchFamily="34" charset="0"/>
                <a:ea typeface="Calibri" pitchFamily="34" charset="-122"/>
                <a:cs typeface="Calibri" pitchFamily="34" charset="-120"/>
              </a:rPr>
              <a:t>Ό,τι επιτρέπει στο ίδιο σύστημα να απαντά σε οποιοδήποτε κατάστημα</a:t>
            </a:r>
            <a:endParaRPr lang="en-US" sz="1400" dirty="0"/>
          </a:p>
        </p:txBody>
      </p:sp>
      <p:sp>
        <p:nvSpPr>
          <p:cNvPr id="9"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 · Διπλωματική εργασία</a:t>
            </a:r>
            <a:endParaRPr lang="en-US" sz="900" dirty="0"/>
          </a:p>
        </p:txBody>
      </p:sp>
      <p:sp>
        <p:nvSpPr>
          <p:cNvPr id="10"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ΔΕΔΟΜΕΝΑ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Online Retail II (UCI)</a:t>
            </a:r>
            <a:endParaRPr lang="en-US" sz="3000" dirty="0"/>
          </a:p>
        </p:txBody>
      </p:sp>
      <p:sp>
        <p:nvSpPr>
          <p:cNvPr id="5" name="Text 2"/>
          <p:cNvSpPr txBox="1"/>
          <p:nvPr/>
        </p:nvSpPr>
        <p:spPr>
          <a:xfrm>
            <a:off x="548640" y="1417320"/>
            <a:ext cx="11094415" cy="1188720"/>
          </a:xfrm>
          <a:prstGeom prst="rect">
            <a:avLst/>
          </a:prstGeom>
          <a:noFill/>
          <a:ln/>
        </p:spPr>
        <p:txBody>
          <a:bodyPr wrap="square" lIns="0" tIns="0" rIns="0" bIns="0" rtlCol="0" anchor="t"/>
          <a:lstStyle/>
          <a:p>
            <a:pPr marL="177800" indent="-177800">
              <a:lnSpc>
                <a:spcPct val="108000"/>
              </a:lnSpc>
              <a:spcAft>
                <a:spcPts val="800"/>
              </a:spcAft>
              <a:buSzPct val="100000"/>
              <a:buChar char="•"/>
            </a:pPr>
            <a:r>
              <a:rPr lang="en-US" sz="1350" dirty="0">
                <a:solidFill>
                  <a:srgbClr val="241F1B"/>
                </a:solidFill>
                <a:latin typeface="Calibri" pitchFamily="34" charset="0"/>
                <a:ea typeface="Calibri" pitchFamily="34" charset="-122"/>
                <a:cs typeface="Calibri" pitchFamily="34" charset="-120"/>
              </a:rPr>
              <a:t>Βρετανικό κατάστημα χονδρικής πώλησης ειδών δώρων, 2009–2011.</a:t>
            </a:r>
            <a:endParaRPr lang="en-US" sz="1350" dirty="0"/>
          </a:p>
          <a:p>
            <a:pPr marL="177800" indent="-177800">
              <a:lnSpc>
                <a:spcPct val="108000"/>
              </a:lnSpc>
              <a:spcAft>
                <a:spcPts val="800"/>
              </a:spcAft>
              <a:buSzPct val="100000"/>
              <a:buChar char="•"/>
            </a:pPr>
            <a:r>
              <a:rPr lang="en-US" sz="1350" dirty="0">
                <a:solidFill>
                  <a:srgbClr val="241F1B"/>
                </a:solidFill>
                <a:latin typeface="Calibri" pitchFamily="34" charset="0"/>
                <a:ea typeface="Calibri" pitchFamily="34" charset="-122"/>
                <a:cs typeface="Calibri" pitchFamily="34" charset="-120"/>
              </a:rPr>
              <a:t>Είναι δημόσιο και αναπαραγώγιμο, το ίδιο dataset που χρησιμοποίησαν οι Chen, Sain και Guo (2012), και περιέχει ακυρωμένα παραστατικά, χωρίς τα οποία δεν θα απαντιόταν το ερώτημα των επιστροφών.</a:t>
            </a:r>
            <a:endParaRPr lang="en-US" sz="1350" dirty="0"/>
          </a:p>
        </p:txBody>
      </p:sp>
      <p:sp>
        <p:nvSpPr>
          <p:cNvPr id="6" name="Shape 3"/>
          <p:cNvSpPr/>
          <p:nvPr/>
        </p:nvSpPr>
        <p:spPr>
          <a:xfrm>
            <a:off x="548640" y="2697480"/>
            <a:ext cx="1755648" cy="1234440"/>
          </a:xfrm>
          <a:prstGeom prst="roundRect">
            <a:avLst>
              <a:gd name="adj" fmla="val 5926"/>
            </a:avLst>
          </a:prstGeom>
          <a:solidFill>
            <a:srgbClr val="EEF3EC"/>
          </a:solidFill>
          <a:ln/>
          <a:effectLst>
            <a:outerShdw sx="100000" sy="100000" kx="0" ky="0" algn="bl" rotWithShape="0" blurRad="76200" dist="25400" dir="5400000">
              <a:srgbClr val="2C5530">
                <a:alpha val="12000"/>
              </a:srgbClr>
            </a:outerShdw>
          </a:effectLst>
        </p:spPr>
      </p:sp>
      <p:sp>
        <p:nvSpPr>
          <p:cNvPr id="7" name="Text 4"/>
          <p:cNvSpPr txBox="1"/>
          <p:nvPr/>
        </p:nvSpPr>
        <p:spPr>
          <a:xfrm>
            <a:off x="548640" y="2894990"/>
            <a:ext cx="1755648" cy="617220"/>
          </a:xfrm>
          <a:prstGeom prst="rect">
            <a:avLst/>
          </a:prstGeom>
          <a:noFill/>
          <a:ln/>
        </p:spPr>
        <p:txBody>
          <a:bodyPr wrap="square" lIns="0" tIns="0" rIns="0" bIns="0" rtlCol="0" anchor="ctr"/>
          <a:lstStyle/>
          <a:p>
            <a:pPr algn="ctr" indent="0" marL="0">
              <a:buNone/>
            </a:pPr>
            <a:r>
              <a:rPr lang="en-US" sz="2000" b="1" dirty="0">
                <a:solidFill>
                  <a:srgbClr val="2C5530"/>
                </a:solidFill>
                <a:latin typeface="Cambria" pitchFamily="34" charset="0"/>
                <a:ea typeface="Cambria" pitchFamily="34" charset="-122"/>
                <a:cs typeface="Cambria" pitchFamily="34" charset="-120"/>
              </a:rPr>
              <a:t>39.516</a:t>
            </a:r>
            <a:endParaRPr lang="en-US" sz="2000" dirty="0"/>
          </a:p>
        </p:txBody>
      </p:sp>
      <p:sp>
        <p:nvSpPr>
          <p:cNvPr id="8" name="Text 5"/>
          <p:cNvSpPr txBox="1"/>
          <p:nvPr/>
        </p:nvSpPr>
        <p:spPr>
          <a:xfrm>
            <a:off x="621792" y="3462833"/>
            <a:ext cx="1609344" cy="419710"/>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Παραγγελίες</a:t>
            </a:r>
            <a:endParaRPr lang="en-US" sz="1050" dirty="0"/>
          </a:p>
        </p:txBody>
      </p:sp>
      <p:sp>
        <p:nvSpPr>
          <p:cNvPr id="9" name="Shape 6"/>
          <p:cNvSpPr/>
          <p:nvPr/>
        </p:nvSpPr>
        <p:spPr>
          <a:xfrm>
            <a:off x="2432304" y="2697480"/>
            <a:ext cx="1755648" cy="1234440"/>
          </a:xfrm>
          <a:prstGeom prst="roundRect">
            <a:avLst>
              <a:gd name="adj" fmla="val 5926"/>
            </a:avLst>
          </a:prstGeom>
          <a:solidFill>
            <a:srgbClr val="EEF3EC"/>
          </a:solidFill>
          <a:ln/>
          <a:effectLst>
            <a:outerShdw sx="100000" sy="100000" kx="0" ky="0" algn="bl" rotWithShape="0" blurRad="76200" dist="25400" dir="5400000">
              <a:srgbClr val="2C5530">
                <a:alpha val="12000"/>
              </a:srgbClr>
            </a:outerShdw>
          </a:effectLst>
        </p:spPr>
      </p:sp>
      <p:sp>
        <p:nvSpPr>
          <p:cNvPr id="10" name="Text 7"/>
          <p:cNvSpPr txBox="1"/>
          <p:nvPr/>
        </p:nvSpPr>
        <p:spPr>
          <a:xfrm>
            <a:off x="2432304" y="2894990"/>
            <a:ext cx="1755648" cy="617220"/>
          </a:xfrm>
          <a:prstGeom prst="rect">
            <a:avLst/>
          </a:prstGeom>
          <a:noFill/>
          <a:ln/>
        </p:spPr>
        <p:txBody>
          <a:bodyPr wrap="square" lIns="0" tIns="0" rIns="0" bIns="0" rtlCol="0" anchor="ctr"/>
          <a:lstStyle/>
          <a:p>
            <a:pPr algn="ctr" indent="0" marL="0">
              <a:buNone/>
            </a:pPr>
            <a:r>
              <a:rPr lang="en-US" sz="2000" b="1" dirty="0">
                <a:solidFill>
                  <a:srgbClr val="2C5530"/>
                </a:solidFill>
                <a:latin typeface="Cambria" pitchFamily="34" charset="0"/>
                <a:ea typeface="Cambria" pitchFamily="34" charset="-122"/>
                <a:cs typeface="Cambria" pitchFamily="34" charset="-120"/>
              </a:rPr>
              <a:t>1.002.423</a:t>
            </a:r>
            <a:endParaRPr lang="en-US" sz="2000" dirty="0"/>
          </a:p>
        </p:txBody>
      </p:sp>
      <p:sp>
        <p:nvSpPr>
          <p:cNvPr id="11" name="Text 8"/>
          <p:cNvSpPr txBox="1"/>
          <p:nvPr/>
        </p:nvSpPr>
        <p:spPr>
          <a:xfrm>
            <a:off x="2505456" y="3462833"/>
            <a:ext cx="1609344" cy="419710"/>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Γραμμές παραγγελιών</a:t>
            </a:r>
            <a:endParaRPr lang="en-US" sz="1050" dirty="0"/>
          </a:p>
        </p:txBody>
      </p:sp>
      <p:sp>
        <p:nvSpPr>
          <p:cNvPr id="12" name="Shape 9"/>
          <p:cNvSpPr/>
          <p:nvPr/>
        </p:nvSpPr>
        <p:spPr>
          <a:xfrm>
            <a:off x="4315968" y="2697480"/>
            <a:ext cx="1755648" cy="1234440"/>
          </a:xfrm>
          <a:prstGeom prst="roundRect">
            <a:avLst>
              <a:gd name="adj" fmla="val 5926"/>
            </a:avLst>
          </a:prstGeom>
          <a:solidFill>
            <a:srgbClr val="EEF3EC"/>
          </a:solidFill>
          <a:ln/>
          <a:effectLst>
            <a:outerShdw sx="100000" sy="100000" kx="0" ky="0" algn="bl" rotWithShape="0" blurRad="76200" dist="25400" dir="5400000">
              <a:srgbClr val="2C5530">
                <a:alpha val="12000"/>
              </a:srgbClr>
            </a:outerShdw>
          </a:effectLst>
        </p:spPr>
      </p:sp>
      <p:sp>
        <p:nvSpPr>
          <p:cNvPr id="13" name="Text 10"/>
          <p:cNvSpPr txBox="1"/>
          <p:nvPr/>
        </p:nvSpPr>
        <p:spPr>
          <a:xfrm>
            <a:off x="4315968" y="2894990"/>
            <a:ext cx="1755648" cy="617220"/>
          </a:xfrm>
          <a:prstGeom prst="rect">
            <a:avLst/>
          </a:prstGeom>
          <a:noFill/>
          <a:ln/>
        </p:spPr>
        <p:txBody>
          <a:bodyPr wrap="square" lIns="0" tIns="0" rIns="0" bIns="0" rtlCol="0" anchor="ctr"/>
          <a:lstStyle/>
          <a:p>
            <a:pPr algn="ctr" indent="0" marL="0">
              <a:buNone/>
            </a:pPr>
            <a:r>
              <a:rPr lang="en-US" sz="2000" b="1" dirty="0">
                <a:solidFill>
                  <a:srgbClr val="2C5530"/>
                </a:solidFill>
                <a:latin typeface="Cambria" pitchFamily="34" charset="0"/>
                <a:ea typeface="Cambria" pitchFamily="34" charset="-122"/>
                <a:cs typeface="Cambria" pitchFamily="34" charset="-120"/>
              </a:rPr>
              <a:t>17.925</a:t>
            </a:r>
            <a:endParaRPr lang="en-US" sz="2000" dirty="0"/>
          </a:p>
        </p:txBody>
      </p:sp>
      <p:sp>
        <p:nvSpPr>
          <p:cNvPr id="14" name="Text 11"/>
          <p:cNvSpPr txBox="1"/>
          <p:nvPr/>
        </p:nvSpPr>
        <p:spPr>
          <a:xfrm>
            <a:off x="4389120" y="3462833"/>
            <a:ext cx="1609344" cy="419710"/>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Επιστροφές</a:t>
            </a:r>
            <a:endParaRPr lang="en-US" sz="1050" dirty="0"/>
          </a:p>
        </p:txBody>
      </p:sp>
      <p:sp>
        <p:nvSpPr>
          <p:cNvPr id="15" name="Shape 12"/>
          <p:cNvSpPr/>
          <p:nvPr/>
        </p:nvSpPr>
        <p:spPr>
          <a:xfrm>
            <a:off x="6199632" y="2697480"/>
            <a:ext cx="1755648" cy="1234440"/>
          </a:xfrm>
          <a:prstGeom prst="roundRect">
            <a:avLst>
              <a:gd name="adj" fmla="val 5926"/>
            </a:avLst>
          </a:prstGeom>
          <a:solidFill>
            <a:srgbClr val="EEF3EC"/>
          </a:solidFill>
          <a:ln/>
          <a:effectLst>
            <a:outerShdw sx="100000" sy="100000" kx="0" ky="0" algn="bl" rotWithShape="0" blurRad="76200" dist="25400" dir="5400000">
              <a:srgbClr val="2C5530">
                <a:alpha val="12000"/>
              </a:srgbClr>
            </a:outerShdw>
          </a:effectLst>
        </p:spPr>
      </p:sp>
      <p:sp>
        <p:nvSpPr>
          <p:cNvPr id="16" name="Text 13"/>
          <p:cNvSpPr txBox="1"/>
          <p:nvPr/>
        </p:nvSpPr>
        <p:spPr>
          <a:xfrm>
            <a:off x="6199632" y="2894990"/>
            <a:ext cx="1755648" cy="617220"/>
          </a:xfrm>
          <a:prstGeom prst="rect">
            <a:avLst/>
          </a:prstGeom>
          <a:noFill/>
          <a:ln/>
        </p:spPr>
        <p:txBody>
          <a:bodyPr wrap="square" lIns="0" tIns="0" rIns="0" bIns="0" rtlCol="0" anchor="ctr"/>
          <a:lstStyle/>
          <a:p>
            <a:pPr algn="ctr" indent="0" marL="0">
              <a:buNone/>
            </a:pPr>
            <a:r>
              <a:rPr lang="en-US" sz="2000" b="1" dirty="0">
                <a:solidFill>
                  <a:srgbClr val="2C5530"/>
                </a:solidFill>
                <a:latin typeface="Cambria" pitchFamily="34" charset="0"/>
                <a:ea typeface="Cambria" pitchFamily="34" charset="-122"/>
                <a:cs typeface="Cambria" pitchFamily="34" charset="-120"/>
              </a:rPr>
              <a:t>5.875</a:t>
            </a:r>
            <a:endParaRPr lang="en-US" sz="2000" dirty="0"/>
          </a:p>
        </p:txBody>
      </p:sp>
      <p:sp>
        <p:nvSpPr>
          <p:cNvPr id="17" name="Text 14"/>
          <p:cNvSpPr txBox="1"/>
          <p:nvPr/>
        </p:nvSpPr>
        <p:spPr>
          <a:xfrm>
            <a:off x="6272784" y="3462833"/>
            <a:ext cx="1609344" cy="419710"/>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Πελάτες</a:t>
            </a:r>
            <a:endParaRPr lang="en-US" sz="1050" dirty="0"/>
          </a:p>
        </p:txBody>
      </p:sp>
      <p:sp>
        <p:nvSpPr>
          <p:cNvPr id="18" name="Shape 15"/>
          <p:cNvSpPr/>
          <p:nvPr/>
        </p:nvSpPr>
        <p:spPr>
          <a:xfrm>
            <a:off x="8083296" y="2697480"/>
            <a:ext cx="1755648" cy="1234440"/>
          </a:xfrm>
          <a:prstGeom prst="roundRect">
            <a:avLst>
              <a:gd name="adj" fmla="val 5926"/>
            </a:avLst>
          </a:prstGeom>
          <a:solidFill>
            <a:srgbClr val="EEF3EC"/>
          </a:solidFill>
          <a:ln/>
          <a:effectLst>
            <a:outerShdw sx="100000" sy="100000" kx="0" ky="0" algn="bl" rotWithShape="0" blurRad="76200" dist="25400" dir="5400000">
              <a:srgbClr val="2C5530">
                <a:alpha val="12000"/>
              </a:srgbClr>
            </a:outerShdw>
          </a:effectLst>
        </p:spPr>
      </p:sp>
      <p:sp>
        <p:nvSpPr>
          <p:cNvPr id="19" name="Text 16"/>
          <p:cNvSpPr txBox="1"/>
          <p:nvPr/>
        </p:nvSpPr>
        <p:spPr>
          <a:xfrm>
            <a:off x="8083296" y="2894990"/>
            <a:ext cx="1755648" cy="617220"/>
          </a:xfrm>
          <a:prstGeom prst="rect">
            <a:avLst/>
          </a:prstGeom>
          <a:noFill/>
          <a:ln/>
        </p:spPr>
        <p:txBody>
          <a:bodyPr wrap="square" lIns="0" tIns="0" rIns="0" bIns="0" rtlCol="0" anchor="ctr"/>
          <a:lstStyle/>
          <a:p>
            <a:pPr algn="ctr" indent="0" marL="0">
              <a:buNone/>
            </a:pPr>
            <a:r>
              <a:rPr lang="en-US" sz="2000" b="1" dirty="0">
                <a:solidFill>
                  <a:srgbClr val="2C5530"/>
                </a:solidFill>
                <a:latin typeface="Cambria" pitchFamily="34" charset="0"/>
                <a:ea typeface="Cambria" pitchFamily="34" charset="-122"/>
                <a:cs typeface="Cambria" pitchFamily="34" charset="-120"/>
              </a:rPr>
              <a:t>4.900</a:t>
            </a:r>
            <a:endParaRPr lang="en-US" sz="2000" dirty="0"/>
          </a:p>
        </p:txBody>
      </p:sp>
      <p:sp>
        <p:nvSpPr>
          <p:cNvPr id="20" name="Text 17"/>
          <p:cNvSpPr txBox="1"/>
          <p:nvPr/>
        </p:nvSpPr>
        <p:spPr>
          <a:xfrm>
            <a:off x="8156448" y="3462833"/>
            <a:ext cx="1609344" cy="419710"/>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Προϊόντα</a:t>
            </a:r>
            <a:endParaRPr lang="en-US" sz="1050" dirty="0"/>
          </a:p>
        </p:txBody>
      </p:sp>
      <p:sp>
        <p:nvSpPr>
          <p:cNvPr id="21" name="Shape 18"/>
          <p:cNvSpPr/>
          <p:nvPr/>
        </p:nvSpPr>
        <p:spPr>
          <a:xfrm>
            <a:off x="9966960" y="2697480"/>
            <a:ext cx="1755648" cy="1234440"/>
          </a:xfrm>
          <a:prstGeom prst="roundRect">
            <a:avLst>
              <a:gd name="adj" fmla="val 5926"/>
            </a:avLst>
          </a:prstGeom>
          <a:solidFill>
            <a:srgbClr val="EEF3EC"/>
          </a:solidFill>
          <a:ln/>
          <a:effectLst>
            <a:outerShdw sx="100000" sy="100000" kx="0" ky="0" algn="bl" rotWithShape="0" blurRad="76200" dist="25400" dir="5400000">
              <a:srgbClr val="2C5530">
                <a:alpha val="12000"/>
              </a:srgbClr>
            </a:outerShdw>
          </a:effectLst>
        </p:spPr>
      </p:sp>
      <p:sp>
        <p:nvSpPr>
          <p:cNvPr id="22" name="Text 19"/>
          <p:cNvSpPr txBox="1"/>
          <p:nvPr/>
        </p:nvSpPr>
        <p:spPr>
          <a:xfrm>
            <a:off x="9966960" y="2894990"/>
            <a:ext cx="1755648" cy="617220"/>
          </a:xfrm>
          <a:prstGeom prst="rect">
            <a:avLst/>
          </a:prstGeom>
          <a:noFill/>
          <a:ln/>
        </p:spPr>
        <p:txBody>
          <a:bodyPr wrap="square" lIns="0" tIns="0" rIns="0" bIns="0" rtlCol="0" anchor="ctr"/>
          <a:lstStyle/>
          <a:p>
            <a:pPr algn="ctr" indent="0" marL="0">
              <a:buNone/>
            </a:pPr>
            <a:r>
              <a:rPr lang="en-US" sz="2000" b="1" dirty="0">
                <a:solidFill>
                  <a:srgbClr val="2C5530"/>
                </a:solidFill>
                <a:latin typeface="Cambria" pitchFamily="34" charset="0"/>
                <a:ea typeface="Cambria" pitchFamily="34" charset="-122"/>
                <a:cs typeface="Cambria" pitchFamily="34" charset="-120"/>
              </a:rPr>
              <a:t>43</a:t>
            </a:r>
            <a:endParaRPr lang="en-US" sz="2000" dirty="0"/>
          </a:p>
        </p:txBody>
      </p:sp>
      <p:sp>
        <p:nvSpPr>
          <p:cNvPr id="23" name="Text 20"/>
          <p:cNvSpPr txBox="1"/>
          <p:nvPr/>
        </p:nvSpPr>
        <p:spPr>
          <a:xfrm>
            <a:off x="10040112" y="3462833"/>
            <a:ext cx="1609344" cy="419710"/>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Περιοχές</a:t>
            </a:r>
            <a:endParaRPr lang="en-US" sz="1050" dirty="0"/>
          </a:p>
        </p:txBody>
      </p:sp>
      <p:sp>
        <p:nvSpPr>
          <p:cNvPr id="24" name="Text 21"/>
          <p:cNvSpPr txBox="1"/>
          <p:nvPr/>
        </p:nvSpPr>
        <p:spPr>
          <a:xfrm>
            <a:off x="548640" y="4206240"/>
            <a:ext cx="11094415" cy="1737360"/>
          </a:xfrm>
          <a:prstGeom prst="rect">
            <a:avLst/>
          </a:prstGeom>
          <a:noFill/>
          <a:ln/>
        </p:spPr>
        <p:txBody>
          <a:bodyPr wrap="square" lIns="0" tIns="0" rIns="0" bIns="0" rtlCol="0" anchor="t"/>
          <a:lstStyle/>
          <a:p>
            <a:pPr marL="177800" indent="-177800">
              <a:lnSpc>
                <a:spcPct val="108000"/>
              </a:lnSpc>
              <a:spcAft>
                <a:spcPts val="1000"/>
              </a:spcAft>
              <a:buSzPct val="100000"/>
              <a:buChar char="•"/>
            </a:pPr>
            <a:r>
              <a:rPr lang="en-US" sz="1250" dirty="0">
                <a:solidFill>
                  <a:srgbClr val="241F1B"/>
                </a:solidFill>
                <a:latin typeface="Calibri" pitchFamily="34" charset="0"/>
                <a:ea typeface="Calibri" pitchFamily="34" charset="-122"/>
                <a:cs typeface="Calibri" pitchFamily="34" charset="-120"/>
              </a:rPr>
              <a:t>Εισαγωγή σε ~140 δευτερόλεπτα: κατασκευή αντικειμένων απευθείας + δεσμευμένες συγγραφές ανά παρτίδα (batch).</a:t>
            </a:r>
            <a:endParaRPr lang="en-US" sz="1250" dirty="0"/>
          </a:p>
          <a:p>
            <a:pPr marL="177800" indent="-177800">
              <a:lnSpc>
                <a:spcPct val="108000"/>
              </a:lnSpc>
              <a:spcAft>
                <a:spcPts val="1000"/>
              </a:spcAft>
              <a:buSzPct val="100000"/>
              <a:buChar char="•"/>
            </a:pPr>
            <a:r>
              <a:rPr lang="en-US" sz="1250" dirty="0">
                <a:solidFill>
                  <a:srgbClr val="241F1B"/>
                </a:solidFill>
                <a:latin typeface="Calibri" pitchFamily="34" charset="0"/>
                <a:ea typeface="Calibri" pitchFamily="34" charset="-122"/>
                <a:cs typeface="Calibri" pitchFamily="34" charset="-120"/>
              </a:rPr>
              <a:t>Αποκλεισμός μη εμπορικών κωδικών (χειροκίνητες προσαρμογές, ταχυδρομικά τέλη, δωροεπιταγές) μέσω ρητού καταλόγου: ~4% των εσόδων, αλλά ποιοτική αλλαγή στην κατάταξη προϊόντων.</a:t>
            </a:r>
            <a:endParaRPr lang="en-US" sz="1250" dirty="0"/>
          </a:p>
        </p:txBody>
      </p:sp>
      <p:sp>
        <p:nvSpPr>
          <p:cNvPr id="25" name="Text 22"/>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26" name="Text 23"/>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ΥΛΟΠΟΙΗΣΗ</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Αρχιτεκτονική συστήματος</a:t>
            </a:r>
            <a:endParaRPr lang="en-US" sz="3000" dirty="0"/>
          </a:p>
        </p:txBody>
      </p:sp>
      <p:sp>
        <p:nvSpPr>
          <p:cNvPr id="5" name="Text 2"/>
          <p:cNvSpPr txBox="1"/>
          <p:nvPr/>
        </p:nvSpPr>
        <p:spPr>
          <a:xfrm>
            <a:off x="548640" y="1554480"/>
            <a:ext cx="11094415" cy="1920240"/>
          </a:xfrm>
          <a:prstGeom prst="rect">
            <a:avLst/>
          </a:prstGeom>
          <a:noFill/>
          <a:ln/>
        </p:spPr>
        <p:txBody>
          <a:bodyPr wrap="square" lIns="0" tIns="0" rIns="0" bIns="0" rtlCol="0" anchor="t"/>
          <a:lstStyle/>
          <a:p>
            <a:pPr marL="177800" indent="-177800">
              <a:lnSpc>
                <a:spcPct val="108000"/>
              </a:lnSpc>
              <a:spcAft>
                <a:spcPts val="1000"/>
              </a:spcAft>
              <a:buSzPct val="100000"/>
              <a:buChar char="•"/>
            </a:pPr>
            <a:r>
              <a:rPr lang="en-US" sz="1350" dirty="0">
                <a:solidFill>
                  <a:srgbClr val="241F1B"/>
                </a:solidFill>
                <a:latin typeface="Calibri" pitchFamily="34" charset="0"/>
                <a:ea typeface="Calibri" pitchFamily="34" charset="-122"/>
                <a:cs typeface="Calibri" pitchFamily="34" charset="-120"/>
              </a:rPr>
              <a:t>FastAPI + PostgreSQL + Celery, σε layers: API → services → repositories → models.</a:t>
            </a:r>
            <a:endParaRPr lang="en-US" sz="1350" dirty="0"/>
          </a:p>
          <a:p>
            <a:pPr marL="177800" indent="-177800">
              <a:lnSpc>
                <a:spcPct val="108000"/>
              </a:lnSpc>
              <a:spcAft>
                <a:spcPts val="1000"/>
              </a:spcAft>
              <a:buSzPct val="100000"/>
              <a:buChar char="•"/>
            </a:pPr>
            <a:r>
              <a:rPr lang="en-US" sz="1350" dirty="0">
                <a:solidFill>
                  <a:srgbClr val="241F1B"/>
                </a:solidFill>
                <a:latin typeface="Calibri" pitchFamily="34" charset="0"/>
                <a:ea typeface="Calibri" pitchFamily="34" charset="-122"/>
                <a:cs typeface="Calibri" pitchFamily="34" charset="-120"/>
              </a:rPr>
              <a:t>Οι αλγόριθμοι mining και machine learning ζουν σε δικό τους layer, χωρίς καμία εξάρτηση από τη βάση ή το framework. Ελέγχονται με δεδομένα υπολογίσιμα με το χέρι, και ο ίδιος κώδικας τρέχει κατευθείαν μέσα από τα Jupyter notebooks.</a:t>
            </a:r>
            <a:endParaRPr lang="en-US" sz="1350" dirty="0"/>
          </a:p>
          <a:p>
            <a:pPr marL="177800" indent="-177800">
              <a:lnSpc>
                <a:spcPct val="108000"/>
              </a:lnSpc>
              <a:spcAft>
                <a:spcPts val="1000"/>
              </a:spcAft>
              <a:buSzPct val="100000"/>
              <a:buChar char="•"/>
            </a:pPr>
            <a:r>
              <a:rPr lang="en-US" sz="1350" dirty="0">
                <a:solidFill>
                  <a:srgbClr val="241F1B"/>
                </a:solidFill>
                <a:latin typeface="Calibri" pitchFamily="34" charset="0"/>
                <a:ea typeface="Calibri" pitchFamily="34" charset="-122"/>
                <a:cs typeface="Calibri" pitchFamily="34" charset="-120"/>
              </a:rPr>
              <a:t>Αργές αναλύσεις, π.χ. frequent itemset mining σε όλο το ιστορικό, τρέχουν ασύγχρονα σε Celery workers.</a:t>
            </a:r>
            <a:endParaRPr lang="en-US" sz="1350" dirty="0"/>
          </a:p>
        </p:txBody>
      </p:sp>
      <p:sp>
        <p:nvSpPr>
          <p:cNvPr id="6" name="Shape 3"/>
          <p:cNvSpPr/>
          <p:nvPr/>
        </p:nvSpPr>
        <p:spPr>
          <a:xfrm>
            <a:off x="4907128" y="3703320"/>
            <a:ext cx="2377440" cy="640080"/>
          </a:xfrm>
          <a:prstGeom prst="roundRect">
            <a:avLst>
              <a:gd name="adj" fmla="val 11429"/>
            </a:avLst>
          </a:prstGeom>
          <a:solidFill>
            <a:srgbClr val="2C5530"/>
          </a:solidFill>
          <a:ln/>
        </p:spPr>
      </p:sp>
      <p:sp>
        <p:nvSpPr>
          <p:cNvPr id="7" name="Text 4"/>
          <p:cNvSpPr txBox="1"/>
          <p:nvPr/>
        </p:nvSpPr>
        <p:spPr>
          <a:xfrm>
            <a:off x="4907128" y="3703320"/>
            <a:ext cx="237744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PostgreSQL</a:t>
            </a:r>
            <a:endParaRPr lang="en-US" sz="1400" dirty="0"/>
          </a:p>
        </p:txBody>
      </p:sp>
      <p:sp>
        <p:nvSpPr>
          <p:cNvPr id="8" name="Shape 5"/>
          <p:cNvSpPr/>
          <p:nvPr/>
        </p:nvSpPr>
        <p:spPr>
          <a:xfrm>
            <a:off x="6095848" y="4343400"/>
            <a:ext cx="0" cy="320040"/>
          </a:xfrm>
          <a:prstGeom prst="line">
            <a:avLst/>
          </a:prstGeom>
          <a:noFill/>
          <a:ln w="19050">
            <a:solidFill>
              <a:srgbClr val="D7E5D2"/>
            </a:solidFill>
            <a:prstDash val="solid"/>
          </a:ln>
        </p:spPr>
      </p:sp>
      <p:sp>
        <p:nvSpPr>
          <p:cNvPr id="9" name="Shape 6"/>
          <p:cNvSpPr/>
          <p:nvPr/>
        </p:nvSpPr>
        <p:spPr>
          <a:xfrm>
            <a:off x="723748" y="4663440"/>
            <a:ext cx="3246120" cy="1005840"/>
          </a:xfrm>
          <a:prstGeom prst="roundRect">
            <a:avLst>
              <a:gd name="adj" fmla="val 7273"/>
            </a:avLst>
          </a:prstGeom>
          <a:solidFill>
            <a:srgbClr val="EEF3EC"/>
          </a:solidFill>
          <a:ln/>
        </p:spPr>
      </p:sp>
      <p:sp>
        <p:nvSpPr>
          <p:cNvPr id="10" name="Text 7"/>
          <p:cNvSpPr txBox="1"/>
          <p:nvPr/>
        </p:nvSpPr>
        <p:spPr>
          <a:xfrm>
            <a:off x="723748" y="4754880"/>
            <a:ext cx="3246120" cy="365760"/>
          </a:xfrm>
          <a:prstGeom prst="rect">
            <a:avLst/>
          </a:prstGeom>
          <a:noFill/>
          <a:ln/>
        </p:spPr>
        <p:txBody>
          <a:bodyPr wrap="square" lIns="0" tIns="0" rIns="0" bIns="0" rtlCol="0" anchor="ctr"/>
          <a:lstStyle/>
          <a:p>
            <a:pPr algn="ctr" indent="0" marL="0">
              <a:buNone/>
            </a:pPr>
            <a:r>
              <a:rPr lang="en-US" sz="1400" b="1" dirty="0">
                <a:solidFill>
                  <a:srgbClr val="2C5530"/>
                </a:solidFill>
                <a:latin typeface="Cambria" pitchFamily="34" charset="0"/>
                <a:ea typeface="Cambria" pitchFamily="34" charset="-122"/>
                <a:cs typeface="Cambria" pitchFamily="34" charset="-120"/>
              </a:rPr>
              <a:t>REST API</a:t>
            </a:r>
            <a:endParaRPr lang="en-US" sz="1400" dirty="0"/>
          </a:p>
        </p:txBody>
      </p:sp>
      <p:sp>
        <p:nvSpPr>
          <p:cNvPr id="11" name="Text 8"/>
          <p:cNvSpPr txBox="1"/>
          <p:nvPr/>
        </p:nvSpPr>
        <p:spPr>
          <a:xfrm>
            <a:off x="723748" y="5120640"/>
            <a:ext cx="3246120" cy="457200"/>
          </a:xfrm>
          <a:prstGeom prst="rect">
            <a:avLst/>
          </a:prstGeom>
          <a:noFill/>
          <a:ln/>
        </p:spPr>
        <p:txBody>
          <a:bodyPr wrap="square" lIns="0" tIns="0" rIns="0" bIns="0" rtlCol="0" anchor="ctr"/>
          <a:lstStyle/>
          <a:p>
            <a:pPr algn="ctr" indent="0" marL="0">
              <a:buNone/>
            </a:pPr>
            <a:r>
              <a:rPr lang="en-US" sz="1100" dirty="0">
                <a:solidFill>
                  <a:srgbClr val="6B6259"/>
                </a:solidFill>
                <a:latin typeface="Calibri" pitchFamily="34" charset="0"/>
                <a:ea typeface="Calibri" pitchFamily="34" charset="-122"/>
                <a:cs typeface="Calibri" pitchFamily="34" charset="-120"/>
              </a:rPr>
              <a:t>JSON σε /api/v1/…</a:t>
            </a:r>
            <a:endParaRPr lang="en-US" sz="1100" dirty="0"/>
          </a:p>
        </p:txBody>
      </p:sp>
      <p:sp>
        <p:nvSpPr>
          <p:cNvPr id="12" name="Shape 9"/>
          <p:cNvSpPr/>
          <p:nvPr/>
        </p:nvSpPr>
        <p:spPr>
          <a:xfrm>
            <a:off x="6095848" y="4343400"/>
            <a:ext cx="0" cy="320040"/>
          </a:xfrm>
          <a:prstGeom prst="line">
            <a:avLst/>
          </a:prstGeom>
          <a:noFill/>
          <a:ln w="19050">
            <a:solidFill>
              <a:srgbClr val="D7E5D2"/>
            </a:solidFill>
            <a:prstDash val="solid"/>
          </a:ln>
        </p:spPr>
      </p:sp>
      <p:sp>
        <p:nvSpPr>
          <p:cNvPr id="13" name="Shape 10"/>
          <p:cNvSpPr/>
          <p:nvPr/>
        </p:nvSpPr>
        <p:spPr>
          <a:xfrm>
            <a:off x="4472788" y="4663440"/>
            <a:ext cx="3246120" cy="1005840"/>
          </a:xfrm>
          <a:prstGeom prst="roundRect">
            <a:avLst>
              <a:gd name="adj" fmla="val 7273"/>
            </a:avLst>
          </a:prstGeom>
          <a:solidFill>
            <a:srgbClr val="EEF3EC"/>
          </a:solidFill>
          <a:ln/>
        </p:spPr>
      </p:sp>
      <p:sp>
        <p:nvSpPr>
          <p:cNvPr id="14" name="Text 11"/>
          <p:cNvSpPr txBox="1"/>
          <p:nvPr/>
        </p:nvSpPr>
        <p:spPr>
          <a:xfrm>
            <a:off x="4472788" y="4754880"/>
            <a:ext cx="3246120" cy="365760"/>
          </a:xfrm>
          <a:prstGeom prst="rect">
            <a:avLst/>
          </a:prstGeom>
          <a:noFill/>
          <a:ln/>
        </p:spPr>
        <p:txBody>
          <a:bodyPr wrap="square" lIns="0" tIns="0" rIns="0" bIns="0" rtlCol="0" anchor="ctr"/>
          <a:lstStyle/>
          <a:p>
            <a:pPr algn="ctr" indent="0" marL="0">
              <a:buNone/>
            </a:pPr>
            <a:r>
              <a:rPr lang="en-US" sz="1400" b="1" dirty="0">
                <a:solidFill>
                  <a:srgbClr val="2C5530"/>
                </a:solidFill>
                <a:latin typeface="Cambria" pitchFamily="34" charset="0"/>
                <a:ea typeface="Cambria" pitchFamily="34" charset="-122"/>
                <a:cs typeface="Cambria" pitchFamily="34" charset="-120"/>
              </a:rPr>
              <a:t>Metabase</a:t>
            </a:r>
            <a:endParaRPr lang="en-US" sz="1400" dirty="0"/>
          </a:p>
        </p:txBody>
      </p:sp>
      <p:sp>
        <p:nvSpPr>
          <p:cNvPr id="15" name="Text 12"/>
          <p:cNvSpPr txBox="1"/>
          <p:nvPr/>
        </p:nvSpPr>
        <p:spPr>
          <a:xfrm>
            <a:off x="4472788" y="5120640"/>
            <a:ext cx="3246120" cy="457200"/>
          </a:xfrm>
          <a:prstGeom prst="rect">
            <a:avLst/>
          </a:prstGeom>
          <a:noFill/>
          <a:ln/>
        </p:spPr>
        <p:txBody>
          <a:bodyPr wrap="square" lIns="0" tIns="0" rIns="0" bIns="0" rtlCol="0" anchor="ctr"/>
          <a:lstStyle/>
          <a:p>
            <a:pPr algn="ctr" indent="0" marL="0">
              <a:buNone/>
            </a:pPr>
            <a:r>
              <a:rPr lang="en-US" sz="1100" dirty="0">
                <a:solidFill>
                  <a:srgbClr val="6B6259"/>
                </a:solidFill>
                <a:latin typeface="Calibri" pitchFamily="34" charset="0"/>
                <a:ea typeface="Calibri" pitchFamily="34" charset="-122"/>
                <a:cs typeface="Calibri" pitchFamily="34" charset="-120"/>
              </a:rPr>
              <a:t>Dashboards, read-only</a:t>
            </a:r>
            <a:endParaRPr lang="en-US" sz="1100" dirty="0"/>
          </a:p>
        </p:txBody>
      </p:sp>
      <p:sp>
        <p:nvSpPr>
          <p:cNvPr id="16" name="Shape 13"/>
          <p:cNvSpPr/>
          <p:nvPr/>
        </p:nvSpPr>
        <p:spPr>
          <a:xfrm>
            <a:off x="6095848" y="4343400"/>
            <a:ext cx="0" cy="320040"/>
          </a:xfrm>
          <a:prstGeom prst="line">
            <a:avLst/>
          </a:prstGeom>
          <a:noFill/>
          <a:ln w="19050">
            <a:solidFill>
              <a:srgbClr val="D7E5D2"/>
            </a:solidFill>
            <a:prstDash val="solid"/>
          </a:ln>
        </p:spPr>
      </p:sp>
      <p:sp>
        <p:nvSpPr>
          <p:cNvPr id="17" name="Shape 14"/>
          <p:cNvSpPr/>
          <p:nvPr/>
        </p:nvSpPr>
        <p:spPr>
          <a:xfrm>
            <a:off x="8221828" y="4663440"/>
            <a:ext cx="3246120" cy="1005840"/>
          </a:xfrm>
          <a:prstGeom prst="roundRect">
            <a:avLst>
              <a:gd name="adj" fmla="val 7273"/>
            </a:avLst>
          </a:prstGeom>
          <a:solidFill>
            <a:srgbClr val="EEF3EC"/>
          </a:solidFill>
          <a:ln/>
        </p:spPr>
      </p:sp>
      <p:sp>
        <p:nvSpPr>
          <p:cNvPr id="18" name="Text 15"/>
          <p:cNvSpPr txBox="1"/>
          <p:nvPr/>
        </p:nvSpPr>
        <p:spPr>
          <a:xfrm>
            <a:off x="8221828" y="4754880"/>
            <a:ext cx="3246120" cy="365760"/>
          </a:xfrm>
          <a:prstGeom prst="rect">
            <a:avLst/>
          </a:prstGeom>
          <a:noFill/>
          <a:ln/>
        </p:spPr>
        <p:txBody>
          <a:bodyPr wrap="square" lIns="0" tIns="0" rIns="0" bIns="0" rtlCol="0" anchor="ctr"/>
          <a:lstStyle/>
          <a:p>
            <a:pPr algn="ctr" indent="0" marL="0">
              <a:buNone/>
            </a:pPr>
            <a:r>
              <a:rPr lang="en-US" sz="1400" b="1" dirty="0">
                <a:solidFill>
                  <a:srgbClr val="2C5530"/>
                </a:solidFill>
                <a:latin typeface="Cambria" pitchFamily="34" charset="0"/>
                <a:ea typeface="Cambria" pitchFamily="34" charset="-122"/>
                <a:cs typeface="Cambria" pitchFamily="34" charset="-120"/>
              </a:rPr>
              <a:t>Jupyter</a:t>
            </a:r>
            <a:endParaRPr lang="en-US" sz="1400" dirty="0"/>
          </a:p>
        </p:txBody>
      </p:sp>
      <p:sp>
        <p:nvSpPr>
          <p:cNvPr id="19" name="Text 16"/>
          <p:cNvSpPr txBox="1"/>
          <p:nvPr/>
        </p:nvSpPr>
        <p:spPr>
          <a:xfrm>
            <a:off x="8221828" y="5120640"/>
            <a:ext cx="3246120" cy="457200"/>
          </a:xfrm>
          <a:prstGeom prst="rect">
            <a:avLst/>
          </a:prstGeom>
          <a:noFill/>
          <a:ln/>
        </p:spPr>
        <p:txBody>
          <a:bodyPr wrap="square" lIns="0" tIns="0" rIns="0" bIns="0" rtlCol="0" anchor="ctr"/>
          <a:lstStyle/>
          <a:p>
            <a:pPr algn="ctr" indent="0" marL="0">
              <a:buNone/>
            </a:pPr>
            <a:r>
              <a:rPr lang="en-US" sz="1100" dirty="0">
                <a:solidFill>
                  <a:srgbClr val="6B6259"/>
                </a:solidFill>
                <a:latin typeface="Calibri" pitchFamily="34" charset="0"/>
                <a:ea typeface="Calibri" pitchFamily="34" charset="-122"/>
                <a:cs typeface="Calibri" pitchFamily="34" charset="-120"/>
              </a:rPr>
              <a:t>Σχήματα διατριβής</a:t>
            </a:r>
            <a:endParaRPr lang="en-US" sz="1100" dirty="0"/>
          </a:p>
        </p:txBody>
      </p:sp>
      <p:sp>
        <p:nvSpPr>
          <p:cNvPr id="20" name="Text 17"/>
          <p:cNvSpPr txBox="1"/>
          <p:nvPr/>
        </p:nvSpPr>
        <p:spPr>
          <a:xfrm>
            <a:off x="548640" y="5806440"/>
            <a:ext cx="11094415" cy="365760"/>
          </a:xfrm>
          <a:prstGeom prst="rect">
            <a:avLst/>
          </a:prstGeom>
          <a:noFill/>
          <a:ln/>
        </p:spPr>
        <p:txBody>
          <a:bodyPr wrap="square" lIns="0" tIns="0" rIns="0" bIns="0" rtlCol="0" anchor="ctr"/>
          <a:lstStyle/>
          <a:p>
            <a:pPr algn="ctr" indent="0" marL="0">
              <a:buNone/>
            </a:pPr>
            <a:r>
              <a:rPr lang="en-US" sz="1150" i="1" dirty="0">
                <a:solidFill>
                  <a:srgbClr val="2C5530"/>
                </a:solidFill>
                <a:latin typeface="Calibri" pitchFamily="34" charset="0"/>
                <a:ea typeface="Calibri" pitchFamily="34" charset="-122"/>
                <a:cs typeface="Calibri" pitchFamily="34" charset="-120"/>
              </a:rPr>
              <a:t>Και οι τρεις τροφοδοτούνται από τις ίδιες ακριβώς συναρτήσεις, οπότε μια κάρτα του Metabase και το αντίστοιχο endpoint δίνουν πάντα τον ίδιο αριθμό.</a:t>
            </a:r>
            <a:endParaRPr lang="en-US" sz="1150" dirty="0"/>
          </a:p>
        </p:txBody>
      </p:sp>
      <p:sp>
        <p:nvSpPr>
          <p:cNvPr id="21" name="Text 18"/>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22" name="Text 19"/>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ΥΛΟΠΟΙΗΣΗ</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Γενικότητα στην πράξη</a:t>
            </a:r>
            <a:endParaRPr lang="en-US" sz="3000" dirty="0"/>
          </a:p>
        </p:txBody>
      </p:sp>
      <p:sp>
        <p:nvSpPr>
          <p:cNvPr id="5" name="Text 2"/>
          <p:cNvSpPr txBox="1"/>
          <p:nvPr/>
        </p:nvSpPr>
        <p:spPr>
          <a:xfrm>
            <a:off x="548640" y="1417320"/>
            <a:ext cx="7315200" cy="320040"/>
          </a:xfrm>
          <a:prstGeom prst="rect">
            <a:avLst/>
          </a:prstGeom>
          <a:noFill/>
          <a:ln/>
        </p:spPr>
        <p:txBody>
          <a:bodyPr wrap="square" lIns="0" tIns="0" rIns="0" bIns="0" rtlCol="0" anchor="ctr"/>
          <a:lstStyle/>
          <a:p>
            <a:pPr indent="0" marL="0">
              <a:buNone/>
            </a:pPr>
            <a:r>
              <a:rPr lang="en-US" sz="1400" b="1" dirty="0">
                <a:solidFill>
                  <a:srgbClr val="2C5530"/>
                </a:solidFill>
                <a:latin typeface="Cambria" pitchFamily="34" charset="0"/>
                <a:ea typeface="Cambria" pitchFamily="34" charset="-122"/>
                <a:cs typeface="Cambria" pitchFamily="34" charset="-120"/>
              </a:rPr>
              <a:t>Κανονικοποιημένο σχήμα, έξι οντότητες</a:t>
            </a:r>
            <a:endParaRPr lang="en-US" sz="1400" dirty="0"/>
          </a:p>
        </p:txBody>
      </p:sp>
      <p:sp>
        <p:nvSpPr>
          <p:cNvPr id="6" name="Shape 3"/>
          <p:cNvSpPr/>
          <p:nvPr/>
        </p:nvSpPr>
        <p:spPr>
          <a:xfrm>
            <a:off x="548640" y="1783080"/>
            <a:ext cx="1056132" cy="365760"/>
          </a:xfrm>
          <a:prstGeom prst="roundRect">
            <a:avLst>
              <a:gd name="adj" fmla="val 50000"/>
            </a:avLst>
          </a:prstGeom>
          <a:solidFill>
            <a:srgbClr val="2C5530"/>
          </a:solidFill>
          <a:ln/>
        </p:spPr>
      </p:sp>
      <p:sp>
        <p:nvSpPr>
          <p:cNvPr id="7" name="Text 4"/>
          <p:cNvSpPr txBox="1"/>
          <p:nvPr/>
        </p:nvSpPr>
        <p:spPr>
          <a:xfrm>
            <a:off x="548640" y="1783080"/>
            <a:ext cx="1056132"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Πελάτης</a:t>
            </a:r>
            <a:endParaRPr lang="en-US" sz="1050" dirty="0"/>
          </a:p>
        </p:txBody>
      </p:sp>
      <p:sp>
        <p:nvSpPr>
          <p:cNvPr id="8" name="Shape 5"/>
          <p:cNvSpPr/>
          <p:nvPr/>
        </p:nvSpPr>
        <p:spPr>
          <a:xfrm>
            <a:off x="1732788" y="1783080"/>
            <a:ext cx="960120" cy="365760"/>
          </a:xfrm>
          <a:prstGeom prst="roundRect">
            <a:avLst>
              <a:gd name="adj" fmla="val 50000"/>
            </a:avLst>
          </a:prstGeom>
          <a:solidFill>
            <a:srgbClr val="2C5530"/>
          </a:solidFill>
          <a:ln/>
        </p:spPr>
      </p:sp>
      <p:sp>
        <p:nvSpPr>
          <p:cNvPr id="9" name="Text 6"/>
          <p:cNvSpPr txBox="1"/>
          <p:nvPr/>
        </p:nvSpPr>
        <p:spPr>
          <a:xfrm>
            <a:off x="1732788" y="1783080"/>
            <a:ext cx="96012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Προϊόν</a:t>
            </a:r>
            <a:endParaRPr lang="en-US" sz="1050" dirty="0"/>
          </a:p>
        </p:txBody>
      </p:sp>
      <p:sp>
        <p:nvSpPr>
          <p:cNvPr id="10" name="Shape 7"/>
          <p:cNvSpPr/>
          <p:nvPr/>
        </p:nvSpPr>
        <p:spPr>
          <a:xfrm>
            <a:off x="2820924" y="1783080"/>
            <a:ext cx="1056132" cy="365760"/>
          </a:xfrm>
          <a:prstGeom prst="roundRect">
            <a:avLst>
              <a:gd name="adj" fmla="val 50000"/>
            </a:avLst>
          </a:prstGeom>
          <a:solidFill>
            <a:srgbClr val="2C5530"/>
          </a:solidFill>
          <a:ln/>
        </p:spPr>
      </p:sp>
      <p:sp>
        <p:nvSpPr>
          <p:cNvPr id="11" name="Text 8"/>
          <p:cNvSpPr txBox="1"/>
          <p:nvPr/>
        </p:nvSpPr>
        <p:spPr>
          <a:xfrm>
            <a:off x="2820924" y="1783080"/>
            <a:ext cx="1056132"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Περιοχή</a:t>
            </a:r>
            <a:endParaRPr lang="en-US" sz="1050" dirty="0"/>
          </a:p>
        </p:txBody>
      </p:sp>
      <p:sp>
        <p:nvSpPr>
          <p:cNvPr id="12" name="Shape 9"/>
          <p:cNvSpPr/>
          <p:nvPr/>
        </p:nvSpPr>
        <p:spPr>
          <a:xfrm>
            <a:off x="4005072" y="1783080"/>
            <a:ext cx="1344168" cy="365760"/>
          </a:xfrm>
          <a:prstGeom prst="roundRect">
            <a:avLst>
              <a:gd name="adj" fmla="val 50000"/>
            </a:avLst>
          </a:prstGeom>
          <a:solidFill>
            <a:srgbClr val="2C5530"/>
          </a:solidFill>
          <a:ln/>
        </p:spPr>
      </p:sp>
      <p:sp>
        <p:nvSpPr>
          <p:cNvPr id="13" name="Text 10"/>
          <p:cNvSpPr txBox="1"/>
          <p:nvPr/>
        </p:nvSpPr>
        <p:spPr>
          <a:xfrm>
            <a:off x="4005072" y="1783080"/>
            <a:ext cx="1344168"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Παραγγελία</a:t>
            </a:r>
            <a:endParaRPr lang="en-US" sz="1050" dirty="0"/>
          </a:p>
        </p:txBody>
      </p:sp>
      <p:sp>
        <p:nvSpPr>
          <p:cNvPr id="14" name="Shape 11"/>
          <p:cNvSpPr/>
          <p:nvPr/>
        </p:nvSpPr>
        <p:spPr>
          <a:xfrm>
            <a:off x="5477256" y="1783080"/>
            <a:ext cx="2112264" cy="365760"/>
          </a:xfrm>
          <a:prstGeom prst="roundRect">
            <a:avLst>
              <a:gd name="adj" fmla="val 50000"/>
            </a:avLst>
          </a:prstGeom>
          <a:solidFill>
            <a:srgbClr val="2C5530"/>
          </a:solidFill>
          <a:ln/>
        </p:spPr>
      </p:sp>
      <p:sp>
        <p:nvSpPr>
          <p:cNvPr id="15" name="Text 12"/>
          <p:cNvSpPr txBox="1"/>
          <p:nvPr/>
        </p:nvSpPr>
        <p:spPr>
          <a:xfrm>
            <a:off x="5477256" y="1783080"/>
            <a:ext cx="2112264"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Γραμμή Παραγγελίας</a:t>
            </a:r>
            <a:endParaRPr lang="en-US" sz="1050" dirty="0"/>
          </a:p>
        </p:txBody>
      </p:sp>
      <p:sp>
        <p:nvSpPr>
          <p:cNvPr id="16" name="Shape 13"/>
          <p:cNvSpPr/>
          <p:nvPr/>
        </p:nvSpPr>
        <p:spPr>
          <a:xfrm>
            <a:off x="7717536" y="1783080"/>
            <a:ext cx="1248156" cy="365760"/>
          </a:xfrm>
          <a:prstGeom prst="roundRect">
            <a:avLst>
              <a:gd name="adj" fmla="val 50000"/>
            </a:avLst>
          </a:prstGeom>
          <a:solidFill>
            <a:srgbClr val="2C5530"/>
          </a:solidFill>
          <a:ln/>
        </p:spPr>
      </p:sp>
      <p:sp>
        <p:nvSpPr>
          <p:cNvPr id="17" name="Text 14"/>
          <p:cNvSpPr txBox="1"/>
          <p:nvPr/>
        </p:nvSpPr>
        <p:spPr>
          <a:xfrm>
            <a:off x="7717536" y="1783080"/>
            <a:ext cx="1248156"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Επιστροφή</a:t>
            </a:r>
            <a:endParaRPr lang="en-US" sz="1050" dirty="0"/>
          </a:p>
        </p:txBody>
      </p:sp>
      <p:sp>
        <p:nvSpPr>
          <p:cNvPr id="18" name="Text 15"/>
          <p:cNvSpPr txBox="1"/>
          <p:nvPr/>
        </p:nvSpPr>
        <p:spPr>
          <a:xfrm>
            <a:off x="548640" y="2377440"/>
            <a:ext cx="10058400" cy="320040"/>
          </a:xfrm>
          <a:prstGeom prst="rect">
            <a:avLst/>
          </a:prstGeom>
          <a:noFill/>
          <a:ln/>
        </p:spPr>
        <p:txBody>
          <a:bodyPr wrap="square" lIns="0" tIns="0" rIns="0" bIns="0" rtlCol="0" anchor="ctr"/>
          <a:lstStyle/>
          <a:p>
            <a:pPr indent="0" marL="0">
              <a:buNone/>
            </a:pPr>
            <a:r>
              <a:rPr lang="en-US" sz="1400" b="1" dirty="0">
                <a:solidFill>
                  <a:srgbClr val="2C5530"/>
                </a:solidFill>
                <a:latin typeface="Cambria" pitchFamily="34" charset="0"/>
                <a:ea typeface="Cambria" pitchFamily="34" charset="-122"/>
                <a:cs typeface="Cambria" pitchFamily="34" charset="-120"/>
              </a:rPr>
              <a:t>Τρεις οδοί παράδοσης δεδομένων, μόνο η πρώτη χρειάζεται κώδικα</a:t>
            </a:r>
            <a:endParaRPr lang="en-US" sz="1400" dirty="0"/>
          </a:p>
        </p:txBody>
      </p:sp>
      <p:sp>
        <p:nvSpPr>
          <p:cNvPr id="19" name="Shape 16"/>
          <p:cNvSpPr/>
          <p:nvPr/>
        </p:nvSpPr>
        <p:spPr>
          <a:xfrm>
            <a:off x="548640" y="2788920"/>
            <a:ext cx="3429000" cy="1051560"/>
          </a:xfrm>
          <a:prstGeom prst="roundRect">
            <a:avLst>
              <a:gd name="adj" fmla="val 6957"/>
            </a:avLst>
          </a:prstGeom>
          <a:solidFill>
            <a:srgbClr val="EEF3EC"/>
          </a:solidFill>
          <a:ln/>
        </p:spPr>
      </p:sp>
      <p:sp>
        <p:nvSpPr>
          <p:cNvPr id="20" name="Text 17"/>
          <p:cNvSpPr txBox="1"/>
          <p:nvPr/>
        </p:nvSpPr>
        <p:spPr>
          <a:xfrm>
            <a:off x="713232" y="2880360"/>
            <a:ext cx="3099816" cy="365760"/>
          </a:xfrm>
          <a:prstGeom prst="rect">
            <a:avLst/>
          </a:prstGeom>
          <a:noFill/>
          <a:ln/>
        </p:spPr>
        <p:txBody>
          <a:bodyPr wrap="square" lIns="0" tIns="0" rIns="0" bIns="0" rtlCol="0" anchor="ctr"/>
          <a:lstStyle/>
          <a:p>
            <a:pPr indent="0" marL="0">
              <a:buNone/>
            </a:pPr>
            <a:r>
              <a:rPr lang="en-US" sz="1200" b="1" dirty="0">
                <a:solidFill>
                  <a:srgbClr val="2C5530"/>
                </a:solidFill>
                <a:latin typeface="Calibri" pitchFamily="34" charset="0"/>
                <a:ea typeface="Calibri" pitchFamily="34" charset="-122"/>
                <a:cs typeface="Calibri" pitchFamily="34" charset="-120"/>
              </a:rPr>
              <a:t>Αρχείο</a:t>
            </a:r>
            <a:endParaRPr lang="en-US" sz="1200" dirty="0"/>
          </a:p>
        </p:txBody>
      </p:sp>
      <p:sp>
        <p:nvSpPr>
          <p:cNvPr id="21" name="Text 18"/>
          <p:cNvSpPr txBox="1"/>
          <p:nvPr/>
        </p:nvSpPr>
        <p:spPr>
          <a:xfrm>
            <a:off x="713232" y="3227832"/>
            <a:ext cx="3099816" cy="548640"/>
          </a:xfrm>
          <a:prstGeom prst="rect">
            <a:avLst/>
          </a:prstGeom>
          <a:noFill/>
          <a:ln/>
        </p:spPr>
        <p:txBody>
          <a:bodyPr wrap="square" lIns="0" tIns="0" rIns="0" bIns="0" rtlCol="0" anchor="t"/>
          <a:lstStyle/>
          <a:p>
            <a:pPr indent="0" marL="0">
              <a:buNone/>
            </a:pPr>
            <a:r>
              <a:rPr lang="en-US" sz="1050" dirty="0">
                <a:solidFill>
                  <a:srgbClr val="241F1B"/>
                </a:solidFill>
                <a:latin typeface="Calibri" pitchFamily="34" charset="0"/>
                <a:ea typeface="Calibri" pitchFamily="34" charset="-122"/>
                <a:cs typeface="Calibri" pitchFamily="34" charset="-120"/>
              </a:rPr>
              <a:t>Το κατάστημα εξάγει, το adapter διαβάζει.</a:t>
            </a:r>
            <a:endParaRPr lang="en-US" sz="1050" dirty="0"/>
          </a:p>
        </p:txBody>
      </p:sp>
      <p:sp>
        <p:nvSpPr>
          <p:cNvPr id="22" name="Shape 19"/>
          <p:cNvSpPr/>
          <p:nvPr/>
        </p:nvSpPr>
        <p:spPr>
          <a:xfrm>
            <a:off x="4160520" y="2788920"/>
            <a:ext cx="3429000" cy="1051560"/>
          </a:xfrm>
          <a:prstGeom prst="roundRect">
            <a:avLst>
              <a:gd name="adj" fmla="val 6957"/>
            </a:avLst>
          </a:prstGeom>
          <a:solidFill>
            <a:srgbClr val="EEF3EC"/>
          </a:solidFill>
          <a:ln/>
        </p:spPr>
      </p:sp>
      <p:sp>
        <p:nvSpPr>
          <p:cNvPr id="23" name="Text 20"/>
          <p:cNvSpPr txBox="1"/>
          <p:nvPr/>
        </p:nvSpPr>
        <p:spPr>
          <a:xfrm>
            <a:off x="4325112" y="2880360"/>
            <a:ext cx="3099816" cy="365760"/>
          </a:xfrm>
          <a:prstGeom prst="rect">
            <a:avLst/>
          </a:prstGeom>
          <a:noFill/>
          <a:ln/>
        </p:spPr>
        <p:txBody>
          <a:bodyPr wrap="square" lIns="0" tIns="0" rIns="0" bIns="0" rtlCol="0" anchor="ctr"/>
          <a:lstStyle/>
          <a:p>
            <a:pPr indent="0" marL="0">
              <a:buNone/>
            </a:pPr>
            <a:r>
              <a:rPr lang="en-US" sz="1200" b="1" dirty="0">
                <a:solidFill>
                  <a:srgbClr val="2C5530"/>
                </a:solidFill>
                <a:latin typeface="Calibri" pitchFamily="34" charset="0"/>
                <a:ea typeface="Calibri" pitchFamily="34" charset="-122"/>
                <a:cs typeface="Calibri" pitchFamily="34" charset="-120"/>
              </a:rPr>
              <a:t>POST /ingestion/transactions</a:t>
            </a:r>
            <a:endParaRPr lang="en-US" sz="1200" dirty="0"/>
          </a:p>
        </p:txBody>
      </p:sp>
      <p:sp>
        <p:nvSpPr>
          <p:cNvPr id="24" name="Text 21"/>
          <p:cNvSpPr txBox="1"/>
          <p:nvPr/>
        </p:nvSpPr>
        <p:spPr>
          <a:xfrm>
            <a:off x="4325112" y="3227832"/>
            <a:ext cx="3099816" cy="548640"/>
          </a:xfrm>
          <a:prstGeom prst="rect">
            <a:avLst/>
          </a:prstGeom>
          <a:noFill/>
          <a:ln/>
        </p:spPr>
        <p:txBody>
          <a:bodyPr wrap="square" lIns="0" tIns="0" rIns="0" bIns="0" rtlCol="0" anchor="t"/>
          <a:lstStyle/>
          <a:p>
            <a:pPr indent="0" marL="0">
              <a:buNone/>
            </a:pPr>
            <a:r>
              <a:rPr lang="en-US" sz="1050" dirty="0">
                <a:solidFill>
                  <a:srgbClr val="241F1B"/>
                </a:solidFill>
                <a:latin typeface="Calibri" pitchFamily="34" charset="0"/>
                <a:ea typeface="Calibri" pitchFamily="34" charset="-122"/>
                <a:cs typeface="Calibri" pitchFamily="34" charset="-120"/>
              </a:rPr>
              <a:t>Παρτίδες σε κανονικοποιημένη μορφή, χωρίς κώδικα.</a:t>
            </a:r>
            <a:endParaRPr lang="en-US" sz="1050" dirty="0"/>
          </a:p>
        </p:txBody>
      </p:sp>
      <p:sp>
        <p:nvSpPr>
          <p:cNvPr id="25" name="Shape 22"/>
          <p:cNvSpPr/>
          <p:nvPr/>
        </p:nvSpPr>
        <p:spPr>
          <a:xfrm>
            <a:off x="7772400" y="2788920"/>
            <a:ext cx="3429000" cy="1051560"/>
          </a:xfrm>
          <a:prstGeom prst="roundRect">
            <a:avLst>
              <a:gd name="adj" fmla="val 6957"/>
            </a:avLst>
          </a:prstGeom>
          <a:solidFill>
            <a:srgbClr val="EEF3EC"/>
          </a:solidFill>
          <a:ln/>
        </p:spPr>
      </p:sp>
      <p:sp>
        <p:nvSpPr>
          <p:cNvPr id="26" name="Text 23"/>
          <p:cNvSpPr txBox="1"/>
          <p:nvPr/>
        </p:nvSpPr>
        <p:spPr>
          <a:xfrm>
            <a:off x="7936992" y="2880360"/>
            <a:ext cx="3099816" cy="365760"/>
          </a:xfrm>
          <a:prstGeom prst="rect">
            <a:avLst/>
          </a:prstGeom>
          <a:noFill/>
          <a:ln/>
        </p:spPr>
        <p:txBody>
          <a:bodyPr wrap="square" lIns="0" tIns="0" rIns="0" bIns="0" rtlCol="0" anchor="ctr"/>
          <a:lstStyle/>
          <a:p>
            <a:pPr indent="0" marL="0">
              <a:buNone/>
            </a:pPr>
            <a:r>
              <a:rPr lang="en-US" sz="1200" b="1" dirty="0">
                <a:solidFill>
                  <a:srgbClr val="2C5530"/>
                </a:solidFill>
                <a:latin typeface="Calibri" pitchFamily="34" charset="0"/>
                <a:ea typeface="Calibri" pitchFamily="34" charset="-122"/>
                <a:cs typeface="Calibri" pitchFamily="34" charset="-120"/>
              </a:rPr>
              <a:t>Ανάγνωση βάσης</a:t>
            </a:r>
            <a:endParaRPr lang="en-US" sz="1200" dirty="0"/>
          </a:p>
        </p:txBody>
      </p:sp>
      <p:sp>
        <p:nvSpPr>
          <p:cNvPr id="27" name="Text 24"/>
          <p:cNvSpPr txBox="1"/>
          <p:nvPr/>
        </p:nvSpPr>
        <p:spPr>
          <a:xfrm>
            <a:off x="7936992" y="3227832"/>
            <a:ext cx="3099816" cy="548640"/>
          </a:xfrm>
          <a:prstGeom prst="rect">
            <a:avLst/>
          </a:prstGeom>
          <a:noFill/>
          <a:ln/>
        </p:spPr>
        <p:txBody>
          <a:bodyPr wrap="square" lIns="0" tIns="0" rIns="0" bIns="0" rtlCol="0" anchor="t"/>
          <a:lstStyle/>
          <a:p>
            <a:pPr indent="0" marL="0">
              <a:buNone/>
            </a:pPr>
            <a:r>
              <a:rPr lang="en-US" sz="1050" dirty="0">
                <a:solidFill>
                  <a:srgbClr val="241F1B"/>
                </a:solidFill>
                <a:latin typeface="Calibri" pitchFamily="34" charset="0"/>
                <a:ea typeface="Calibri" pitchFamily="34" charset="-122"/>
                <a:cs typeface="Calibri" pitchFamily="34" charset="-120"/>
              </a:rPr>
              <a:t>Query + column mapping πάνω στη βάση του πελάτη, χωρίς κώδικα.</a:t>
            </a:r>
            <a:endParaRPr lang="en-US" sz="1050" dirty="0"/>
          </a:p>
        </p:txBody>
      </p:sp>
      <p:sp>
        <p:nvSpPr>
          <p:cNvPr id="28" name="Text 25"/>
          <p:cNvSpPr txBox="1"/>
          <p:nvPr/>
        </p:nvSpPr>
        <p:spPr>
          <a:xfrm>
            <a:off x="548640" y="4069080"/>
            <a:ext cx="10058400" cy="320040"/>
          </a:xfrm>
          <a:prstGeom prst="rect">
            <a:avLst/>
          </a:prstGeom>
          <a:noFill/>
          <a:ln/>
        </p:spPr>
        <p:txBody>
          <a:bodyPr wrap="square" lIns="0" tIns="0" rIns="0" bIns="0" rtlCol="0" anchor="ctr"/>
          <a:lstStyle/>
          <a:p>
            <a:pPr indent="0" marL="0">
              <a:buNone/>
            </a:pPr>
            <a:r>
              <a:rPr lang="en-US" sz="1400" b="1" dirty="0">
                <a:solidFill>
                  <a:srgbClr val="2C5530"/>
                </a:solidFill>
                <a:latin typeface="Cambria" pitchFamily="34" charset="0"/>
                <a:ea typeface="Cambria" pitchFamily="34" charset="-122"/>
                <a:cs typeface="Cambria" pitchFamily="34" charset="-120"/>
              </a:rPr>
              <a:t>Τρεις σχεδιαστικές αποφάσεις σχήματος</a:t>
            </a:r>
            <a:endParaRPr lang="en-US" sz="1400" dirty="0"/>
          </a:p>
        </p:txBody>
      </p:sp>
      <p:sp>
        <p:nvSpPr>
          <p:cNvPr id="29" name="Text 26"/>
          <p:cNvSpPr txBox="1"/>
          <p:nvPr/>
        </p:nvSpPr>
        <p:spPr>
          <a:xfrm>
            <a:off x="548640" y="4434840"/>
            <a:ext cx="11094415" cy="1554480"/>
          </a:xfrm>
          <a:prstGeom prst="rect">
            <a:avLst/>
          </a:prstGeom>
          <a:noFill/>
          <a:ln/>
        </p:spPr>
        <p:txBody>
          <a:bodyPr wrap="square" lIns="0" tIns="0" rIns="0" bIns="0" rtlCol="0" anchor="t"/>
          <a:lstStyle/>
          <a:p>
            <a:pPr marL="177800" indent="-177800">
              <a:lnSpc>
                <a:spcPct val="108000"/>
              </a:lnSpc>
              <a:spcAft>
                <a:spcPts val="600"/>
              </a:spcAft>
              <a:buSzPct val="100000"/>
              <a:buChar char="•"/>
            </a:pPr>
            <a:r>
              <a:rPr lang="en-US" sz="1200" dirty="0">
                <a:solidFill>
                  <a:srgbClr val="241F1B"/>
                </a:solidFill>
                <a:latin typeface="Calibri" pitchFamily="34" charset="0"/>
                <a:ea typeface="Calibri" pitchFamily="34" charset="-122"/>
                <a:cs typeface="Calibri" pitchFamily="34" charset="-120"/>
              </a:rPr>
              <a:t>Η περιοχή αποθηκεύεται στην ίδια την παραγγελία, γιατί είναι ιδιότητα της πώλησης και όχι μόνο του πελάτη.</a:t>
            </a:r>
            <a:endParaRPr lang="en-US" sz="1200" dirty="0"/>
          </a:p>
          <a:p>
            <a:pPr marL="177800" indent="-177800">
              <a:lnSpc>
                <a:spcPct val="108000"/>
              </a:lnSpc>
              <a:spcAft>
                <a:spcPts val="600"/>
              </a:spcAft>
              <a:buSzPct val="100000"/>
              <a:buChar char="•"/>
            </a:pPr>
            <a:r>
              <a:rPr lang="en-US" sz="1200" dirty="0">
                <a:solidFill>
                  <a:srgbClr val="241F1B"/>
                </a:solidFill>
                <a:latin typeface="Calibri" pitchFamily="34" charset="0"/>
                <a:ea typeface="Calibri" pitchFamily="34" charset="-122"/>
                <a:cs typeface="Calibri" pitchFamily="34" charset="-120"/>
              </a:rPr>
              <a:t>Οι επιστροφές καταγράφονται ως ξεχωριστές εγγραφές με θετικά μεγέθη, ώστε να μην μπορούν ποτέ να αφαιρεθούν σιωπηρά από τα έσοδα.</a:t>
            </a:r>
            <a:endParaRPr lang="en-US" sz="1200" dirty="0"/>
          </a:p>
          <a:p>
            <a:pPr marL="177800" indent="-177800">
              <a:lnSpc>
                <a:spcPct val="108000"/>
              </a:lnSpc>
              <a:spcAft>
                <a:spcPts val="600"/>
              </a:spcAft>
              <a:buSzPct val="100000"/>
              <a:buChar char="•"/>
            </a:pPr>
            <a:r>
              <a:rPr lang="en-US" sz="1200" dirty="0">
                <a:solidFill>
                  <a:srgbClr val="241F1B"/>
                </a:solidFill>
                <a:latin typeface="Calibri" pitchFamily="34" charset="0"/>
                <a:ea typeface="Calibri" pitchFamily="34" charset="-122"/>
                <a:cs typeface="Calibri" pitchFamily="34" charset="-120"/>
              </a:rPr>
              <a:t>Η τιμή αποθηκεύεται ανά γραμμή παραγγελίας, ώστε κάθε πώληση να προσμετράται στην τιμή που πράγματι χρεώθηκε.</a:t>
            </a:r>
            <a:endParaRPr lang="en-US" sz="1200" dirty="0"/>
          </a:p>
        </p:txBody>
      </p:sp>
      <p:sp>
        <p:nvSpPr>
          <p:cNvPr id="30" name="Text 27"/>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31" name="Text 28"/>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ΠΕΡΙΓΡΑΦΙΚΗ ΑΝΑΛΥΣΗ</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Προϊόντα &amp; Περιοχές</a:t>
            </a:r>
            <a:endParaRPr lang="en-US" sz="3000" dirty="0"/>
          </a:p>
        </p:txBody>
      </p:sp>
      <p:pic>
        <p:nvPicPr>
          <p:cNvPr id="5" name="Image 0" descr="/tmp/claude-0/-home-user-ensights/57acd941-a2c9-5cfa-90b7-9e5814c7c436/scratchpad/figures/top_products.png">    </p:cNvPr>
          <p:cNvPicPr>
            <a:picLocks noChangeAspect="1"/>
          </p:cNvPicPr>
          <p:nvPr/>
        </p:nvPicPr>
        <p:blipFill>
          <a:blip r:embed="rId1"/>
          <a:srcRect l="0" r="0" t="0" b="0"/>
          <a:stretch/>
        </p:blipFill>
        <p:spPr>
          <a:xfrm>
            <a:off x="548640" y="1463040"/>
            <a:ext cx="5257800" cy="3063240"/>
          </a:xfrm>
          <a:prstGeom prst="rect">
            <a:avLst/>
          </a:prstGeom>
        </p:spPr>
      </p:pic>
      <p:sp>
        <p:nvSpPr>
          <p:cNvPr id="6" name="Shape 2"/>
          <p:cNvSpPr/>
          <p:nvPr/>
        </p:nvSpPr>
        <p:spPr>
          <a:xfrm>
            <a:off x="548640" y="1463040"/>
            <a:ext cx="5257800" cy="3063240"/>
          </a:xfrm>
          <a:prstGeom prst="rect">
            <a:avLst/>
          </a:prstGeom>
          <a:ln w="12700">
            <a:solidFill>
              <a:srgbClr val="D8DEEC"/>
            </a:solidFill>
            <a:prstDash val="solid"/>
          </a:ln>
        </p:spPr>
      </p:sp>
      <p:sp>
        <p:nvSpPr>
          <p:cNvPr id="7" name="Text 3"/>
          <p:cNvSpPr txBox="1"/>
          <p:nvPr/>
        </p:nvSpPr>
        <p:spPr>
          <a:xfrm>
            <a:off x="548640" y="4562856"/>
            <a:ext cx="5257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Προϊόντα με τα υψηλότερα έσοδα</a:t>
            </a:r>
            <a:endParaRPr lang="en-US" sz="1050" dirty="0"/>
          </a:p>
        </p:txBody>
      </p:sp>
      <p:pic>
        <p:nvPicPr>
          <p:cNvPr id="8" name="Image 1" descr="/tmp/claude-0/-home-user-ensights/57acd941-a2c9-5cfa-90b7-9e5814c7c436/scratchpad/figures/top_regions.png">    </p:cNvPr>
          <p:cNvPicPr>
            <a:picLocks noChangeAspect="1"/>
          </p:cNvPicPr>
          <p:nvPr/>
        </p:nvPicPr>
        <p:blipFill>
          <a:blip r:embed="rId2"/>
          <a:srcRect l="0" r="0" t="0" b="0"/>
          <a:stretch/>
        </p:blipFill>
        <p:spPr>
          <a:xfrm>
            <a:off x="6126480" y="1463040"/>
            <a:ext cx="5257800" cy="3063240"/>
          </a:xfrm>
          <a:prstGeom prst="rect">
            <a:avLst/>
          </a:prstGeom>
        </p:spPr>
      </p:pic>
      <p:sp>
        <p:nvSpPr>
          <p:cNvPr id="9" name="Shape 4"/>
          <p:cNvSpPr/>
          <p:nvPr/>
        </p:nvSpPr>
        <p:spPr>
          <a:xfrm>
            <a:off x="6126480" y="1463040"/>
            <a:ext cx="5257800" cy="3063240"/>
          </a:xfrm>
          <a:prstGeom prst="rect">
            <a:avLst/>
          </a:prstGeom>
          <a:ln w="12700">
            <a:solidFill>
              <a:srgbClr val="D8DEEC"/>
            </a:solidFill>
            <a:prstDash val="solid"/>
          </a:ln>
        </p:spPr>
      </p:sp>
      <p:sp>
        <p:nvSpPr>
          <p:cNvPr id="10" name="Text 5"/>
          <p:cNvSpPr txBox="1"/>
          <p:nvPr/>
        </p:nvSpPr>
        <p:spPr>
          <a:xfrm>
            <a:off x="6126480" y="4562856"/>
            <a:ext cx="5257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Περιοχές με τα υψηλότερα έσοδα</a:t>
            </a:r>
            <a:endParaRPr lang="en-US" sz="1050" dirty="0"/>
          </a:p>
        </p:txBody>
      </p:sp>
      <p:sp>
        <p:nvSpPr>
          <p:cNvPr id="11" name="Text 6"/>
          <p:cNvSpPr txBox="1"/>
          <p:nvPr/>
        </p:nvSpPr>
        <p:spPr>
          <a:xfrm>
            <a:off x="548640" y="4892040"/>
            <a:ext cx="11094415" cy="1188720"/>
          </a:xfrm>
          <a:prstGeom prst="rect">
            <a:avLst/>
          </a:prstGeom>
          <a:noFill/>
          <a:ln/>
        </p:spPr>
        <p:txBody>
          <a:bodyPr wrap="square" lIns="0" tIns="0" rIns="0" bIns="0" rtlCol="0" anchor="t"/>
          <a:lstStyle/>
          <a:p>
            <a:pPr marL="177800" indent="-177800">
              <a:lnSpc>
                <a:spcPct val="108000"/>
              </a:lnSpc>
              <a:spcAft>
                <a:spcPts val="600"/>
              </a:spcAft>
              <a:buSzPct val="100000"/>
              <a:buChar char="•"/>
            </a:pPr>
            <a:r>
              <a:rPr lang="en-US" sz="1150" dirty="0">
                <a:solidFill>
                  <a:srgbClr val="241F1B"/>
                </a:solidFill>
                <a:latin typeface="Calibri" pitchFamily="34" charset="0"/>
                <a:ea typeface="Calibri" pitchFamily="34" charset="-122"/>
                <a:cs typeface="Calibri" pitchFamily="34" charset="-120"/>
              </a:rPr>
              <a:t>Κατάταξη ως προς έσοδα, όχι μονάδες: το REGENCY CAKESTAND είναι 1ο σε έσοδα με 26.315 μονάδες, ενώ το JUMBO BAG πουλά σχεδόν τετραπλάσιες μονάδες (96.243) αλλά είναι 3ο.</a:t>
            </a:r>
            <a:endParaRPr lang="en-US" sz="1150" dirty="0"/>
          </a:p>
          <a:p>
            <a:pPr marL="177800" indent="-177800">
              <a:lnSpc>
                <a:spcPct val="108000"/>
              </a:lnSpc>
              <a:spcAft>
                <a:spcPts val="600"/>
              </a:spcAft>
              <a:buSzPct val="100000"/>
              <a:buChar char="•"/>
            </a:pPr>
            <a:r>
              <a:rPr lang="en-US" sz="1150" dirty="0">
                <a:solidFill>
                  <a:srgbClr val="241F1B"/>
                </a:solidFill>
                <a:latin typeface="Calibri" pitchFamily="34" charset="0"/>
                <a:ea typeface="Calibri" pitchFamily="34" charset="-122"/>
                <a:cs typeface="Calibri" pitchFamily="34" charset="-120"/>
              </a:rPr>
              <a:t>Το Ηνωμένο Βασίλειο συγκεντρώνει περίπου το 86% των εσόδων. Στην Ιρλανδία μόλις 5 πελάτες παράγουν περισσότερα έσοδα από τους 107 της Γερμανίας, κάτι που δείχνει χονδρική και όχι λιανική σχέση.</a:t>
            </a:r>
            <a:endParaRPr lang="en-US" sz="1150" dirty="0"/>
          </a:p>
        </p:txBody>
      </p:sp>
      <p:sp>
        <p:nvSpPr>
          <p:cNvPr id="12" name="Text 7"/>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3" name="Text 8"/>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ΠΕΡΙΓΡΑΦΙΚΗ ΑΝΑΛΥΣΗ</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Χρονική κατανομή πωλήσεων</a:t>
            </a:r>
            <a:endParaRPr lang="en-US" sz="3000" dirty="0"/>
          </a:p>
        </p:txBody>
      </p:sp>
      <p:pic>
        <p:nvPicPr>
          <p:cNvPr id="5" name="Image 0" descr="/tmp/claude-0/-home-user-ensights/57acd941-a2c9-5cfa-90b7-9e5814c7c436/scratchpad/figures/sales_monthly.png">    </p:cNvPr>
          <p:cNvPicPr>
            <a:picLocks noChangeAspect="1"/>
          </p:cNvPicPr>
          <p:nvPr/>
        </p:nvPicPr>
        <p:blipFill>
          <a:blip r:embed="rId1"/>
          <a:srcRect l="0" r="0" t="0" b="0"/>
          <a:stretch/>
        </p:blipFill>
        <p:spPr>
          <a:xfrm>
            <a:off x="548640" y="1417320"/>
            <a:ext cx="10607040" cy="2331720"/>
          </a:xfrm>
          <a:prstGeom prst="rect">
            <a:avLst/>
          </a:prstGeom>
        </p:spPr>
      </p:pic>
      <p:sp>
        <p:nvSpPr>
          <p:cNvPr id="6" name="Shape 2"/>
          <p:cNvSpPr/>
          <p:nvPr/>
        </p:nvSpPr>
        <p:spPr>
          <a:xfrm>
            <a:off x="548640" y="1417320"/>
            <a:ext cx="10607040" cy="2331720"/>
          </a:xfrm>
          <a:prstGeom prst="rect">
            <a:avLst/>
          </a:prstGeom>
          <a:ln w="12700">
            <a:solidFill>
              <a:srgbClr val="D8DEEC"/>
            </a:solidFill>
            <a:prstDash val="solid"/>
          </a:ln>
        </p:spPr>
      </p:sp>
      <p:sp>
        <p:nvSpPr>
          <p:cNvPr id="7" name="Text 3"/>
          <p:cNvSpPr txBox="1"/>
          <p:nvPr/>
        </p:nvSpPr>
        <p:spPr>
          <a:xfrm>
            <a:off x="548640" y="3785616"/>
            <a:ext cx="1060704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Μηνιαία κατανομή εσόδων: κορύφωση τον Νοέμβριο και τις δύο χρονιές, ο τελευταίος μήνας είναι ημιτελής</a:t>
            </a:r>
            <a:endParaRPr lang="en-US" sz="1050" dirty="0"/>
          </a:p>
        </p:txBody>
      </p:sp>
      <p:pic>
        <p:nvPicPr>
          <p:cNvPr id="8" name="Image 1" descr="/tmp/claude-0/-home-user-ensights/57acd941-a2c9-5cfa-90b7-9e5814c7c436/scratchpad/figures/sales_weekday.png">    </p:cNvPr>
          <p:cNvPicPr>
            <a:picLocks noChangeAspect="1"/>
          </p:cNvPicPr>
          <p:nvPr/>
        </p:nvPicPr>
        <p:blipFill>
          <a:blip r:embed="rId2"/>
          <a:srcRect l="0" r="0" t="0" b="0"/>
          <a:stretch/>
        </p:blipFill>
        <p:spPr>
          <a:xfrm>
            <a:off x="2651760" y="4206240"/>
            <a:ext cx="6400800" cy="1965960"/>
          </a:xfrm>
          <a:prstGeom prst="rect">
            <a:avLst/>
          </a:prstGeom>
        </p:spPr>
      </p:pic>
      <p:sp>
        <p:nvSpPr>
          <p:cNvPr id="9" name="Shape 4"/>
          <p:cNvSpPr/>
          <p:nvPr/>
        </p:nvSpPr>
        <p:spPr>
          <a:xfrm>
            <a:off x="2651760" y="4206240"/>
            <a:ext cx="6400800" cy="1965960"/>
          </a:xfrm>
          <a:prstGeom prst="rect">
            <a:avLst/>
          </a:prstGeom>
          <a:ln w="12700">
            <a:solidFill>
              <a:srgbClr val="D8DEEC"/>
            </a:solidFill>
            <a:prstDash val="solid"/>
          </a:ln>
        </p:spPr>
      </p:sp>
      <p:sp>
        <p:nvSpPr>
          <p:cNvPr id="10" name="Text 5"/>
          <p:cNvSpPr txBox="1"/>
          <p:nvPr/>
        </p:nvSpPr>
        <p:spPr>
          <a:xfrm>
            <a:off x="2651760" y="6208776"/>
            <a:ext cx="6400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Κατανομή εσόδων ανά ημέρα εβδομάδας</a:t>
            </a:r>
            <a:endParaRPr lang="en-US" sz="1050" dirty="0"/>
          </a:p>
        </p:txBody>
      </p:sp>
      <p:sp>
        <p:nvSpPr>
          <p:cNvPr id="11"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ΠΕΡΙΓΡΑΦΙΚΗ ΑΝΑΛΥΣΗ</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Εύρος τιμής &amp; χαρακτηριστικά προϊόντος</a:t>
            </a:r>
            <a:endParaRPr lang="en-US" sz="3000" dirty="0"/>
          </a:p>
        </p:txBody>
      </p:sp>
      <p:pic>
        <p:nvPicPr>
          <p:cNvPr id="5" name="Image 0" descr="/tmp/claude-0/-home-user-ensights/57acd941-a2c9-5cfa-90b7-9e5814c7c436/scratchpad/figures/price_bands.png">    </p:cNvPr>
          <p:cNvPicPr>
            <a:picLocks noChangeAspect="1"/>
          </p:cNvPicPr>
          <p:nvPr/>
        </p:nvPicPr>
        <p:blipFill>
          <a:blip r:embed="rId1"/>
          <a:srcRect l="0" r="0" t="0" b="0"/>
          <a:stretch/>
        </p:blipFill>
        <p:spPr>
          <a:xfrm>
            <a:off x="548640" y="1463040"/>
            <a:ext cx="5257800" cy="2926080"/>
          </a:xfrm>
          <a:prstGeom prst="rect">
            <a:avLst/>
          </a:prstGeom>
        </p:spPr>
      </p:pic>
      <p:sp>
        <p:nvSpPr>
          <p:cNvPr id="6" name="Shape 2"/>
          <p:cNvSpPr/>
          <p:nvPr/>
        </p:nvSpPr>
        <p:spPr>
          <a:xfrm>
            <a:off x="548640" y="1463040"/>
            <a:ext cx="5257800" cy="2926080"/>
          </a:xfrm>
          <a:prstGeom prst="rect">
            <a:avLst/>
          </a:prstGeom>
          <a:ln w="12700">
            <a:solidFill>
              <a:srgbClr val="D8DEEC"/>
            </a:solidFill>
            <a:prstDash val="solid"/>
          </a:ln>
        </p:spPr>
      </p:sp>
      <p:sp>
        <p:nvSpPr>
          <p:cNvPr id="7" name="Text 3"/>
          <p:cNvSpPr txBox="1"/>
          <p:nvPr/>
        </p:nvSpPr>
        <p:spPr>
          <a:xfrm>
            <a:off x="548640" y="4425696"/>
            <a:ext cx="5257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Έσοδα ανά εύρος τιμής μονάδας (1–5 ≈ 62% των εσόδων)</a:t>
            </a:r>
            <a:endParaRPr lang="en-US" sz="1050" dirty="0"/>
          </a:p>
        </p:txBody>
      </p:sp>
      <p:pic>
        <p:nvPicPr>
          <p:cNvPr id="8" name="Image 1" descr="/tmp/claude-0/-home-user-ensights/57acd941-a2c9-5cfa-90b7-9e5814c7c436/scratchpad/figures/characteristics.png">    </p:cNvPr>
          <p:cNvPicPr>
            <a:picLocks noChangeAspect="1"/>
          </p:cNvPicPr>
          <p:nvPr/>
        </p:nvPicPr>
        <p:blipFill>
          <a:blip r:embed="rId2"/>
          <a:srcRect l="0" r="0" t="0" b="0"/>
          <a:stretch/>
        </p:blipFill>
        <p:spPr>
          <a:xfrm>
            <a:off x="6126480" y="1463040"/>
            <a:ext cx="5257800" cy="2926080"/>
          </a:xfrm>
          <a:prstGeom prst="rect">
            <a:avLst/>
          </a:prstGeom>
        </p:spPr>
      </p:pic>
      <p:sp>
        <p:nvSpPr>
          <p:cNvPr id="9" name="Shape 4"/>
          <p:cNvSpPr/>
          <p:nvPr/>
        </p:nvSpPr>
        <p:spPr>
          <a:xfrm>
            <a:off x="6126480" y="1463040"/>
            <a:ext cx="5257800" cy="2926080"/>
          </a:xfrm>
          <a:prstGeom prst="rect">
            <a:avLst/>
          </a:prstGeom>
          <a:ln w="12700">
            <a:solidFill>
              <a:srgbClr val="D8DEEC"/>
            </a:solidFill>
            <a:prstDash val="solid"/>
          </a:ln>
        </p:spPr>
      </p:sp>
      <p:sp>
        <p:nvSpPr>
          <p:cNvPr id="10" name="Text 5"/>
          <p:cNvSpPr txBox="1"/>
          <p:nvPr/>
        </p:nvSpPr>
        <p:spPr>
          <a:xfrm>
            <a:off x="6126480" y="4425696"/>
            <a:ext cx="5257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Έσοδα ανά χαρακτηριστικό προϊόντος (κανόνες λέξεων-κλειδιών)</a:t>
            </a:r>
            <a:endParaRPr lang="en-US" sz="1050" dirty="0"/>
          </a:p>
        </p:txBody>
      </p:sp>
      <p:sp>
        <p:nvSpPr>
          <p:cNvPr id="11" name="Text 6"/>
          <p:cNvSpPr txBox="1"/>
          <p:nvPr/>
        </p:nvSpPr>
        <p:spPr>
          <a:xfrm>
            <a:off x="548640" y="4754880"/>
            <a:ext cx="11094415" cy="1280160"/>
          </a:xfrm>
          <a:prstGeom prst="rect">
            <a:avLst/>
          </a:prstGeom>
          <a:noFill/>
          <a:ln/>
        </p:spPr>
        <p:txBody>
          <a:bodyPr wrap="square" lIns="0" tIns="0" rIns="0" bIns="0" rtlCol="0" anchor="t"/>
          <a:lstStyle/>
          <a:p>
            <a:pPr marL="177800" indent="-177800">
              <a:lnSpc>
                <a:spcPct val="108000"/>
              </a:lnSpc>
              <a:spcAft>
                <a:spcPts val="600"/>
              </a:spcAft>
              <a:buSzPct val="100000"/>
              <a:buChar char="•"/>
            </a:pPr>
            <a:r>
              <a:rPr lang="en-US" sz="1150" dirty="0">
                <a:solidFill>
                  <a:srgbClr val="241F1B"/>
                </a:solidFill>
                <a:latin typeface="Calibri" pitchFamily="34" charset="0"/>
                <a:ea typeface="Calibri" pitchFamily="34" charset="-122"/>
                <a:cs typeface="Calibri" pitchFamily="34" charset="-120"/>
              </a:rPr>
              <a:t>Χωρίς δομημένη κατηγοριοποίηση προϊόντων στο dataset, τα χαρακτηριστικά προκύπτουν από κανόνες λέξεων-κλειδιών επί ελεύθερου κειμένου.</a:t>
            </a:r>
            <a:endParaRPr lang="en-US" sz="1150" dirty="0"/>
          </a:p>
          <a:p>
            <a:pPr marL="177800" indent="-177800">
              <a:lnSpc>
                <a:spcPct val="108000"/>
              </a:lnSpc>
              <a:spcAft>
                <a:spcPts val="600"/>
              </a:spcAft>
              <a:buSzPct val="100000"/>
              <a:buChar char="•"/>
            </a:pPr>
            <a:r>
              <a:rPr lang="en-US" sz="1150" b="1" dirty="0">
                <a:solidFill>
                  <a:srgbClr val="241F1B"/>
                </a:solidFill>
                <a:latin typeface="Calibri" pitchFamily="34" charset="0"/>
                <a:ea typeface="Calibri" pitchFamily="34" charset="-122"/>
                <a:cs typeface="Calibri" pitchFamily="34" charset="-120"/>
              </a:rPr>
              <a:t>Το 38,9% των εσόδων μένει “uncategorised”. Δεν κρύβεται, δηλώνεται ανοιχτά ως το πραγματικό μέτρο ακρίβειας της μεθόδου.</a:t>
            </a:r>
            <a:endParaRPr lang="en-US" sz="1150" dirty="0"/>
          </a:p>
        </p:txBody>
      </p:sp>
      <p:sp>
        <p:nvSpPr>
          <p:cNvPr id="12" name="Text 7"/>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3" name="Text 8"/>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FREQUENT ITEMSET MINING</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Καλάθια &amp; σύγκριση αλγορίθμων</a:t>
            </a:r>
            <a:endParaRPr lang="en-US" sz="3000" dirty="0"/>
          </a:p>
        </p:txBody>
      </p:sp>
      <p:pic>
        <p:nvPicPr>
          <p:cNvPr id="5" name="Image 0" descr="/tmp/claude-0/-home-user-ensights/57acd941-a2c9-5cfa-90b7-9e5814c7c436/scratchpad/figures/basket_sizes.png">    </p:cNvPr>
          <p:cNvPicPr>
            <a:picLocks noChangeAspect="1"/>
          </p:cNvPicPr>
          <p:nvPr/>
        </p:nvPicPr>
        <p:blipFill>
          <a:blip r:embed="rId1"/>
          <a:srcRect l="0" r="0" t="0" b="0"/>
          <a:stretch/>
        </p:blipFill>
        <p:spPr>
          <a:xfrm>
            <a:off x="548640" y="1463040"/>
            <a:ext cx="4937760" cy="2926080"/>
          </a:xfrm>
          <a:prstGeom prst="rect">
            <a:avLst/>
          </a:prstGeom>
        </p:spPr>
      </p:pic>
      <p:sp>
        <p:nvSpPr>
          <p:cNvPr id="6" name="Shape 2"/>
          <p:cNvSpPr/>
          <p:nvPr/>
        </p:nvSpPr>
        <p:spPr>
          <a:xfrm>
            <a:off x="548640" y="1463040"/>
            <a:ext cx="4937760" cy="2926080"/>
          </a:xfrm>
          <a:prstGeom prst="rect">
            <a:avLst/>
          </a:prstGeom>
          <a:ln w="12700">
            <a:solidFill>
              <a:srgbClr val="D8DEEC"/>
            </a:solidFill>
            <a:prstDash val="solid"/>
          </a:ln>
        </p:spPr>
      </p:sp>
      <p:sp>
        <p:nvSpPr>
          <p:cNvPr id="7" name="Text 3"/>
          <p:cNvSpPr txBox="1"/>
          <p:nvPr/>
        </p:nvSpPr>
        <p:spPr>
          <a:xfrm>
            <a:off x="548640" y="4425696"/>
            <a:ext cx="493776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Κατανομή μεγέθους καλαθιών (λογαριθμική κλίμακα)</a:t>
            </a:r>
            <a:endParaRPr lang="en-US" sz="1050" dirty="0"/>
          </a:p>
        </p:txBody>
      </p:sp>
      <p:sp>
        <p:nvSpPr>
          <p:cNvPr id="8" name="Shape 4"/>
          <p:cNvSpPr/>
          <p:nvPr/>
        </p:nvSpPr>
        <p:spPr>
          <a:xfrm>
            <a:off x="5943600" y="1463040"/>
            <a:ext cx="2377440" cy="1371600"/>
          </a:xfrm>
          <a:prstGeom prst="roundRect">
            <a:avLst>
              <a:gd name="adj" fmla="val 5333"/>
            </a:avLst>
          </a:prstGeom>
          <a:solidFill>
            <a:srgbClr val="EEF3EC"/>
          </a:solidFill>
          <a:ln/>
          <a:effectLst>
            <a:outerShdw sx="100000" sy="100000" kx="0" ky="0" algn="bl" rotWithShape="0" blurRad="76200" dist="25400" dir="5400000">
              <a:srgbClr val="2C5530">
                <a:alpha val="12000"/>
              </a:srgbClr>
            </a:outerShdw>
          </a:effectLst>
        </p:spPr>
      </p:sp>
      <p:sp>
        <p:nvSpPr>
          <p:cNvPr id="9" name="Text 5"/>
          <p:cNvSpPr txBox="1"/>
          <p:nvPr/>
        </p:nvSpPr>
        <p:spPr>
          <a:xfrm>
            <a:off x="5943600" y="1682496"/>
            <a:ext cx="2377440" cy="685800"/>
          </a:xfrm>
          <a:prstGeom prst="rect">
            <a:avLst/>
          </a:prstGeom>
          <a:noFill/>
          <a:ln/>
        </p:spPr>
        <p:txBody>
          <a:bodyPr wrap="square" lIns="0" tIns="0" rIns="0" bIns="0" rtlCol="0" anchor="ctr"/>
          <a:lstStyle/>
          <a:p>
            <a:pPr algn="ctr" indent="0" marL="0">
              <a:buNone/>
            </a:pPr>
            <a:r>
              <a:rPr lang="en-US" sz="2400" b="1" dirty="0">
                <a:solidFill>
                  <a:srgbClr val="2C5530"/>
                </a:solidFill>
                <a:latin typeface="Cambria" pitchFamily="34" charset="0"/>
                <a:ea typeface="Cambria" pitchFamily="34" charset="-122"/>
                <a:cs typeface="Cambria" pitchFamily="34" charset="-120"/>
              </a:rPr>
              <a:t>36.269</a:t>
            </a:r>
            <a:endParaRPr lang="en-US" sz="2400" dirty="0"/>
          </a:p>
        </p:txBody>
      </p:sp>
      <p:sp>
        <p:nvSpPr>
          <p:cNvPr id="10" name="Text 6"/>
          <p:cNvSpPr txBox="1"/>
          <p:nvPr/>
        </p:nvSpPr>
        <p:spPr>
          <a:xfrm>
            <a:off x="6016752" y="2313432"/>
            <a:ext cx="2231136" cy="466344"/>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καλάθια ≥ 2 προϊόντων</a:t>
            </a:r>
            <a:endParaRPr lang="en-US" sz="1050" dirty="0"/>
          </a:p>
        </p:txBody>
      </p:sp>
      <p:sp>
        <p:nvSpPr>
          <p:cNvPr id="11" name="Shape 7"/>
          <p:cNvSpPr/>
          <p:nvPr/>
        </p:nvSpPr>
        <p:spPr>
          <a:xfrm>
            <a:off x="8458200" y="1463040"/>
            <a:ext cx="2377440" cy="1371600"/>
          </a:xfrm>
          <a:prstGeom prst="roundRect">
            <a:avLst>
              <a:gd name="adj" fmla="val 5333"/>
            </a:avLst>
          </a:prstGeom>
          <a:solidFill>
            <a:srgbClr val="EEF3EC"/>
          </a:solidFill>
          <a:ln/>
          <a:effectLst>
            <a:outerShdw sx="100000" sy="100000" kx="0" ky="0" algn="bl" rotWithShape="0" blurRad="76200" dist="25400" dir="5400000">
              <a:srgbClr val="2C5530">
                <a:alpha val="12000"/>
              </a:srgbClr>
            </a:outerShdw>
          </a:effectLst>
        </p:spPr>
      </p:sp>
      <p:sp>
        <p:nvSpPr>
          <p:cNvPr id="12" name="Text 8"/>
          <p:cNvSpPr txBox="1"/>
          <p:nvPr/>
        </p:nvSpPr>
        <p:spPr>
          <a:xfrm>
            <a:off x="8458200" y="1682496"/>
            <a:ext cx="2377440" cy="685800"/>
          </a:xfrm>
          <a:prstGeom prst="rect">
            <a:avLst/>
          </a:prstGeom>
          <a:noFill/>
          <a:ln/>
        </p:spPr>
        <p:txBody>
          <a:bodyPr wrap="square" lIns="0" tIns="0" rIns="0" bIns="0" rtlCol="0" anchor="ctr"/>
          <a:lstStyle/>
          <a:p>
            <a:pPr algn="ctr" indent="0" marL="0">
              <a:buNone/>
            </a:pPr>
            <a:r>
              <a:rPr lang="en-US" sz="2400" b="1" dirty="0">
                <a:solidFill>
                  <a:srgbClr val="2C5530"/>
                </a:solidFill>
                <a:latin typeface="Cambria" pitchFamily="34" charset="0"/>
                <a:ea typeface="Cambria" pitchFamily="34" charset="-122"/>
                <a:cs typeface="Cambria" pitchFamily="34" charset="-120"/>
              </a:rPr>
              <a:t>17 / 1.108</a:t>
            </a:r>
            <a:endParaRPr lang="en-US" sz="2400" dirty="0"/>
          </a:p>
        </p:txBody>
      </p:sp>
      <p:sp>
        <p:nvSpPr>
          <p:cNvPr id="13" name="Text 9"/>
          <p:cNvSpPr txBox="1"/>
          <p:nvPr/>
        </p:nvSpPr>
        <p:spPr>
          <a:xfrm>
            <a:off x="8531352" y="2313432"/>
            <a:ext cx="2231136" cy="466344"/>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διάμεσο / μέγιστο μέγεθος</a:t>
            </a:r>
            <a:endParaRPr lang="en-US" sz="1050" dirty="0"/>
          </a:p>
        </p:txBody>
      </p:sp>
      <p:sp>
        <p:nvSpPr>
          <p:cNvPr id="14" name="Text 10"/>
          <p:cNvSpPr txBox="1"/>
          <p:nvPr/>
        </p:nvSpPr>
        <p:spPr>
          <a:xfrm>
            <a:off x="5943600" y="3063240"/>
            <a:ext cx="4983480" cy="320040"/>
          </a:xfrm>
          <a:prstGeom prst="rect">
            <a:avLst/>
          </a:prstGeom>
          <a:noFill/>
          <a:ln/>
        </p:spPr>
        <p:txBody>
          <a:bodyPr wrap="square" lIns="0" tIns="0" rIns="0" bIns="0" rtlCol="0" anchor="ctr"/>
          <a:lstStyle/>
          <a:p>
            <a:pPr indent="0" marL="0">
              <a:buNone/>
            </a:pPr>
            <a:r>
              <a:rPr lang="en-US" sz="1300" b="1" dirty="0">
                <a:solidFill>
                  <a:srgbClr val="2C5530"/>
                </a:solidFill>
                <a:latin typeface="Cambria" pitchFamily="34" charset="0"/>
                <a:ea typeface="Cambria" pitchFamily="34" charset="-122"/>
                <a:cs typeface="Cambria" pitchFamily="34" charset="-120"/>
              </a:rPr>
              <a:t>Apriori vs. FP-Growth (support 0,02)</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0" y="3383280"/>
          <a:ext cx="4983480" cy="914400"/>
        </p:xfrm>
        <a:graphic>
          <a:graphicData uri="http://schemas.openxmlformats.org/drawingml/2006/table">
            <a:tbl>
              <a:tblPr/>
              <a:tblGrid>
                <a:gridCol w="1245870"/>
                <a:gridCol w="1245870"/>
                <a:gridCol w="1245870"/>
                <a:gridCol w="1245870"/>
              </a:tblGrid>
              <a:tr h="32918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Αλγόριθμος</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Χρόνος (s)</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Σύνολα</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Κανόνες</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r>
              <a:tr h="329184">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Apriori</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385</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134</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29184">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FP-Growth</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385</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134</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bl>
          </a:graphicData>
        </a:graphic>
      </p:graphicFrame>
      <p:sp>
        <p:nvSpPr>
          <p:cNvPr id="16" name="Text 11"/>
          <p:cNvSpPr txBox="1"/>
          <p:nvPr/>
        </p:nvSpPr>
        <p:spPr>
          <a:xfrm>
            <a:off x="5943600" y="4480560"/>
            <a:ext cx="4983480" cy="457200"/>
          </a:xfrm>
          <a:prstGeom prst="rect">
            <a:avLst/>
          </a:prstGeom>
          <a:noFill/>
          <a:ln/>
        </p:spPr>
        <p:txBody>
          <a:bodyPr wrap="square" lIns="0" tIns="0" rIns="0" bIns="0" rtlCol="0" anchor="ctr"/>
          <a:lstStyle/>
          <a:p>
            <a:pPr indent="0" marL="0">
              <a:buNone/>
            </a:pPr>
            <a:r>
              <a:rPr lang="en-US" sz="1050" i="1" dirty="0">
                <a:solidFill>
                  <a:srgbClr val="6B6259"/>
                </a:solidFill>
                <a:latin typeface="Calibri" pitchFamily="34" charset="0"/>
                <a:ea typeface="Calibri" pitchFamily="34" charset="-122"/>
                <a:cs typeface="Calibri" pitchFamily="34" charset="-120"/>
              </a:rPr>
              <a:t>Τα αποτελέσματα βγαίνουν ταυτόσημα, διαφέρουν μόνο στον χρόνο εκτέλεσης: ο FP-Growth είναι περίπου 2,6 φορές ταχύτερος.</a:t>
            </a:r>
            <a:endParaRPr lang="en-US" sz="1050" dirty="0"/>
          </a:p>
        </p:txBody>
      </p:sp>
      <p:sp>
        <p:nvSpPr>
          <p:cNvPr id="17" name="Text 12"/>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8" name="Text 13"/>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FREQUENT ITEMSET MINING</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Ευαισθησία &amp; Association Rules</a:t>
            </a:r>
            <a:endParaRPr lang="en-US" sz="3000" dirty="0"/>
          </a:p>
        </p:txBody>
      </p:sp>
      <p:pic>
        <p:nvPicPr>
          <p:cNvPr id="5" name="Image 0" descr="/tmp/claude-0/-home-user-ensights/57acd941-a2c9-5cfa-90b7-9e5814c7c436/scratchpad/figures/support_sensitivity.png">    </p:cNvPr>
          <p:cNvPicPr>
            <a:picLocks noChangeAspect="1"/>
          </p:cNvPicPr>
          <p:nvPr/>
        </p:nvPicPr>
        <p:blipFill>
          <a:blip r:embed="rId1"/>
          <a:srcRect l="0" r="0" t="0" b="0"/>
          <a:stretch/>
        </p:blipFill>
        <p:spPr>
          <a:xfrm>
            <a:off x="548640" y="1463040"/>
            <a:ext cx="5029200" cy="2788920"/>
          </a:xfrm>
          <a:prstGeom prst="rect">
            <a:avLst/>
          </a:prstGeom>
        </p:spPr>
      </p:pic>
      <p:sp>
        <p:nvSpPr>
          <p:cNvPr id="6" name="Shape 2"/>
          <p:cNvSpPr/>
          <p:nvPr/>
        </p:nvSpPr>
        <p:spPr>
          <a:xfrm>
            <a:off x="548640" y="1463040"/>
            <a:ext cx="5029200" cy="2788920"/>
          </a:xfrm>
          <a:prstGeom prst="rect">
            <a:avLst/>
          </a:prstGeom>
          <a:ln w="12700">
            <a:solidFill>
              <a:srgbClr val="D8DEEC"/>
            </a:solidFill>
            <a:prstDash val="solid"/>
          </a:ln>
        </p:spPr>
      </p:sp>
      <p:sp>
        <p:nvSpPr>
          <p:cNvPr id="7" name="Text 3"/>
          <p:cNvSpPr txBox="1"/>
          <p:nvPr/>
        </p:nvSpPr>
        <p:spPr>
          <a:xfrm>
            <a:off x="548640" y="4288536"/>
            <a:ext cx="50292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Πλήθος itemsets/κανόνων ανά support threshold</a:t>
            </a:r>
            <a:endParaRPr lang="en-US" sz="1050" dirty="0"/>
          </a:p>
        </p:txBody>
      </p:sp>
      <p:pic>
        <p:nvPicPr>
          <p:cNvPr id="8" name="Image 1" descr="/tmp/claude-0/-home-user-ensights/57acd941-a2c9-5cfa-90b7-9e5814c7c436/scratchpad/figures/association_rules.png">    </p:cNvPr>
          <p:cNvPicPr>
            <a:picLocks noChangeAspect="1"/>
          </p:cNvPicPr>
          <p:nvPr/>
        </p:nvPicPr>
        <p:blipFill>
          <a:blip r:embed="rId2"/>
          <a:srcRect l="0" r="0" t="0" b="0"/>
          <a:stretch/>
        </p:blipFill>
        <p:spPr>
          <a:xfrm>
            <a:off x="5897880" y="1463040"/>
            <a:ext cx="5029200" cy="2788920"/>
          </a:xfrm>
          <a:prstGeom prst="rect">
            <a:avLst/>
          </a:prstGeom>
        </p:spPr>
      </p:pic>
      <p:sp>
        <p:nvSpPr>
          <p:cNvPr id="9" name="Shape 4"/>
          <p:cNvSpPr/>
          <p:nvPr/>
        </p:nvSpPr>
        <p:spPr>
          <a:xfrm>
            <a:off x="5897880" y="1463040"/>
            <a:ext cx="5029200" cy="2788920"/>
          </a:xfrm>
          <a:prstGeom prst="rect">
            <a:avLst/>
          </a:prstGeom>
          <a:ln w="12700">
            <a:solidFill>
              <a:srgbClr val="D8DEEC"/>
            </a:solidFill>
            <a:prstDash val="solid"/>
          </a:ln>
        </p:spPr>
      </p:sp>
      <p:sp>
        <p:nvSpPr>
          <p:cNvPr id="10" name="Text 5"/>
          <p:cNvSpPr txBox="1"/>
          <p:nvPr/>
        </p:nvSpPr>
        <p:spPr>
          <a:xfrm>
            <a:off x="5897880" y="4288536"/>
            <a:ext cx="50292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134 κανόνες: support vs. confidence, χρώμα = lift</a:t>
            </a:r>
            <a:endParaRPr lang="en-US" sz="1050" dirty="0"/>
          </a:p>
        </p:txBody>
      </p:sp>
      <p:sp>
        <p:nvSpPr>
          <p:cNvPr id="11" name="Shape 6"/>
          <p:cNvSpPr/>
          <p:nvPr/>
        </p:nvSpPr>
        <p:spPr>
          <a:xfrm>
            <a:off x="548640" y="4709160"/>
            <a:ext cx="11094415" cy="1417320"/>
          </a:xfrm>
          <a:prstGeom prst="roundRect">
            <a:avLst>
              <a:gd name="adj" fmla="val 5161"/>
            </a:avLst>
          </a:prstGeom>
          <a:solidFill>
            <a:srgbClr val="2C5530"/>
          </a:solidFill>
          <a:ln/>
        </p:spPr>
      </p:sp>
      <p:sp>
        <p:nvSpPr>
          <p:cNvPr id="12" name="Text 7"/>
          <p:cNvSpPr txBox="1"/>
          <p:nvPr/>
        </p:nvSpPr>
        <p:spPr>
          <a:xfrm>
            <a:off x="777240" y="4864608"/>
            <a:ext cx="10637215" cy="1143000"/>
          </a:xfrm>
          <a:prstGeom prst="rect">
            <a:avLst/>
          </a:prstGeom>
          <a:noFill/>
          <a:ln/>
        </p:spPr>
        <p:txBody>
          <a:bodyPr wrap="square" lIns="0" tIns="0" rIns="0" bIns="0" rtlCol="0" anchor="t"/>
          <a:lstStyle/>
          <a:p>
            <a:pPr marL="177800" indent="-177800">
              <a:lnSpc>
                <a:spcPct val="108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Ο πιο δυνατός κανόνας αφορά τις χρωματικές παραλλαγές του REGENCY TEACUP AND SAUCER, με lift περίπου 25,2: αγοράζονται μαζί 25 φορές πιο συχνά απ' ό,τι αν ήταν άσχετα προϊόντα.</a:t>
            </a:r>
            <a:endParaRPr lang="en-US" sz="1250" dirty="0"/>
          </a:p>
          <a:p>
            <a:pPr marL="177800" indent="-177800">
              <a:lnSpc>
                <a:spcPct val="108000"/>
              </a:lnSpc>
              <a:spcAft>
                <a:spcPts val="800"/>
              </a:spcAft>
              <a:buSzPct val="100000"/>
              <a:buChar char="•"/>
            </a:pPr>
            <a:r>
              <a:rPr lang="en-US" sz="1200" dirty="0">
                <a:solidFill>
                  <a:srgbClr val="D7E5D2"/>
                </a:solidFill>
                <a:latin typeface="Calibri" pitchFamily="34" charset="0"/>
                <a:ea typeface="Calibri" pitchFamily="34" charset="-122"/>
                <a:cs typeface="Calibri" pitchFamily="34" charset="-120"/>
              </a:rPr>
              <a:t>Αυτό μεταφράζεται εύκολα σε δράση: αξίζει οι παραλλαγές να προωθηθούν μαζί, ως συλλογή.</a:t>
            </a:r>
            <a:endParaRPr lang="en-US" sz="1250" dirty="0"/>
          </a:p>
        </p:txBody>
      </p:sp>
      <p:sp>
        <p:nvSpPr>
          <p:cNvPr id="13" name="Text 8"/>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4" name="Text 9"/>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CLUSTERING</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Πρώτο επίπεδο: Περιοχή και Χρόνος</a:t>
            </a:r>
            <a:endParaRPr lang="en-US" sz="3000" dirty="0"/>
          </a:p>
        </p:txBody>
      </p:sp>
      <p:pic>
        <p:nvPicPr>
          <p:cNvPr id="5" name="Image 0" descr="/tmp/claude-0/-home-user-ensights/57acd941-a2c9-5cfa-90b7-9e5814c7c436/scratchpad/figures/silhouette_level_one.png">    </p:cNvPr>
          <p:cNvPicPr>
            <a:picLocks noChangeAspect="1"/>
          </p:cNvPicPr>
          <p:nvPr/>
        </p:nvPicPr>
        <p:blipFill>
          <a:blip r:embed="rId1"/>
          <a:srcRect l="0" r="0" t="0" b="0"/>
          <a:stretch/>
        </p:blipFill>
        <p:spPr>
          <a:xfrm>
            <a:off x="548640" y="1463040"/>
            <a:ext cx="5394960" cy="3200400"/>
          </a:xfrm>
          <a:prstGeom prst="rect">
            <a:avLst/>
          </a:prstGeom>
        </p:spPr>
      </p:pic>
      <p:sp>
        <p:nvSpPr>
          <p:cNvPr id="6" name="Shape 2"/>
          <p:cNvSpPr/>
          <p:nvPr/>
        </p:nvSpPr>
        <p:spPr>
          <a:xfrm>
            <a:off x="548640" y="1463040"/>
            <a:ext cx="5394960" cy="3200400"/>
          </a:xfrm>
          <a:prstGeom prst="rect">
            <a:avLst/>
          </a:prstGeom>
          <a:ln w="12700">
            <a:solidFill>
              <a:srgbClr val="D8DEEC"/>
            </a:solidFill>
            <a:prstDash val="solid"/>
          </a:ln>
        </p:spPr>
      </p:sp>
      <p:sp>
        <p:nvSpPr>
          <p:cNvPr id="7" name="Text 3"/>
          <p:cNvSpPr txBox="1"/>
          <p:nvPr/>
        </p:nvSpPr>
        <p:spPr>
          <a:xfrm>
            <a:off x="548640" y="4700016"/>
            <a:ext cx="539496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Silhouette score ανά υποψήφιο k</a:t>
            </a:r>
            <a:endParaRPr lang="en-US" sz="1050" dirty="0"/>
          </a:p>
        </p:txBody>
      </p:sp>
      <p:sp>
        <p:nvSpPr>
          <p:cNvPr id="8" name="Text 4"/>
          <p:cNvSpPr txBox="1"/>
          <p:nvPr/>
        </p:nvSpPr>
        <p:spPr>
          <a:xfrm>
            <a:off x="6355080" y="1463040"/>
            <a:ext cx="5029200" cy="365760"/>
          </a:xfrm>
          <a:prstGeom prst="rect">
            <a:avLst/>
          </a:prstGeom>
          <a:noFill/>
          <a:ln/>
        </p:spPr>
        <p:txBody>
          <a:bodyPr wrap="square" lIns="0" tIns="0" rIns="0" bIns="0" rtlCol="0" anchor="ctr"/>
          <a:lstStyle/>
          <a:p>
            <a:pPr indent="0" marL="0">
              <a:buNone/>
            </a:pPr>
            <a:r>
              <a:rPr lang="en-US" sz="1450" b="1" dirty="0">
                <a:solidFill>
                  <a:srgbClr val="2C5530"/>
                </a:solidFill>
                <a:latin typeface="Cambria" pitchFamily="34" charset="0"/>
                <a:ea typeface="Cambria" pitchFamily="34" charset="-122"/>
                <a:cs typeface="Cambria" pitchFamily="34" charset="-120"/>
              </a:rPr>
              <a:t>k = 2 επιλέγεται με score 0,8793</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55080" y="1874520"/>
          <a:ext cx="5029200" cy="914400"/>
        </p:xfrm>
        <a:graphic>
          <a:graphicData uri="http://schemas.openxmlformats.org/drawingml/2006/table">
            <a:tbl>
              <a:tblPr/>
              <a:tblGrid>
                <a:gridCol w="1257300"/>
                <a:gridCol w="1257300"/>
                <a:gridCol w="1257300"/>
                <a:gridCol w="125730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Cluster</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Μέλη</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Μ.ό. εσόδων</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Ενεργοί μήνες</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r>
              <a:tr h="365760">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 Εξαγωγές</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67.298</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12,8</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[2] UK</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16.679.730</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bl>
          </a:graphicData>
        </a:graphic>
      </p:graphicFrame>
      <p:sp>
        <p:nvSpPr>
          <p:cNvPr id="10" name="Text 5"/>
          <p:cNvSpPr txBox="1"/>
          <p:nvPr/>
        </p:nvSpPr>
        <p:spPr>
          <a:xfrm>
            <a:off x="6355080" y="3246120"/>
            <a:ext cx="5029200" cy="1737360"/>
          </a:xfrm>
          <a:prstGeom prst="rect">
            <a:avLst/>
          </a:prstGeom>
          <a:noFill/>
          <a:ln/>
        </p:spPr>
        <p:txBody>
          <a:bodyPr wrap="square" lIns="0" tIns="0" rIns="0" bIns="0" rtlCol="0" anchor="t"/>
          <a:lstStyle/>
          <a:p>
            <a:pPr marL="177800" indent="-177800">
              <a:lnSpc>
                <a:spcPct val="108000"/>
              </a:lnSpc>
              <a:spcAft>
                <a:spcPts val="600"/>
              </a:spcAft>
              <a:buSzPct val="100000"/>
              <a:buChar char="•"/>
            </a:pPr>
            <a:r>
              <a:rPr lang="en-US" sz="1250" dirty="0">
                <a:solidFill>
                  <a:srgbClr val="241F1B"/>
                </a:solidFill>
                <a:latin typeface="Calibri" pitchFamily="34" charset="0"/>
                <a:ea typeface="Calibri" pitchFamily="34" charset="-122"/>
                <a:cs typeface="Calibri" pitchFamily="34" charset="-120"/>
              </a:rPr>
              <a:t>Το Ηνωμένο Βασίλειο βγαίνει μόνο του σε ξεχωριστό cluster, και όχι μόνο λόγω μεγέθους: έχει δραστηριότητα σε όλους τους 25 μήνες, ενώ οι αγορές εξαγωγής κατά μέσο όρο μόλις σε 12,8.</a:t>
            </a:r>
            <a:endParaRPr lang="en-US" sz="1250" dirty="0"/>
          </a:p>
        </p:txBody>
      </p:sp>
      <p:sp>
        <p:nvSpPr>
          <p:cNvPr id="11"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CLUSTERING</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Δεύτερο επίπεδο: RFM sub-clusters</a:t>
            </a:r>
            <a:endParaRPr lang="en-US" sz="3000" dirty="0"/>
          </a:p>
        </p:txBody>
      </p:sp>
      <p:pic>
        <p:nvPicPr>
          <p:cNvPr id="5" name="Image 0" descr="/tmp/claude-0/-home-user-ensights/57acd941-a2c9-5cfa-90b7-9e5814c7c436/scratchpad/figures/rfm_scatter.png">    </p:cNvPr>
          <p:cNvPicPr>
            <a:picLocks noChangeAspect="1"/>
          </p:cNvPicPr>
          <p:nvPr/>
        </p:nvPicPr>
        <p:blipFill>
          <a:blip r:embed="rId1"/>
          <a:srcRect l="0" r="0" t="0" b="0"/>
          <a:stretch/>
        </p:blipFill>
        <p:spPr>
          <a:xfrm>
            <a:off x="548640" y="1463040"/>
            <a:ext cx="5394960" cy="3200400"/>
          </a:xfrm>
          <a:prstGeom prst="rect">
            <a:avLst/>
          </a:prstGeom>
        </p:spPr>
      </p:pic>
      <p:sp>
        <p:nvSpPr>
          <p:cNvPr id="6" name="Shape 2"/>
          <p:cNvSpPr/>
          <p:nvPr/>
        </p:nvSpPr>
        <p:spPr>
          <a:xfrm>
            <a:off x="548640" y="1463040"/>
            <a:ext cx="5394960" cy="3200400"/>
          </a:xfrm>
          <a:prstGeom prst="rect">
            <a:avLst/>
          </a:prstGeom>
          <a:ln w="12700">
            <a:solidFill>
              <a:srgbClr val="D8DEEC"/>
            </a:solidFill>
            <a:prstDash val="solid"/>
          </a:ln>
        </p:spPr>
      </p:sp>
      <p:sp>
        <p:nvSpPr>
          <p:cNvPr id="7" name="Text 3"/>
          <p:cNvSpPr txBox="1"/>
          <p:nvPr/>
        </p:nvSpPr>
        <p:spPr>
          <a:xfrm>
            <a:off x="548640" y="4700016"/>
            <a:ext cx="539496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RFM sub-clusters μέσα στο cluster των εξαγωγών</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355080" y="1463040"/>
          <a:ext cx="5029200" cy="914400"/>
        </p:xfrm>
        <a:graphic>
          <a:graphicData uri="http://schemas.openxmlformats.org/drawingml/2006/table">
            <a:tbl>
              <a:tblPr/>
              <a:tblGrid>
                <a:gridCol w="1257300"/>
                <a:gridCol w="1257300"/>
                <a:gridCol w="1257300"/>
                <a:gridCol w="1257300"/>
              </a:tblGrid>
              <a:tr h="329184">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Sub-cluster</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Πελάτες</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Συχνότ.</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Χρημ. αξία</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r>
              <a:tr h="329184">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[1.1] τακτικοί</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527</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4,88</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3.161</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29184">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[1.2] whales</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220,7</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365.705</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r h="329184">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[2.1] τακτικοί</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5.309</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5,72</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2.138</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29184">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[2.2] whales</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120,4</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114.404</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bl>
          </a:graphicData>
        </a:graphic>
      </p:graphicFrame>
      <p:sp>
        <p:nvSpPr>
          <p:cNvPr id="9" name="Text 4"/>
          <p:cNvSpPr txBox="1"/>
          <p:nvPr/>
        </p:nvSpPr>
        <p:spPr>
          <a:xfrm>
            <a:off x="6355080" y="3063240"/>
            <a:ext cx="5029200" cy="1554480"/>
          </a:xfrm>
          <a:prstGeom prst="rect">
            <a:avLst/>
          </a:prstGeom>
          <a:noFill/>
          <a:ln/>
        </p:spPr>
        <p:txBody>
          <a:bodyPr wrap="square" lIns="0" tIns="0" rIns="0" bIns="0" rtlCol="0" anchor="t"/>
          <a:lstStyle/>
          <a:p>
            <a:pPr marL="177800" indent="-177800">
              <a:lnSpc>
                <a:spcPct val="108000"/>
              </a:lnSpc>
              <a:spcAft>
                <a:spcPts val="800"/>
              </a:spcAft>
              <a:buSzPct val="100000"/>
              <a:buChar char="•"/>
            </a:pPr>
            <a:r>
              <a:rPr lang="en-US" sz="1200" dirty="0">
                <a:solidFill>
                  <a:srgbClr val="241F1B"/>
                </a:solidFill>
                <a:latin typeface="Calibri" pitchFamily="34" charset="0"/>
                <a:ea typeface="Calibri" pitchFamily="34" charset="-122"/>
                <a:cs typeface="Calibri" pitchFamily="34" charset="-120"/>
              </a:rPr>
              <a:t>Ίδια δομή και στις δύο αγορές: πολυπληθής ομάδα περιστασιακών αγοραστών + μικρή ομάδα λογαριασμών τάξεις μεγέθους υψηλότερης συχνότητας/αξίας.</a:t>
            </a:r>
            <a:endParaRPr lang="en-US" sz="1200" dirty="0"/>
          </a:p>
          <a:p>
            <a:pPr marL="177800" indent="-177800">
              <a:lnSpc>
                <a:spcPct val="108000"/>
              </a:lnSpc>
              <a:spcAft>
                <a:spcPts val="800"/>
              </a:spcAft>
              <a:buSzPct val="100000"/>
              <a:buChar char="•"/>
            </a:pPr>
            <a:r>
              <a:rPr lang="en-US" sz="1200" dirty="0">
                <a:solidFill>
                  <a:srgbClr val="241F1B"/>
                </a:solidFill>
                <a:latin typeface="Calibri" pitchFamily="34" charset="0"/>
                <a:ea typeface="Calibri" pitchFamily="34" charset="-122"/>
                <a:cs typeface="Calibri" pitchFamily="34" charset="-120"/>
              </a:rPr>
              <a:t>Επιβεβαιώνει με νούμερα αυτό που είδαμε στην Ιρλανδία: υπάρχει χονδρικός πυρήνας και λιανική ουρά, ανεξάρτητα από τη γεωγραφική αγορά.</a:t>
            </a:r>
            <a:endParaRPr lang="en-US" sz="1200" dirty="0"/>
          </a:p>
        </p:txBody>
      </p:sp>
      <p:sp>
        <p:nvSpPr>
          <p:cNvPr id="10" name="Text 5"/>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1" name="Text 6"/>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ΠΡΟΒΛΕΨΗ: HOLT-WINTERS ΕΚΘΕΤΙΚΗ ΕΞΟΜΑΛΥΝΣΗ</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Πρόβλεψη πωλήσεων</a:t>
            </a:r>
            <a:endParaRPr lang="en-US" sz="3000" dirty="0"/>
          </a:p>
        </p:txBody>
      </p:sp>
      <p:pic>
        <p:nvPicPr>
          <p:cNvPr id="5" name="Image 0" descr="/tmp/claude-0/-home-user-ensights/57acd941-a2c9-5cfa-90b7-9e5814c7c436/scratchpad/figures/revenue_forecast.png">    </p:cNvPr>
          <p:cNvPicPr>
            <a:picLocks noChangeAspect="1"/>
          </p:cNvPicPr>
          <p:nvPr/>
        </p:nvPicPr>
        <p:blipFill>
          <a:blip r:embed="rId1"/>
          <a:srcRect l="0" r="0" t="0" b="0"/>
          <a:stretch/>
        </p:blipFill>
        <p:spPr>
          <a:xfrm>
            <a:off x="548640" y="1417320"/>
            <a:ext cx="11094415" cy="2286000"/>
          </a:xfrm>
          <a:prstGeom prst="rect">
            <a:avLst/>
          </a:prstGeom>
        </p:spPr>
      </p:pic>
      <p:sp>
        <p:nvSpPr>
          <p:cNvPr id="6" name="Shape 2"/>
          <p:cNvSpPr/>
          <p:nvPr/>
        </p:nvSpPr>
        <p:spPr>
          <a:xfrm>
            <a:off x="548640" y="1417320"/>
            <a:ext cx="11094415" cy="2286000"/>
          </a:xfrm>
          <a:prstGeom prst="rect">
            <a:avLst/>
          </a:prstGeom>
          <a:ln w="12700">
            <a:solidFill>
              <a:srgbClr val="D8DEEC"/>
            </a:solidFill>
            <a:prstDash val="solid"/>
          </a:ln>
        </p:spPr>
      </p:sp>
      <p:sp>
        <p:nvSpPr>
          <p:cNvPr id="7" name="Text 3"/>
          <p:cNvSpPr txBox="1"/>
          <p:nvPr/>
        </p:nvSpPr>
        <p:spPr>
          <a:xfrm>
            <a:off x="548640" y="3703320"/>
            <a:ext cx="11094415"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Καθαρή αξία πωλήσεων ανά μήνα και πρόβλεψη τριμήνου. Ο ημιτελής Δεκέμβριος του 2011 εξαιρείται από την προσαρμογή</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6035040" cy="914400"/>
        </p:xfrm>
        <a:graphic>
          <a:graphicData uri="http://schemas.openxmlformats.org/drawingml/2006/table">
            <a:tbl>
              <a:tblPr/>
              <a:tblGrid>
                <a:gridCol w="1207008"/>
                <a:gridCol w="1207008"/>
                <a:gridCol w="1207008"/>
                <a:gridCol w="1207008"/>
                <a:gridCol w="1207008"/>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Μέθοδος</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MAE</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RMSE</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MAPE %</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Skill score</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r>
              <a:tr h="365760">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Naive</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466.648</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502.808</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38,48</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0,0000</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Holt-Winters</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400.355</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439.920</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32,74</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50" dirty="0">
                          <a:solidFill>
                            <a:srgbClr val="241F1B"/>
                          </a:solidFill>
                          <a:latin typeface="Calibri" pitchFamily="34" charset="0"/>
                          <a:ea typeface="Calibri" pitchFamily="34" charset="-122"/>
                          <a:cs typeface="Calibri" pitchFamily="34" charset="-120"/>
                        </a:rPr>
                        <a:t>+0,1421</a:t>
                      </a:r>
                      <a:endParaRPr lang="en-US" sz="10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bl>
          </a:graphicData>
        </a:graphic>
      </p:graphicFrame>
      <p:sp>
        <p:nvSpPr>
          <p:cNvPr id="9" name="Shape 4"/>
          <p:cNvSpPr/>
          <p:nvPr/>
        </p:nvSpPr>
        <p:spPr>
          <a:xfrm>
            <a:off x="6858000" y="4160520"/>
            <a:ext cx="4800600" cy="1828800"/>
          </a:xfrm>
          <a:prstGeom prst="roundRect">
            <a:avLst>
              <a:gd name="adj" fmla="val 4000"/>
            </a:avLst>
          </a:prstGeom>
          <a:solidFill>
            <a:srgbClr val="EEF3EC"/>
          </a:solidFill>
          <a:ln/>
        </p:spPr>
      </p:sp>
      <p:sp>
        <p:nvSpPr>
          <p:cNvPr id="10" name="Text 5"/>
          <p:cNvSpPr txBox="1"/>
          <p:nvPr/>
        </p:nvSpPr>
        <p:spPr>
          <a:xfrm>
            <a:off x="7040880" y="4279392"/>
            <a:ext cx="4480560" cy="1600200"/>
          </a:xfrm>
          <a:prstGeom prst="rect">
            <a:avLst/>
          </a:prstGeom>
          <a:noFill/>
          <a:ln/>
        </p:spPr>
        <p:txBody>
          <a:bodyPr wrap="square" lIns="0" tIns="0" rIns="0" bIns="0" rtlCol="0" anchor="t"/>
          <a:lstStyle/>
          <a:p>
            <a:pPr marL="177800" indent="-177800">
              <a:lnSpc>
                <a:spcPct val="108000"/>
              </a:lnSpc>
              <a:spcAft>
                <a:spcPts val="600"/>
              </a:spcAft>
              <a:buSzPct val="100000"/>
              <a:buChar char="•"/>
            </a:pPr>
            <a:r>
              <a:rPr lang="en-US" sz="1150" dirty="0">
                <a:solidFill>
                  <a:srgbClr val="241F1B"/>
                </a:solidFill>
                <a:latin typeface="Calibri" pitchFamily="34" charset="0"/>
                <a:ea typeface="Calibri" pitchFamily="34" charset="-122"/>
                <a:cs typeface="Calibri" pitchFamily="34" charset="-120"/>
              </a:rPr>
              <a:t>Αρχικό skill score επί 25 μηνών: −0,21, χειρότερο από το naive baseline.</a:t>
            </a:r>
            <a:endParaRPr lang="en-US" sz="1150" dirty="0"/>
          </a:p>
          <a:p>
            <a:pPr marL="177800" indent="-177800">
              <a:lnSpc>
                <a:spcPct val="108000"/>
              </a:lnSpc>
              <a:spcAft>
                <a:spcPts val="600"/>
              </a:spcAft>
              <a:buSzPct val="100000"/>
              <a:buChar char="•"/>
            </a:pPr>
            <a:r>
              <a:rPr lang="en-US" sz="1150" dirty="0">
                <a:solidFill>
                  <a:srgbClr val="241F1B"/>
                </a:solidFill>
                <a:latin typeface="Calibri" pitchFamily="34" charset="0"/>
                <a:ea typeface="Calibri" pitchFamily="34" charset="-122"/>
                <a:cs typeface="Calibri" pitchFamily="34" charset="-120"/>
              </a:rPr>
              <a:t>Ο λόγος: ο τελευταίος μήνας έχει μόνο 9 ημέρες, αφού το dataset σταματά στις 9/12/2011. Δεν είναι πτώση, είναι αποκοπή.</a:t>
            </a:r>
            <a:endParaRPr lang="en-US" sz="1150" dirty="0"/>
          </a:p>
          <a:p>
            <a:pPr marL="177800" indent="-177800">
              <a:lnSpc>
                <a:spcPct val="108000"/>
              </a:lnSpc>
              <a:spcAft>
                <a:spcPts val="600"/>
              </a:spcAft>
              <a:buSzPct val="100000"/>
              <a:buChar char="•"/>
            </a:pPr>
            <a:r>
              <a:rPr lang="en-US" sz="1150" b="1" dirty="0">
                <a:solidFill>
                  <a:srgbClr val="3E8A46"/>
                </a:solidFill>
                <a:latin typeface="Calibri" pitchFamily="34" charset="0"/>
                <a:ea typeface="Calibri" pitchFamily="34" charset="-122"/>
                <a:cs typeface="Calibri" pitchFamily="34" charset="-120"/>
              </a:rPr>
              <a:t>Μετά τον αποκλεισμό της ημιτελούς περιόδου: +0,1421.</a:t>
            </a:r>
            <a:endParaRPr lang="en-US" sz="1150" dirty="0"/>
          </a:p>
        </p:txBody>
      </p:sp>
      <p:sp>
        <p:nvSpPr>
          <p:cNvPr id="11"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ΟΙΚΟΝΟΜΙΚΟΙ ΔΕΙΚΤΕΣ</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Growth Accounting</a:t>
            </a:r>
            <a:endParaRPr lang="en-US" sz="3000" dirty="0"/>
          </a:p>
        </p:txBody>
      </p:sp>
      <p:pic>
        <p:nvPicPr>
          <p:cNvPr id="5" name="Image 0" descr="/tmp/claude-0/-home-user-ensights/57acd941-a2c9-5cfa-90b7-9e5814c7c436/scratchpad/figures/growth_accounting.png">    </p:cNvPr>
          <p:cNvPicPr>
            <a:picLocks noChangeAspect="1"/>
          </p:cNvPicPr>
          <p:nvPr/>
        </p:nvPicPr>
        <p:blipFill>
          <a:blip r:embed="rId1"/>
          <a:srcRect l="0" r="0" t="0" b="0"/>
          <a:stretch/>
        </p:blipFill>
        <p:spPr>
          <a:xfrm>
            <a:off x="548640" y="1417320"/>
            <a:ext cx="10607040" cy="2240280"/>
          </a:xfrm>
          <a:prstGeom prst="rect">
            <a:avLst/>
          </a:prstGeom>
        </p:spPr>
      </p:pic>
      <p:sp>
        <p:nvSpPr>
          <p:cNvPr id="6" name="Shape 2"/>
          <p:cNvSpPr/>
          <p:nvPr/>
        </p:nvSpPr>
        <p:spPr>
          <a:xfrm>
            <a:off x="548640" y="1417320"/>
            <a:ext cx="10607040" cy="2240280"/>
          </a:xfrm>
          <a:prstGeom prst="rect">
            <a:avLst/>
          </a:prstGeom>
          <a:ln w="12700">
            <a:solidFill>
              <a:srgbClr val="D8DEEC"/>
            </a:solidFill>
            <a:prstDash val="solid"/>
          </a:ln>
        </p:spPr>
      </p:sp>
      <p:sp>
        <p:nvSpPr>
          <p:cNvPr id="7" name="Text 3"/>
          <p:cNvSpPr txBox="1"/>
          <p:nvPr/>
        </p:nvSpPr>
        <p:spPr>
          <a:xfrm>
            <a:off x="548640" y="3675888"/>
            <a:ext cx="1060704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Η μεταβολή εσόδων σπάει σε 6 ροές: νέα, αναβιωμένα, διατηρημένα, επέκταση, συρρίκνωση, απώλεια</a:t>
            </a:r>
            <a:endParaRPr lang="en-US" sz="1050" dirty="0"/>
          </a:p>
        </p:txBody>
      </p:sp>
      <p:pic>
        <p:nvPicPr>
          <p:cNvPr id="8" name="Image 1" descr="/tmp/claude-0/-home-user-ensights/57acd941-a2c9-5cfa-90b7-9e5814c7c436/scratchpad/figures/quick_ratio.png">    </p:cNvPr>
          <p:cNvPicPr>
            <a:picLocks noChangeAspect="1"/>
          </p:cNvPicPr>
          <p:nvPr/>
        </p:nvPicPr>
        <p:blipFill>
          <a:blip r:embed="rId2"/>
          <a:srcRect l="0" r="0" t="0" b="0"/>
          <a:stretch/>
        </p:blipFill>
        <p:spPr>
          <a:xfrm>
            <a:off x="3108960" y="4069080"/>
            <a:ext cx="5486400" cy="1691640"/>
          </a:xfrm>
          <a:prstGeom prst="rect">
            <a:avLst/>
          </a:prstGeom>
        </p:spPr>
      </p:pic>
      <p:sp>
        <p:nvSpPr>
          <p:cNvPr id="9" name="Shape 4"/>
          <p:cNvSpPr/>
          <p:nvPr/>
        </p:nvSpPr>
        <p:spPr>
          <a:xfrm>
            <a:off x="3108960" y="4069080"/>
            <a:ext cx="5486400" cy="1691640"/>
          </a:xfrm>
          <a:prstGeom prst="rect">
            <a:avLst/>
          </a:prstGeom>
          <a:ln w="12700">
            <a:solidFill>
              <a:srgbClr val="D8DEEC"/>
            </a:solidFill>
            <a:prstDash val="solid"/>
          </a:ln>
        </p:spPr>
      </p:sp>
      <p:sp>
        <p:nvSpPr>
          <p:cNvPr id="10" name="Text 5"/>
          <p:cNvSpPr txBox="1"/>
          <p:nvPr/>
        </p:nvSpPr>
        <p:spPr>
          <a:xfrm>
            <a:off x="3108960" y="5779008"/>
            <a:ext cx="54864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Quick ratio ανά μήνα. Κάτω από τη μονάδα σημαίνει ότι τα έσοδα συρρικνώνονται</a:t>
            </a:r>
            <a:endParaRPr lang="en-US" sz="1050" dirty="0"/>
          </a:p>
        </p:txBody>
      </p:sp>
      <p:sp>
        <p:nvSpPr>
          <p:cNvPr id="11"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ΟΙΚΟΝΟΜΙΚΟΙ ΔΕΙΚΤΕΣ</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Επαναληπτικότητα &amp; συγκέντρωση εσόδων</a:t>
            </a:r>
            <a:endParaRPr lang="en-US" sz="3000" dirty="0"/>
          </a:p>
        </p:txBody>
      </p:sp>
      <p:sp>
        <p:nvSpPr>
          <p:cNvPr id="5" name="Shape 2"/>
          <p:cNvSpPr/>
          <p:nvPr/>
        </p:nvSpPr>
        <p:spPr>
          <a:xfrm>
            <a:off x="548640" y="1508760"/>
            <a:ext cx="3337560" cy="1188720"/>
          </a:xfrm>
          <a:prstGeom prst="roundRect">
            <a:avLst>
              <a:gd name="adj" fmla="val 6154"/>
            </a:avLst>
          </a:prstGeom>
          <a:solidFill>
            <a:srgbClr val="EEF3EC"/>
          </a:solidFill>
          <a:ln/>
          <a:effectLst>
            <a:outerShdw sx="100000" sy="100000" kx="0" ky="0" algn="bl" rotWithShape="0" blurRad="76200" dist="25400" dir="5400000">
              <a:srgbClr val="2C5530">
                <a:alpha val="12000"/>
              </a:srgbClr>
            </a:outerShdw>
          </a:effectLst>
        </p:spPr>
      </p:sp>
      <p:sp>
        <p:nvSpPr>
          <p:cNvPr id="6" name="Text 3"/>
          <p:cNvSpPr txBox="1"/>
          <p:nvPr/>
        </p:nvSpPr>
        <p:spPr>
          <a:xfrm>
            <a:off x="548640" y="1698955"/>
            <a:ext cx="3337560" cy="594360"/>
          </a:xfrm>
          <a:prstGeom prst="rect">
            <a:avLst/>
          </a:prstGeom>
          <a:noFill/>
          <a:ln/>
        </p:spPr>
        <p:txBody>
          <a:bodyPr wrap="square" lIns="0" tIns="0" rIns="0" bIns="0" rtlCol="0" anchor="ctr"/>
          <a:lstStyle/>
          <a:p>
            <a:pPr algn="ctr" indent="0" marL="0">
              <a:buNone/>
            </a:pPr>
            <a:r>
              <a:rPr lang="en-US" sz="2200" b="1" dirty="0">
                <a:solidFill>
                  <a:srgbClr val="2C5530"/>
                </a:solidFill>
                <a:latin typeface="Cambria" pitchFamily="34" charset="0"/>
                <a:ea typeface="Cambria" pitchFamily="34" charset="-122"/>
                <a:cs typeface="Cambria" pitchFamily="34" charset="-120"/>
              </a:rPr>
              <a:t>72,4%</a:t>
            </a:r>
            <a:endParaRPr lang="en-US" sz="2200" dirty="0"/>
          </a:p>
        </p:txBody>
      </p:sp>
      <p:sp>
        <p:nvSpPr>
          <p:cNvPr id="7" name="Text 4"/>
          <p:cNvSpPr txBox="1"/>
          <p:nvPr/>
        </p:nvSpPr>
        <p:spPr>
          <a:xfrm>
            <a:off x="621792" y="2245766"/>
            <a:ext cx="3191256" cy="404165"/>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Επαναληπτικοί πελάτες</a:t>
            </a:r>
            <a:endParaRPr lang="en-US" sz="1050" dirty="0"/>
          </a:p>
        </p:txBody>
      </p:sp>
      <p:sp>
        <p:nvSpPr>
          <p:cNvPr id="8" name="Shape 5"/>
          <p:cNvSpPr/>
          <p:nvPr/>
        </p:nvSpPr>
        <p:spPr>
          <a:xfrm>
            <a:off x="4069080" y="1508760"/>
            <a:ext cx="3337560" cy="1188720"/>
          </a:xfrm>
          <a:prstGeom prst="roundRect">
            <a:avLst>
              <a:gd name="adj" fmla="val 6154"/>
            </a:avLst>
          </a:prstGeom>
          <a:solidFill>
            <a:srgbClr val="EEF3EC"/>
          </a:solidFill>
          <a:ln/>
          <a:effectLst>
            <a:outerShdw sx="100000" sy="100000" kx="0" ky="0" algn="bl" rotWithShape="0" blurRad="76200" dist="25400" dir="5400000">
              <a:srgbClr val="2C5530">
                <a:alpha val="12000"/>
              </a:srgbClr>
            </a:outerShdw>
          </a:effectLst>
        </p:spPr>
      </p:sp>
      <p:sp>
        <p:nvSpPr>
          <p:cNvPr id="9" name="Text 6"/>
          <p:cNvSpPr txBox="1"/>
          <p:nvPr/>
        </p:nvSpPr>
        <p:spPr>
          <a:xfrm>
            <a:off x="4069080" y="1698955"/>
            <a:ext cx="3337560" cy="594360"/>
          </a:xfrm>
          <a:prstGeom prst="rect">
            <a:avLst/>
          </a:prstGeom>
          <a:noFill/>
          <a:ln/>
        </p:spPr>
        <p:txBody>
          <a:bodyPr wrap="square" lIns="0" tIns="0" rIns="0" bIns="0" rtlCol="0" anchor="ctr"/>
          <a:lstStyle/>
          <a:p>
            <a:pPr algn="ctr" indent="0" marL="0">
              <a:buNone/>
            </a:pPr>
            <a:r>
              <a:rPr lang="en-US" sz="2200" b="1" dirty="0">
                <a:solidFill>
                  <a:srgbClr val="2C5530"/>
                </a:solidFill>
                <a:latin typeface="Cambria" pitchFamily="34" charset="0"/>
                <a:ea typeface="Cambria" pitchFamily="34" charset="-122"/>
                <a:cs typeface="Cambria" pitchFamily="34" charset="-120"/>
              </a:rPr>
              <a:t>6,25</a:t>
            </a:r>
            <a:endParaRPr lang="en-US" sz="2200" dirty="0"/>
          </a:p>
        </p:txBody>
      </p:sp>
      <p:sp>
        <p:nvSpPr>
          <p:cNvPr id="10" name="Text 7"/>
          <p:cNvSpPr txBox="1"/>
          <p:nvPr/>
        </p:nvSpPr>
        <p:spPr>
          <a:xfrm>
            <a:off x="4142232" y="2245766"/>
            <a:ext cx="3191256" cy="404165"/>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Παραγγελίες / πελάτη</a:t>
            </a:r>
            <a:endParaRPr lang="en-US" sz="1050" dirty="0"/>
          </a:p>
        </p:txBody>
      </p:sp>
      <p:sp>
        <p:nvSpPr>
          <p:cNvPr id="11" name="Shape 8"/>
          <p:cNvSpPr/>
          <p:nvPr/>
        </p:nvSpPr>
        <p:spPr>
          <a:xfrm>
            <a:off x="7589520" y="1508760"/>
            <a:ext cx="3337560" cy="1188720"/>
          </a:xfrm>
          <a:prstGeom prst="roundRect">
            <a:avLst>
              <a:gd name="adj" fmla="val 6154"/>
            </a:avLst>
          </a:prstGeom>
          <a:solidFill>
            <a:srgbClr val="EEF3EC"/>
          </a:solidFill>
          <a:ln/>
          <a:effectLst>
            <a:outerShdw sx="100000" sy="100000" kx="0" ky="0" algn="bl" rotWithShape="0" blurRad="76200" dist="25400" dir="5400000">
              <a:srgbClr val="2C5530">
                <a:alpha val="12000"/>
              </a:srgbClr>
            </a:outerShdw>
          </a:effectLst>
        </p:spPr>
      </p:sp>
      <p:sp>
        <p:nvSpPr>
          <p:cNvPr id="12" name="Text 9"/>
          <p:cNvSpPr txBox="1"/>
          <p:nvPr/>
        </p:nvSpPr>
        <p:spPr>
          <a:xfrm>
            <a:off x="7589520" y="1698955"/>
            <a:ext cx="3337560" cy="594360"/>
          </a:xfrm>
          <a:prstGeom prst="rect">
            <a:avLst/>
          </a:prstGeom>
          <a:noFill/>
          <a:ln/>
        </p:spPr>
        <p:txBody>
          <a:bodyPr wrap="square" lIns="0" tIns="0" rIns="0" bIns="0" rtlCol="0" anchor="ctr"/>
          <a:lstStyle/>
          <a:p>
            <a:pPr algn="ctr" indent="0" marL="0">
              <a:buNone/>
            </a:pPr>
            <a:r>
              <a:rPr lang="en-US" sz="2200" b="1" dirty="0">
                <a:solidFill>
                  <a:srgbClr val="2C5530"/>
                </a:solidFill>
                <a:latin typeface="Cambria" pitchFamily="34" charset="0"/>
                <a:ea typeface="Cambria" pitchFamily="34" charset="-122"/>
                <a:cs typeface="Cambria" pitchFamily="34" charset="-120"/>
              </a:rPr>
              <a:t>493,63</a:t>
            </a:r>
            <a:endParaRPr lang="en-US" sz="2200" dirty="0"/>
          </a:p>
        </p:txBody>
      </p:sp>
      <p:sp>
        <p:nvSpPr>
          <p:cNvPr id="13" name="Text 10"/>
          <p:cNvSpPr txBox="1"/>
          <p:nvPr/>
        </p:nvSpPr>
        <p:spPr>
          <a:xfrm>
            <a:off x="7662672" y="2245766"/>
            <a:ext cx="3191256" cy="404165"/>
          </a:xfrm>
          <a:prstGeom prst="rect">
            <a:avLst/>
          </a:prstGeom>
          <a:noFill/>
          <a:ln/>
        </p:spPr>
        <p:txBody>
          <a:bodyPr wrap="square" lIns="0" tIns="0" rIns="0" bIns="0" rtlCol="0" anchor="t"/>
          <a:lstStyle/>
          <a:p>
            <a:pPr algn="ctr" indent="0" marL="0">
              <a:buNone/>
            </a:pPr>
            <a:r>
              <a:rPr lang="en-US" sz="1050" dirty="0">
                <a:solidFill>
                  <a:srgbClr val="6B6259"/>
                </a:solidFill>
                <a:latin typeface="Calibri" pitchFamily="34" charset="0"/>
                <a:ea typeface="Calibri" pitchFamily="34" charset="-122"/>
                <a:cs typeface="Calibri" pitchFamily="34" charset="-120"/>
              </a:rPr>
              <a:t>Μέση αξία παραγγελίας</a:t>
            </a:r>
            <a:endParaRPr lang="en-US" sz="1050" dirty="0"/>
          </a:p>
        </p:txBody>
      </p:sp>
      <p:sp>
        <p:nvSpPr>
          <p:cNvPr id="14" name="Text 11"/>
          <p:cNvSpPr txBox="1"/>
          <p:nvPr/>
        </p:nvSpPr>
        <p:spPr>
          <a:xfrm>
            <a:off x="548640" y="2971800"/>
            <a:ext cx="5486400" cy="320040"/>
          </a:xfrm>
          <a:prstGeom prst="rect">
            <a:avLst/>
          </a:prstGeom>
          <a:noFill/>
          <a:ln/>
        </p:spPr>
        <p:txBody>
          <a:bodyPr wrap="square" lIns="0" tIns="0" rIns="0" bIns="0" rtlCol="0" anchor="ctr"/>
          <a:lstStyle/>
          <a:p>
            <a:pPr indent="0" marL="0">
              <a:buNone/>
            </a:pPr>
            <a:r>
              <a:rPr lang="en-US" sz="1450" b="1" dirty="0">
                <a:solidFill>
                  <a:srgbClr val="2C5530"/>
                </a:solidFill>
                <a:latin typeface="Cambria" pitchFamily="34" charset="0"/>
                <a:ea typeface="Cambria" pitchFamily="34" charset="-122"/>
                <a:cs typeface="Cambria" pitchFamily="34" charset="-120"/>
              </a:rPr>
              <a:t>Συγκέντρωση εσόδων στους πελάτες</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5303520" cy="914400"/>
        </p:xfrm>
        <a:graphic>
          <a:graphicData uri="http://schemas.openxmlformats.org/drawingml/2006/table">
            <a:tbl>
              <a:tblPr/>
              <a:tblGrid>
                <a:gridCol w="2651760"/>
                <a:gridCol w="2651760"/>
              </a:tblGrid>
              <a:tr h="36576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Μέγεθος</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Τιμή</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r>
              <a:tr h="365760">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Συντελεστής Gini</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0,740</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Μερίδιο top 10%</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r h="365760">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Μερίδιο top 20%</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77,1%</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Μερίδιο top 50%</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r h="365760">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Μεγαλύτερος πελάτης</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41F1B"/>
                          </a:solidFill>
                          <a:latin typeface="Calibri" pitchFamily="34" charset="0"/>
                          <a:ea typeface="Calibri" pitchFamily="34" charset="-122"/>
                          <a:cs typeface="Calibri" pitchFamily="34" charset="-120"/>
                        </a:rPr>
                        <a:t>3,3%</a:t>
                      </a:r>
                      <a:endParaRPr lang="en-US" sz="115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bl>
          </a:graphicData>
        </a:graphic>
      </p:graphicFrame>
      <p:sp>
        <p:nvSpPr>
          <p:cNvPr id="16" name="Shape 12"/>
          <p:cNvSpPr/>
          <p:nvPr/>
        </p:nvSpPr>
        <p:spPr>
          <a:xfrm>
            <a:off x="6537960" y="3337560"/>
            <a:ext cx="5074920" cy="2606040"/>
          </a:xfrm>
          <a:prstGeom prst="roundRect">
            <a:avLst>
              <a:gd name="adj" fmla="val 2807"/>
            </a:avLst>
          </a:prstGeom>
          <a:solidFill>
            <a:srgbClr val="2C5530"/>
          </a:solidFill>
          <a:ln/>
        </p:spPr>
      </p:sp>
      <p:sp>
        <p:nvSpPr>
          <p:cNvPr id="17" name="Text 13"/>
          <p:cNvSpPr txBox="1"/>
          <p:nvPr/>
        </p:nvSpPr>
        <p:spPr>
          <a:xfrm>
            <a:off x="6766560" y="3520440"/>
            <a:ext cx="4663440" cy="2331720"/>
          </a:xfrm>
          <a:prstGeom prst="rect">
            <a:avLst/>
          </a:prstGeom>
          <a:noFill/>
          <a:ln/>
        </p:spPr>
        <p:txBody>
          <a:bodyPr wrap="square" lIns="0" tIns="0" rIns="0" bIns="0" rtlCol="0" anchor="t"/>
          <a:lstStyle/>
          <a:p>
            <a:pPr marL="177800" indent="-177800">
              <a:lnSpc>
                <a:spcPct val="108000"/>
              </a:lnSpc>
              <a:spcAft>
                <a:spcPts val="1200"/>
              </a:spcAft>
              <a:buSzPct val="100000"/>
              <a:buChar char="•"/>
            </a:pPr>
            <a:r>
              <a:rPr lang="en-US" sz="1250" dirty="0">
                <a:solidFill>
                  <a:srgbClr val="FFFFFF"/>
                </a:solidFill>
                <a:latin typeface="Calibri" pitchFamily="34" charset="0"/>
                <a:ea typeface="Calibri" pitchFamily="34" charset="-122"/>
                <a:cs typeface="Calibri" pitchFamily="34" charset="-120"/>
              </a:rPr>
              <a:t>Το κορυφαίο 20% των πελατών παράγει το 77% των εσόδων, μια πολύ έντονη ασυμμετρία.</a:t>
            </a:r>
            <a:endParaRPr lang="en-US" sz="1250" dirty="0"/>
          </a:p>
          <a:p>
            <a:pPr marL="177800" indent="-177800">
              <a:lnSpc>
                <a:spcPct val="108000"/>
              </a:lnSpc>
              <a:spcAft>
                <a:spcPts val="1200"/>
              </a:spcAft>
              <a:buSzPct val="100000"/>
              <a:buChar char="•"/>
            </a:pPr>
            <a:r>
              <a:rPr lang="en-US" sz="1250" dirty="0">
                <a:solidFill>
                  <a:srgbClr val="FFFFFF"/>
                </a:solidFill>
                <a:latin typeface="Calibri" pitchFamily="34" charset="0"/>
                <a:ea typeface="Calibri" pitchFamily="34" charset="-122"/>
                <a:cs typeface="Calibri" pitchFamily="34" charset="-120"/>
              </a:rPr>
              <a:t>Ο μεγαλύτερος μεμονωμένος πελάτης αντιστοιχεί μόλις στο 3,3%.</a:t>
            </a:r>
            <a:endParaRPr lang="en-US" sz="1250" dirty="0"/>
          </a:p>
          <a:p>
            <a:pPr marL="177800" indent="-177800">
              <a:lnSpc>
                <a:spcPct val="108000"/>
              </a:lnSpc>
              <a:spcAft>
                <a:spcPts val="1200"/>
              </a:spcAft>
              <a:buSzPct val="100000"/>
              <a:buChar char="•"/>
            </a:pPr>
            <a:r>
              <a:rPr lang="en-US" sz="1250" b="1" dirty="0">
                <a:solidFill>
                  <a:srgbClr val="E8A33D"/>
                </a:solidFill>
                <a:latin typeface="Calibri" pitchFamily="34" charset="0"/>
                <a:ea typeface="Calibri" pitchFamily="34" charset="-122"/>
                <a:cs typeface="Calibri" pitchFamily="34" charset="-120"/>
              </a:rPr>
              <a:t>Υψηλή συγκέντρωση + απουσία εξάρτησης από 1 πελάτη = υγιής χονδρική δομή, όχι εύθραυστη.</a:t>
            </a:r>
            <a:endParaRPr lang="en-US" sz="1250" dirty="0"/>
          </a:p>
        </p:txBody>
      </p:sp>
      <p:sp>
        <p:nvSpPr>
          <p:cNvPr id="18" name="Text 14"/>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9" name="Text 15"/>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ΟΙΚΟΝΟΜΙΚΟΙ ΔΕΙΚΤΕΣ</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Ανάλυση κερδοφορίας βάσει σεναρίων</a:t>
            </a:r>
            <a:endParaRPr lang="en-US" sz="3000" dirty="0"/>
          </a:p>
        </p:txBody>
      </p:sp>
      <p:pic>
        <p:nvPicPr>
          <p:cNvPr id="5" name="Image 0" descr="/tmp/claude-0/-home-user-ensights/57acd941-a2c9-5cfa-90b7-9e5814c7c436/scratchpad/figures/profitability_sensitivity.png">    </p:cNvPr>
          <p:cNvPicPr>
            <a:picLocks noChangeAspect="1"/>
          </p:cNvPicPr>
          <p:nvPr/>
        </p:nvPicPr>
        <p:blipFill>
          <a:blip r:embed="rId1"/>
          <a:srcRect l="0" r="0" t="0" b="0"/>
          <a:stretch/>
        </p:blipFill>
        <p:spPr>
          <a:xfrm>
            <a:off x="548640" y="1463040"/>
            <a:ext cx="5120640" cy="2880360"/>
          </a:xfrm>
          <a:prstGeom prst="rect">
            <a:avLst/>
          </a:prstGeom>
        </p:spPr>
      </p:pic>
      <p:sp>
        <p:nvSpPr>
          <p:cNvPr id="6" name="Shape 2"/>
          <p:cNvSpPr/>
          <p:nvPr/>
        </p:nvSpPr>
        <p:spPr>
          <a:xfrm>
            <a:off x="548640" y="1463040"/>
            <a:ext cx="5120640" cy="2880360"/>
          </a:xfrm>
          <a:prstGeom prst="rect">
            <a:avLst/>
          </a:prstGeom>
          <a:ln w="12700">
            <a:solidFill>
              <a:srgbClr val="D8DEEC"/>
            </a:solidFill>
            <a:prstDash val="solid"/>
          </a:ln>
        </p:spPr>
      </p:sp>
      <p:sp>
        <p:nvSpPr>
          <p:cNvPr id="7" name="Text 3"/>
          <p:cNvSpPr txBox="1"/>
          <p:nvPr/>
        </p:nvSpPr>
        <p:spPr>
          <a:xfrm>
            <a:off x="548640" y="4379976"/>
            <a:ext cx="512064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LTV:CAC για κάθε συνδυασμό παραδοχών (πλήρες πλέγμα στο Παράρτημα)</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035040" y="1463040"/>
          <a:ext cx="5212080" cy="914400"/>
        </p:xfrm>
        <a:graphic>
          <a:graphicData uri="http://schemas.openxmlformats.org/drawingml/2006/table">
            <a:tbl>
              <a:tblPr/>
              <a:tblGrid>
                <a:gridCol w="1303020"/>
                <a:gridCol w="1303020"/>
                <a:gridCol w="1303020"/>
                <a:gridCol w="1303020"/>
              </a:tblGrid>
              <a:tr h="292608">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Περιθώριο</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LTV:CAC</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2C5530"/>
                    </a:solidFill>
                  </a:tcPr>
                </a:tc>
              </a:tr>
              <a:tr h="292608">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4,34</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292608">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900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r h="292608">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r h="292608">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0,45</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2,61</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EEF3EC"/>
                    </a:solidFill>
                  </a:tcPr>
                </a:tc>
              </a:tr>
              <a:tr h="292608">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41F1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8DEEC"/>
                      </a:solidFill>
                      <a:prstDash val="solid"/>
                      <a:round/>
                      <a:headEnd type="none" w="med" len="med"/>
                      <a:tailEnd type="none" w="med" len="med"/>
                    </a:lnL>
                    <a:lnR w="6350" cap="flat" cmpd="sng" algn="ctr">
                      <a:solidFill>
                        <a:srgbClr val="D8DEEC"/>
                      </a:solidFill>
                      <a:prstDash val="solid"/>
                      <a:round/>
                      <a:headEnd type="none" w="med" len="med"/>
                      <a:tailEnd type="none" w="med" len="med"/>
                    </a:lnR>
                    <a:lnT w="6350" cap="flat" cmpd="sng" algn="ctr">
                      <a:solidFill>
                        <a:srgbClr val="D8DEEC"/>
                      </a:solidFill>
                      <a:prstDash val="solid"/>
                      <a:round/>
                      <a:headEnd type="none" w="med" len="med"/>
                      <a:tailEnd type="none" w="med" len="med"/>
                    </a:lnT>
                    <a:lnB w="6350" cap="flat" cmpd="sng" algn="ctr">
                      <a:solidFill>
                        <a:srgbClr val="D8DEEC"/>
                      </a:solidFill>
                      <a:prstDash val="solid"/>
                      <a:round/>
                      <a:headEnd type="none" w="med" len="med"/>
                      <a:tailEnd type="none" w="med" len="med"/>
                    </a:lnB>
                    <a:solidFill>
                      <a:srgbClr val="FFFFFF"/>
                    </a:solidFill>
                  </a:tcPr>
                </a:tc>
              </a:tr>
            </a:tbl>
          </a:graphicData>
        </a:graphic>
      </p:graphicFrame>
      <p:sp>
        <p:nvSpPr>
          <p:cNvPr id="9" name="Shape 4"/>
          <p:cNvSpPr/>
          <p:nvPr/>
        </p:nvSpPr>
        <p:spPr>
          <a:xfrm>
            <a:off x="6035040" y="3246120"/>
            <a:ext cx="5212080" cy="1234440"/>
          </a:xfrm>
          <a:prstGeom prst="roundRect">
            <a:avLst>
              <a:gd name="adj" fmla="val 5926"/>
            </a:avLst>
          </a:prstGeom>
          <a:solidFill>
            <a:srgbClr val="FBF1E3"/>
          </a:solidFill>
          <a:ln/>
        </p:spPr>
      </p:sp>
      <p:sp>
        <p:nvSpPr>
          <p:cNvPr id="10" name="Text 5"/>
          <p:cNvSpPr txBox="1"/>
          <p:nvPr/>
        </p:nvSpPr>
        <p:spPr>
          <a:xfrm>
            <a:off x="6217920" y="3337560"/>
            <a:ext cx="4846320" cy="1051560"/>
          </a:xfrm>
          <a:prstGeom prst="rect">
            <a:avLst/>
          </a:prstGeom>
          <a:noFill/>
          <a:ln/>
        </p:spPr>
        <p:txBody>
          <a:bodyPr wrap="square" lIns="0" tIns="0" rIns="0" bIns="0" rtlCol="0" anchor="t"/>
          <a:lstStyle/>
          <a:p>
            <a:pPr indent="0" marL="0">
              <a:buNone/>
            </a:pPr>
            <a:r>
              <a:rPr lang="en-US" sz="1150" b="1" dirty="0">
                <a:solidFill>
                  <a:srgbClr val="8A5A1E"/>
                </a:solidFill>
                <a:latin typeface="Calibri" pitchFamily="34" charset="0"/>
                <a:ea typeface="Calibri" pitchFamily="34" charset="-122"/>
                <a:cs typeface="Calibri" pitchFamily="34" charset="-120"/>
              </a:rPr>
              <a:t>Στα 16 κελιά του πλέγματος, τα 8 περνάνε το όριο 3:1 και τα άλλα 8 όχι. Τα ίδια ακριβώς δεδομένα οδηγούν σε αντίθετα συμπεράσματα, ανάλογα μόνο με το ποιο περιθώριο κέρδους υποθέσουμε.</a:t>
            </a:r>
            <a:endParaRPr lang="en-US" sz="1150" dirty="0"/>
          </a:p>
        </p:txBody>
      </p:sp>
      <p:sp>
        <p:nvSpPr>
          <p:cNvPr id="11" name="Text 6"/>
          <p:cNvSpPr txBox="1"/>
          <p:nvPr/>
        </p:nvSpPr>
        <p:spPr>
          <a:xfrm>
            <a:off x="548640" y="4709160"/>
            <a:ext cx="11094415" cy="548640"/>
          </a:xfrm>
          <a:prstGeom prst="rect">
            <a:avLst/>
          </a:prstGeom>
          <a:noFill/>
          <a:ln/>
        </p:spPr>
        <p:txBody>
          <a:bodyPr wrap="square" lIns="0" tIns="0" rIns="0" bIns="0" rtlCol="0" anchor="ctr"/>
          <a:lstStyle/>
          <a:p>
            <a:pPr indent="0" marL="0">
              <a:buNone/>
            </a:pPr>
            <a:r>
              <a:rPr lang="en-US" sz="1200" i="1" dirty="0">
                <a:solidFill>
                  <a:srgbClr val="2C5530"/>
                </a:solidFill>
                <a:latin typeface="Calibri" pitchFamily="34" charset="0"/>
                <a:ea typeface="Calibri" pitchFamily="34" charset="-122"/>
                <a:cs typeface="Calibri" pitchFamily="34" charset="-120"/>
              </a:rPr>
              <a:t>Το dataset δεν έχει κόστος πωληθέντων ούτε δαπάνες marketing, οπότε κάθε απάντηση βγαίνει με τη σήμανση “Scenario output, not a measurement”.</a:t>
            </a:r>
            <a:endParaRPr lang="en-US" sz="1200" dirty="0"/>
          </a:p>
        </p:txBody>
      </p:sp>
      <p:sp>
        <p:nvSpPr>
          <p:cNvPr id="12" name="Text 7"/>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3" name="Text 8"/>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8899855" y="-1463040"/>
            <a:ext cx="4754880" cy="4754880"/>
          </a:xfrm>
          <a:prstGeom prst="ellipse">
            <a:avLst/>
          </a:prstGeom>
          <a:solidFill>
            <a:srgbClr val="1B3A1E"/>
          </a:solidFill>
          <a:ln/>
        </p:spPr>
      </p:sp>
      <p:sp>
        <p:nvSpPr>
          <p:cNvPr id="4" name="Shape 1"/>
          <p:cNvSpPr/>
          <p:nvPr/>
        </p:nvSpPr>
        <p:spPr>
          <a:xfrm>
            <a:off x="548640" y="2514600"/>
            <a:ext cx="914400" cy="914400"/>
          </a:xfrm>
          <a:prstGeom prst="ellipse">
            <a:avLst/>
          </a:prstGeom>
          <a:solidFill>
            <a:srgbClr val="3D6B42"/>
          </a:solidFill>
          <a:ln w="19050">
            <a:solidFill>
              <a:srgbClr val="E8A33D"/>
            </a:solidFill>
            <a:prstDash val="solid"/>
          </a:ln>
        </p:spPr>
      </p:sp>
      <p:sp>
        <p:nvSpPr>
          <p:cNvPr id="5" name="Text 2"/>
          <p:cNvSpPr txBox="1"/>
          <p:nvPr/>
        </p:nvSpPr>
        <p:spPr>
          <a:xfrm>
            <a:off x="548640" y="2514600"/>
            <a:ext cx="9144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Cambria" pitchFamily="34" charset="0"/>
                <a:ea typeface="Cambria" pitchFamily="34" charset="-122"/>
                <a:cs typeface="Cambria" pitchFamily="34" charset="-120"/>
              </a:rPr>
              <a:t>04</a:t>
            </a:r>
            <a:endParaRPr lang="en-US" sz="2600" dirty="0"/>
          </a:p>
        </p:txBody>
      </p:sp>
      <p:sp>
        <p:nvSpPr>
          <p:cNvPr id="6" name="Text 3"/>
          <p:cNvSpPr txBox="1"/>
          <p:nvPr/>
        </p:nvSpPr>
        <p:spPr>
          <a:xfrm>
            <a:off x="1737360" y="2697480"/>
            <a:ext cx="8229600" cy="320040"/>
          </a:xfrm>
          <a:prstGeom prst="rect">
            <a:avLst/>
          </a:prstGeom>
          <a:noFill/>
          <a:ln/>
        </p:spPr>
        <p:txBody>
          <a:bodyPr wrap="square" lIns="0" tIns="0" rIns="0" bIns="0" rtlCol="0" anchor="ctr"/>
          <a:lstStyle/>
          <a:p>
            <a:pPr indent="0" marL="0">
              <a:buNone/>
            </a:pPr>
            <a:r>
              <a:rPr lang="en-US" sz="1300" b="1" spc="200" kern="0" dirty="0">
                <a:solidFill>
                  <a:srgbClr val="E8A33D"/>
                </a:solidFill>
                <a:latin typeface="Calibri" pitchFamily="34" charset="0"/>
                <a:ea typeface="Calibri" pitchFamily="34" charset="-122"/>
                <a:cs typeface="Calibri" pitchFamily="34" charset="-120"/>
              </a:rPr>
              <a:t>ΕΝΟΤΗΤΑ ΤΕΤΑΡΤΗ</a:t>
            </a:r>
            <a:endParaRPr lang="en-US" sz="1300" dirty="0"/>
          </a:p>
        </p:txBody>
      </p:sp>
      <p:sp>
        <p:nvSpPr>
          <p:cNvPr id="7" name="Text 4"/>
          <p:cNvSpPr txBox="1"/>
          <p:nvPr/>
        </p:nvSpPr>
        <p:spPr>
          <a:xfrm>
            <a:off x="1737360" y="2999232"/>
            <a:ext cx="987552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Το Σύστημα στην Πράξη</a:t>
            </a:r>
            <a:endParaRPr lang="en-US" sz="3400" dirty="0"/>
          </a:p>
        </p:txBody>
      </p:sp>
      <p:sp>
        <p:nvSpPr>
          <p:cNvPr id="8" name="Text 5"/>
          <p:cNvSpPr txBox="1"/>
          <p:nvPr/>
        </p:nvSpPr>
        <p:spPr>
          <a:xfrm>
            <a:off x="1737360" y="3977640"/>
            <a:ext cx="9144000" cy="548640"/>
          </a:xfrm>
          <a:prstGeom prst="rect">
            <a:avLst/>
          </a:prstGeom>
          <a:noFill/>
          <a:ln/>
        </p:spPr>
        <p:txBody>
          <a:bodyPr wrap="square" lIns="0" tIns="0" rIns="0" bIns="0" rtlCol="0" anchor="ctr"/>
          <a:lstStyle/>
          <a:p>
            <a:pPr indent="0" marL="0">
              <a:buNone/>
            </a:pPr>
            <a:r>
              <a:rPr lang="en-US" sz="1400" dirty="0">
                <a:solidFill>
                  <a:srgbClr val="D7E5D2"/>
                </a:solidFill>
                <a:latin typeface="Calibri" pitchFamily="34" charset="0"/>
                <a:ea typeface="Calibri" pitchFamily="34" charset="-122"/>
                <a:cs typeface="Calibri" pitchFamily="34" charset="-120"/>
              </a:rPr>
              <a:t>Πραγματικές αποκρίσεις πάνω στο πλήρες σύνολο δεδομένων, από το API και το Metabase</a:t>
            </a:r>
            <a:endParaRPr lang="en-US" sz="1400" dirty="0"/>
          </a:p>
        </p:txBody>
      </p:sp>
      <p:sp>
        <p:nvSpPr>
          <p:cNvPr id="9"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 · Διπλωματική εργασία</a:t>
            </a:r>
            <a:endParaRPr lang="en-US" sz="900" dirty="0"/>
          </a:p>
        </p:txBody>
      </p:sp>
      <p:sp>
        <p:nvSpPr>
          <p:cNvPr id="10"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REST API</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Πραγματικές αποκρίσεις JSON (I)</a:t>
            </a:r>
            <a:endParaRPr lang="en-US" sz="3000" dirty="0"/>
          </a:p>
        </p:txBody>
      </p:sp>
      <p:sp>
        <p:nvSpPr>
          <p:cNvPr id="5" name="Text 2"/>
          <p:cNvSpPr txBox="1"/>
          <p:nvPr/>
        </p:nvSpPr>
        <p:spPr>
          <a:xfrm>
            <a:off x="548640" y="1371600"/>
            <a:ext cx="11094415" cy="320040"/>
          </a:xfrm>
          <a:prstGeom prst="rect">
            <a:avLst/>
          </a:prstGeom>
          <a:noFill/>
          <a:ln/>
        </p:spPr>
        <p:txBody>
          <a:bodyPr wrap="square" lIns="0" tIns="0" rIns="0" bIns="0" rtlCol="0" anchor="ctr"/>
          <a:lstStyle/>
          <a:p>
            <a:pPr indent="0" marL="0">
              <a:buNone/>
            </a:pPr>
            <a:r>
              <a:rPr lang="en-US" sz="1250" i="1" dirty="0">
                <a:solidFill>
                  <a:srgbClr val="6B6259"/>
                </a:solidFill>
                <a:latin typeface="Calibri" pitchFamily="34" charset="0"/>
                <a:ea typeface="Calibri" pitchFamily="34" charset="-122"/>
                <a:cs typeface="Calibri" pitchFamily="34" charset="-120"/>
              </a:rPr>
              <a:t>Κάθε ανάλυση εκτίθεται ως JSON, με τους ίδιους αριθμούς που βλέπουμε στο Metabase και στη διατριβή.</a:t>
            </a:r>
            <a:endParaRPr lang="en-US" sz="1250" dirty="0"/>
          </a:p>
        </p:txBody>
      </p:sp>
      <p:sp>
        <p:nvSpPr>
          <p:cNvPr id="6" name="Shape 3"/>
          <p:cNvSpPr/>
          <p:nvPr/>
        </p:nvSpPr>
        <p:spPr>
          <a:xfrm>
            <a:off x="548640" y="1783080"/>
            <a:ext cx="5257800" cy="4114800"/>
          </a:xfrm>
          <a:prstGeom prst="roundRect">
            <a:avLst>
              <a:gd name="adj" fmla="val 1333"/>
            </a:avLst>
          </a:prstGeom>
          <a:solidFill>
            <a:srgbClr val="1B3A1E"/>
          </a:solidFill>
          <a:ln/>
        </p:spPr>
      </p:sp>
      <p:sp>
        <p:nvSpPr>
          <p:cNvPr id="7" name="Text 4"/>
          <p:cNvSpPr txBox="1"/>
          <p:nvPr/>
        </p:nvSpPr>
        <p:spPr>
          <a:xfrm>
            <a:off x="713232" y="1874520"/>
            <a:ext cx="4928616" cy="274320"/>
          </a:xfrm>
          <a:prstGeom prst="rect">
            <a:avLst/>
          </a:prstGeom>
          <a:noFill/>
          <a:ln/>
        </p:spPr>
        <p:txBody>
          <a:bodyPr wrap="square" lIns="0" tIns="0" rIns="0" bIns="0" rtlCol="0" anchor="ctr"/>
          <a:lstStyle/>
          <a:p>
            <a:pPr indent="0" marL="0">
              <a:buNone/>
            </a:pPr>
            <a:r>
              <a:rPr lang="en-US" sz="1050" b="1" dirty="0">
                <a:solidFill>
                  <a:srgbClr val="E8A33D"/>
                </a:solidFill>
                <a:latin typeface="Courier New" pitchFamily="34" charset="0"/>
                <a:ea typeface="Courier New" pitchFamily="34" charset="-122"/>
                <a:cs typeface="Courier New" pitchFamily="34" charset="-120"/>
              </a:rPr>
              <a:t>GET /api/v1/forecasting/revenue?horizon=3</a:t>
            </a:r>
            <a:endParaRPr lang="en-US" sz="1050" dirty="0"/>
          </a:p>
        </p:txBody>
      </p:sp>
      <p:sp>
        <p:nvSpPr>
          <p:cNvPr id="8" name="Text 5"/>
          <p:cNvSpPr txBox="1"/>
          <p:nvPr/>
        </p:nvSpPr>
        <p:spPr>
          <a:xfrm>
            <a:off x="713232" y="2194560"/>
            <a:ext cx="4928616" cy="3566160"/>
          </a:xfrm>
          <a:prstGeom prst="rect">
            <a:avLst/>
          </a:prstGeom>
          <a:noFill/>
          <a:ln/>
        </p:spPr>
        <p:txBody>
          <a:bodyPr wrap="square" lIns="0" tIns="0" rIns="0" bIns="0" rtlCol="0" anchor="t"/>
          <a:lstStyle/>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"method": "exponential_smoothing",</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"horizon": 3,</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"history_length": 25,</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"forecast": [587222.83, 502905.56,</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671261.41],</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"metrics":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"mean_absolute_error": 419623.67,</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"mean_absolute_percentage_error": 51.12</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"baseline_metrics":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"mean_absolute_error": 346864.32</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"skill_score": -0.21</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p:txBody>
      </p:sp>
      <p:sp>
        <p:nvSpPr>
          <p:cNvPr id="9" name="Shape 6"/>
          <p:cNvSpPr/>
          <p:nvPr/>
        </p:nvSpPr>
        <p:spPr>
          <a:xfrm>
            <a:off x="6080760" y="1783080"/>
            <a:ext cx="5212080" cy="4114800"/>
          </a:xfrm>
          <a:prstGeom prst="roundRect">
            <a:avLst>
              <a:gd name="adj" fmla="val 1333"/>
            </a:avLst>
          </a:prstGeom>
          <a:solidFill>
            <a:srgbClr val="1B3A1E"/>
          </a:solidFill>
          <a:ln/>
        </p:spPr>
      </p:sp>
      <p:sp>
        <p:nvSpPr>
          <p:cNvPr id="10" name="Text 7"/>
          <p:cNvSpPr txBox="1"/>
          <p:nvPr/>
        </p:nvSpPr>
        <p:spPr>
          <a:xfrm>
            <a:off x="6245352" y="1874520"/>
            <a:ext cx="4882896" cy="274320"/>
          </a:xfrm>
          <a:prstGeom prst="rect">
            <a:avLst/>
          </a:prstGeom>
          <a:noFill/>
          <a:ln/>
        </p:spPr>
        <p:txBody>
          <a:bodyPr wrap="square" lIns="0" tIns="0" rIns="0" bIns="0" rtlCol="0" anchor="ctr"/>
          <a:lstStyle/>
          <a:p>
            <a:pPr indent="0" marL="0">
              <a:buNone/>
            </a:pPr>
            <a:r>
              <a:rPr lang="en-US" sz="1050" b="1" dirty="0">
                <a:solidFill>
                  <a:srgbClr val="E8A33D"/>
                </a:solidFill>
                <a:latin typeface="Courier New" pitchFamily="34" charset="0"/>
                <a:ea typeface="Courier New" pitchFamily="34" charset="-122"/>
                <a:cs typeface="Courier New" pitchFamily="34" charset="-120"/>
              </a:rPr>
              <a:t>GET /api/v1/growth-accounting/monthly</a:t>
            </a:r>
            <a:endParaRPr lang="en-US" sz="1050" dirty="0"/>
          </a:p>
        </p:txBody>
      </p:sp>
      <p:sp>
        <p:nvSpPr>
          <p:cNvPr id="11" name="Text 8"/>
          <p:cNvSpPr txBox="1"/>
          <p:nvPr/>
        </p:nvSpPr>
        <p:spPr>
          <a:xfrm>
            <a:off x="6245352" y="2194560"/>
            <a:ext cx="4882896" cy="3566160"/>
          </a:xfrm>
          <a:prstGeom prst="rect">
            <a:avLst/>
          </a:prstGeom>
          <a:noFill/>
          <a:ln/>
        </p:spPr>
        <p:txBody>
          <a:bodyPr wrap="square" lIns="0" tIns="0" rIns="0" bIns="0" rtlCol="0" anchor="t"/>
          <a:lstStyle/>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"period": "2010-01-01T00:00:00",</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"revenue": 524504.67,</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"new": 156527.47,</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"retained": 265475.35,</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"expansion": 102501.85,</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"contraction": 130293.16,</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"churned": 270131.82,</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"gross_retention_rate": 0.399,</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"quick_ratio": 0.647</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p:txBody>
      </p:sp>
      <p:sp>
        <p:nvSpPr>
          <p:cNvPr id="12" name="Text 9"/>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3" name="Text 10"/>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REST API</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Πραγματικές αποκρίσεις JSON (II)</a:t>
            </a:r>
            <a:endParaRPr lang="en-US" sz="3000" dirty="0"/>
          </a:p>
        </p:txBody>
      </p:sp>
      <p:sp>
        <p:nvSpPr>
          <p:cNvPr id="5" name="Shape 2"/>
          <p:cNvSpPr/>
          <p:nvPr/>
        </p:nvSpPr>
        <p:spPr>
          <a:xfrm>
            <a:off x="548640" y="1554480"/>
            <a:ext cx="5257800" cy="2743200"/>
          </a:xfrm>
          <a:prstGeom prst="roundRect">
            <a:avLst>
              <a:gd name="adj" fmla="val 2000"/>
            </a:avLst>
          </a:prstGeom>
          <a:solidFill>
            <a:srgbClr val="1B3A1E"/>
          </a:solidFill>
          <a:ln/>
        </p:spPr>
      </p:sp>
      <p:sp>
        <p:nvSpPr>
          <p:cNvPr id="6" name="Text 3"/>
          <p:cNvSpPr txBox="1"/>
          <p:nvPr/>
        </p:nvSpPr>
        <p:spPr>
          <a:xfrm>
            <a:off x="713232" y="1645920"/>
            <a:ext cx="4928616" cy="274320"/>
          </a:xfrm>
          <a:prstGeom prst="rect">
            <a:avLst/>
          </a:prstGeom>
          <a:noFill/>
          <a:ln/>
        </p:spPr>
        <p:txBody>
          <a:bodyPr wrap="square" lIns="0" tIns="0" rIns="0" bIns="0" rtlCol="0" anchor="ctr"/>
          <a:lstStyle/>
          <a:p>
            <a:pPr indent="0" marL="0">
              <a:buNone/>
            </a:pPr>
            <a:r>
              <a:rPr lang="en-US" sz="1050" b="1" dirty="0">
                <a:solidFill>
                  <a:srgbClr val="E8A33D"/>
                </a:solidFill>
                <a:latin typeface="Courier New" pitchFamily="34" charset="0"/>
                <a:ea typeface="Courier New" pitchFamily="34" charset="-122"/>
                <a:cs typeface="Courier New" pitchFamily="34" charset="-120"/>
              </a:rPr>
              <a:t>GET /api/v1/segmentation/regions</a:t>
            </a:r>
            <a:endParaRPr lang="en-US" sz="1050" dirty="0"/>
          </a:p>
        </p:txBody>
      </p:sp>
      <p:sp>
        <p:nvSpPr>
          <p:cNvPr id="7" name="Text 4"/>
          <p:cNvSpPr txBox="1"/>
          <p:nvPr/>
        </p:nvSpPr>
        <p:spPr>
          <a:xfrm>
            <a:off x="713232" y="1965960"/>
            <a:ext cx="4928616" cy="2194560"/>
          </a:xfrm>
          <a:prstGeom prst="rect">
            <a:avLst/>
          </a:prstGeom>
          <a:noFill/>
          <a:ln/>
        </p:spPr>
        <p:txBody>
          <a:bodyPr wrap="square" lIns="0" tIns="0" rIns="0" bIns="0" rtlCol="0" anchor="t"/>
          <a:lstStyle/>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"chosen_k": 2, "silhouette": 0.8793,</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"scores": {"2": 0.8793, "3": 0.7206,</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"4": 0.6691, "5": 0.6347,</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"6": 0.6264},</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"clusters": [{"label": "1", "level": 1,</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"size": 42,</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"members": ["Australia",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p:txBody>
      </p:sp>
      <p:sp>
        <p:nvSpPr>
          <p:cNvPr id="8" name="Shape 5"/>
          <p:cNvSpPr/>
          <p:nvPr/>
        </p:nvSpPr>
        <p:spPr>
          <a:xfrm>
            <a:off x="548640" y="4434840"/>
            <a:ext cx="5257800" cy="1600200"/>
          </a:xfrm>
          <a:prstGeom prst="roundRect">
            <a:avLst>
              <a:gd name="adj" fmla="val 3429"/>
            </a:avLst>
          </a:prstGeom>
          <a:solidFill>
            <a:srgbClr val="1B3A1E"/>
          </a:solidFill>
          <a:ln/>
        </p:spPr>
      </p:sp>
      <p:sp>
        <p:nvSpPr>
          <p:cNvPr id="9" name="Text 6"/>
          <p:cNvSpPr txBox="1"/>
          <p:nvPr/>
        </p:nvSpPr>
        <p:spPr>
          <a:xfrm>
            <a:off x="713232" y="4526280"/>
            <a:ext cx="4928616" cy="274320"/>
          </a:xfrm>
          <a:prstGeom prst="rect">
            <a:avLst/>
          </a:prstGeom>
          <a:noFill/>
          <a:ln/>
        </p:spPr>
        <p:txBody>
          <a:bodyPr wrap="square" lIns="0" tIns="0" rIns="0" bIns="0" rtlCol="0" anchor="ctr"/>
          <a:lstStyle/>
          <a:p>
            <a:pPr indent="0" marL="0">
              <a:buNone/>
            </a:pPr>
            <a:r>
              <a:rPr lang="en-US" sz="1050" b="1" dirty="0">
                <a:solidFill>
                  <a:srgbClr val="E8A33D"/>
                </a:solidFill>
                <a:latin typeface="Courier New" pitchFamily="34" charset="0"/>
                <a:ea typeface="Courier New" pitchFamily="34" charset="-122"/>
                <a:cs typeface="Courier New" pitchFamily="34" charset="-120"/>
              </a:rPr>
              <a:t> </a:t>
            </a:r>
            <a:endParaRPr lang="en-US" sz="1050" dirty="0"/>
          </a:p>
        </p:txBody>
      </p:sp>
      <p:sp>
        <p:nvSpPr>
          <p:cNvPr id="10" name="Text 7"/>
          <p:cNvSpPr txBox="1"/>
          <p:nvPr/>
        </p:nvSpPr>
        <p:spPr>
          <a:xfrm>
            <a:off x="713232" y="4846320"/>
            <a:ext cx="4928616" cy="1051560"/>
          </a:xfrm>
          <a:prstGeom prst="rect">
            <a:avLst/>
          </a:prstGeom>
          <a:noFill/>
          <a:ln/>
        </p:spPr>
        <p:txBody>
          <a:bodyPr wrap="square" lIns="0" tIns="0" rIns="0" bIns="0" rtlCol="0" anchor="t"/>
          <a:lstStyle/>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Το silhouette score για κάθε</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υποψήφιο k επιστρέφεται πάντα, ώστε</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το chosen_k να ελέγχεται και όχι</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να απλώς πιστεύεται.</a:t>
            </a:r>
            <a:endParaRPr lang="en-US" sz="1050" dirty="0"/>
          </a:p>
        </p:txBody>
      </p:sp>
      <p:sp>
        <p:nvSpPr>
          <p:cNvPr id="11" name="Shape 8"/>
          <p:cNvSpPr/>
          <p:nvPr/>
        </p:nvSpPr>
        <p:spPr>
          <a:xfrm>
            <a:off x="6080760" y="1554480"/>
            <a:ext cx="5212080" cy="3291840"/>
          </a:xfrm>
          <a:prstGeom prst="roundRect">
            <a:avLst>
              <a:gd name="adj" fmla="val 1667"/>
            </a:avLst>
          </a:prstGeom>
          <a:solidFill>
            <a:srgbClr val="1B3A1E"/>
          </a:solidFill>
          <a:ln/>
        </p:spPr>
      </p:sp>
      <p:sp>
        <p:nvSpPr>
          <p:cNvPr id="12" name="Text 9"/>
          <p:cNvSpPr txBox="1"/>
          <p:nvPr/>
        </p:nvSpPr>
        <p:spPr>
          <a:xfrm>
            <a:off x="6245352" y="1645920"/>
            <a:ext cx="4882896" cy="274320"/>
          </a:xfrm>
          <a:prstGeom prst="rect">
            <a:avLst/>
          </a:prstGeom>
          <a:noFill/>
          <a:ln/>
        </p:spPr>
        <p:txBody>
          <a:bodyPr wrap="square" lIns="0" tIns="0" rIns="0" bIns="0" rtlCol="0" anchor="ctr"/>
          <a:lstStyle/>
          <a:p>
            <a:pPr indent="0" marL="0">
              <a:buNone/>
            </a:pPr>
            <a:r>
              <a:rPr lang="en-US" sz="1050" b="1" dirty="0">
                <a:solidFill>
                  <a:srgbClr val="E8A33D"/>
                </a:solidFill>
                <a:latin typeface="Courier New" pitchFamily="34" charset="0"/>
                <a:ea typeface="Courier New" pitchFamily="34" charset="-122"/>
                <a:cs typeface="Courier New" pitchFamily="34" charset="-120"/>
              </a:rPr>
              <a:t>GET /api/v1/profitability/unit-economics</a:t>
            </a:r>
            <a:endParaRPr lang="en-US" sz="1050" dirty="0"/>
          </a:p>
        </p:txBody>
      </p:sp>
      <p:sp>
        <p:nvSpPr>
          <p:cNvPr id="13" name="Text 10"/>
          <p:cNvSpPr txBox="1"/>
          <p:nvPr/>
        </p:nvSpPr>
        <p:spPr>
          <a:xfrm>
            <a:off x="6245352" y="1965960"/>
            <a:ext cx="4882896" cy="2743200"/>
          </a:xfrm>
          <a:prstGeom prst="rect">
            <a:avLst/>
          </a:prstGeom>
          <a:noFill/>
          <a:ln/>
        </p:spPr>
        <p:txBody>
          <a:bodyPr wrap="square" lIns="0" tIns="0" rIns="0" bIns="0" rtlCol="0" anchor="t"/>
          <a:lstStyle/>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"average_customer_revenue": 2895.0,</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"lifetime_value": 1447.5,</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"assumptions":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"gross_margin": 0.5,</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"customer_acquisition_cost": 0.0</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"disclaimer": "Scenario output,</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not a measurement. The source data</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contains no cost of goods and no</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marketing spend, so these figures</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follow from the stated assumptions</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and hold only insofar as those</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    assumptions do."</a:t>
            </a:r>
            <a:endParaRPr lang="en-US" sz="1050" dirty="0"/>
          </a:p>
          <a:p>
            <a:pPr indent="0" marL="0">
              <a:lnSpc>
                <a:spcPct val="105000"/>
              </a:lnSpc>
              <a:spcAft>
                <a:spcPts val="100"/>
              </a:spcAft>
              <a:buNone/>
            </a:pPr>
            <a:r>
              <a:rPr lang="en-US" sz="1050" dirty="0">
                <a:solidFill>
                  <a:srgbClr val="D7E0F5"/>
                </a:solidFill>
                <a:latin typeface="Courier New" pitchFamily="34" charset="0"/>
                <a:ea typeface="Courier New" pitchFamily="34" charset="-122"/>
                <a:cs typeface="Courier New" pitchFamily="34" charset="-120"/>
              </a:rPr>
              <a:t>}</a:t>
            </a:r>
            <a:endParaRPr lang="en-US" sz="1050" dirty="0"/>
          </a:p>
        </p:txBody>
      </p:sp>
      <p:sp>
        <p:nvSpPr>
          <p:cNvPr id="14" name="Shape 11"/>
          <p:cNvSpPr/>
          <p:nvPr/>
        </p:nvSpPr>
        <p:spPr>
          <a:xfrm>
            <a:off x="6080760" y="4983480"/>
            <a:ext cx="5212080" cy="1051560"/>
          </a:xfrm>
          <a:prstGeom prst="roundRect">
            <a:avLst>
              <a:gd name="adj" fmla="val 6957"/>
            </a:avLst>
          </a:prstGeom>
          <a:solidFill>
            <a:srgbClr val="FBF1E3"/>
          </a:solidFill>
          <a:ln/>
        </p:spPr>
      </p:sp>
      <p:sp>
        <p:nvSpPr>
          <p:cNvPr id="15" name="Text 12"/>
          <p:cNvSpPr txBox="1"/>
          <p:nvPr/>
        </p:nvSpPr>
        <p:spPr>
          <a:xfrm>
            <a:off x="6263640" y="5074920"/>
            <a:ext cx="4846320" cy="868680"/>
          </a:xfrm>
          <a:prstGeom prst="rect">
            <a:avLst/>
          </a:prstGeom>
          <a:noFill/>
          <a:ln/>
        </p:spPr>
        <p:txBody>
          <a:bodyPr wrap="square" lIns="0" tIns="0" rIns="0" bIns="0" rtlCol="0" anchor="t"/>
          <a:lstStyle/>
          <a:p>
            <a:pPr indent="0" marL="0">
              <a:buNone/>
            </a:pPr>
            <a:r>
              <a:rPr lang="en-US" sz="1100" b="1" i="1" dirty="0">
                <a:solidFill>
                  <a:srgbClr val="8A5A1E"/>
                </a:solidFill>
                <a:latin typeface="Calibri" pitchFamily="34" charset="0"/>
                <a:ea typeface="Calibri" pitchFamily="34" charset="-122"/>
                <a:cs typeface="Calibri" pitchFamily="34" charset="-120"/>
              </a:rPr>
              <a:t>Η δήλωση “σενάριο, όχι μέτρηση” βρίσκεται μέσα στο ίδιο το αντικείμενο JSON, ώστε να μην μπορεί ποτέ να αφαιρεθεί κατά λάθος.</a:t>
            </a:r>
            <a:endParaRPr lang="en-US" sz="1100" dirty="0"/>
          </a:p>
        </p:txBody>
      </p:sp>
      <p:sp>
        <p:nvSpPr>
          <p:cNvPr id="16" name="Text 13"/>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7" name="Text 14"/>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METABASE</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Πίνακες ελέγχου: το dashboard πωλήσεων</a:t>
            </a:r>
            <a:endParaRPr lang="en-US" sz="3000" dirty="0"/>
          </a:p>
        </p:txBody>
      </p:sp>
      <p:sp>
        <p:nvSpPr>
          <p:cNvPr id="5" name="Shape 2"/>
          <p:cNvSpPr/>
          <p:nvPr/>
        </p:nvSpPr>
        <p:spPr>
          <a:xfrm>
            <a:off x="1737360" y="1417320"/>
            <a:ext cx="8686800" cy="4892040"/>
          </a:xfrm>
          <a:prstGeom prst="rect">
            <a:avLst/>
          </a:prstGeom>
          <a:ln/>
          <a:effectLst>
            <a:outerShdw sx="100000" sy="100000" kx="0" ky="0" algn="bl" rotWithShape="0" blurRad="177800" dist="50800" dir="5400000">
              <a:srgbClr val="2C5530">
                <a:alpha val="25000"/>
              </a:srgbClr>
            </a:outerShdw>
          </a:effectLst>
        </p:spPr>
      </p:sp>
      <p:pic>
        <p:nvPicPr>
          <p:cNvPr id="6" name="Image 0" descr="/home/user/ensights/documents/screenshots/metabase-dashboard.jpg">    </p:cNvPr>
          <p:cNvPicPr>
            <a:picLocks noChangeAspect="1"/>
          </p:cNvPicPr>
          <p:nvPr/>
        </p:nvPicPr>
        <p:blipFill>
          <a:blip r:embed="rId1"/>
          <a:srcRect l="0" r="0" t="0" b="0"/>
          <a:stretch/>
        </p:blipFill>
        <p:spPr>
          <a:xfrm>
            <a:off x="1737360" y="1417320"/>
            <a:ext cx="8686800" cy="4892040"/>
          </a:xfrm>
          <a:prstGeom prst="rect">
            <a:avLst/>
          </a:prstGeom>
        </p:spPr>
      </p:pic>
      <p:sp>
        <p:nvSpPr>
          <p:cNvPr id="7" name="Shape 3"/>
          <p:cNvSpPr/>
          <p:nvPr/>
        </p:nvSpPr>
        <p:spPr>
          <a:xfrm>
            <a:off x="1737360" y="1417320"/>
            <a:ext cx="8686800" cy="4892040"/>
          </a:xfrm>
          <a:prstGeom prst="rect">
            <a:avLst/>
          </a:prstGeom>
          <a:ln w="12700">
            <a:solidFill>
              <a:srgbClr val="D8DEEC"/>
            </a:solidFill>
            <a:prstDash val="solid"/>
          </a:ln>
        </p:spPr>
      </p:sp>
      <p:sp>
        <p:nvSpPr>
          <p:cNvPr id="8" name="Text 4"/>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12 κάρτες SQL σε 3 dashboards, ίδιοι αριθμοί με το API</a:t>
            </a:r>
            <a:endParaRPr lang="en-US" sz="900" dirty="0"/>
          </a:p>
        </p:txBody>
      </p:sp>
      <p:sp>
        <p:nvSpPr>
          <p:cNvPr id="9" name="Text 5"/>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METABASE &amp; API</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Association Rules &amp; Swagger UI</a:t>
            </a:r>
            <a:endParaRPr lang="en-US" sz="3000" dirty="0"/>
          </a:p>
        </p:txBody>
      </p:sp>
      <p:pic>
        <p:nvPicPr>
          <p:cNvPr id="5" name="Image 0" descr="/home/user/ensights/documents/screenshots/metabase-association-rules.jpg">    </p:cNvPr>
          <p:cNvPicPr>
            <a:picLocks noChangeAspect="1"/>
          </p:cNvPicPr>
          <p:nvPr/>
        </p:nvPicPr>
        <p:blipFill>
          <a:blip r:embed="rId1"/>
          <a:srcRect l="0" r="0" t="0" b="0"/>
          <a:stretch/>
        </p:blipFill>
        <p:spPr>
          <a:xfrm>
            <a:off x="548640" y="1554480"/>
            <a:ext cx="5257800" cy="3566160"/>
          </a:xfrm>
          <a:prstGeom prst="rect">
            <a:avLst/>
          </a:prstGeom>
        </p:spPr>
      </p:pic>
      <p:sp>
        <p:nvSpPr>
          <p:cNvPr id="6" name="Shape 2"/>
          <p:cNvSpPr/>
          <p:nvPr/>
        </p:nvSpPr>
        <p:spPr>
          <a:xfrm>
            <a:off x="548640" y="1554480"/>
            <a:ext cx="5257800" cy="3566160"/>
          </a:xfrm>
          <a:prstGeom prst="rect">
            <a:avLst/>
          </a:prstGeom>
          <a:ln w="12700">
            <a:solidFill>
              <a:srgbClr val="D8DEEC"/>
            </a:solidFill>
            <a:prstDash val="solid"/>
          </a:ln>
        </p:spPr>
      </p:sp>
      <p:sp>
        <p:nvSpPr>
          <p:cNvPr id="7" name="Text 3"/>
          <p:cNvSpPr txBox="1"/>
          <p:nvPr/>
        </p:nvSpPr>
        <p:spPr>
          <a:xfrm>
            <a:off x="548640" y="5166360"/>
            <a:ext cx="5257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Metabase: η κάρτα Association Rules</a:t>
            </a:r>
            <a:endParaRPr lang="en-US" sz="1050" dirty="0"/>
          </a:p>
        </p:txBody>
      </p:sp>
      <p:pic>
        <p:nvPicPr>
          <p:cNvPr id="8" name="Image 1" descr="/home/user/ensights/documents/screenshots/swagger-try.jpg">    </p:cNvPr>
          <p:cNvPicPr>
            <a:picLocks noChangeAspect="1"/>
          </p:cNvPicPr>
          <p:nvPr/>
        </p:nvPicPr>
        <p:blipFill>
          <a:blip r:embed="rId2"/>
          <a:srcRect l="0" r="0" t="0" b="0"/>
          <a:stretch/>
        </p:blipFill>
        <p:spPr>
          <a:xfrm>
            <a:off x="6126480" y="1554480"/>
            <a:ext cx="5257800" cy="3566160"/>
          </a:xfrm>
          <a:prstGeom prst="rect">
            <a:avLst/>
          </a:prstGeom>
        </p:spPr>
      </p:pic>
      <p:sp>
        <p:nvSpPr>
          <p:cNvPr id="9" name="Shape 4"/>
          <p:cNvSpPr/>
          <p:nvPr/>
        </p:nvSpPr>
        <p:spPr>
          <a:xfrm>
            <a:off x="6126480" y="1554480"/>
            <a:ext cx="5257800" cy="3566160"/>
          </a:xfrm>
          <a:prstGeom prst="rect">
            <a:avLst/>
          </a:prstGeom>
          <a:ln w="12700">
            <a:solidFill>
              <a:srgbClr val="D8DEEC"/>
            </a:solidFill>
            <a:prstDash val="solid"/>
          </a:ln>
        </p:spPr>
      </p:sp>
      <p:sp>
        <p:nvSpPr>
          <p:cNvPr id="10" name="Text 5"/>
          <p:cNvSpPr txBox="1"/>
          <p:nvPr/>
        </p:nvSpPr>
        <p:spPr>
          <a:xfrm>
            <a:off x="6126480" y="5166360"/>
            <a:ext cx="5257800" cy="320040"/>
          </a:xfrm>
          <a:prstGeom prst="rect">
            <a:avLst/>
          </a:prstGeom>
          <a:noFill/>
          <a:ln/>
        </p:spPr>
        <p:txBody>
          <a:bodyPr wrap="square" lIns="0" tIns="0" rIns="0" bIns="0" rtlCol="0" anchor="ctr"/>
          <a:lstStyle/>
          <a:p>
            <a:pPr algn="ctr" indent="0" marL="0">
              <a:buNone/>
            </a:pPr>
            <a:r>
              <a:rPr lang="en-US" sz="1050" i="1" dirty="0">
                <a:solidFill>
                  <a:srgbClr val="6B6259"/>
                </a:solidFill>
                <a:latin typeface="Calibri" pitchFamily="34" charset="0"/>
                <a:ea typeface="Calibri" pitchFamily="34" charset="-122"/>
                <a:cs typeface="Calibri" pitchFamily="34" charset="-120"/>
              </a:rPr>
              <a:t>Το Swagger UI στο /try, με “Try it out” σε κάθε endpoint</a:t>
            </a:r>
            <a:endParaRPr lang="en-US" sz="1050" dirty="0"/>
          </a:p>
        </p:txBody>
      </p:sp>
      <p:sp>
        <p:nvSpPr>
          <p:cNvPr id="11"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8899855" y="-1463040"/>
            <a:ext cx="4754880" cy="4754880"/>
          </a:xfrm>
          <a:prstGeom prst="ellipse">
            <a:avLst/>
          </a:prstGeom>
          <a:solidFill>
            <a:srgbClr val="1B3A1E"/>
          </a:solidFill>
          <a:ln/>
        </p:spPr>
      </p:sp>
      <p:sp>
        <p:nvSpPr>
          <p:cNvPr id="4" name="Shape 1"/>
          <p:cNvSpPr/>
          <p:nvPr/>
        </p:nvSpPr>
        <p:spPr>
          <a:xfrm>
            <a:off x="548640" y="2514600"/>
            <a:ext cx="914400" cy="914400"/>
          </a:xfrm>
          <a:prstGeom prst="ellipse">
            <a:avLst/>
          </a:prstGeom>
          <a:solidFill>
            <a:srgbClr val="3D6B42"/>
          </a:solidFill>
          <a:ln w="19050">
            <a:solidFill>
              <a:srgbClr val="E8A33D"/>
            </a:solidFill>
            <a:prstDash val="solid"/>
          </a:ln>
        </p:spPr>
      </p:sp>
      <p:sp>
        <p:nvSpPr>
          <p:cNvPr id="5" name="Text 2"/>
          <p:cNvSpPr txBox="1"/>
          <p:nvPr/>
        </p:nvSpPr>
        <p:spPr>
          <a:xfrm>
            <a:off x="548640" y="2514600"/>
            <a:ext cx="9144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Cambria" pitchFamily="34" charset="0"/>
                <a:ea typeface="Cambria" pitchFamily="34" charset="-122"/>
                <a:cs typeface="Cambria" pitchFamily="34" charset="-120"/>
              </a:rPr>
              <a:t>05</a:t>
            </a:r>
            <a:endParaRPr lang="en-US" sz="2600" dirty="0"/>
          </a:p>
        </p:txBody>
      </p:sp>
      <p:sp>
        <p:nvSpPr>
          <p:cNvPr id="6" name="Text 3"/>
          <p:cNvSpPr txBox="1"/>
          <p:nvPr/>
        </p:nvSpPr>
        <p:spPr>
          <a:xfrm>
            <a:off x="1737360" y="2697480"/>
            <a:ext cx="8229600" cy="320040"/>
          </a:xfrm>
          <a:prstGeom prst="rect">
            <a:avLst/>
          </a:prstGeom>
          <a:noFill/>
          <a:ln/>
        </p:spPr>
        <p:txBody>
          <a:bodyPr wrap="square" lIns="0" tIns="0" rIns="0" bIns="0" rtlCol="0" anchor="ctr"/>
          <a:lstStyle/>
          <a:p>
            <a:pPr indent="0" marL="0">
              <a:buNone/>
            </a:pPr>
            <a:r>
              <a:rPr lang="en-US" sz="1300" b="1" spc="200" kern="0" dirty="0">
                <a:solidFill>
                  <a:srgbClr val="E8A33D"/>
                </a:solidFill>
                <a:latin typeface="Calibri" pitchFamily="34" charset="0"/>
                <a:ea typeface="Calibri" pitchFamily="34" charset="-122"/>
                <a:cs typeface="Calibri" pitchFamily="34" charset="-120"/>
              </a:rPr>
              <a:t>ΕΝΟΤΗΤΑ ΠΕΜΠΤΗ</a:t>
            </a:r>
            <a:endParaRPr lang="en-US" sz="1300" dirty="0"/>
          </a:p>
        </p:txBody>
      </p:sp>
      <p:sp>
        <p:nvSpPr>
          <p:cNvPr id="7" name="Text 4"/>
          <p:cNvSpPr txBox="1"/>
          <p:nvPr/>
        </p:nvSpPr>
        <p:spPr>
          <a:xfrm>
            <a:off x="1737360" y="2999232"/>
            <a:ext cx="987552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Συμπεράσματα</a:t>
            </a:r>
            <a:endParaRPr lang="en-US" sz="3400" dirty="0"/>
          </a:p>
        </p:txBody>
      </p:sp>
      <p:sp>
        <p:nvSpPr>
          <p:cNvPr id="8" name="Text 5"/>
          <p:cNvSpPr txBox="1"/>
          <p:nvPr/>
        </p:nvSpPr>
        <p:spPr>
          <a:xfrm>
            <a:off x="1737360" y="3977640"/>
            <a:ext cx="9144000" cy="548640"/>
          </a:xfrm>
          <a:prstGeom prst="rect">
            <a:avLst/>
          </a:prstGeom>
          <a:noFill/>
          <a:ln/>
        </p:spPr>
        <p:txBody>
          <a:bodyPr wrap="square" lIns="0" tIns="0" rIns="0" bIns="0" rtlCol="0" anchor="ctr"/>
          <a:lstStyle/>
          <a:p>
            <a:pPr indent="0" marL="0">
              <a:buNone/>
            </a:pPr>
            <a:r>
              <a:rPr lang="en-US" sz="1400" dirty="0">
                <a:solidFill>
                  <a:srgbClr val="D7E5D2"/>
                </a:solidFill>
                <a:latin typeface="Calibri" pitchFamily="34" charset="0"/>
                <a:ea typeface="Calibri" pitchFamily="34" charset="-122"/>
                <a:cs typeface="Calibri" pitchFamily="34" charset="-120"/>
              </a:rPr>
              <a:t>Τι απαντήθηκε, τι αξιοποιείται, και πού σταματά τίμια η ανάλυση</a:t>
            </a:r>
            <a:endParaRPr lang="en-US" sz="1400" dirty="0"/>
          </a:p>
        </p:txBody>
      </p:sp>
      <p:sp>
        <p:nvSpPr>
          <p:cNvPr id="9"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 · Διπλωματική εργασία</a:t>
            </a:r>
            <a:endParaRPr lang="en-US" sz="900" dirty="0"/>
          </a:p>
        </p:txBody>
      </p:sp>
      <p:sp>
        <p:nvSpPr>
          <p:cNvPr id="10"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ΣΥΜΠΕΡΑΣΜΑΤΑ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Σύνοψη ευρημάτων</a:t>
            </a:r>
            <a:endParaRPr lang="en-US" sz="3000" dirty="0"/>
          </a:p>
        </p:txBody>
      </p:sp>
      <p:sp>
        <p:nvSpPr>
          <p:cNvPr id="5" name="Text 2"/>
          <p:cNvSpPr txBox="1"/>
          <p:nvPr/>
        </p:nvSpPr>
        <p:spPr>
          <a:xfrm>
            <a:off x="548640" y="1508760"/>
            <a:ext cx="11094415" cy="4846320"/>
          </a:xfrm>
          <a:prstGeom prst="rect">
            <a:avLst/>
          </a:prstGeom>
          <a:noFill/>
          <a:ln/>
        </p:spPr>
        <p:txBody>
          <a:bodyPr wrap="square" lIns="0" tIns="0" rIns="0" bIns="0" rtlCol="0" anchor="t"/>
          <a:lstStyle/>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Απαντήθηκαν και τα επτά ερωτήματα της επιχείρησης, εφαρμόστηκαν τρεις οικογένειες τεχνικών εξόρυξης δεδομένων &amp; μηχανικής μάθησης.</a:t>
            </a:r>
            <a:endParaRPr lang="en-US" sz="1400" dirty="0"/>
          </a:p>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Στο περιγραφικό σκέλος, οι κατηγοριοποιήσεις ανά εύρος τιμής και ανά χαρακτηριστικό διαμερίζουν πλήρως τα έσοδα, χωρίς διπλομέτρηση ή απώλεια, κάτι που ελέγχεται και αυτόματα.</a:t>
            </a:r>
            <a:endParaRPr lang="en-US" sz="1400" dirty="0"/>
          </a:p>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Επαληθεύτηκε πειραματικά ότι ο Apriori και ο FP-Growth δίνουν ταυτόσημα αποτελέσματα, οπότε η επιλογή ανάμεσά τους είναι θέμα μόνο χρόνου εκτέλεσης.</a:t>
            </a:r>
            <a:endParaRPr lang="en-US" sz="1400" dirty="0"/>
          </a:p>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Το nested clustering επιλέγει το πλήθος των clusters σε κάθε επίπεδο μέσω silhouette score, αντί να το βάζουμε εμείς εκ των προτέρων.</a:t>
            </a:r>
            <a:endParaRPr lang="en-US" sz="1400" dirty="0"/>
          </a:p>
          <a:p>
            <a:pPr marL="177800" indent="-177800">
              <a:lnSpc>
                <a:spcPct val="108000"/>
              </a:lnSpc>
              <a:spcAft>
                <a:spcPts val="1400"/>
              </a:spcAft>
              <a:buSzPct val="100000"/>
              <a:buChar char="•"/>
            </a:pPr>
            <a:r>
              <a:rPr lang="en-US" sz="1400" dirty="0">
                <a:solidFill>
                  <a:srgbClr val="241F1B"/>
                </a:solidFill>
                <a:latin typeface="Calibri" pitchFamily="34" charset="0"/>
                <a:ea typeface="Calibri" pitchFamily="34" charset="-122"/>
                <a:cs typeface="Calibri" pitchFamily="34" charset="-120"/>
              </a:rPr>
              <a:t>Κάθε πρόβλεψη συνοδεύεται από ένα naive baseline και ένα skill score, ώστε μια τετριμμένη πρόβλεψη να μη μπορεί να παρουσιαστεί ως επιτυχία.</a:t>
            </a:r>
            <a:endParaRPr lang="en-US" sz="1400" dirty="0"/>
          </a:p>
          <a:p>
            <a:pPr marL="177800" indent="-177800">
              <a:lnSpc>
                <a:spcPct val="108000"/>
              </a:lnSpc>
              <a:spcAft>
                <a:spcPts val="1400"/>
              </a:spcAft>
              <a:buSzPct val="100000"/>
              <a:buChar char="•"/>
            </a:pPr>
            <a:r>
              <a:rPr lang="en-US" sz="1400" b="1" dirty="0">
                <a:solidFill>
                  <a:srgbClr val="241F1B"/>
                </a:solidFill>
                <a:latin typeface="Calibri" pitchFamily="34" charset="0"/>
                <a:ea typeface="Calibri" pitchFamily="34" charset="-122"/>
                <a:cs typeface="Calibri" pitchFamily="34" charset="-120"/>
              </a:rPr>
              <a:t>Το Growth Accounting είναι το πιο ισχυρό μετρήσιμο τεκμήριο για την υγεία μιας επιχείρησης, χωρίς καμία παραδοχή στη μέση.</a:t>
            </a:r>
            <a:endParaRPr lang="en-US" sz="1400" dirty="0"/>
          </a:p>
        </p:txBody>
      </p:sp>
      <p:sp>
        <p:nvSpPr>
          <p:cNvPr id="6" name="Text 3"/>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7" name="Text 4"/>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ΣΥΜΠΕΡΑΣΜΑΤΑ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Πρακτική αξιοποίηση από την επιχείρηση</a:t>
            </a:r>
            <a:endParaRPr lang="en-US" sz="3000" dirty="0"/>
          </a:p>
        </p:txBody>
      </p:sp>
      <p:sp>
        <p:nvSpPr>
          <p:cNvPr id="5" name="Shape 2"/>
          <p:cNvSpPr/>
          <p:nvPr/>
        </p:nvSpPr>
        <p:spPr>
          <a:xfrm>
            <a:off x="548640" y="1554480"/>
            <a:ext cx="5120640" cy="4480560"/>
          </a:xfrm>
          <a:prstGeom prst="roundRect">
            <a:avLst>
              <a:gd name="adj" fmla="val 2041"/>
            </a:avLst>
          </a:prstGeom>
          <a:solidFill>
            <a:srgbClr val="EEF3EC"/>
          </a:solidFill>
          <a:ln/>
        </p:spPr>
      </p:sp>
      <p:sp>
        <p:nvSpPr>
          <p:cNvPr id="6" name="Text 3"/>
          <p:cNvSpPr txBox="1"/>
          <p:nvPr/>
        </p:nvSpPr>
        <p:spPr>
          <a:xfrm>
            <a:off x="822960" y="1783080"/>
            <a:ext cx="4572000" cy="365760"/>
          </a:xfrm>
          <a:prstGeom prst="rect">
            <a:avLst/>
          </a:prstGeom>
          <a:noFill/>
          <a:ln/>
        </p:spPr>
        <p:txBody>
          <a:bodyPr wrap="square" lIns="0" tIns="0" rIns="0" bIns="0" rtlCol="0" anchor="ctr"/>
          <a:lstStyle/>
          <a:p>
            <a:pPr indent="0" marL="0">
              <a:buNone/>
            </a:pPr>
            <a:r>
              <a:rPr lang="en-US" sz="1600" b="1" dirty="0">
                <a:solidFill>
                  <a:srgbClr val="2C5530"/>
                </a:solidFill>
                <a:latin typeface="Cambria" pitchFamily="34" charset="0"/>
                <a:ea typeface="Cambria" pitchFamily="34" charset="-122"/>
                <a:cs typeface="Cambria" pitchFamily="34" charset="-120"/>
              </a:rPr>
              <a:t>Αποφάσεις Marketing</a:t>
            </a:r>
            <a:endParaRPr lang="en-US" sz="1600" dirty="0"/>
          </a:p>
        </p:txBody>
      </p:sp>
      <p:sp>
        <p:nvSpPr>
          <p:cNvPr id="7" name="Text 4"/>
          <p:cNvSpPr txBox="1"/>
          <p:nvPr/>
        </p:nvSpPr>
        <p:spPr>
          <a:xfrm>
            <a:off x="822960" y="2240280"/>
            <a:ext cx="4572000" cy="3566160"/>
          </a:xfrm>
          <a:prstGeom prst="rect">
            <a:avLst/>
          </a:prstGeom>
          <a:noFill/>
          <a:ln/>
        </p:spPr>
        <p:txBody>
          <a:bodyPr wrap="square" lIns="0" tIns="0" rIns="0" bIns="0" rtlCol="0" anchor="t"/>
          <a:lstStyle/>
          <a:p>
            <a:pPr marL="177800" indent="-177800">
              <a:lnSpc>
                <a:spcPct val="108000"/>
              </a:lnSpc>
              <a:spcAft>
                <a:spcPts val="1600"/>
              </a:spcAft>
              <a:buSzPct val="100000"/>
              <a:buChar char="•"/>
            </a:pPr>
            <a:r>
              <a:rPr lang="en-US" sz="1300" dirty="0">
                <a:solidFill>
                  <a:srgbClr val="241F1B"/>
                </a:solidFill>
                <a:latin typeface="Calibri" pitchFamily="34" charset="0"/>
                <a:ea typeface="Calibri" pitchFamily="34" charset="-122"/>
                <a:cs typeface="Calibri" pitchFamily="34" charset="-120"/>
              </a:rPr>
              <a:t>Association rules με lift πάνω από 1 δείχνουν προϊόντα που αξίζει να προωθηθούν μαζί.</a:t>
            </a:r>
            <a:endParaRPr lang="en-US" sz="1300" dirty="0"/>
          </a:p>
          <a:p>
            <a:pPr marL="177800" indent="-177800">
              <a:lnSpc>
                <a:spcPct val="108000"/>
              </a:lnSpc>
              <a:spcAft>
                <a:spcPts val="1600"/>
              </a:spcAft>
              <a:buSzPct val="100000"/>
              <a:buChar char="•"/>
            </a:pPr>
            <a:r>
              <a:rPr lang="en-US" sz="1300" dirty="0">
                <a:solidFill>
                  <a:srgbClr val="241F1B"/>
                </a:solidFill>
                <a:latin typeface="Calibri" pitchFamily="34" charset="0"/>
                <a:ea typeface="Calibri" pitchFamily="34" charset="-122"/>
                <a:cs typeface="Calibri" pitchFamily="34" charset="-120"/>
              </a:rPr>
              <a:t>Τα clusters πελατών επιτρέπουν διαφορετική επικοινωνία ανά ομάδα συμπεριφοράς.</a:t>
            </a:r>
            <a:endParaRPr lang="en-US" sz="1300" dirty="0"/>
          </a:p>
          <a:p>
            <a:pPr marL="177800" indent="-177800">
              <a:lnSpc>
                <a:spcPct val="108000"/>
              </a:lnSpc>
              <a:spcAft>
                <a:spcPts val="1600"/>
              </a:spcAft>
              <a:buSzPct val="100000"/>
              <a:buChar char="•"/>
            </a:pPr>
            <a:r>
              <a:rPr lang="en-US" sz="1300" dirty="0">
                <a:solidFill>
                  <a:srgbClr val="241F1B"/>
                </a:solidFill>
                <a:latin typeface="Calibri" pitchFamily="34" charset="0"/>
                <a:ea typeface="Calibri" pitchFamily="34" charset="-122"/>
                <a:cs typeface="Calibri" pitchFamily="34" charset="-120"/>
              </a:rPr>
              <a:t>Η ανάλυση συγκέντρωσης δείχνει εξάρτηση από λίγους μεγάλους πελάτες, έναν κίνδυνο που δεν φαίνεται αν κοιτάξει κανείς μόνο τον ρυθμό ανάπτυξης.</a:t>
            </a:r>
            <a:endParaRPr lang="en-US" sz="1300" dirty="0"/>
          </a:p>
        </p:txBody>
      </p:sp>
      <p:sp>
        <p:nvSpPr>
          <p:cNvPr id="8" name="Shape 5"/>
          <p:cNvSpPr/>
          <p:nvPr/>
        </p:nvSpPr>
        <p:spPr>
          <a:xfrm>
            <a:off x="6126480" y="1554480"/>
            <a:ext cx="5120640" cy="4480560"/>
          </a:xfrm>
          <a:prstGeom prst="roundRect">
            <a:avLst>
              <a:gd name="adj" fmla="val 2041"/>
            </a:avLst>
          </a:prstGeom>
          <a:solidFill>
            <a:srgbClr val="2C5530"/>
          </a:solidFill>
          <a:ln/>
        </p:spPr>
      </p:sp>
      <p:sp>
        <p:nvSpPr>
          <p:cNvPr id="9" name="Text 6"/>
          <p:cNvSpPr txBox="1"/>
          <p:nvPr/>
        </p:nvSpPr>
        <p:spPr>
          <a:xfrm>
            <a:off x="6400800" y="1783080"/>
            <a:ext cx="4572000" cy="365760"/>
          </a:xfrm>
          <a:prstGeom prst="rect">
            <a:avLst/>
          </a:prstGeom>
          <a:noFill/>
          <a:ln/>
        </p:spPr>
        <p:txBody>
          <a:bodyPr wrap="square" lIns="0" tIns="0" rIns="0" bIns="0" rtlCol="0" anchor="ctr"/>
          <a:lstStyle/>
          <a:p>
            <a:pPr indent="0" marL="0">
              <a:buNone/>
            </a:pPr>
            <a:r>
              <a:rPr lang="en-US" sz="1600" b="1" dirty="0">
                <a:solidFill>
                  <a:srgbClr val="E8A33D"/>
                </a:solidFill>
                <a:latin typeface="Cambria" pitchFamily="34" charset="0"/>
                <a:ea typeface="Cambria" pitchFamily="34" charset="-122"/>
                <a:cs typeface="Cambria" pitchFamily="34" charset="-120"/>
              </a:rPr>
              <a:t>Αποφάσεις Πωλήσεων</a:t>
            </a:r>
            <a:endParaRPr lang="en-US" sz="1600" dirty="0"/>
          </a:p>
        </p:txBody>
      </p:sp>
      <p:sp>
        <p:nvSpPr>
          <p:cNvPr id="10" name="Text 7"/>
          <p:cNvSpPr txBox="1"/>
          <p:nvPr/>
        </p:nvSpPr>
        <p:spPr>
          <a:xfrm>
            <a:off x="6400800" y="2240280"/>
            <a:ext cx="4572000" cy="3566160"/>
          </a:xfrm>
          <a:prstGeom prst="rect">
            <a:avLst/>
          </a:prstGeom>
          <a:noFill/>
          <a:ln/>
        </p:spPr>
        <p:txBody>
          <a:bodyPr wrap="square" lIns="0" tIns="0" rIns="0" bIns="0" rtlCol="0" anchor="t"/>
          <a:lstStyle/>
          <a:p>
            <a:pPr marL="177800" indent="-177800">
              <a:lnSpc>
                <a:spcPct val="108000"/>
              </a:lnSpc>
              <a:spcAft>
                <a:spcPts val="1600"/>
              </a:spcAft>
              <a:buSzPct val="100000"/>
              <a:buChar char="•"/>
            </a:pPr>
            <a:r>
              <a:rPr lang="en-US" sz="1300" dirty="0">
                <a:solidFill>
                  <a:srgbClr val="FFFFFF"/>
                </a:solidFill>
                <a:latin typeface="Calibri" pitchFamily="34" charset="0"/>
                <a:ea typeface="Calibri" pitchFamily="34" charset="-122"/>
                <a:cs typeface="Calibri" pitchFamily="34" charset="-120"/>
              </a:rPr>
              <a:t>Η χρονική κατανομή και η πρόβλεψη υποστηρίζουν τον προγραμματισμό αποθέματος.</a:t>
            </a:r>
            <a:endParaRPr lang="en-US" sz="1300" dirty="0"/>
          </a:p>
          <a:p>
            <a:pPr marL="177800" indent="-177800">
              <a:lnSpc>
                <a:spcPct val="108000"/>
              </a:lnSpc>
              <a:spcAft>
                <a:spcPts val="1600"/>
              </a:spcAft>
              <a:buSzPct val="100000"/>
              <a:buChar char="•"/>
            </a:pPr>
            <a:r>
              <a:rPr lang="en-US" sz="1300" dirty="0">
                <a:solidFill>
                  <a:srgbClr val="FFFFFF"/>
                </a:solidFill>
                <a:latin typeface="Calibri" pitchFamily="34" charset="0"/>
                <a:ea typeface="Calibri" pitchFamily="34" charset="-122"/>
                <a:cs typeface="Calibri" pitchFamily="34" charset="-120"/>
              </a:rPr>
              <a:t>Η ανάλυση επιστροφών εντοπίζει προϊόντα των οποίων το πραγματικό περιθώριο υπονομεύεται από το ποσοστό επιστροφών.</a:t>
            </a:r>
            <a:endParaRPr lang="en-US" sz="1300" dirty="0"/>
          </a:p>
          <a:p>
            <a:pPr marL="177800" indent="-177800">
              <a:lnSpc>
                <a:spcPct val="108000"/>
              </a:lnSpc>
              <a:spcAft>
                <a:spcPts val="1600"/>
              </a:spcAft>
              <a:buSzPct val="100000"/>
              <a:buChar char="•"/>
            </a:pPr>
            <a:r>
              <a:rPr lang="en-US" sz="1300" dirty="0">
                <a:solidFill>
                  <a:srgbClr val="FFFFFF"/>
                </a:solidFill>
                <a:latin typeface="Calibri" pitchFamily="34" charset="0"/>
                <a:ea typeface="Calibri" pitchFamily="34" charset="-122"/>
                <a:cs typeface="Calibri" pitchFamily="34" charset="-120"/>
              </a:rPr>
              <a:t>Το πλέγμα ευαισθησίας κερδοφορίας δείχνει ποιες παραδοχές αλλάζουν το συμπέρασμα, χρήσιμο ακόμη κι όταν η κερδοφορία δεν μετριέται απευθείας.</a:t>
            </a:r>
            <a:endParaRPr lang="en-US" sz="1300" dirty="0"/>
          </a:p>
        </p:txBody>
      </p:sp>
      <p:sp>
        <p:nvSpPr>
          <p:cNvPr id="11" name="Text 8"/>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2" name="Text 9"/>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ΣΥΜΠΕΡΑΣΜΑΤΑ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Περιορισμοί, δηλωμένοι ανοιχτά</a:t>
            </a:r>
            <a:endParaRPr lang="en-US" sz="3000" dirty="0"/>
          </a:p>
        </p:txBody>
      </p:sp>
      <p:sp>
        <p:nvSpPr>
          <p:cNvPr id="5" name="Shape 2"/>
          <p:cNvSpPr/>
          <p:nvPr/>
        </p:nvSpPr>
        <p:spPr>
          <a:xfrm>
            <a:off x="548640" y="1554480"/>
            <a:ext cx="128016" cy="640080"/>
          </a:xfrm>
          <a:prstGeom prst="roundRect">
            <a:avLst>
              <a:gd name="adj" fmla="val 21429"/>
            </a:avLst>
          </a:prstGeom>
          <a:solidFill>
            <a:srgbClr val="B0413E"/>
          </a:solidFill>
          <a:ln/>
        </p:spPr>
      </p:sp>
      <p:sp>
        <p:nvSpPr>
          <p:cNvPr id="6" name="Text 3"/>
          <p:cNvSpPr txBox="1"/>
          <p:nvPr/>
        </p:nvSpPr>
        <p:spPr>
          <a:xfrm>
            <a:off x="868680" y="1508760"/>
            <a:ext cx="10774375" cy="822960"/>
          </a:xfrm>
          <a:prstGeom prst="rect">
            <a:avLst/>
          </a:prstGeom>
          <a:noFill/>
          <a:ln/>
        </p:spPr>
        <p:txBody>
          <a:bodyPr wrap="square" lIns="0" tIns="0" rIns="0" bIns="0" rtlCol="0" anchor="t"/>
          <a:lstStyle/>
          <a:p>
            <a:pPr indent="0" marL="0">
              <a:spcAft>
                <a:spcPts val="200"/>
              </a:spcAft>
              <a:buNone/>
            </a:pPr>
            <a:r>
              <a:rPr lang="en-US" sz="1350" b="1" dirty="0">
                <a:solidFill>
                  <a:srgbClr val="2C5530"/>
                </a:solidFill>
              </a:rPr>
              <a:t>Απουσία στοιχείων κόστους</a:t>
            </a:r>
            <a:endParaRPr lang="en-US" sz="1350" dirty="0"/>
          </a:p>
          <a:p>
            <a:pPr indent="0" marL="0">
              <a:buNone/>
            </a:pPr>
            <a:r>
              <a:rPr lang="en-US" sz="1150" dirty="0">
                <a:solidFill>
                  <a:srgbClr val="6B6259"/>
                </a:solidFill>
              </a:rPr>
              <a:t>Χωρίς κόστος πωληθέντων/marketing, η κερδοφορία απαντάται μόνο ως σενάριο, ποτέ ως μέτρηση.</a:t>
            </a:r>
            <a:endParaRPr lang="en-US" sz="1350" dirty="0"/>
          </a:p>
        </p:txBody>
      </p:sp>
      <p:sp>
        <p:nvSpPr>
          <p:cNvPr id="7" name="Shape 4"/>
          <p:cNvSpPr/>
          <p:nvPr/>
        </p:nvSpPr>
        <p:spPr>
          <a:xfrm>
            <a:off x="548640" y="2450592"/>
            <a:ext cx="128016" cy="640080"/>
          </a:xfrm>
          <a:prstGeom prst="roundRect">
            <a:avLst>
              <a:gd name="adj" fmla="val 21429"/>
            </a:avLst>
          </a:prstGeom>
          <a:solidFill>
            <a:srgbClr val="B0413E"/>
          </a:solidFill>
          <a:ln/>
        </p:spPr>
      </p:sp>
      <p:sp>
        <p:nvSpPr>
          <p:cNvPr id="8" name="Text 5"/>
          <p:cNvSpPr txBox="1"/>
          <p:nvPr/>
        </p:nvSpPr>
        <p:spPr>
          <a:xfrm>
            <a:off x="868680" y="2404872"/>
            <a:ext cx="10774375" cy="822960"/>
          </a:xfrm>
          <a:prstGeom prst="rect">
            <a:avLst/>
          </a:prstGeom>
          <a:noFill/>
          <a:ln/>
        </p:spPr>
        <p:txBody>
          <a:bodyPr wrap="square" lIns="0" tIns="0" rIns="0" bIns="0" rtlCol="0" anchor="t"/>
          <a:lstStyle/>
          <a:p>
            <a:pPr indent="0" marL="0">
              <a:spcAft>
                <a:spcPts val="200"/>
              </a:spcAft>
              <a:buNone/>
            </a:pPr>
            <a:r>
              <a:rPr lang="en-US" sz="1350" b="1" dirty="0">
                <a:solidFill>
                  <a:srgbClr val="2C5530"/>
                </a:solidFill>
              </a:rPr>
              <a:t>Απουσία δομημένης κατηγοριοποίησης</a:t>
            </a:r>
            <a:endParaRPr lang="en-US" sz="1350" dirty="0"/>
          </a:p>
          <a:p>
            <a:pPr indent="0" marL="0">
              <a:buNone/>
            </a:pPr>
            <a:r>
              <a:rPr lang="en-US" sz="1150" dirty="0">
                <a:solidFill>
                  <a:srgbClr val="6B6259"/>
                </a:solidFill>
              </a:rPr>
              <a:t>Χαρακτηριστικά από λέξεις-κλειδιά, με το 38,9% των εσόδων uncategorised. Το λέμε ανοιχτά.</a:t>
            </a:r>
            <a:endParaRPr lang="en-US" sz="1350" dirty="0"/>
          </a:p>
        </p:txBody>
      </p:sp>
      <p:sp>
        <p:nvSpPr>
          <p:cNvPr id="9" name="Shape 6"/>
          <p:cNvSpPr/>
          <p:nvPr/>
        </p:nvSpPr>
        <p:spPr>
          <a:xfrm>
            <a:off x="548640" y="3346704"/>
            <a:ext cx="128016" cy="640080"/>
          </a:xfrm>
          <a:prstGeom prst="roundRect">
            <a:avLst>
              <a:gd name="adj" fmla="val 21429"/>
            </a:avLst>
          </a:prstGeom>
          <a:solidFill>
            <a:srgbClr val="B0413E"/>
          </a:solidFill>
          <a:ln/>
        </p:spPr>
      </p:sp>
      <p:sp>
        <p:nvSpPr>
          <p:cNvPr id="10" name="Text 7"/>
          <p:cNvSpPr txBox="1"/>
          <p:nvPr/>
        </p:nvSpPr>
        <p:spPr>
          <a:xfrm>
            <a:off x="868680" y="3300984"/>
            <a:ext cx="10774375" cy="822960"/>
          </a:xfrm>
          <a:prstGeom prst="rect">
            <a:avLst/>
          </a:prstGeom>
          <a:noFill/>
          <a:ln/>
        </p:spPr>
        <p:txBody>
          <a:bodyPr wrap="square" lIns="0" tIns="0" rIns="0" bIns="0" rtlCol="0" anchor="t"/>
          <a:lstStyle/>
          <a:p>
            <a:pPr indent="0" marL="0">
              <a:spcAft>
                <a:spcPts val="200"/>
              </a:spcAft>
              <a:buNone/>
            </a:pPr>
            <a:r>
              <a:rPr lang="en-US" sz="1350" b="1" dirty="0">
                <a:solidFill>
                  <a:srgbClr val="2C5530"/>
                </a:solidFill>
              </a:rPr>
              <a:t>Γεωγραφία σε επίπεδο χώρας</a:t>
            </a:r>
            <a:endParaRPr lang="en-US" sz="1350" dirty="0"/>
          </a:p>
          <a:p>
            <a:pPr indent="0" marL="0">
              <a:buNone/>
            </a:pPr>
            <a:r>
              <a:rPr lang="en-US" sz="1150" dirty="0">
                <a:solidFill>
                  <a:srgbClr val="6B6259"/>
                </a:solidFill>
              </a:rPr>
              <a:t>Το clustering πρώτου επιπέδου βλέπει όση ανάλυση δίνει η πηγή δεδομένων, όχι παραπάνω.</a:t>
            </a:r>
            <a:endParaRPr lang="en-US" sz="1350" dirty="0"/>
          </a:p>
        </p:txBody>
      </p:sp>
      <p:sp>
        <p:nvSpPr>
          <p:cNvPr id="11" name="Shape 8"/>
          <p:cNvSpPr/>
          <p:nvPr/>
        </p:nvSpPr>
        <p:spPr>
          <a:xfrm>
            <a:off x="548640" y="4242816"/>
            <a:ext cx="128016" cy="640080"/>
          </a:xfrm>
          <a:prstGeom prst="roundRect">
            <a:avLst>
              <a:gd name="adj" fmla="val 21429"/>
            </a:avLst>
          </a:prstGeom>
          <a:solidFill>
            <a:srgbClr val="B0413E"/>
          </a:solidFill>
          <a:ln/>
        </p:spPr>
      </p:sp>
      <p:sp>
        <p:nvSpPr>
          <p:cNvPr id="12" name="Text 9"/>
          <p:cNvSpPr txBox="1"/>
          <p:nvPr/>
        </p:nvSpPr>
        <p:spPr>
          <a:xfrm>
            <a:off x="868680" y="4197096"/>
            <a:ext cx="10774375" cy="822960"/>
          </a:xfrm>
          <a:prstGeom prst="rect">
            <a:avLst/>
          </a:prstGeom>
          <a:noFill/>
          <a:ln/>
        </p:spPr>
        <p:txBody>
          <a:bodyPr wrap="square" lIns="0" tIns="0" rIns="0" bIns="0" rtlCol="0" anchor="t"/>
          <a:lstStyle/>
          <a:p>
            <a:pPr indent="0" marL="0">
              <a:spcAft>
                <a:spcPts val="200"/>
              </a:spcAft>
              <a:buNone/>
            </a:pPr>
            <a:r>
              <a:rPr lang="en-US" sz="1350" b="1" dirty="0">
                <a:solidFill>
                  <a:srgbClr val="2C5530"/>
                </a:solidFill>
              </a:rPr>
              <a:t>Ανώνυμες πωλήσεις</a:t>
            </a:r>
            <a:endParaRPr lang="en-US" sz="1350" dirty="0"/>
          </a:p>
          <a:p>
            <a:pPr indent="0" marL="0">
              <a:buNone/>
            </a:pPr>
            <a:r>
              <a:rPr lang="en-US" sz="1150" dirty="0">
                <a:solidFill>
                  <a:srgbClr val="6B6259"/>
                </a:solidFill>
              </a:rPr>
              <a:t>Διατηρούνται σε προϊόν/περιοχή/χρόνο, εξαιρούνται από αναλύσεις σε επίπεδο πελάτη.</a:t>
            </a:r>
            <a:endParaRPr lang="en-US" sz="1350" dirty="0"/>
          </a:p>
        </p:txBody>
      </p:sp>
      <p:sp>
        <p:nvSpPr>
          <p:cNvPr id="13" name="Shape 10"/>
          <p:cNvSpPr/>
          <p:nvPr/>
        </p:nvSpPr>
        <p:spPr>
          <a:xfrm>
            <a:off x="548640" y="5138928"/>
            <a:ext cx="128016" cy="640080"/>
          </a:xfrm>
          <a:prstGeom prst="roundRect">
            <a:avLst>
              <a:gd name="adj" fmla="val 21429"/>
            </a:avLst>
          </a:prstGeom>
          <a:solidFill>
            <a:srgbClr val="B0413E"/>
          </a:solidFill>
          <a:ln/>
        </p:spPr>
      </p:sp>
      <p:sp>
        <p:nvSpPr>
          <p:cNvPr id="14" name="Text 11"/>
          <p:cNvSpPr txBox="1"/>
          <p:nvPr/>
        </p:nvSpPr>
        <p:spPr>
          <a:xfrm>
            <a:off x="868680" y="5093208"/>
            <a:ext cx="10774375" cy="822960"/>
          </a:xfrm>
          <a:prstGeom prst="rect">
            <a:avLst/>
          </a:prstGeom>
          <a:noFill/>
          <a:ln/>
        </p:spPr>
        <p:txBody>
          <a:bodyPr wrap="square" lIns="0" tIns="0" rIns="0" bIns="0" rtlCol="0" anchor="t"/>
          <a:lstStyle/>
          <a:p>
            <a:pPr indent="0" marL="0">
              <a:spcAft>
                <a:spcPts val="200"/>
              </a:spcAft>
              <a:buNone/>
            </a:pPr>
            <a:r>
              <a:rPr lang="en-US" sz="1350" b="1" dirty="0">
                <a:solidFill>
                  <a:srgbClr val="2C5530"/>
                </a:solidFill>
              </a:rPr>
              <a:t>Ένα σύνολο δεδομένων</a:t>
            </a:r>
            <a:endParaRPr lang="en-US" sz="1350" dirty="0"/>
          </a:p>
          <a:p>
            <a:pPr indent="0" marL="0">
              <a:buNone/>
            </a:pPr>
            <a:r>
              <a:rPr lang="en-US" sz="1150" dirty="0">
                <a:solidFill>
                  <a:srgbClr val="6B6259"/>
                </a:solidFill>
              </a:rPr>
              <a:t>Τα ευρήματα προέρχονται από μία μόνο επιχείρηση, μίας κατηγορίας, οπότε το πόσο γενικεύονται παραμένει ανοιχτό ερώτημα.</a:t>
            </a:r>
            <a:endParaRPr lang="en-US" sz="1350" dirty="0"/>
          </a:p>
        </p:txBody>
      </p:sp>
      <p:sp>
        <p:nvSpPr>
          <p:cNvPr id="15" name="Text 12"/>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6" name="Text 13"/>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57200"/>
            <a:ext cx="11094415"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ΣΥΜΠΕΡΑΣΜΑΤΑ</a:t>
            </a:r>
            <a:endParaRPr lang="en-US" sz="1200" dirty="0"/>
          </a:p>
        </p:txBody>
      </p:sp>
      <p:sp>
        <p:nvSpPr>
          <p:cNvPr id="4" name="Text 1"/>
          <p:cNvSpPr txBox="1"/>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2C5530"/>
                </a:solidFill>
                <a:latin typeface="Cambria" pitchFamily="34" charset="0"/>
                <a:ea typeface="Cambria" pitchFamily="34" charset="-122"/>
                <a:cs typeface="Cambria" pitchFamily="34" charset="-120"/>
              </a:rPr>
              <a:t>Μελλοντικές επεκτάσεις</a:t>
            </a:r>
            <a:endParaRPr lang="en-US" sz="3000" dirty="0"/>
          </a:p>
        </p:txBody>
      </p:sp>
      <p:sp>
        <p:nvSpPr>
          <p:cNvPr id="5" name="Shape 2"/>
          <p:cNvSpPr/>
          <p:nvPr/>
        </p:nvSpPr>
        <p:spPr>
          <a:xfrm>
            <a:off x="548640" y="1508760"/>
            <a:ext cx="5120640" cy="1417320"/>
          </a:xfrm>
          <a:prstGeom prst="roundRect">
            <a:avLst>
              <a:gd name="adj" fmla="val 5161"/>
            </a:avLst>
          </a:prstGeom>
          <a:solidFill>
            <a:srgbClr val="EEF3EC"/>
          </a:solidFill>
          <a:ln/>
        </p:spPr>
      </p:sp>
      <p:sp>
        <p:nvSpPr>
          <p:cNvPr id="6" name="Text 3"/>
          <p:cNvSpPr txBox="1"/>
          <p:nvPr/>
        </p:nvSpPr>
        <p:spPr>
          <a:xfrm>
            <a:off x="731520" y="1645920"/>
            <a:ext cx="4754880" cy="1143000"/>
          </a:xfrm>
          <a:prstGeom prst="rect">
            <a:avLst/>
          </a:prstGeom>
          <a:noFill/>
          <a:ln/>
        </p:spPr>
        <p:txBody>
          <a:bodyPr wrap="square" lIns="0" tIns="0" rIns="0" bIns="0" rtlCol="0" anchor="t"/>
          <a:lstStyle/>
          <a:p>
            <a:pPr indent="0" marL="0">
              <a:spcAft>
                <a:spcPts val="300"/>
              </a:spcAft>
              <a:buNone/>
            </a:pPr>
            <a:r>
              <a:rPr lang="en-US" sz="1300" b="1" dirty="0">
                <a:solidFill>
                  <a:srgbClr val="2C5530"/>
                </a:solidFill>
              </a:rPr>
              <a:t>Δεύτερο πραγματικό κατάστημα</a:t>
            </a:r>
            <a:endParaRPr lang="en-US" sz="1300" dirty="0"/>
          </a:p>
          <a:p>
            <a:pPr indent="0" marL="0">
              <a:buNone/>
            </a:pPr>
            <a:r>
              <a:rPr lang="en-US" sz="1100" dirty="0">
                <a:solidFill>
                  <a:srgbClr val="241F1B"/>
                </a:solidFill>
              </a:rPr>
              <a:t>Η προσάρτηση είναι πλέον παραμετροποίηση· εκκρεμεί η σύγκριση ευρημάτων μεταξύ δύο καταστημάτων.</a:t>
            </a:r>
            <a:endParaRPr lang="en-US" sz="1300" dirty="0"/>
          </a:p>
        </p:txBody>
      </p:sp>
      <p:sp>
        <p:nvSpPr>
          <p:cNvPr id="7" name="Shape 4"/>
          <p:cNvSpPr/>
          <p:nvPr/>
        </p:nvSpPr>
        <p:spPr>
          <a:xfrm>
            <a:off x="6126480" y="1508760"/>
            <a:ext cx="5120640" cy="1417320"/>
          </a:xfrm>
          <a:prstGeom prst="roundRect">
            <a:avLst>
              <a:gd name="adj" fmla="val 5161"/>
            </a:avLst>
          </a:prstGeom>
          <a:solidFill>
            <a:srgbClr val="EEF3EC"/>
          </a:solidFill>
          <a:ln/>
        </p:spPr>
      </p:sp>
      <p:sp>
        <p:nvSpPr>
          <p:cNvPr id="8" name="Text 5"/>
          <p:cNvSpPr txBox="1"/>
          <p:nvPr/>
        </p:nvSpPr>
        <p:spPr>
          <a:xfrm>
            <a:off x="6309360" y="1645920"/>
            <a:ext cx="4754880" cy="1143000"/>
          </a:xfrm>
          <a:prstGeom prst="rect">
            <a:avLst/>
          </a:prstGeom>
          <a:noFill/>
          <a:ln/>
        </p:spPr>
        <p:txBody>
          <a:bodyPr wrap="square" lIns="0" tIns="0" rIns="0" bIns="0" rtlCol="0" anchor="t"/>
          <a:lstStyle/>
          <a:p>
            <a:pPr indent="0" marL="0">
              <a:spcAft>
                <a:spcPts val="300"/>
              </a:spcAft>
              <a:buNone/>
            </a:pPr>
            <a:r>
              <a:rPr lang="en-US" sz="1300" b="1" dirty="0">
                <a:solidFill>
                  <a:srgbClr val="2C5530"/>
                </a:solidFill>
              </a:rPr>
              <a:t>Προβλεπτική αξία διάρκειας ζωής</a:t>
            </a:r>
            <a:endParaRPr lang="en-US" sz="1300" dirty="0"/>
          </a:p>
          <a:p>
            <a:pPr indent="0" marL="0">
              <a:buNone/>
            </a:pPr>
            <a:r>
              <a:rPr lang="en-US" sz="1100" dirty="0">
                <a:solidFill>
                  <a:srgbClr val="241F1B"/>
                </a:solidFill>
              </a:rPr>
              <a:t>Τα μοντέλα BG/NBD και Gamma-Gamma πάνω στα ίδια τρία μεγέθη RFM θα μετέτρεπαν την παρατηρούμενη αξία σε πρόβλεψη.</a:t>
            </a:r>
            <a:endParaRPr lang="en-US" sz="1300" dirty="0"/>
          </a:p>
        </p:txBody>
      </p:sp>
      <p:sp>
        <p:nvSpPr>
          <p:cNvPr id="9" name="Shape 6"/>
          <p:cNvSpPr/>
          <p:nvPr/>
        </p:nvSpPr>
        <p:spPr>
          <a:xfrm>
            <a:off x="548640" y="3063240"/>
            <a:ext cx="5120640" cy="1417320"/>
          </a:xfrm>
          <a:prstGeom prst="roundRect">
            <a:avLst>
              <a:gd name="adj" fmla="val 5161"/>
            </a:avLst>
          </a:prstGeom>
          <a:solidFill>
            <a:srgbClr val="EEF3EC"/>
          </a:solidFill>
          <a:ln/>
        </p:spPr>
      </p:sp>
      <p:sp>
        <p:nvSpPr>
          <p:cNvPr id="10" name="Text 7"/>
          <p:cNvSpPr txBox="1"/>
          <p:nvPr/>
        </p:nvSpPr>
        <p:spPr>
          <a:xfrm>
            <a:off x="731520" y="3200400"/>
            <a:ext cx="4754880" cy="1143000"/>
          </a:xfrm>
          <a:prstGeom prst="rect">
            <a:avLst/>
          </a:prstGeom>
          <a:noFill/>
          <a:ln/>
        </p:spPr>
        <p:txBody>
          <a:bodyPr wrap="square" lIns="0" tIns="0" rIns="0" bIns="0" rtlCol="0" anchor="t"/>
          <a:lstStyle/>
          <a:p>
            <a:pPr indent="0" marL="0">
              <a:spcAft>
                <a:spcPts val="300"/>
              </a:spcAft>
              <a:buNone/>
            </a:pPr>
            <a:r>
              <a:rPr lang="en-US" sz="1300" b="1" dirty="0">
                <a:solidFill>
                  <a:srgbClr val="2C5530"/>
                </a:solidFill>
              </a:rPr>
              <a:t>Γεωγραφική ιεραρχία</a:t>
            </a:r>
            <a:endParaRPr lang="en-US" sz="1300" dirty="0"/>
          </a:p>
          <a:p>
            <a:pPr indent="0" marL="0">
              <a:buNone/>
            </a:pPr>
            <a:r>
              <a:rPr lang="en-US" sz="1100" dirty="0">
                <a:solidFill>
                  <a:srgbClr val="241F1B"/>
                </a:solidFill>
              </a:rPr>
              <a:t>Επίπεδα κάτω από τη χώρα, χωρίς αλλαγή στον αναλυτικό κώδικα.</a:t>
            </a:r>
            <a:endParaRPr lang="en-US" sz="1300" dirty="0"/>
          </a:p>
        </p:txBody>
      </p:sp>
      <p:sp>
        <p:nvSpPr>
          <p:cNvPr id="11" name="Shape 8"/>
          <p:cNvSpPr/>
          <p:nvPr/>
        </p:nvSpPr>
        <p:spPr>
          <a:xfrm>
            <a:off x="6126480" y="3063240"/>
            <a:ext cx="5120640" cy="1417320"/>
          </a:xfrm>
          <a:prstGeom prst="roundRect">
            <a:avLst>
              <a:gd name="adj" fmla="val 5161"/>
            </a:avLst>
          </a:prstGeom>
          <a:solidFill>
            <a:srgbClr val="EEF3EC"/>
          </a:solidFill>
          <a:ln/>
        </p:spPr>
      </p:sp>
      <p:sp>
        <p:nvSpPr>
          <p:cNvPr id="12" name="Text 9"/>
          <p:cNvSpPr txBox="1"/>
          <p:nvPr/>
        </p:nvSpPr>
        <p:spPr>
          <a:xfrm>
            <a:off x="6309360" y="3200400"/>
            <a:ext cx="4754880" cy="1143000"/>
          </a:xfrm>
          <a:prstGeom prst="rect">
            <a:avLst/>
          </a:prstGeom>
          <a:noFill/>
          <a:ln/>
        </p:spPr>
        <p:txBody>
          <a:bodyPr wrap="square" lIns="0" tIns="0" rIns="0" bIns="0" rtlCol="0" anchor="t"/>
          <a:lstStyle/>
          <a:p>
            <a:pPr indent="0" marL="0">
              <a:spcAft>
                <a:spcPts val="300"/>
              </a:spcAft>
              <a:buNone/>
            </a:pPr>
            <a:r>
              <a:rPr lang="en-US" sz="1300" b="1" dirty="0">
                <a:solidFill>
                  <a:srgbClr val="2C5530"/>
                </a:solidFill>
              </a:rPr>
              <a:t>Χρονική εξέλιξη κανόνων συσχέτισης</a:t>
            </a:r>
            <a:endParaRPr lang="en-US" sz="1300" dirty="0"/>
          </a:p>
          <a:p>
            <a:pPr indent="0" marL="0">
              <a:buNone/>
            </a:pPr>
            <a:r>
              <a:rPr lang="en-US" sz="1100" dirty="0">
                <a:solidFill>
                  <a:srgbClr val="241F1B"/>
                </a:solidFill>
              </a:rPr>
              <a:t>Συγκρίνοντας διαδοχικές εκτελέσεις mining θα φαινόταν ποιες συσχετίσεις εμφανίζονται ή εξασθενούν με τον καιρό.</a:t>
            </a:r>
            <a:endParaRPr lang="en-US" sz="1300" dirty="0"/>
          </a:p>
        </p:txBody>
      </p:sp>
      <p:sp>
        <p:nvSpPr>
          <p:cNvPr id="13" name="Shape 10"/>
          <p:cNvSpPr/>
          <p:nvPr/>
        </p:nvSpPr>
        <p:spPr>
          <a:xfrm>
            <a:off x="548640" y="4617720"/>
            <a:ext cx="10698480" cy="1417320"/>
          </a:xfrm>
          <a:prstGeom prst="roundRect">
            <a:avLst>
              <a:gd name="adj" fmla="val 5161"/>
            </a:avLst>
          </a:prstGeom>
          <a:solidFill>
            <a:srgbClr val="2C5530"/>
          </a:solidFill>
          <a:ln/>
        </p:spPr>
      </p:sp>
      <p:sp>
        <p:nvSpPr>
          <p:cNvPr id="14" name="Text 11"/>
          <p:cNvSpPr txBox="1"/>
          <p:nvPr/>
        </p:nvSpPr>
        <p:spPr>
          <a:xfrm>
            <a:off x="777240" y="4754880"/>
            <a:ext cx="10241280" cy="1143000"/>
          </a:xfrm>
          <a:prstGeom prst="rect">
            <a:avLst/>
          </a:prstGeom>
          <a:noFill/>
          <a:ln/>
        </p:spPr>
        <p:txBody>
          <a:bodyPr wrap="square" lIns="0" tIns="0" rIns="0" bIns="0" rtlCol="0" anchor="t"/>
          <a:lstStyle/>
          <a:p>
            <a:pPr indent="0" marL="0">
              <a:spcAft>
                <a:spcPts val="300"/>
              </a:spcAft>
              <a:buNone/>
            </a:pPr>
            <a:r>
              <a:rPr lang="en-US" sz="1300" b="1" dirty="0">
                <a:solidFill>
                  <a:srgbClr val="E8A33D"/>
                </a:solidFill>
              </a:rPr>
              <a:t>Ενσωμάτωση στοιχείων κόστους</a:t>
            </a:r>
            <a:endParaRPr lang="en-US" sz="1300" dirty="0"/>
          </a:p>
          <a:p>
            <a:pPr indent="0" marL="0">
              <a:buNone/>
            </a:pPr>
            <a:r>
              <a:rPr lang="en-US" sz="1100" dirty="0">
                <a:solidFill>
                  <a:srgbClr val="FFFFFF"/>
                </a:solidFill>
              </a:rPr>
              <a:t>Τα σενάρια κερδοφορίας γίνονται μετρήσεις· η αρχιτεκτονική το επιτρέπει χωρίς αλλαγή δομής.</a:t>
            </a:r>
            <a:endParaRPr lang="en-US" sz="1300" dirty="0"/>
          </a:p>
        </p:txBody>
      </p:sp>
      <p:sp>
        <p:nvSpPr>
          <p:cNvPr id="15" name="Text 12"/>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a:t>
            </a:r>
            <a:endParaRPr lang="en-US" sz="900" dirty="0"/>
          </a:p>
        </p:txBody>
      </p:sp>
      <p:sp>
        <p:nvSpPr>
          <p:cNvPr id="16" name="Text 13"/>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C5530"/>
        </a:solidFill>
      </p:bgPr>
    </p:bg>
    <p:spTree>
      <p:nvGrpSpPr>
        <p:cNvPr id="1" name=""/>
        <p:cNvGrpSpPr/>
        <p:nvPr/>
      </p:nvGrpSpPr>
      <p:grpSpPr>
        <a:xfrm>
          <a:off x="0" y="0"/>
          <a:ext cx="0" cy="0"/>
          <a:chOff x="0" y="0"/>
          <a:chExt cx="0" cy="0"/>
        </a:xfrm>
      </p:grpSpPr>
      <p:sp>
        <p:nvSpPr>
          <p:cNvPr id="3" name="Shape 0"/>
          <p:cNvSpPr/>
          <p:nvPr/>
        </p:nvSpPr>
        <p:spPr>
          <a:xfrm>
            <a:off x="-2286000" y="-2286000"/>
            <a:ext cx="5486400" cy="5486400"/>
          </a:xfrm>
          <a:prstGeom prst="ellipse">
            <a:avLst/>
          </a:prstGeom>
          <a:solidFill>
            <a:srgbClr val="1B3A1E"/>
          </a:solidFill>
          <a:ln/>
        </p:spPr>
      </p:sp>
      <p:sp>
        <p:nvSpPr>
          <p:cNvPr id="4" name="Shape 1"/>
          <p:cNvSpPr/>
          <p:nvPr/>
        </p:nvSpPr>
        <p:spPr>
          <a:xfrm>
            <a:off x="8686800" y="4114800"/>
            <a:ext cx="5029200" cy="5029200"/>
          </a:xfrm>
          <a:prstGeom prst="ellipse">
            <a:avLst/>
          </a:prstGeom>
          <a:solidFill>
            <a:srgbClr val="27492B"/>
          </a:solidFill>
          <a:ln/>
        </p:spPr>
      </p:sp>
      <p:sp>
        <p:nvSpPr>
          <p:cNvPr id="5" name="Text 2"/>
          <p:cNvSpPr txBox="1"/>
          <p:nvPr/>
        </p:nvSpPr>
        <p:spPr>
          <a:xfrm>
            <a:off x="548640" y="1920240"/>
            <a:ext cx="10515600" cy="457200"/>
          </a:xfrm>
          <a:prstGeom prst="rect">
            <a:avLst/>
          </a:prstGeom>
          <a:noFill/>
          <a:ln/>
        </p:spPr>
        <p:txBody>
          <a:bodyPr wrap="square" lIns="0" tIns="0" rIns="0" bIns="0" rtlCol="0" anchor="ctr"/>
          <a:lstStyle/>
          <a:p>
            <a:pPr indent="0" marL="0">
              <a:buNone/>
            </a:pPr>
            <a:r>
              <a:rPr lang="en-US" sz="1400" b="1" spc="300" kern="0" dirty="0">
                <a:solidFill>
                  <a:srgbClr val="E8A33D"/>
                </a:solidFill>
                <a:latin typeface="Calibri" pitchFamily="34" charset="0"/>
                <a:ea typeface="Calibri" pitchFamily="34" charset="-122"/>
                <a:cs typeface="Calibri" pitchFamily="34" charset="-120"/>
              </a:rPr>
              <a:t>Επίλογος</a:t>
            </a:r>
            <a:endParaRPr lang="en-US" sz="1400" dirty="0"/>
          </a:p>
        </p:txBody>
      </p:sp>
      <p:sp>
        <p:nvSpPr>
          <p:cNvPr id="6" name="Text 3"/>
          <p:cNvSpPr txBox="1"/>
          <p:nvPr/>
        </p:nvSpPr>
        <p:spPr>
          <a:xfrm>
            <a:off x="548640" y="2377440"/>
            <a:ext cx="10515600" cy="1371600"/>
          </a:xfrm>
          <a:prstGeom prst="rect">
            <a:avLst/>
          </a:prstGeom>
          <a:noFill/>
          <a:ln/>
        </p:spPr>
        <p:txBody>
          <a:bodyPr wrap="square" lIns="0" tIns="0" rIns="0" bIns="0" rtlCol="0" anchor="ctr"/>
          <a:lstStyle/>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Να απαντηθεί ό,τι ζήτησε η επιχείρηση,</a:t>
            </a:r>
            <a:endParaRPr lang="en-US" sz="2700" dirty="0"/>
          </a:p>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και να μην απαντηθεί ό,τι τα δεδομένα δεν επιτρέπουν.</a:t>
            </a:r>
            <a:endParaRPr lang="en-US" sz="2700" dirty="0"/>
          </a:p>
        </p:txBody>
      </p:sp>
      <p:sp>
        <p:nvSpPr>
          <p:cNvPr id="7" name="Text 4"/>
          <p:cNvSpPr txBox="1"/>
          <p:nvPr/>
        </p:nvSpPr>
        <p:spPr>
          <a:xfrm>
            <a:off x="548640" y="4114800"/>
            <a:ext cx="10515600" cy="457200"/>
          </a:xfrm>
          <a:prstGeom prst="rect">
            <a:avLst/>
          </a:prstGeom>
          <a:noFill/>
          <a:ln/>
        </p:spPr>
        <p:txBody>
          <a:bodyPr wrap="square" lIns="0" tIns="0" rIns="0" bIns="0" rtlCol="0" anchor="ctr"/>
          <a:lstStyle/>
          <a:p>
            <a:pPr indent="0" marL="0">
              <a:buNone/>
            </a:pPr>
            <a:r>
              <a:rPr lang="en-US" sz="1700" i="1" dirty="0">
                <a:solidFill>
                  <a:srgbClr val="D7E5D2"/>
                </a:solidFill>
                <a:latin typeface="Calibri" pitchFamily="34" charset="0"/>
                <a:ea typeface="Calibri" pitchFamily="34" charset="-122"/>
                <a:cs typeface="Calibri" pitchFamily="34" charset="-120"/>
              </a:rPr>
              <a:t>Ευχαριστώ για την προσοχή σας.</a:t>
            </a:r>
            <a:endParaRPr lang="en-US" sz="1700" dirty="0"/>
          </a:p>
        </p:txBody>
      </p:sp>
      <p:sp>
        <p:nvSpPr>
          <p:cNvPr id="8" name="Text 5"/>
          <p:cNvSpPr txBox="1"/>
          <p:nvPr/>
        </p:nvSpPr>
        <p:spPr>
          <a:xfrm>
            <a:off x="548640" y="4892040"/>
            <a:ext cx="5486400" cy="457200"/>
          </a:xfrm>
          <a:prstGeom prst="rect">
            <a:avLst/>
          </a:prstGeom>
          <a:noFill/>
          <a:ln/>
        </p:spPr>
        <p:txBody>
          <a:bodyPr wrap="square" lIns="0" tIns="0" rIns="0" bIns="0" rtlCol="0" anchor="ctr"/>
          <a:lstStyle/>
          <a:p>
            <a:pPr indent="0" marL="0">
              <a:buNone/>
            </a:pPr>
            <a:r>
              <a:rPr lang="en-US" sz="2000" b="1" dirty="0">
                <a:solidFill>
                  <a:srgbClr val="E8A33D"/>
                </a:solidFill>
                <a:latin typeface="Cambria" pitchFamily="34" charset="0"/>
                <a:ea typeface="Cambria" pitchFamily="34" charset="-122"/>
                <a:cs typeface="Cambria" pitchFamily="34" charset="-120"/>
              </a:rPr>
              <a:t>Ερωτήσεις</a:t>
            </a:r>
            <a:endParaRPr lang="en-US" sz="2000" dirty="0"/>
          </a:p>
        </p:txBody>
      </p:sp>
      <p:sp>
        <p:nvSpPr>
          <p:cNvPr id="9" name="Text 6"/>
          <p:cNvSpPr txBox="1"/>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6B6259"/>
                </a:solidFill>
                <a:latin typeface="Calibri" pitchFamily="34" charset="0"/>
                <a:ea typeface="Calibri" pitchFamily="34" charset="-122"/>
                <a:cs typeface="Calibri" pitchFamily="34" charset="-120"/>
              </a:rPr>
              <a:t>ENSIGHTS · Χρήστος Μουρτογιάννης</a:t>
            </a:r>
            <a:endParaRPr lang="en-US" sz="900" dirty="0"/>
          </a:p>
        </p:txBody>
      </p:sp>
      <p:sp>
        <p:nvSpPr>
          <p:cNvPr id="10" name="Text 7"/>
          <p:cNvSpPr txBox="1"/>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6B6259"/>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2026-08-27T05:39:03Z</dcterms:created>
  <dcterms:modified xsi:type="dcterms:W3CDTF">2026-08-27T05:39:03Z</dcterms:modified>
</cp:coreProperties>
</file>